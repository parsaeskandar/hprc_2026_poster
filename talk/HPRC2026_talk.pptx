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03C6C"/>
                </a:solidFill>
                <a:latin typeface="Calibri"/>
              </a:defRPr>
            </a:pPr>
            <a:r>
              <a:rPr sz="1800" b="0" i="0" u="none" strike="noStrike">
                <a:solidFill>
                  <a:srgbClr val="003C6C"/>
                </a:solidFill>
                <a:latin typeface="Calibri"/>
              </a:rPr>
              <a:t>Concurrent 3.4 kb queries per second</a:t>
            </a:r>
          </a:p>
        </c:rich>
      </c:tx>
      <c:layout/>
      <c:overlay val="0"/>
    </c:title>
    <c:autoTitleDeleted val="0"/>
    <c:plotArea>
      <c:layout/>
      <c:lineChart>
        <c:varyColors val="0"/>
        <c:ser>
          <c:idx val="0"/>
          <c:order val="0"/>
          <c:tx>
            <c:strRef>
              <c:f>Sheet1!$B$1</c:f>
              <c:strCache>
                <c:ptCount val="1"/>
                <c:pt idx="0">
                  <c:v>queries / s</c:v>
                </c:pt>
              </c:strCache>
            </c:strRef>
          </c:tx>
          <c:spPr>
            <a:solidFill>
              <a:srgbClr val="003C6C"/>
            </a:solidFill>
            <a:ln w="38100" cap="flat">
              <a:solidFill>
                <a:srgbClr val="003C6C"/>
              </a:solidFill>
              <a:prstDash val="solid"/>
              <a:round/>
            </a:ln>
            <a:effectLst/>
          </c:spPr>
          <c:invertIfNegative val="0"/>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c:symbol val="circle"/>
            <c:size val="9"/>
            <c:spPr>
              <a:solidFill>
                <a:srgbClr val="003C6C"/>
              </a:solidFill>
              <a:ln w="9525" cap="flat">
                <a:solidFill>
                  <a:srgbClr val="003C6C"/>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6.3</c:v>
                </c:pt>
                <c:pt idx="1">
                  <c:v>13.2</c:v>
                </c:pt>
                <c:pt idx="2">
                  <c:v>23.6</c:v>
                </c:pt>
                <c:pt idx="3">
                  <c:v>60.3</c:v>
                </c:pt>
                <c:pt idx="4">
                  <c:v>59.4</c:v>
                </c:pt>
                <c:pt idx="5">
                  <c:v>65.3</c:v>
                </c:pt>
              </c:numCache>
            </c:numRef>
          </c:val>
          <c:smooth val="0"/>
        </c:ser>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B7C"/>
                    </a:solidFill>
                    <a:latin typeface="Arial"/>
                  </a:defRPr>
                </a:pPr>
                <a:r>
                  <a:rPr sz="1400" b="0" i="0" u="none" strike="noStrike">
                    <a:solidFill>
                      <a:srgbClr val="5B6B7C"/>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3C6C"/>
                </a:solidFill>
                <a:latin typeface="Calibri"/>
              </a:defRPr>
            </a:pPr>
            <a:r>
              <a:rPr sz="16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first chain (1.1 Mb)</c:v>
                </c:pt>
              </c:strCache>
            </c:strRef>
          </c:tx>
          <c:spPr>
            <a:solidFill>
              <a:srgbClr val="FDC7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widened chain (10 Mb)</c:v>
                </c:pt>
              </c:strCache>
            </c:strRef>
          </c:tx>
          <c:spPr>
            <a:solidFill>
              <a:srgbClr val="003C6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2"/>
        <c:crosses val="autoZero"/>
        <c:auto val="1"/>
        <c:lblAlgn val="ctr"/>
        <c:noMultiLvlLbl val="1"/>
      </c:catAx>
      <c:valAx>
        <c:axId val="2094734552"/>
        <c:scaling>
          <c:logBase val="10"/>
          <c:orientation val="minMax"/>
          <c:max val="1000"/>
          <c:min val="0.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4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Thank you. I'm Parsa Eskandar, from Benedict Paten's lab at UC Santa Cruz. This is joint work with Jouni Sirén and the UCSC Genome Browser team, and it is about making the release 2 assemblies something a scientist can query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[0:15-1:10]
HPRC release 2 is 464 haplotypes in one graph: the most complete picture of human variation we have ever had.
(pause)
Now look at how our knowledge sits on those 464. Two of them, GRCh38 and CHM13, carry almost everything we know: the gene models, ClinVar, the GWAS catalog, the regulatory annotation, every track anyone has ever built. The other 462 are the reason release 2 exists. They carry what the two references miss: the insertions that are not in GRCh38, the alleles at HLA or LPA, the segmental duplications the reference gets wrong. And they carry almost none of our annotation.
So the value of release 2 depends on traffic in both directions. Our knowledge has to travel from the two onto the 462: take a gene we understand on GRCh38 and see it on another haplotype. And sequence has to travel from the 462 back to the two: take something that is not in the reference, find which haplotypes carry it, and see it next to what we already know.
Both directions are possible today, if you have a cluster and a terminal. A clinician has neither, and most researchers would rather not. For them, release 2 stays 464 assemblies to browse one at a time. That is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[1:10-2:05]
Concretely, three things release 2 can already do, but only from the command line.
Place a sequence across haplotypes: which of the 464 carry it, where, and what does each region look like? Today that is a giraffe index, a mapping run, and a terminal session before the first answer.
Move a locus onto a haplotype: take coordinates known on GRCh38 or CHM13 to any release 2 haplotype you choose. Today that is halLiftover or impg over the whole alignment, per request, or a ready-made chain for the handful of pairs that have one.
And bring the annotation along: see the reference's gene models, ClinVar, GWAS, or your own tracks on a release 2 haplotype. Today you lift every track yourself, per haplotype, before anyone can look.
None of this is impossible. The graph already holds the answers. Reaching them takes compute, disk, and bioinformatics expertise that most clinicians and many researchers do not have, and time that even the experts would rather spend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[2:05-2:45]
I will follow two use cases through the rest of the talk.
Use case 1, sequence search. A researcher has a sequence that is not in GRCh38: an insertion assembled from a sample, a probe, a contig. Which release 2 haplotypes carry it, and where on each?
Use case 2, coordinate translation. A researcher knows a gene on GRCh38 or CHM13 and wants to see it, with its annotation, on a specific release 2 haplotype.
Today the first means a giraffe index and a terminal session; the second, a ready-made chain for a few assembly pairs and a halLiftover run for every other one. Both are shown live, in a web page, on the release 2 graph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[2:45-3:20]
So what would it take to do this in a web page, where a user waits a second and not an hour? Both use cases come down to two questions the index underneath has to answer in milliseconds.
Where in the graph is this sequence? Asked once, against all 464 haplotypes, not 464 times against one assembly each, and for any sequence, of any length.
And: who passes through this node, and where? Answered for any haplotype against any other, without a pairwise alignment prepared in advance for each of the more than two hundred thousand pairs.
Nothing that existed answered both, at that scale, at interactive speed. So before any tool, we built the index: a tag array index over the release 2 graph. Built once. Everything you will see in the rest of this talk is a query against it. Let me spend three slides on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[3:20-4:20]
Here is the index on a toy graph, and it is all you need for the rest of the talk. Three haplotypes, one text, one BWT. Alongside the BWT sits the tag array: every BWT position carries a tag, the node and offset in the graph that character came from. On the right, the same thing as columns: search a pattern the way any FM-index does, read the tags in the interval, and you have the graph positions.
Three consequences. One index answers for every haplotype: all 464 are indexed together, so a sequence is looked up once and found on every haplotype that carries it. Every match knows its place in the graph: a hit is a node and an offset, not a line in one assembly. And every node knows who visits it: ask a node and get every haplotype passing through it, each with its own coordinate. That last one is how a locus moves from one haplotype to another.
Earlier pangenome indexes made you choose: index the haplotypes and get every hit 464 times, or index the graph and lose parts of the haplotypes. Tag arrays keep the haplotypes and add the graph. Nothing is lost, nothing is repeated, and nothing anywhere says CHM13-to-HG02015: there is no pairwise index, which is why any of the 464 can be translated to any other. Details are in the paper and I am happy to go into them in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[4:20-4:40]
With that one property in hand, translating a region stops being a lookup and becomes a walk. Four steps, one click each.
(click) One. Find the query interval's nodes on the source haplotype's path. The tag arrays give us those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[4:40-4:55]
Two. At those nodes, ask the tag arrays who else is standing here. Every haplotype comes back at once, including the target we care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[4:55-5:20]
Three. Nodes that source and target each visit exactly once are unambiguous anchors. Orthology is inherited from the graph's alignment; what we add is that a repeat cannot manufacture a false anchor, and a colinearity check drops pairs whose spans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[5:20-5:40]
Four. Walk the graph between anchors, one base at a time, and group the bases that share an offset into blocks. A block breaks on an indel, never on a SNP; an inversion starts a new chain. That is exactly what a chain file means.
So the output is not a coordinate. It is a chain, and the browser already knows what to do with a chain. If the target does not contain the interval, you get fewer positions, never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[5:40-7:00]  Start the recording; narrate over it.
Use case 1: a sequence that is not in the reference. This is the Pangenome Mapping page.
The sequence is pasted and mapped once, to the whole release 2 graph, with vg giraffe, in a few seconds. The result is something no single-assembly search can give: exactly two of the 464 haplotypes carry this sequence, HG01167 hap1 and HG04157 paternal, and GRCh38 is not one of them. They are ranked by identity, with coverage beside it.
Selecting HG01167 opens it in the browser: the sequence is drawn as a track with base-level differences, in the context of that haplotype's own annotation. Selecting a different carrier re-uses the same alignment; nothing is remapped.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[7:00-7:35]
What this enables on release 2: one search across all 464 haplotypes instead of one assembly at a time; sequences absent from the reference are found on the haplotypes that carry them, together with how many carry them; and any carrier can be opened with the sequence as a track, with another carrier costing no remapping.
One detail this room will notice: MAPQ is zero by design. In a graph where every locus exists hundreds of times, mapping quality carries no information; per-haplotype identity and coverage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[7:35-8:10]
Use case 2: a gene known on a reference, on a specific release 2 haplotype.
Moving a locus between assemblies today relies on a pairwise chain. The Genome Browser can draw one assembly's tracks on another, but only over a prebuilt chain between the two, and chains are built on request, one pair at a time. 464 haplotypes are more than two hundred thousand pairs; chains exist for fifty-six of them. For most release 2 haplotypes, HG02015 among them, no chain exists.
The graph already contains the alignment for every pair. It has to be usable on demand, and that is exactly what the walk I showed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[8:10-9:50]  Start the recording; slow down at the landing.
Now the same request on the release 2 graph. Source: the gene as known on the reference, here HLA-DMA on CHM13, ten kilobases on chromosome 6; GRCh38 is a path in this graph too, so it works identically as the source. Target: HG02015 paternal, chosen from all 464; the picker can be restricted to haplotypes that contain the region.
Translated in about a hundred milliseconds, covering a hundred percent of bases.
Opening the result is the part I care about most. HG02015 has its own CAT and Liftoff genes from release 2. What it does not have is everything that exists once, on one reference: ClinVar, the GWAS catalog, ENCODE, a lab's own tracks. Here they are, drawn at their translated positions, with the differences between the two assemblies marked.
(pause) The alignment that made this possible did not exist a second before the page loaded. It was built from the graph for this region and this haplotype, and the browser drew the tracks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[9:50-10:25]
Before, a locus could be moved only between assembly pairs with a prebuilt chain, and a release 2 haplotype without one showed only its own tracks. Now any of the 464 haplotypes can be the target, from GRCh38 or CHM13, in about a hundred milliseconds; the reference's tracks are drawn there over an alignment built for that region, with the differences marked.
The thousands of tracks that exist once, on one reference, will never be rebuilt 464 times. With this, any release 2 haplotype can borrow them for the region under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[10:25-10:50]
Put simply, three questions a release 2 user can now ask without leaving the browser.
Is my sequence in any HPRC individual? Paste it, and get every haplotype that carries it and where.
What does my locus look like on another haplotype? Give a position, pick a haplotype, and see it there with the reference annotation drawn on it.
And where does that haplotype differ from the reference? Same view: the graph's alignment, base by base.
A browser tab, and a sequence or a position. No pipeline, no download.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[10:50-11:35]
None of this matters if it takes a minute. So: is it fast enough to sit behind a web page?
Exon-scale intervals translate in about twenty milliseconds, a ten-kilobase gene in about a tenth of a second, a hundred kilobases in under a second, a megabase in about four.
And it serves many people at once: throughput goes from six to sixty queries a second and saturates around eight cores. Read that as "one box serves about sixty queries a second", not as perfect scaling; the single-thread number was warm-up-limited.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[11:35-12:15]
So, the two use cases. Sequence search: every carrying haplotype found in seconds, and the sequence viewed as a track on any of them. Coordinate translation: any of the 464 haplotypes as the target in about a hundred milliseconds, with the reference's annotation drawn there.
Release 2 becomes something a scientist can query, not only browse. The next step is the public UCSC Genome Browser. It is available on the development browser now; bring us your hardest region.
(Advance to thanks. Let it breathe.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[12:15-12:30]
None of this was mine alone: Jouni Sirén, Benedict Paten, and a lot of help from the Computational Genomics Lab and the Genome Browser team.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coordinate translation query on the toy graph from the paper, for questions about how tags become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accuracy in repeats, or how the output relates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for questions about what it takes to run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sp>
        <p:nvSpPr>
          <p:cNvPr id="3" name="Shape 1"/>
          <p:cNvSpPr/>
          <p:nvPr/>
        </p:nvSpPr>
        <p:spPr>
          <a:xfrm>
            <a:off x="0" y="23317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png">    </p:cNvPr>
          <p:cNvPicPr>
            <a:picLocks noChangeAspect="1"/>
          </p:cNvPicPr>
          <p:nvPr/>
        </p:nvPicPr>
        <p:blipFill>
          <a:blip r:embed="rId1"/>
          <a:stretch>
            <a:fillRect/>
          </a:stretch>
        </p:blipFill>
        <p:spPr>
          <a:xfrm>
            <a:off x="6613855" y="17579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1874520"/>
            <a:ext cx="3657600" cy="320040"/>
          </a:xfrm>
          <a:prstGeom prst="rect">
            <a:avLst/>
          </a:prstGeom>
          <a:noFill/>
          <a:ln/>
        </p:spPr>
        <p:txBody>
          <a:bodyPr wrap="square" lIns="0" tIns="0" rIns="0" bIns="0" rtlCol="0" anchor="t"/>
          <a:lstStyle/>
          <a:p>
            <a:pPr indent="0" marL="0">
              <a:buNone/>
            </a:pPr>
            <a:r>
              <a:rPr lang="en-US" sz="1400" b="1" spc="300" kern="0" dirty="0">
                <a:solidFill>
                  <a:srgbClr val="FDC700"/>
                </a:solidFill>
                <a:latin typeface="Calibri" pitchFamily="34" charset="0"/>
                <a:ea typeface="Calibri" pitchFamily="34" charset="-122"/>
                <a:cs typeface="Calibri" pitchFamily="34" charset="-120"/>
              </a:rPr>
              <a:t>HPRC 2026</a:t>
            </a:r>
            <a:endParaRPr lang="en-US" sz="1400" dirty="0"/>
          </a:p>
        </p:txBody>
      </p:sp>
      <p:sp>
        <p:nvSpPr>
          <p:cNvPr id="7" name="Text 3"/>
          <p:cNvSpPr txBox="1"/>
          <p:nvPr/>
        </p:nvSpPr>
        <p:spPr>
          <a:xfrm>
            <a:off x="548640" y="2606040"/>
            <a:ext cx="1078992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A pangenome sequence search and coordinate</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translation service for the UCSC Genome Browser</a:t>
            </a:r>
            <a:endParaRPr lang="en-US" sz="3800" dirty="0"/>
          </a:p>
        </p:txBody>
      </p:sp>
      <p:sp>
        <p:nvSpPr>
          <p:cNvPr id="8" name="Text 4"/>
          <p:cNvSpPr txBox="1"/>
          <p:nvPr/>
        </p:nvSpPr>
        <p:spPr>
          <a:xfrm>
            <a:off x="548640" y="4251960"/>
            <a:ext cx="10789920" cy="457200"/>
          </a:xfrm>
          <a:prstGeom prst="rect">
            <a:avLst/>
          </a:prstGeom>
          <a:noFill/>
          <a:ln/>
        </p:spPr>
        <p:txBody>
          <a:bodyPr wrap="square" lIns="0" tIns="0" rIns="0" bIns="0" rtlCol="0" anchor="t"/>
          <a:lstStyle/>
          <a:p>
            <a:pPr indent="0" marL="0">
              <a:buNone/>
            </a:pPr>
            <a:r>
              <a:rPr lang="en-US" sz="2000" dirty="0">
                <a:solidFill>
                  <a:srgbClr val="FDC700"/>
                </a:solidFill>
                <a:latin typeface="Calibri" pitchFamily="34" charset="0"/>
                <a:ea typeface="Calibri" pitchFamily="34" charset="-122"/>
                <a:cs typeface="Calibri" pitchFamily="34" charset="-120"/>
              </a:rPr>
              <a:t>Making the HPRC release 2 assemblies queryable: any sequence, any locus, any of 464 haplotypes</a:t>
            </a:r>
            <a:endParaRPr lang="en-US" sz="2000" dirty="0"/>
          </a:p>
        </p:txBody>
      </p:sp>
      <p:sp>
        <p:nvSpPr>
          <p:cNvPr id="9" name="Text 5"/>
          <p:cNvSpPr txBox="1"/>
          <p:nvPr/>
        </p:nvSpPr>
        <p:spPr>
          <a:xfrm>
            <a:off x="548640" y="5532120"/>
            <a:ext cx="9144000" cy="41148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Parsa Eskandar   •   Jouni Sirén   •   Benedict Paten</a:t>
            </a:r>
            <a:endParaRPr lang="en-US" sz="1800" dirty="0"/>
          </a:p>
        </p:txBody>
      </p:sp>
      <p:sp>
        <p:nvSpPr>
          <p:cNvPr id="10" name="Text 6"/>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UC Santa Cruz Genomics Institute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411480"/>
            <a:ext cx="11094415" cy="457200"/>
          </a:xfrm>
          <a:prstGeom prst="rect">
            <a:avLst/>
          </a:prstGeom>
          <a:noFill/>
          <a:ln/>
        </p:spPr>
        <p:txBody>
          <a:bodyPr wrap="square" lIns="0" tIns="0" rIns="0" bIns="0" rtlCol="0" anchor="t"/>
          <a:lstStyle/>
          <a:p>
            <a:pPr algn="ctr" indent="0" marL="0">
              <a:buNone/>
            </a:pPr>
            <a:r>
              <a:rPr lang="en-US" sz="2000" spc="100" kern="0" dirty="0">
                <a:solidFill>
                  <a:srgbClr val="C6D3DF"/>
                </a:solidFill>
                <a:latin typeface="Calibri" pitchFamily="34" charset="0"/>
                <a:ea typeface="Calibri" pitchFamily="34" charset="-122"/>
                <a:cs typeface="Calibri" pitchFamily="34" charset="-120"/>
              </a:rPr>
              <a:t>HPRC release 2: 464 haplotypes in one graph</a:t>
            </a:r>
            <a:endParaRPr lang="en-US" sz="2000" dirty="0"/>
          </a:p>
        </p:txBody>
      </p:sp>
      <p:sp>
        <p:nvSpPr>
          <p:cNvPr id="4" name="Text 2"/>
          <p:cNvSpPr txBox="1"/>
          <p:nvPr/>
        </p:nvSpPr>
        <p:spPr>
          <a:xfrm>
            <a:off x="548640" y="1005840"/>
            <a:ext cx="3566160" cy="1737360"/>
          </a:xfrm>
          <a:prstGeom prst="rect">
            <a:avLst/>
          </a:prstGeom>
          <a:noFill/>
          <a:ln/>
        </p:spPr>
        <p:txBody>
          <a:bodyPr wrap="square" lIns="0" tIns="0" rIns="0" bIns="0" rtlCol="0" anchor="ctr"/>
          <a:lstStyle/>
          <a:p>
            <a:pPr algn="ctr" indent="0" marL="0">
              <a:buNone/>
            </a:pPr>
            <a:r>
              <a:rPr lang="en-US" sz="12000" b="1" dirty="0">
                <a:solidFill>
                  <a:srgbClr val="FDC700"/>
                </a:solidFill>
                <a:latin typeface="Calibri" pitchFamily="34" charset="0"/>
                <a:ea typeface="Calibri" pitchFamily="34" charset="-122"/>
                <a:cs typeface="Calibri" pitchFamily="34" charset="-120"/>
              </a:rPr>
              <a:t>2</a:t>
            </a:r>
            <a:endParaRPr lang="en-US" sz="12000" dirty="0"/>
          </a:p>
        </p:txBody>
      </p:sp>
      <p:sp>
        <p:nvSpPr>
          <p:cNvPr id="5" name="Text 3"/>
          <p:cNvSpPr txBox="1"/>
          <p:nvPr/>
        </p:nvSpPr>
        <p:spPr>
          <a:xfrm>
            <a:off x="548640" y="2743200"/>
            <a:ext cx="3566160" cy="457200"/>
          </a:xfrm>
          <a:prstGeom prst="rect">
            <a:avLst/>
          </a:prstGeom>
          <a:noFill/>
          <a:ln/>
        </p:spPr>
        <p:txBody>
          <a:bodyPr wrap="square" lIns="0" tIns="0" rIns="0" bIns="0" rtlCol="0" anchor="t"/>
          <a:lstStyle/>
          <a:p>
            <a:pPr algn="ctr" indent="0" marL="0">
              <a:buNone/>
            </a:pPr>
            <a:r>
              <a:rPr lang="en-US" sz="2200" b="1" dirty="0">
                <a:solidFill>
                  <a:srgbClr val="FFFFFF"/>
                </a:solidFill>
                <a:latin typeface="Calibri" pitchFamily="34" charset="0"/>
                <a:ea typeface="Calibri" pitchFamily="34" charset="-122"/>
                <a:cs typeface="Calibri" pitchFamily="34" charset="-120"/>
              </a:rPr>
              <a:t>GRCh38 and CHM13</a:t>
            </a:r>
            <a:endParaRPr lang="en-US" sz="2200" dirty="0"/>
          </a:p>
        </p:txBody>
      </p:sp>
      <p:sp>
        <p:nvSpPr>
          <p:cNvPr id="6" name="Text 4"/>
          <p:cNvSpPr txBox="1"/>
          <p:nvPr/>
        </p:nvSpPr>
        <p:spPr>
          <a:xfrm>
            <a:off x="548640" y="3246120"/>
            <a:ext cx="3566160" cy="1188720"/>
          </a:xfrm>
          <a:prstGeom prst="rect">
            <a:avLst/>
          </a:prstGeom>
          <a:noFill/>
          <a:ln/>
        </p:spPr>
        <p:txBody>
          <a:bodyPr wrap="square" lIns="0" tIns="0" rIns="0" bIns="0" rtlCol="0" anchor="t"/>
          <a:lstStyle/>
          <a:p>
            <a:pPr algn="ctr" indent="0" marL="0">
              <a:buNone/>
            </a:pPr>
            <a:r>
              <a:rPr lang="en-US" sz="1500" dirty="0">
                <a:solidFill>
                  <a:srgbClr val="C6D3DF"/>
                </a:solidFill>
                <a:latin typeface="Calibri" pitchFamily="34" charset="0"/>
                <a:ea typeface="Calibri" pitchFamily="34" charset="-122"/>
                <a:cs typeface="Calibri" pitchFamily="34" charset="-120"/>
              </a:rPr>
              <a:t>carry almost everything we know: gene models, ClinVar, GWAS, regulatory annotation, everyone's own tracks</a:t>
            </a:r>
            <a:endParaRPr lang="en-US" sz="1500" dirty="0"/>
          </a:p>
        </p:txBody>
      </p:sp>
      <p:sp>
        <p:nvSpPr>
          <p:cNvPr id="7" name="Text 5"/>
          <p:cNvSpPr txBox="1"/>
          <p:nvPr/>
        </p:nvSpPr>
        <p:spPr>
          <a:xfrm>
            <a:off x="8076895" y="1005840"/>
            <a:ext cx="3566160" cy="1737360"/>
          </a:xfrm>
          <a:prstGeom prst="rect">
            <a:avLst/>
          </a:prstGeom>
          <a:noFill/>
          <a:ln/>
        </p:spPr>
        <p:txBody>
          <a:bodyPr wrap="square" lIns="0" tIns="0" rIns="0" bIns="0" rtlCol="0" anchor="ctr"/>
          <a:lstStyle/>
          <a:p>
            <a:pPr algn="ctr" indent="0" marL="0">
              <a:buNone/>
            </a:pPr>
            <a:r>
              <a:rPr lang="en-US" sz="12000" b="1" dirty="0">
                <a:solidFill>
                  <a:srgbClr val="FFFFFF"/>
                </a:solidFill>
                <a:latin typeface="Calibri" pitchFamily="34" charset="0"/>
                <a:ea typeface="Calibri" pitchFamily="34" charset="-122"/>
                <a:cs typeface="Calibri" pitchFamily="34" charset="-120"/>
              </a:rPr>
              <a:t>462</a:t>
            </a:r>
            <a:endParaRPr lang="en-US" sz="12000" dirty="0"/>
          </a:p>
        </p:txBody>
      </p:sp>
      <p:sp>
        <p:nvSpPr>
          <p:cNvPr id="8" name="Text 6"/>
          <p:cNvSpPr txBox="1"/>
          <p:nvPr/>
        </p:nvSpPr>
        <p:spPr>
          <a:xfrm>
            <a:off x="8076895" y="2743200"/>
            <a:ext cx="3566160" cy="457200"/>
          </a:xfrm>
          <a:prstGeom prst="rect">
            <a:avLst/>
          </a:prstGeom>
          <a:noFill/>
          <a:ln/>
        </p:spPr>
        <p:txBody>
          <a:bodyPr wrap="square" lIns="0" tIns="0" rIns="0" bIns="0" rtlCol="0" anchor="t"/>
          <a:lstStyle/>
          <a:p>
            <a:pPr algn="ctr" indent="0" marL="0">
              <a:buNone/>
            </a:pPr>
            <a:r>
              <a:rPr lang="en-US" sz="2200" b="1" dirty="0">
                <a:solidFill>
                  <a:srgbClr val="FFFFFF"/>
                </a:solidFill>
                <a:latin typeface="Calibri" pitchFamily="34" charset="0"/>
                <a:ea typeface="Calibri" pitchFamily="34" charset="-122"/>
                <a:cs typeface="Calibri" pitchFamily="34" charset="-120"/>
              </a:rPr>
              <a:t>new haplotypes</a:t>
            </a:r>
            <a:endParaRPr lang="en-US" sz="2200" dirty="0"/>
          </a:p>
        </p:txBody>
      </p:sp>
      <p:sp>
        <p:nvSpPr>
          <p:cNvPr id="9" name="Text 7"/>
          <p:cNvSpPr txBox="1"/>
          <p:nvPr/>
        </p:nvSpPr>
        <p:spPr>
          <a:xfrm>
            <a:off x="8076895" y="3246120"/>
            <a:ext cx="3566160" cy="1188720"/>
          </a:xfrm>
          <a:prstGeom prst="rect">
            <a:avLst/>
          </a:prstGeom>
          <a:noFill/>
          <a:ln/>
        </p:spPr>
        <p:txBody>
          <a:bodyPr wrap="square" lIns="0" tIns="0" rIns="0" bIns="0" rtlCol="0" anchor="t"/>
          <a:lstStyle/>
          <a:p>
            <a:pPr algn="ctr" indent="0" marL="0">
              <a:buNone/>
            </a:pPr>
            <a:r>
              <a:rPr lang="en-US" sz="1500" dirty="0">
                <a:solidFill>
                  <a:srgbClr val="C6D3DF"/>
                </a:solidFill>
                <a:latin typeface="Calibri" pitchFamily="34" charset="0"/>
                <a:ea typeface="Calibri" pitchFamily="34" charset="-122"/>
                <a:cs typeface="Calibri" pitchFamily="34" charset="-120"/>
              </a:rPr>
              <a:t>carry what the references miss: insertions, HLA and LPA alleles, segmental duplications. Almost none of our annotation.</a:t>
            </a:r>
            <a:endParaRPr lang="en-US" sz="1500" dirty="0"/>
          </a:p>
        </p:txBody>
      </p:sp>
      <p:sp>
        <p:nvSpPr>
          <p:cNvPr id="10" name="Shape 8"/>
          <p:cNvSpPr/>
          <p:nvPr/>
        </p:nvSpPr>
        <p:spPr>
          <a:xfrm>
            <a:off x="4389120" y="1965960"/>
            <a:ext cx="3413455" cy="384048"/>
          </a:xfrm>
          <a:prstGeom prst="rightArrow">
            <a:avLst/>
          </a:prstGeom>
          <a:solidFill>
            <a:srgbClr val="FDC700"/>
          </a:solidFill>
          <a:ln w="12700">
            <a:solidFill>
              <a:srgbClr val="FDC700"/>
            </a:solidFill>
            <a:prstDash val="solid"/>
          </a:ln>
        </p:spPr>
      </p:sp>
      <p:sp>
        <p:nvSpPr>
          <p:cNvPr id="11" name="Text 9"/>
          <p:cNvSpPr txBox="1"/>
          <p:nvPr/>
        </p:nvSpPr>
        <p:spPr>
          <a:xfrm>
            <a:off x="4389120" y="1508760"/>
            <a:ext cx="3413455" cy="411480"/>
          </a:xfrm>
          <a:prstGeom prst="rect">
            <a:avLst/>
          </a:prstGeom>
          <a:noFill/>
          <a:ln/>
        </p:spPr>
        <p:txBody>
          <a:bodyPr wrap="square" lIns="0" tIns="0" rIns="0" bIns="0" rtlCol="0" anchor="t"/>
          <a:lstStyle/>
          <a:p>
            <a:pPr algn="ctr" indent="0" marL="0">
              <a:buNone/>
            </a:pPr>
            <a:r>
              <a:rPr lang="en-US" sz="1700" b="1" dirty="0">
                <a:solidFill>
                  <a:srgbClr val="FDC700"/>
                </a:solidFill>
                <a:latin typeface="Calibri" pitchFamily="34" charset="0"/>
                <a:ea typeface="Calibri" pitchFamily="34" charset="-122"/>
                <a:cs typeface="Calibri" pitchFamily="34" charset="-120"/>
              </a:rPr>
              <a:t>knowledge travels out</a:t>
            </a:r>
            <a:endParaRPr lang="en-US" sz="1700" dirty="0"/>
          </a:p>
        </p:txBody>
      </p:sp>
      <p:sp>
        <p:nvSpPr>
          <p:cNvPr id="12" name="Text 10"/>
          <p:cNvSpPr txBox="1"/>
          <p:nvPr/>
        </p:nvSpPr>
        <p:spPr>
          <a:xfrm>
            <a:off x="4389120" y="2368296"/>
            <a:ext cx="3413455" cy="548640"/>
          </a:xfrm>
          <a:prstGeom prst="rect">
            <a:avLst/>
          </a:prstGeom>
          <a:noFill/>
          <a:ln/>
        </p:spPr>
        <p:txBody>
          <a:bodyPr wrap="square" lIns="0" tIns="0" rIns="0" bIns="0" rtlCol="0" anchor="t"/>
          <a:lstStyle/>
          <a:p>
            <a:pPr algn="ctr" indent="0" marL="0">
              <a:buNone/>
            </a:pPr>
            <a:r>
              <a:rPr lang="en-US" sz="1300" dirty="0">
                <a:solidFill>
                  <a:srgbClr val="C6D3DF"/>
                </a:solidFill>
                <a:latin typeface="Calibri" pitchFamily="34" charset="0"/>
                <a:ea typeface="Calibri" pitchFamily="34" charset="-122"/>
                <a:cs typeface="Calibri" pitchFamily="34" charset="-120"/>
              </a:rPr>
              <a:t>a gene we understand on GRCh38, seen on any haplotype</a:t>
            </a:r>
            <a:endParaRPr lang="en-US" sz="1300" dirty="0"/>
          </a:p>
        </p:txBody>
      </p:sp>
      <p:sp>
        <p:nvSpPr>
          <p:cNvPr id="13" name="Shape 11"/>
          <p:cNvSpPr/>
          <p:nvPr/>
        </p:nvSpPr>
        <p:spPr>
          <a:xfrm>
            <a:off x="4389120" y="3520440"/>
            <a:ext cx="3413455" cy="384048"/>
          </a:xfrm>
          <a:prstGeom prst="leftArrow">
            <a:avLst/>
          </a:prstGeom>
          <a:solidFill>
            <a:srgbClr val="0E7C9C"/>
          </a:solidFill>
          <a:ln w="12700">
            <a:solidFill>
              <a:srgbClr val="0E7C9C"/>
            </a:solidFill>
            <a:prstDash val="solid"/>
          </a:ln>
        </p:spPr>
      </p:sp>
      <p:sp>
        <p:nvSpPr>
          <p:cNvPr id="14" name="Text 12"/>
          <p:cNvSpPr txBox="1"/>
          <p:nvPr/>
        </p:nvSpPr>
        <p:spPr>
          <a:xfrm>
            <a:off x="4389120" y="3063240"/>
            <a:ext cx="3413455" cy="411480"/>
          </a:xfrm>
          <a:prstGeom prst="rect">
            <a:avLst/>
          </a:prstGeom>
          <a:noFill/>
          <a:ln/>
        </p:spPr>
        <p:txBody>
          <a:bodyPr wrap="square" lIns="0" tIns="0" rIns="0" bIns="0" rtlCol="0" anchor="t"/>
          <a:lstStyle/>
          <a:p>
            <a:pPr algn="ctr" indent="0" marL="0">
              <a:buNone/>
            </a:pPr>
            <a:r>
              <a:rPr lang="en-US" sz="1700" b="1" dirty="0">
                <a:solidFill>
                  <a:srgbClr val="5FC3DE"/>
                </a:solidFill>
                <a:latin typeface="Calibri" pitchFamily="34" charset="0"/>
                <a:ea typeface="Calibri" pitchFamily="34" charset="-122"/>
                <a:cs typeface="Calibri" pitchFamily="34" charset="-120"/>
              </a:rPr>
              <a:t>sequence travels back</a:t>
            </a:r>
            <a:endParaRPr lang="en-US" sz="1700" dirty="0"/>
          </a:p>
        </p:txBody>
      </p:sp>
      <p:sp>
        <p:nvSpPr>
          <p:cNvPr id="15" name="Text 13"/>
          <p:cNvSpPr txBox="1"/>
          <p:nvPr/>
        </p:nvSpPr>
        <p:spPr>
          <a:xfrm>
            <a:off x="4389120" y="3922776"/>
            <a:ext cx="3413455" cy="548640"/>
          </a:xfrm>
          <a:prstGeom prst="rect">
            <a:avLst/>
          </a:prstGeom>
          <a:noFill/>
          <a:ln/>
        </p:spPr>
        <p:txBody>
          <a:bodyPr wrap="square" lIns="0" tIns="0" rIns="0" bIns="0" rtlCol="0" anchor="t"/>
          <a:lstStyle/>
          <a:p>
            <a:pPr algn="ctr" indent="0" marL="0">
              <a:buNone/>
            </a:pPr>
            <a:r>
              <a:rPr lang="en-US" sz="1300" dirty="0">
                <a:solidFill>
                  <a:srgbClr val="C6D3DF"/>
                </a:solidFill>
                <a:latin typeface="Calibri" pitchFamily="34" charset="0"/>
                <a:ea typeface="Calibri" pitchFamily="34" charset="-122"/>
                <a:cs typeface="Calibri" pitchFamily="34" charset="-120"/>
              </a:rPr>
              <a:t>a sequence not in the reference: which haplotypes carry it, next to what we know</a:t>
            </a:r>
            <a:endParaRPr lang="en-US" sz="1300" dirty="0"/>
          </a:p>
        </p:txBody>
      </p:sp>
      <p:sp>
        <p:nvSpPr>
          <p:cNvPr id="16" name="Shape 14"/>
          <p:cNvSpPr/>
          <p:nvPr/>
        </p:nvSpPr>
        <p:spPr>
          <a:xfrm>
            <a:off x="1920240" y="5029200"/>
            <a:ext cx="8351215" cy="0"/>
          </a:xfrm>
          <a:prstGeom prst="line">
            <a:avLst/>
          </a:prstGeom>
          <a:noFill/>
          <a:ln w="12700">
            <a:solidFill>
              <a:srgbClr val="3D5A7A"/>
            </a:solidFill>
            <a:prstDash val="solid"/>
          </a:ln>
        </p:spPr>
      </p:sp>
      <p:sp>
        <p:nvSpPr>
          <p:cNvPr id="17" name="Text 15"/>
          <p:cNvSpPr txBox="1"/>
          <p:nvPr/>
        </p:nvSpPr>
        <p:spPr>
          <a:xfrm>
            <a:off x="548640" y="5212080"/>
            <a:ext cx="11094415" cy="457200"/>
          </a:xfrm>
          <a:prstGeom prst="rect">
            <a:avLst/>
          </a:prstGeom>
          <a:noFill/>
          <a:ln/>
        </p:spPr>
        <p:txBody>
          <a:bodyPr wrap="square" lIns="0" tIns="0" rIns="0" bIns="0" rtlCol="0" anchor="t"/>
          <a:lstStyle/>
          <a:p>
            <a:pPr algn="ctr" indent="0" marL="0">
              <a:buNone/>
            </a:pPr>
            <a:r>
              <a:rPr lang="en-US" sz="2000" dirty="0">
                <a:solidFill>
                  <a:srgbClr val="FFFFFF"/>
                </a:solidFill>
                <a:latin typeface="Calibri" pitchFamily="34" charset="0"/>
                <a:ea typeface="Calibri" pitchFamily="34" charset="-122"/>
                <a:cs typeface="Calibri" pitchFamily="34" charset="-120"/>
              </a:rPr>
              <a:t>Both directions are possible today, with a cluster and a terminal.</a:t>
            </a:r>
            <a:endParaRPr lang="en-US" sz="2000" dirty="0"/>
          </a:p>
        </p:txBody>
      </p:sp>
      <p:sp>
        <p:nvSpPr>
          <p:cNvPr id="18" name="Text 16"/>
          <p:cNvSpPr txBox="1"/>
          <p:nvPr/>
        </p:nvSpPr>
        <p:spPr>
          <a:xfrm>
            <a:off x="548640" y="5669280"/>
            <a:ext cx="11094415" cy="457200"/>
          </a:xfrm>
          <a:prstGeom prst="rect">
            <a:avLst/>
          </a:prstGeom>
          <a:noFill/>
          <a:ln/>
        </p:spPr>
        <p:txBody>
          <a:bodyPr wrap="square" lIns="0" tIns="0" rIns="0" bIns="0" rtlCol="0" anchor="t"/>
          <a:lstStyle/>
          <a:p>
            <a:pPr algn="ctr" indent="0" marL="0">
              <a:buNone/>
            </a:pPr>
            <a:r>
              <a:rPr lang="en-US" sz="2000" i="1" dirty="0">
                <a:solidFill>
                  <a:srgbClr val="FDC700"/>
                </a:solidFill>
                <a:latin typeface="Calibri" pitchFamily="34" charset="0"/>
                <a:ea typeface="Calibri" pitchFamily="34" charset="-122"/>
                <a:cs typeface="Calibri" pitchFamily="34" charset="-120"/>
              </a:rPr>
              <a:t>For a clinician, neither is an option: release 2 stays 464 assemblies to browse one at a time.</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Possible on release 2, only in a terminal</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48640" y="1325880"/>
            <a:ext cx="3454298" cy="4160520"/>
          </a:xfrm>
          <a:prstGeom prst="roundRect">
            <a:avLst>
              <a:gd name="adj" fmla="val 3177"/>
            </a:avLst>
          </a:prstGeom>
          <a:solidFill>
            <a:srgbClr val="EDF1F6"/>
          </a:solidFill>
          <a:ln w="12700">
            <a:solidFill>
              <a:srgbClr val="DCE3EB"/>
            </a:solidFill>
            <a:prstDash val="solid"/>
          </a:ln>
        </p:spPr>
      </p:sp>
      <p:sp>
        <p:nvSpPr>
          <p:cNvPr id="5" name="Shape 3"/>
          <p:cNvSpPr/>
          <p:nvPr/>
        </p:nvSpPr>
        <p:spPr>
          <a:xfrm>
            <a:off x="868680" y="1645920"/>
            <a:ext cx="731520" cy="73152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58875" y="1836115"/>
            <a:ext cx="351130" cy="351130"/>
          </a:xfrm>
          <a:prstGeom prst="rect">
            <a:avLst/>
          </a:prstGeom>
        </p:spPr>
      </p:pic>
      <p:sp>
        <p:nvSpPr>
          <p:cNvPr id="7" name="Text 4"/>
          <p:cNvSpPr txBox="1"/>
          <p:nvPr/>
        </p:nvSpPr>
        <p:spPr>
          <a:xfrm>
            <a:off x="868680"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Place a sequence across haplotypes</a:t>
            </a:r>
            <a:endParaRPr lang="en-US" sz="2100" dirty="0"/>
          </a:p>
        </p:txBody>
      </p:sp>
      <p:sp>
        <p:nvSpPr>
          <p:cNvPr id="8" name="Text 5"/>
          <p:cNvSpPr txBox="1"/>
          <p:nvPr/>
        </p:nvSpPr>
        <p:spPr>
          <a:xfrm>
            <a:off x="868680"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Which of the 464 haplotypes carry a sequence, where, and what does each region look like? Today: a giraffe index, a mapping run, and a terminal session before the first answer.</a:t>
            </a:r>
            <a:endParaRPr lang="en-US" sz="1600" dirty="0"/>
          </a:p>
        </p:txBody>
      </p:sp>
      <p:sp>
        <p:nvSpPr>
          <p:cNvPr id="9" name="Shape 6"/>
          <p:cNvSpPr/>
          <p:nvPr/>
        </p:nvSpPr>
        <p:spPr>
          <a:xfrm>
            <a:off x="4368698" y="1325880"/>
            <a:ext cx="3454298" cy="4160520"/>
          </a:xfrm>
          <a:prstGeom prst="roundRect">
            <a:avLst>
              <a:gd name="adj" fmla="val 3177"/>
            </a:avLst>
          </a:prstGeom>
          <a:solidFill>
            <a:srgbClr val="EDF1F6"/>
          </a:solidFill>
          <a:ln w="12700">
            <a:solidFill>
              <a:srgbClr val="DCE3EB"/>
            </a:solidFill>
            <a:prstDash val="solid"/>
          </a:ln>
        </p:spPr>
      </p:sp>
      <p:sp>
        <p:nvSpPr>
          <p:cNvPr id="10" name="Shape 7"/>
          <p:cNvSpPr/>
          <p:nvPr/>
        </p:nvSpPr>
        <p:spPr>
          <a:xfrm>
            <a:off x="4688738" y="1645920"/>
            <a:ext cx="731520" cy="73152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4878934" y="1836115"/>
            <a:ext cx="351130" cy="351130"/>
          </a:xfrm>
          <a:prstGeom prst="rect">
            <a:avLst/>
          </a:prstGeom>
        </p:spPr>
      </p:pic>
      <p:sp>
        <p:nvSpPr>
          <p:cNvPr id="12" name="Text 8"/>
          <p:cNvSpPr txBox="1"/>
          <p:nvPr/>
        </p:nvSpPr>
        <p:spPr>
          <a:xfrm>
            <a:off x="4688738"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Move a locus onto a haplotype</a:t>
            </a:r>
            <a:endParaRPr lang="en-US" sz="2100" dirty="0"/>
          </a:p>
        </p:txBody>
      </p:sp>
      <p:sp>
        <p:nvSpPr>
          <p:cNvPr id="13" name="Text 9"/>
          <p:cNvSpPr txBox="1"/>
          <p:nvPr/>
        </p:nvSpPr>
        <p:spPr>
          <a:xfrm>
            <a:off x="4688738"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Take coordinates known on GRCh38 or CHM13 to any release 2 haplotype you choose. Today: halLiftover or impg over the whole alignment, per request, or a ready-made chain for a handful of pairs.</a:t>
            </a:r>
            <a:endParaRPr lang="en-US" sz="1600" dirty="0"/>
          </a:p>
        </p:txBody>
      </p:sp>
      <p:sp>
        <p:nvSpPr>
          <p:cNvPr id="14" name="Shape 10"/>
          <p:cNvSpPr/>
          <p:nvPr/>
        </p:nvSpPr>
        <p:spPr>
          <a:xfrm>
            <a:off x="8188757" y="1325880"/>
            <a:ext cx="3454298" cy="4160520"/>
          </a:xfrm>
          <a:prstGeom prst="roundRect">
            <a:avLst>
              <a:gd name="adj" fmla="val 3177"/>
            </a:avLst>
          </a:prstGeom>
          <a:solidFill>
            <a:srgbClr val="EDF1F6"/>
          </a:solidFill>
          <a:ln w="12700">
            <a:solidFill>
              <a:srgbClr val="DCE3EB"/>
            </a:solidFill>
            <a:prstDash val="solid"/>
          </a:ln>
        </p:spPr>
      </p:sp>
      <p:sp>
        <p:nvSpPr>
          <p:cNvPr id="15" name="Shape 11"/>
          <p:cNvSpPr/>
          <p:nvPr/>
        </p:nvSpPr>
        <p:spPr>
          <a:xfrm>
            <a:off x="8508797" y="1645920"/>
            <a:ext cx="731520" cy="731520"/>
          </a:xfrm>
          <a:prstGeom prst="ellipse">
            <a:avLst/>
          </a:prstGeom>
          <a:solidFill>
            <a:srgbClr val="003C6C"/>
          </a:solidFill>
          <a:ln w="12700">
            <a:solidFill>
              <a:srgbClr val="003C6C"/>
            </a:solidFill>
            <a:prstDash val="solid"/>
          </a:ln>
        </p:spPr>
      </p:sp>
      <p:pic>
        <p:nvPicPr>
          <p:cNvPr id="16" name="Image 2" descr="preencoded.png">    </p:cNvPr>
          <p:cNvPicPr>
            <a:picLocks noChangeAspect="1"/>
          </p:cNvPicPr>
          <p:nvPr/>
        </p:nvPicPr>
        <p:blipFill>
          <a:blip r:embed="rId3"/>
          <a:stretch>
            <a:fillRect/>
          </a:stretch>
        </p:blipFill>
        <p:spPr>
          <a:xfrm>
            <a:off x="8698992" y="1836115"/>
            <a:ext cx="351130" cy="351130"/>
          </a:xfrm>
          <a:prstGeom prst="rect">
            <a:avLst/>
          </a:prstGeom>
        </p:spPr>
      </p:pic>
      <p:sp>
        <p:nvSpPr>
          <p:cNvPr id="17" name="Text 12"/>
          <p:cNvSpPr txBox="1"/>
          <p:nvPr/>
        </p:nvSpPr>
        <p:spPr>
          <a:xfrm>
            <a:off x="8508797"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Bring the annotation along</a:t>
            </a:r>
            <a:endParaRPr lang="en-US" sz="2100" dirty="0"/>
          </a:p>
        </p:txBody>
      </p:sp>
      <p:sp>
        <p:nvSpPr>
          <p:cNvPr id="18" name="Text 13"/>
          <p:cNvSpPr txBox="1"/>
          <p:nvPr/>
        </p:nvSpPr>
        <p:spPr>
          <a:xfrm>
            <a:off x="8508797"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See the reference's gene models, ClinVar, GWAS or one's own tracks on a release 2 haplotype. Today: lift every track yourself, per haplotype, before anyone can look.</a:t>
            </a:r>
            <a:endParaRPr lang="en-US" sz="1600" dirty="0"/>
          </a:p>
        </p:txBody>
      </p:sp>
      <p:sp>
        <p:nvSpPr>
          <p:cNvPr id="19" name="Text 14"/>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holds the answers. Reaching them takes resources and expertise most clinicians and many researchers do not have.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use cases on the release 2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548640" y="1325880"/>
            <a:ext cx="5364328" cy="4114800"/>
          </a:xfrm>
          <a:prstGeom prst="roundRect">
            <a:avLst>
              <a:gd name="adj" fmla="val 2667"/>
            </a:avLst>
          </a:prstGeom>
          <a:solidFill>
            <a:srgbClr val="EDF1F6"/>
          </a:solidFill>
          <a:ln w="12700">
            <a:solidFill>
              <a:srgbClr val="DCE3EB"/>
            </a:solidFill>
            <a:prstDash val="solid"/>
          </a:ln>
        </p:spPr>
      </p:sp>
      <p:sp>
        <p:nvSpPr>
          <p:cNvPr id="5" name="Shape 3"/>
          <p:cNvSpPr/>
          <p:nvPr/>
        </p:nvSpPr>
        <p:spPr>
          <a:xfrm>
            <a:off x="868680" y="1691640"/>
            <a:ext cx="777240" cy="77724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800" dirty="0"/>
          </a:p>
        </p:txBody>
      </p:sp>
      <p:sp>
        <p:nvSpPr>
          <p:cNvPr id="10" name="Text 7"/>
          <p:cNvSpPr txBox="1"/>
          <p:nvPr/>
        </p:nvSpPr>
        <p:spPr>
          <a:xfrm>
            <a:off x="868680"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1" name="Text 8"/>
          <p:cNvSpPr txBox="1"/>
          <p:nvPr/>
        </p:nvSpPr>
        <p:spPr>
          <a:xfrm>
            <a:off x="868680"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large index and a terminal</a:t>
            </a:r>
            <a:endParaRPr lang="en-US" sz="2200" dirty="0"/>
          </a:p>
        </p:txBody>
      </p:sp>
      <p:sp>
        <p:nvSpPr>
          <p:cNvPr id="12" name="Shape 9"/>
          <p:cNvSpPr/>
          <p:nvPr/>
        </p:nvSpPr>
        <p:spPr>
          <a:xfrm>
            <a:off x="6278728" y="1325880"/>
            <a:ext cx="5364328" cy="4114800"/>
          </a:xfrm>
          <a:prstGeom prst="roundRect">
            <a:avLst>
              <a:gd name="adj" fmla="val 2667"/>
            </a:avLst>
          </a:prstGeom>
          <a:solidFill>
            <a:srgbClr val="EDF1F6"/>
          </a:solidFill>
          <a:ln w="12700">
            <a:solidFill>
              <a:srgbClr val="DCE3EB"/>
            </a:solidFill>
            <a:prstDash val="solid"/>
          </a:ln>
        </p:spPr>
      </p:sp>
      <p:sp>
        <p:nvSpPr>
          <p:cNvPr id="13" name="Shape 10"/>
          <p:cNvSpPr/>
          <p:nvPr/>
        </p:nvSpPr>
        <p:spPr>
          <a:xfrm>
            <a:off x="6598768" y="1691640"/>
            <a:ext cx="777240" cy="77724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5" name="Text 11"/>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2</a:t>
            </a:r>
            <a:endParaRPr lang="en-US" sz="1400" dirty="0"/>
          </a:p>
        </p:txBody>
      </p:sp>
      <p:sp>
        <p:nvSpPr>
          <p:cNvPr id="16" name="Text 12"/>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Coordinate translation</a:t>
            </a:r>
            <a:endParaRPr lang="en-US" sz="2200" dirty="0"/>
          </a:p>
        </p:txBody>
      </p:sp>
      <p:sp>
        <p:nvSpPr>
          <p:cNvPr id="17" name="Text 13"/>
          <p:cNvSpPr txBox="1"/>
          <p:nvPr/>
        </p:nvSpPr>
        <p:spPr>
          <a:xfrm>
            <a:off x="6598768"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800" dirty="0"/>
          </a:p>
        </p:txBody>
      </p:sp>
      <p:sp>
        <p:nvSpPr>
          <p:cNvPr id="18" name="Text 14"/>
          <p:cNvSpPr txBox="1"/>
          <p:nvPr/>
        </p:nvSpPr>
        <p:spPr>
          <a:xfrm>
            <a:off x="6598768"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9" name="Text 15"/>
          <p:cNvSpPr txBox="1"/>
          <p:nvPr/>
        </p:nvSpPr>
        <p:spPr>
          <a:xfrm>
            <a:off x="6598768"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few chains; a script for the rest</a:t>
            </a:r>
            <a:endParaRPr lang="en-US" sz="2200" dirty="0"/>
          </a:p>
        </p:txBody>
      </p:sp>
      <p:sp>
        <p:nvSpPr>
          <p:cNvPr id="20" name="Text 16"/>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Both are shown live on the release 2 graph in this talk.</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questions, answered in milliseconds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548640" y="1417320"/>
            <a:ext cx="5364328" cy="2514600"/>
          </a:xfrm>
          <a:prstGeom prst="roundRect">
            <a:avLst>
              <a:gd name="adj" fmla="val 4364"/>
            </a:avLst>
          </a:prstGeom>
          <a:solidFill>
            <a:srgbClr val="EDF1F6"/>
          </a:solidFill>
          <a:ln w="12700">
            <a:solidFill>
              <a:srgbClr val="DCE3EB"/>
            </a:solidFill>
            <a:prstDash val="solid"/>
          </a:ln>
        </p:spPr>
      </p:sp>
      <p:sp>
        <p:nvSpPr>
          <p:cNvPr id="5" name="Shape 3"/>
          <p:cNvSpPr/>
          <p:nvPr/>
        </p:nvSpPr>
        <p:spPr>
          <a:xfrm>
            <a:off x="868680" y="1737360"/>
            <a:ext cx="731520" cy="73152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58875" y="1927555"/>
            <a:ext cx="351130" cy="351130"/>
          </a:xfrm>
          <a:prstGeom prst="rect">
            <a:avLst/>
          </a:prstGeom>
        </p:spPr>
      </p:pic>
      <p:sp>
        <p:nvSpPr>
          <p:cNvPr id="7" name="Text 4"/>
          <p:cNvSpPr txBox="1"/>
          <p:nvPr/>
        </p:nvSpPr>
        <p:spPr>
          <a:xfrm>
            <a:off x="1828800" y="1783080"/>
            <a:ext cx="3718408" cy="685800"/>
          </a:xfrm>
          <a:prstGeom prst="rect">
            <a:avLst/>
          </a:prstGeom>
          <a:noFill/>
          <a:ln/>
        </p:spPr>
        <p:txBody>
          <a:bodyPr wrap="square" lIns="0" tIns="0" rIns="0" bIns="0" rtlCol="0" anchor="ctr"/>
          <a:lstStyle/>
          <a:p>
            <a:pPr indent="0" marL="0">
              <a:buNone/>
            </a:pPr>
            <a:r>
              <a:rPr lang="en-US" sz="2000" b="1" dirty="0">
                <a:solidFill>
                  <a:srgbClr val="003C6C"/>
                </a:solidFill>
                <a:latin typeface="Calibri" pitchFamily="34" charset="0"/>
                <a:ea typeface="Calibri" pitchFamily="34" charset="-122"/>
                <a:cs typeface="Calibri" pitchFamily="34" charset="-120"/>
              </a:rPr>
              <a:t>Where in the graph is this sequence?</a:t>
            </a:r>
            <a:endParaRPr lang="en-US" sz="2000" dirty="0"/>
          </a:p>
        </p:txBody>
      </p:sp>
      <p:sp>
        <p:nvSpPr>
          <p:cNvPr id="8" name="Text 5"/>
          <p:cNvSpPr txBox="1"/>
          <p:nvPr/>
        </p:nvSpPr>
        <p:spPr>
          <a:xfrm>
            <a:off x="868680" y="2606040"/>
            <a:ext cx="4724248" cy="12344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Asked once against all 464 haplotypes, not 464 times against one assembly each. Any sequence, any length.</a:t>
            </a:r>
            <a:endParaRPr lang="en-US" sz="1700" dirty="0"/>
          </a:p>
        </p:txBody>
      </p:sp>
      <p:sp>
        <p:nvSpPr>
          <p:cNvPr id="9" name="Shape 6"/>
          <p:cNvSpPr/>
          <p:nvPr/>
        </p:nvSpPr>
        <p:spPr>
          <a:xfrm>
            <a:off x="3230804" y="4023360"/>
            <a:ext cx="0" cy="457200"/>
          </a:xfrm>
          <a:prstGeom prst="line">
            <a:avLst/>
          </a:prstGeom>
          <a:noFill/>
          <a:ln w="25400">
            <a:solidFill>
              <a:srgbClr val="003C6C"/>
            </a:solidFill>
            <a:prstDash val="solid"/>
            <a:tailEnd type="triangle"/>
          </a:ln>
        </p:spPr>
      </p:sp>
      <p:sp>
        <p:nvSpPr>
          <p:cNvPr id="10" name="Shape 7"/>
          <p:cNvSpPr/>
          <p:nvPr/>
        </p:nvSpPr>
        <p:spPr>
          <a:xfrm>
            <a:off x="6278728" y="1417320"/>
            <a:ext cx="5364328" cy="2514600"/>
          </a:xfrm>
          <a:prstGeom prst="roundRect">
            <a:avLst>
              <a:gd name="adj" fmla="val 4364"/>
            </a:avLst>
          </a:prstGeom>
          <a:solidFill>
            <a:srgbClr val="EDF1F6"/>
          </a:solidFill>
          <a:ln w="12700">
            <a:solidFill>
              <a:srgbClr val="DCE3EB"/>
            </a:solidFill>
            <a:prstDash val="solid"/>
          </a:ln>
        </p:spPr>
      </p:sp>
      <p:sp>
        <p:nvSpPr>
          <p:cNvPr id="11" name="Shape 8"/>
          <p:cNvSpPr/>
          <p:nvPr/>
        </p:nvSpPr>
        <p:spPr>
          <a:xfrm>
            <a:off x="6598768" y="1737360"/>
            <a:ext cx="731520" cy="731520"/>
          </a:xfrm>
          <a:prstGeom prst="ellipse">
            <a:avLst/>
          </a:prstGeom>
          <a:solidFill>
            <a:srgbClr val="003C6C"/>
          </a:solidFill>
          <a:ln w="12700">
            <a:solidFill>
              <a:srgbClr val="003C6C"/>
            </a:solidFill>
            <a:prstDash val="solid"/>
          </a:ln>
        </p:spPr>
      </p:sp>
      <p:pic>
        <p:nvPicPr>
          <p:cNvPr id="12" name="Image 1" descr="preencoded.png">    </p:cNvPr>
          <p:cNvPicPr>
            <a:picLocks noChangeAspect="1"/>
          </p:cNvPicPr>
          <p:nvPr/>
        </p:nvPicPr>
        <p:blipFill>
          <a:blip r:embed="rId2"/>
          <a:stretch>
            <a:fillRect/>
          </a:stretch>
        </p:blipFill>
        <p:spPr>
          <a:xfrm>
            <a:off x="6788963" y="1927555"/>
            <a:ext cx="351130" cy="351130"/>
          </a:xfrm>
          <a:prstGeom prst="rect">
            <a:avLst/>
          </a:prstGeom>
        </p:spPr>
      </p:pic>
      <p:sp>
        <p:nvSpPr>
          <p:cNvPr id="13" name="Text 9"/>
          <p:cNvSpPr txBox="1"/>
          <p:nvPr/>
        </p:nvSpPr>
        <p:spPr>
          <a:xfrm>
            <a:off x="7558888" y="1783080"/>
            <a:ext cx="3718408" cy="685800"/>
          </a:xfrm>
          <a:prstGeom prst="rect">
            <a:avLst/>
          </a:prstGeom>
          <a:noFill/>
          <a:ln/>
        </p:spPr>
        <p:txBody>
          <a:bodyPr wrap="square" lIns="0" tIns="0" rIns="0" bIns="0" rtlCol="0" anchor="ctr"/>
          <a:lstStyle/>
          <a:p>
            <a:pPr indent="0" marL="0">
              <a:buNone/>
            </a:pPr>
            <a:r>
              <a:rPr lang="en-US" sz="2000" b="1" dirty="0">
                <a:solidFill>
                  <a:srgbClr val="003C6C"/>
                </a:solidFill>
                <a:latin typeface="Calibri" pitchFamily="34" charset="0"/>
                <a:ea typeface="Calibri" pitchFamily="34" charset="-122"/>
                <a:cs typeface="Calibri" pitchFamily="34" charset="-120"/>
              </a:rPr>
              <a:t>Who passes through this node, and where?</a:t>
            </a:r>
            <a:endParaRPr lang="en-US" sz="2000" dirty="0"/>
          </a:p>
        </p:txBody>
      </p:sp>
      <p:sp>
        <p:nvSpPr>
          <p:cNvPr id="14" name="Text 10"/>
          <p:cNvSpPr txBox="1"/>
          <p:nvPr/>
        </p:nvSpPr>
        <p:spPr>
          <a:xfrm>
            <a:off x="6598768" y="2606040"/>
            <a:ext cx="4724248" cy="12344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Answered for any haplotype against any other, without a pairwise alignment prepared for each of the 200,000+ pairs.</a:t>
            </a:r>
            <a:endParaRPr lang="en-US" sz="1700" dirty="0"/>
          </a:p>
        </p:txBody>
      </p:sp>
      <p:sp>
        <p:nvSpPr>
          <p:cNvPr id="15" name="Shape 11"/>
          <p:cNvSpPr/>
          <p:nvPr/>
        </p:nvSpPr>
        <p:spPr>
          <a:xfrm>
            <a:off x="8960891" y="4023360"/>
            <a:ext cx="0" cy="457200"/>
          </a:xfrm>
          <a:prstGeom prst="line">
            <a:avLst/>
          </a:prstGeom>
          <a:noFill/>
          <a:ln w="25400">
            <a:solidFill>
              <a:srgbClr val="003C6C"/>
            </a:solidFill>
            <a:prstDash val="solid"/>
            <a:tailEnd type="triangle"/>
          </a:ln>
        </p:spPr>
      </p:sp>
      <p:sp>
        <p:nvSpPr>
          <p:cNvPr id="16" name="Shape 12"/>
          <p:cNvSpPr/>
          <p:nvPr/>
        </p:nvSpPr>
        <p:spPr>
          <a:xfrm>
            <a:off x="548640" y="4572000"/>
            <a:ext cx="11094415" cy="1325880"/>
          </a:xfrm>
          <a:prstGeom prst="roundRect">
            <a:avLst>
              <a:gd name="adj" fmla="val 8276"/>
            </a:avLst>
          </a:prstGeom>
          <a:solidFill>
            <a:srgbClr val="003C6C"/>
          </a:solidFill>
          <a:ln w="12700">
            <a:solidFill>
              <a:srgbClr val="003C6C"/>
            </a:solidFill>
            <a:prstDash val="solid"/>
          </a:ln>
        </p:spPr>
      </p:sp>
      <p:sp>
        <p:nvSpPr>
          <p:cNvPr id="17" name="Text 13"/>
          <p:cNvSpPr txBox="1"/>
          <p:nvPr/>
        </p:nvSpPr>
        <p:spPr>
          <a:xfrm>
            <a:off x="548640" y="4690872"/>
            <a:ext cx="11094415" cy="502920"/>
          </a:xfrm>
          <a:prstGeom prst="rect">
            <a:avLst/>
          </a:prstGeom>
          <a:noFill/>
          <a:ln/>
        </p:spPr>
        <p:txBody>
          <a:bodyPr wrap="square" lIns="0" tIns="0" rIns="0" bIns="0" rtlCol="0" anchor="t"/>
          <a:lstStyle/>
          <a:p>
            <a:pPr algn="ctr" indent="0" marL="0">
              <a:buNone/>
            </a:pPr>
            <a:r>
              <a:rPr lang="en-US" sz="2400" b="1" dirty="0">
                <a:solidFill>
                  <a:srgbClr val="FFFFFF"/>
                </a:solidFill>
                <a:latin typeface="Calibri" pitchFamily="34" charset="0"/>
                <a:ea typeface="Calibri" pitchFamily="34" charset="-122"/>
                <a:cs typeface="Calibri" pitchFamily="34" charset="-120"/>
              </a:rPr>
              <a:t>One index answers both: the tag array index</a:t>
            </a:r>
            <a:endParaRPr lang="en-US" sz="2400" dirty="0"/>
          </a:p>
        </p:txBody>
      </p:sp>
      <p:sp>
        <p:nvSpPr>
          <p:cNvPr id="18" name="Text 14"/>
          <p:cNvSpPr txBox="1"/>
          <p:nvPr/>
        </p:nvSpPr>
        <p:spPr>
          <a:xfrm>
            <a:off x="548640" y="5257800"/>
            <a:ext cx="11094415" cy="41148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Built once over the release 2 graph. Everything in the rest of this talk is a query against it.</a:t>
            </a:r>
            <a:endParaRPr lang="en-US" sz="1600" dirty="0"/>
          </a:p>
        </p:txBody>
      </p:sp>
      <p:sp>
        <p:nvSpPr>
          <p:cNvPr id="19"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A web page can wait a second, not an hour. The index is what makes that possible.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Tag arrays: an index that knows the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6</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2_0.png">    </p:cNvPr>
          <p:cNvPicPr>
            <a:picLocks noChangeAspect="1"/>
          </p:cNvPicPr>
          <p:nvPr/>
        </p:nvPicPr>
        <p:blipFill>
          <a:blip r:embed="rId1"/>
          <a:stretch>
            <a:fillRect/>
          </a:stretch>
        </p:blipFill>
        <p:spPr>
          <a:xfrm>
            <a:off x="548640" y="1371600"/>
            <a:ext cx="5154182" cy="3429000"/>
          </a:xfrm>
          <a:prstGeom prst="rect">
            <a:avLst/>
          </a:prstGeom>
        </p:spPr>
      </p:pic>
      <p:pic>
        <p:nvPicPr>
          <p:cNvPr id="6" name="Image 1" descr="/Users/seeskand/Documents/HPRC/2026/hprc_2026_poster/talk/figures/bwt_col.png">    </p:cNvPr>
          <p:cNvPicPr>
            <a:picLocks noChangeAspect="1"/>
          </p:cNvPicPr>
          <p:nvPr/>
        </p:nvPicPr>
        <p:blipFill>
          <a:blip r:embed="rId2"/>
          <a:stretch>
            <a:fillRect/>
          </a:stretch>
        </p:blipFill>
        <p:spPr>
          <a:xfrm>
            <a:off x="6205742" y="1371600"/>
            <a:ext cx="1285219" cy="3429000"/>
          </a:xfrm>
          <a:prstGeom prst="rect">
            <a:avLst/>
          </a:prstGeom>
        </p:spPr>
      </p:pic>
      <p:pic>
        <p:nvPicPr>
          <p:cNvPr id="7" name="Image 2" descr="/Users/seeskand/Documents/HPRC/2026/hprc_2026_poster/talk/figures/tags_col.png">    </p:cNvPr>
          <p:cNvPicPr>
            <a:picLocks noChangeAspect="1"/>
          </p:cNvPicPr>
          <p:nvPr/>
        </p:nvPicPr>
        <p:blipFill>
          <a:blip r:embed="rId3"/>
          <a:stretch>
            <a:fillRect/>
          </a:stretch>
        </p:blipFill>
        <p:spPr>
          <a:xfrm>
            <a:off x="7628122" y="1371600"/>
            <a:ext cx="737908" cy="3429000"/>
          </a:xfrm>
          <a:prstGeom prst="rect">
            <a:avLst/>
          </a:prstGeom>
        </p:spPr>
      </p:pic>
      <p:sp>
        <p:nvSpPr>
          <p:cNvPr id="8" name="Text 3"/>
          <p:cNvSpPr txBox="1"/>
          <p:nvPr/>
        </p:nvSpPr>
        <p:spPr>
          <a:xfrm>
            <a:off x="5382782" y="4846320"/>
            <a:ext cx="3806207" cy="320040"/>
          </a:xfrm>
          <a:prstGeom prst="rect">
            <a:avLst/>
          </a:prstGeom>
          <a:noFill/>
          <a:ln/>
        </p:spPr>
        <p:txBody>
          <a:bodyPr wrap="square" lIns="0" tIns="0" rIns="0" bIns="0" rtlCol="0" anchor="t"/>
          <a:lstStyle/>
          <a:p>
            <a:pPr algn="ctr" indent="0" marL="0">
              <a:buNone/>
            </a:pPr>
            <a:r>
              <a:rPr lang="en-US" sz="1100" i="1" dirty="0">
                <a:solidFill>
                  <a:srgbClr val="5B6B7C"/>
                </a:solidFill>
                <a:latin typeface="Calibri" pitchFamily="34" charset="0"/>
                <a:ea typeface="Calibri" pitchFamily="34" charset="-122"/>
                <a:cs typeface="Calibri" pitchFamily="34" charset="-120"/>
              </a:rPr>
              <a:t>every BWT position carries a tag: its node and offset</a:t>
            </a:r>
            <a:endParaRPr lang="en-US" sz="1100" dirty="0"/>
          </a:p>
        </p:txBody>
      </p:sp>
      <p:sp>
        <p:nvSpPr>
          <p:cNvPr id="9" name="Shape 4"/>
          <p:cNvSpPr/>
          <p:nvPr/>
        </p:nvSpPr>
        <p:spPr>
          <a:xfrm>
            <a:off x="548640" y="5321808"/>
            <a:ext cx="365760" cy="365760"/>
          </a:xfrm>
          <a:prstGeom prst="roundRect">
            <a:avLst>
              <a:gd name="adj" fmla="val 22500"/>
            </a:avLst>
          </a:prstGeom>
          <a:solidFill>
            <a:srgbClr val="FDC700"/>
          </a:solidFill>
          <a:ln w="12700">
            <a:solidFill>
              <a:srgbClr val="FDC700"/>
            </a:solidFill>
            <a:prstDash val="solid"/>
          </a:ln>
        </p:spPr>
      </p:sp>
      <p:sp>
        <p:nvSpPr>
          <p:cNvPr id="10" name="Text 5"/>
          <p:cNvSpPr txBox="1"/>
          <p:nvPr/>
        </p:nvSpPr>
        <p:spPr>
          <a:xfrm>
            <a:off x="548640" y="5321808"/>
            <a:ext cx="365760" cy="365760"/>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1" name="Text 6"/>
          <p:cNvSpPr txBox="1"/>
          <p:nvPr/>
        </p:nvSpPr>
        <p:spPr>
          <a:xfrm>
            <a:off x="1051560" y="5303520"/>
            <a:ext cx="2951378" cy="411480"/>
          </a:xfrm>
          <a:prstGeom prst="rect">
            <a:avLst/>
          </a:prstGeom>
          <a:noFill/>
          <a:ln/>
        </p:spPr>
        <p:txBody>
          <a:bodyPr wrap="square" lIns="0" tIns="0" rIns="0" bIns="0" rtlCol="0" anchor="ctr"/>
          <a:lstStyle/>
          <a:p>
            <a:pPr indent="0" marL="0">
              <a:buNone/>
            </a:pPr>
            <a:r>
              <a:rPr lang="en-US" sz="1500" b="1" dirty="0">
                <a:solidFill>
                  <a:srgbClr val="003C6C"/>
                </a:solidFill>
                <a:latin typeface="Calibri" pitchFamily="34" charset="0"/>
                <a:ea typeface="Calibri" pitchFamily="34" charset="-122"/>
                <a:cs typeface="Calibri" pitchFamily="34" charset="-120"/>
              </a:rPr>
              <a:t>One index answers for every haplotype</a:t>
            </a:r>
            <a:endParaRPr lang="en-US" sz="1500" dirty="0"/>
          </a:p>
        </p:txBody>
      </p:sp>
      <p:sp>
        <p:nvSpPr>
          <p:cNvPr id="12" name="Text 7"/>
          <p:cNvSpPr txBox="1"/>
          <p:nvPr/>
        </p:nvSpPr>
        <p:spPr>
          <a:xfrm>
            <a:off x="1051560" y="5760720"/>
            <a:ext cx="2951378" cy="685800"/>
          </a:xfrm>
          <a:prstGeom prst="rect">
            <a:avLst/>
          </a:prstGeom>
          <a:noFill/>
          <a:ln/>
        </p:spPr>
        <p:txBody>
          <a:bodyPr wrap="square" lIns="0" tIns="0" rIns="0" bIns="0" rtlCol="0" anchor="t"/>
          <a:lstStyle/>
          <a:p>
            <a:pPr indent="0" marL="0">
              <a:buNone/>
            </a:pPr>
            <a:r>
              <a:rPr lang="en-US" sz="1250" dirty="0">
                <a:solidFill>
                  <a:srgbClr val="18293B"/>
                </a:solidFill>
                <a:latin typeface="Calibri" pitchFamily="34" charset="0"/>
                <a:ea typeface="Calibri" pitchFamily="34" charset="-122"/>
                <a:cs typeface="Calibri" pitchFamily="34" charset="-120"/>
              </a:rPr>
              <a:t>All 464 haplotypes are indexed together. A sequence is looked up once and found on every haplotype that carries it.</a:t>
            </a:r>
            <a:endParaRPr lang="en-US" sz="1250" dirty="0"/>
          </a:p>
        </p:txBody>
      </p:sp>
      <p:sp>
        <p:nvSpPr>
          <p:cNvPr id="13" name="Shape 8"/>
          <p:cNvSpPr/>
          <p:nvPr/>
        </p:nvSpPr>
        <p:spPr>
          <a:xfrm>
            <a:off x="4368698" y="5321808"/>
            <a:ext cx="365760" cy="365760"/>
          </a:xfrm>
          <a:prstGeom prst="roundRect">
            <a:avLst>
              <a:gd name="adj" fmla="val 22500"/>
            </a:avLst>
          </a:prstGeom>
          <a:solidFill>
            <a:srgbClr val="FDC700"/>
          </a:solidFill>
          <a:ln w="12700">
            <a:solidFill>
              <a:srgbClr val="FDC700"/>
            </a:solidFill>
            <a:prstDash val="solid"/>
          </a:ln>
        </p:spPr>
      </p:sp>
      <p:sp>
        <p:nvSpPr>
          <p:cNvPr id="14" name="Text 9"/>
          <p:cNvSpPr txBox="1"/>
          <p:nvPr/>
        </p:nvSpPr>
        <p:spPr>
          <a:xfrm>
            <a:off x="4368698" y="5321808"/>
            <a:ext cx="365760" cy="365760"/>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0"/>
          <p:cNvSpPr txBox="1"/>
          <p:nvPr/>
        </p:nvSpPr>
        <p:spPr>
          <a:xfrm>
            <a:off x="4871618" y="5303520"/>
            <a:ext cx="2951378" cy="411480"/>
          </a:xfrm>
          <a:prstGeom prst="rect">
            <a:avLst/>
          </a:prstGeom>
          <a:noFill/>
          <a:ln/>
        </p:spPr>
        <p:txBody>
          <a:bodyPr wrap="square" lIns="0" tIns="0" rIns="0" bIns="0" rtlCol="0" anchor="ctr"/>
          <a:lstStyle/>
          <a:p>
            <a:pPr indent="0" marL="0">
              <a:buNone/>
            </a:pPr>
            <a:r>
              <a:rPr lang="en-US" sz="1500" b="1" dirty="0">
                <a:solidFill>
                  <a:srgbClr val="003C6C"/>
                </a:solidFill>
                <a:latin typeface="Calibri" pitchFamily="34" charset="0"/>
                <a:ea typeface="Calibri" pitchFamily="34" charset="-122"/>
                <a:cs typeface="Calibri" pitchFamily="34" charset="-120"/>
              </a:rPr>
              <a:t>Every match knows its place in the graph</a:t>
            </a:r>
            <a:endParaRPr lang="en-US" sz="1500" dirty="0"/>
          </a:p>
        </p:txBody>
      </p:sp>
      <p:sp>
        <p:nvSpPr>
          <p:cNvPr id="16" name="Text 11"/>
          <p:cNvSpPr txBox="1"/>
          <p:nvPr/>
        </p:nvSpPr>
        <p:spPr>
          <a:xfrm>
            <a:off x="4871618" y="5760720"/>
            <a:ext cx="2951378" cy="685800"/>
          </a:xfrm>
          <a:prstGeom prst="rect">
            <a:avLst/>
          </a:prstGeom>
          <a:noFill/>
          <a:ln/>
        </p:spPr>
        <p:txBody>
          <a:bodyPr wrap="square" lIns="0" tIns="0" rIns="0" bIns="0" rtlCol="0" anchor="t"/>
          <a:lstStyle/>
          <a:p>
            <a:pPr indent="0" marL="0">
              <a:buNone/>
            </a:pPr>
            <a:r>
              <a:rPr lang="en-US" sz="1250" dirty="0">
                <a:solidFill>
                  <a:srgbClr val="18293B"/>
                </a:solidFill>
                <a:latin typeface="Calibri" pitchFamily="34" charset="0"/>
                <a:ea typeface="Calibri" pitchFamily="34" charset="-122"/>
                <a:cs typeface="Calibri" pitchFamily="34" charset="-120"/>
              </a:rPr>
              <a:t>The tag on a BWT position is a node and an offset. A hit is a position in the graph, not a line in one assembly.</a:t>
            </a:r>
            <a:endParaRPr lang="en-US" sz="1250" dirty="0"/>
          </a:p>
        </p:txBody>
      </p:sp>
      <p:sp>
        <p:nvSpPr>
          <p:cNvPr id="17" name="Shape 12"/>
          <p:cNvSpPr/>
          <p:nvPr/>
        </p:nvSpPr>
        <p:spPr>
          <a:xfrm>
            <a:off x="8188757" y="5321808"/>
            <a:ext cx="365760" cy="365760"/>
          </a:xfrm>
          <a:prstGeom prst="roundRect">
            <a:avLst>
              <a:gd name="adj" fmla="val 22500"/>
            </a:avLst>
          </a:prstGeom>
          <a:solidFill>
            <a:srgbClr val="FDC700"/>
          </a:solidFill>
          <a:ln w="12700">
            <a:solidFill>
              <a:srgbClr val="FDC700"/>
            </a:solidFill>
            <a:prstDash val="solid"/>
          </a:ln>
        </p:spPr>
      </p:sp>
      <p:sp>
        <p:nvSpPr>
          <p:cNvPr id="18" name="Text 13"/>
          <p:cNvSpPr txBox="1"/>
          <p:nvPr/>
        </p:nvSpPr>
        <p:spPr>
          <a:xfrm>
            <a:off x="8188757" y="5321808"/>
            <a:ext cx="365760" cy="365760"/>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4"/>
          <p:cNvSpPr txBox="1"/>
          <p:nvPr/>
        </p:nvSpPr>
        <p:spPr>
          <a:xfrm>
            <a:off x="8691677" y="5303520"/>
            <a:ext cx="2951378" cy="411480"/>
          </a:xfrm>
          <a:prstGeom prst="rect">
            <a:avLst/>
          </a:prstGeom>
          <a:noFill/>
          <a:ln/>
        </p:spPr>
        <p:txBody>
          <a:bodyPr wrap="square" lIns="0" tIns="0" rIns="0" bIns="0" rtlCol="0" anchor="ctr"/>
          <a:lstStyle/>
          <a:p>
            <a:pPr indent="0" marL="0">
              <a:buNone/>
            </a:pPr>
            <a:r>
              <a:rPr lang="en-US" sz="1500" b="1" dirty="0">
                <a:solidFill>
                  <a:srgbClr val="003C6C"/>
                </a:solidFill>
                <a:latin typeface="Calibri" pitchFamily="34" charset="0"/>
                <a:ea typeface="Calibri" pitchFamily="34" charset="-122"/>
                <a:cs typeface="Calibri" pitchFamily="34" charset="-120"/>
              </a:rPr>
              <a:t>Every node knows who visits it</a:t>
            </a:r>
            <a:endParaRPr lang="en-US" sz="1500" dirty="0"/>
          </a:p>
        </p:txBody>
      </p:sp>
      <p:sp>
        <p:nvSpPr>
          <p:cNvPr id="20" name="Text 15"/>
          <p:cNvSpPr txBox="1"/>
          <p:nvPr/>
        </p:nvSpPr>
        <p:spPr>
          <a:xfrm>
            <a:off x="8691677" y="5760720"/>
            <a:ext cx="2951378" cy="685800"/>
          </a:xfrm>
          <a:prstGeom prst="rect">
            <a:avLst/>
          </a:prstGeom>
          <a:noFill/>
          <a:ln/>
        </p:spPr>
        <p:txBody>
          <a:bodyPr wrap="square" lIns="0" tIns="0" rIns="0" bIns="0" rtlCol="0" anchor="t"/>
          <a:lstStyle/>
          <a:p>
            <a:pPr indent="0" marL="0">
              <a:buNone/>
            </a:pPr>
            <a:r>
              <a:rPr lang="en-US" sz="1250" dirty="0">
                <a:solidFill>
                  <a:srgbClr val="18293B"/>
                </a:solidFill>
                <a:latin typeface="Calibri" pitchFamily="34" charset="0"/>
                <a:ea typeface="Calibri" pitchFamily="34" charset="-122"/>
                <a:cs typeface="Calibri" pitchFamily="34" charset="-120"/>
              </a:rPr>
              <a:t>Ask a node, get every haplotype passing through it with its own coordinate. That is how a locus moves between haplotypes.</a:t>
            </a:r>
            <a:endParaRPr lang="en-US" sz="1250" dirty="0"/>
          </a:p>
        </p:txBody>
      </p:sp>
      <p:sp>
        <p:nvSpPr>
          <p:cNvPr id="21" name="Text 16"/>
          <p:cNvSpPr txBox="1"/>
          <p:nvPr/>
        </p:nvSpPr>
        <p:spPr>
          <a:xfrm>
            <a:off x="548640" y="6473952"/>
            <a:ext cx="11094415" cy="292608"/>
          </a:xfrm>
          <a:prstGeom prst="rect">
            <a:avLst/>
          </a:prstGeom>
          <a:noFill/>
          <a:ln/>
        </p:spPr>
        <p:txBody>
          <a:bodyPr wrap="square" lIns="0" tIns="0" rIns="0" bIns="0" rtlCol="0" anchor="t"/>
          <a:lstStyle/>
          <a:p>
            <a:pPr algn="ctr" indent="0" marL="0">
              <a:buNone/>
            </a:pPr>
            <a:r>
              <a:rPr lang="en-US" sz="1100" dirty="0">
                <a:solidFill>
                  <a:srgbClr val="5B6B7C"/>
                </a:solidFill>
                <a:latin typeface="Calibri" pitchFamily="34" charset="0"/>
                <a:ea typeface="Calibri" pitchFamily="34" charset="-122"/>
                <a:cs typeface="Calibri" pitchFamily="34" charset="-120"/>
              </a:rPr>
              <a:t>Eskandar, Paten, Sirén. Lossless pangenome indexing using tag arrays. WABI 2025; Algorithms for Molecular Biology 2026.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7</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1 of 4</a:t>
            </a:r>
            <a:endParaRPr lang="en-US" sz="1600" dirty="0"/>
          </a:p>
        </p:txBody>
      </p:sp>
      <p:pic>
        <p:nvPicPr>
          <p:cNvPr id="5" name="Image 0" descr="/Users/seeskand/Documents/HPRC/2026/hprc_2026_poster/talk/figures/translation_step1.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FDC700"/>
          </a:solidFill>
          <a:ln w="12700">
            <a:solidFill>
              <a:srgbClr val="FDC700"/>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Find the query's nodes on the source path.</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8</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2 of 4</a:t>
            </a:r>
            <a:endParaRPr lang="en-US" sz="1600" dirty="0"/>
          </a:p>
        </p:txBody>
      </p:sp>
      <p:pic>
        <p:nvPicPr>
          <p:cNvPr id="5" name="Image 0" descr="/Users/seeskand/Documents/HPRC/2026/hprc_2026_poster/talk/figures/translation_step2.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FDC700"/>
          </a:solidFill>
          <a:ln w="12700">
            <a:solidFill>
              <a:srgbClr val="FDC700"/>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Ask the tag arrays who else is here.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9</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3 of 4</a:t>
            </a:r>
            <a:endParaRPr lang="en-US" sz="1600" dirty="0"/>
          </a:p>
        </p:txBody>
      </p:sp>
      <p:pic>
        <p:nvPicPr>
          <p:cNvPr id="5" name="Image 0" descr="/Users/seeskand/Documents/HPRC/2026/hprc_2026_poster/talk/figures/translation_step3.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EDF1F6"/>
          </a:solidFill>
          <a:ln w="12700">
            <a:solidFill>
              <a:srgbClr val="DCE3EB"/>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Ask the tag arrays who else is here.</a:t>
            </a:r>
            <a:endParaRPr lang="en-US" sz="1700" dirty="0"/>
          </a:p>
        </p:txBody>
      </p:sp>
      <p:sp>
        <p:nvSpPr>
          <p:cNvPr id="12" name="Shape 9"/>
          <p:cNvSpPr/>
          <p:nvPr/>
        </p:nvSpPr>
        <p:spPr>
          <a:xfrm>
            <a:off x="7863840" y="3657600"/>
            <a:ext cx="420624" cy="420624"/>
          </a:xfrm>
          <a:prstGeom prst="roundRect">
            <a:avLst>
              <a:gd name="adj" fmla="val 19565"/>
            </a:avLst>
          </a:prstGeom>
          <a:solidFill>
            <a:srgbClr val="FDC700"/>
          </a:solidFill>
          <a:ln w="12700">
            <a:solidFill>
              <a:srgbClr val="FDC700"/>
            </a:solidFill>
            <a:prstDash val="solid"/>
          </a:ln>
        </p:spPr>
      </p:sp>
      <p:sp>
        <p:nvSpPr>
          <p:cNvPr id="13" name="Text 10"/>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4" name="Text 11"/>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Nodes both visit exactly once: unambiguous anchors.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10</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4 of 4</a:t>
            </a:r>
            <a:endParaRPr lang="en-US" sz="1600" dirty="0"/>
          </a:p>
        </p:txBody>
      </p:sp>
      <p:pic>
        <p:nvPicPr>
          <p:cNvPr id="5" name="Image 0" descr="/Users/seeskand/Documents/HPRC/2026/hprc_2026_poster/talk/figures/translation_step4.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EDF1F6"/>
          </a:solidFill>
          <a:ln w="12700">
            <a:solidFill>
              <a:srgbClr val="DCE3EB"/>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Ask the tag arrays who else is here.</a:t>
            </a:r>
            <a:endParaRPr lang="en-US" sz="1700" dirty="0"/>
          </a:p>
        </p:txBody>
      </p:sp>
      <p:sp>
        <p:nvSpPr>
          <p:cNvPr id="12" name="Shape 9"/>
          <p:cNvSpPr/>
          <p:nvPr/>
        </p:nvSpPr>
        <p:spPr>
          <a:xfrm>
            <a:off x="7863840" y="3657600"/>
            <a:ext cx="420624" cy="420624"/>
          </a:xfrm>
          <a:prstGeom prst="roundRect">
            <a:avLst>
              <a:gd name="adj" fmla="val 19565"/>
            </a:avLst>
          </a:prstGeom>
          <a:solidFill>
            <a:srgbClr val="EDF1F6"/>
          </a:solidFill>
          <a:ln w="12700">
            <a:solidFill>
              <a:srgbClr val="DCE3EB"/>
            </a:solidFill>
            <a:prstDash val="solid"/>
          </a:ln>
        </p:spPr>
      </p:sp>
      <p:sp>
        <p:nvSpPr>
          <p:cNvPr id="13" name="Text 10"/>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3</a:t>
            </a:r>
            <a:endParaRPr lang="en-US" sz="1400" dirty="0"/>
          </a:p>
        </p:txBody>
      </p:sp>
      <p:sp>
        <p:nvSpPr>
          <p:cNvPr id="14" name="Text 11"/>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Nodes both visit exactly once: unambiguous anchors.</a:t>
            </a:r>
            <a:endParaRPr lang="en-US" sz="1700" dirty="0"/>
          </a:p>
        </p:txBody>
      </p:sp>
      <p:sp>
        <p:nvSpPr>
          <p:cNvPr id="15" name="Shape 12"/>
          <p:cNvSpPr/>
          <p:nvPr/>
        </p:nvSpPr>
        <p:spPr>
          <a:xfrm>
            <a:off x="7863840" y="4754880"/>
            <a:ext cx="420624" cy="420624"/>
          </a:xfrm>
          <a:prstGeom prst="roundRect">
            <a:avLst>
              <a:gd name="adj" fmla="val 19565"/>
            </a:avLst>
          </a:prstGeom>
          <a:solidFill>
            <a:srgbClr val="FDC700"/>
          </a:solidFill>
          <a:ln w="12700">
            <a:solidFill>
              <a:srgbClr val="FDC700"/>
            </a:solidFill>
            <a:prstDash val="solid"/>
          </a:ln>
        </p:spPr>
      </p:sp>
      <p:sp>
        <p:nvSpPr>
          <p:cNvPr id="16" name="Text 13"/>
          <p:cNvSpPr txBox="1"/>
          <p:nvPr/>
        </p:nvSpPr>
        <p:spPr>
          <a:xfrm>
            <a:off x="7863840" y="47548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7" name="Text 14"/>
          <p:cNvSpPr txBox="1"/>
          <p:nvPr/>
        </p:nvSpPr>
        <p:spPr>
          <a:xfrm>
            <a:off x="8458200" y="473659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Walk between anchors, base by base; group shared offsets into chain blocks.</a:t>
            </a:r>
            <a:endParaRPr lang="en-US" sz="1700" dirty="0"/>
          </a:p>
        </p:txBody>
      </p:sp>
      <p:sp>
        <p:nvSpPr>
          <p:cNvPr id="18"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output is a chain. Orthology is the graph's. Missing positions are possible; a repeat cannot manufacture a wrong one.</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1: a sequence that is not in GRCh38</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Pangenome Mapping</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scenario1.mp4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The sequence is pasted into Pangenome Mapping and mapped once, to the whole release 2 graph.</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Every haplotype that carries it is returned, ranked by identity: two of 464, and GRCh38 is not one of them.</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Selecting a carrier opens it in the browser with the sequence drawn as a track.</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12</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1465326" y="1325880"/>
            <a:ext cx="9261043" cy="3383280"/>
          </a:xfrm>
          <a:prstGeom prst="roundRect">
            <a:avLst>
              <a:gd name="adj" fmla="val 3243"/>
            </a:avLst>
          </a:prstGeom>
          <a:solidFill>
            <a:srgbClr val="EDF1F6"/>
          </a:solidFill>
          <a:ln w="12700">
            <a:solidFill>
              <a:srgbClr val="DCE3EB"/>
            </a:solidFill>
            <a:prstDash val="solid"/>
          </a:ln>
        </p:spPr>
      </p:sp>
      <p:sp>
        <p:nvSpPr>
          <p:cNvPr id="6" name="Shape 4"/>
          <p:cNvSpPr/>
          <p:nvPr/>
        </p:nvSpPr>
        <p:spPr>
          <a:xfrm>
            <a:off x="1611630"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1776222"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940814"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2242566"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mapping_result.png">    </p:cNvPr>
          <p:cNvPicPr>
            <a:picLocks noChangeAspect="1"/>
          </p:cNvPicPr>
          <p:nvPr/>
        </p:nvPicPr>
        <p:blipFill>
          <a:blip r:embed="rId1"/>
          <a:stretch>
            <a:fillRect/>
          </a:stretch>
        </p:blipFill>
        <p:spPr>
          <a:xfrm>
            <a:off x="1575054" y="1636776"/>
            <a:ext cx="9041587" cy="2962656"/>
          </a:xfrm>
          <a:prstGeom prst="rect">
            <a:avLst/>
          </a:prstGeom>
        </p:spPr>
      </p:pic>
      <p:sp>
        <p:nvSpPr>
          <p:cNvPr id="11" name="Shape 8"/>
          <p:cNvSpPr/>
          <p:nvPr/>
        </p:nvSpPr>
        <p:spPr>
          <a:xfrm>
            <a:off x="548640" y="498348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548640"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3" name="Text 10"/>
          <p:cNvSpPr txBox="1"/>
          <p:nvPr/>
        </p:nvSpPr>
        <p:spPr>
          <a:xfrm>
            <a:off x="1143000"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One search across all 464 haplotypes, instead of one assembly at a time.</a:t>
            </a:r>
            <a:endParaRPr lang="en-US" sz="1600" dirty="0"/>
          </a:p>
        </p:txBody>
      </p:sp>
      <p:sp>
        <p:nvSpPr>
          <p:cNvPr id="14" name="Shape 11"/>
          <p:cNvSpPr/>
          <p:nvPr/>
        </p:nvSpPr>
        <p:spPr>
          <a:xfrm>
            <a:off x="4368698" y="49834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4368698"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6" name="Text 13"/>
          <p:cNvSpPr txBox="1"/>
          <p:nvPr/>
        </p:nvSpPr>
        <p:spPr>
          <a:xfrm>
            <a:off x="4963058"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Sequences absent from the reference are found on the haplotypes that carry them.</a:t>
            </a:r>
            <a:endParaRPr lang="en-US" sz="1600" dirty="0"/>
          </a:p>
        </p:txBody>
      </p:sp>
      <p:sp>
        <p:nvSpPr>
          <p:cNvPr id="17" name="Shape 14"/>
          <p:cNvSpPr/>
          <p:nvPr/>
        </p:nvSpPr>
        <p:spPr>
          <a:xfrm>
            <a:off x="8188757" y="4983480"/>
            <a:ext cx="420624" cy="420624"/>
          </a:xfrm>
          <a:prstGeom prst="roundRect">
            <a:avLst>
              <a:gd name="adj" fmla="val 19565"/>
            </a:avLst>
          </a:prstGeom>
          <a:solidFill>
            <a:srgbClr val="FDC700"/>
          </a:solidFill>
          <a:ln w="12700">
            <a:solidFill>
              <a:srgbClr val="FDC700"/>
            </a:solidFill>
            <a:prstDash val="solid"/>
          </a:ln>
        </p:spPr>
      </p:sp>
      <p:sp>
        <p:nvSpPr>
          <p:cNvPr id="18" name="Text 15"/>
          <p:cNvSpPr txBox="1"/>
          <p:nvPr/>
        </p:nvSpPr>
        <p:spPr>
          <a:xfrm>
            <a:off x="8188757"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6"/>
          <p:cNvSpPr txBox="1"/>
          <p:nvPr/>
        </p:nvSpPr>
        <p:spPr>
          <a:xfrm>
            <a:off x="8783117"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Any carrier can be opened with the sequence as a track; another carrier costs no remapping.</a:t>
            </a:r>
            <a:endParaRPr lang="en-US" sz="1600" dirty="0"/>
          </a:p>
        </p:txBody>
      </p:sp>
      <p:sp>
        <p:nvSpPr>
          <p:cNvPr id="20" name="Text 17"/>
          <p:cNvSpPr txBox="1"/>
          <p:nvPr/>
        </p:nvSpPr>
        <p:spPr>
          <a:xfrm>
            <a:off x="548640" y="6263640"/>
            <a:ext cx="1109441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MAPQ is 0 by design: every locus exists hundreds of times in this graph. Per-haplotype identity and coverage replace it.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Moving a locus onto a release 2 haplotype today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13</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6" name="Shape 4"/>
          <p:cNvSpPr/>
          <p:nvPr/>
        </p:nvSpPr>
        <p:spPr>
          <a:xfrm>
            <a:off x="868680" y="1645920"/>
            <a:ext cx="640080" cy="640080"/>
          </a:xfrm>
          <a:prstGeom prst="ellipse">
            <a:avLst/>
          </a:prstGeom>
          <a:solidFill>
            <a:srgbClr val="003C6C"/>
          </a:solidFill>
          <a:ln w="12700">
            <a:solidFill>
              <a:srgbClr val="003C6C"/>
            </a:solidFill>
            <a:prstDash val="solid"/>
          </a:ln>
        </p:spPr>
      </p:sp>
      <p:pic>
        <p:nvPicPr>
          <p:cNvPr id="7"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8" name="Text 5"/>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needs a pairwise chain</a:t>
            </a:r>
            <a:endParaRPr lang="en-US" sz="2200" dirty="0"/>
          </a:p>
        </p:txBody>
      </p:sp>
      <p:sp>
        <p:nvSpPr>
          <p:cNvPr id="9" name="Text 6"/>
          <p:cNvSpPr txBox="1"/>
          <p:nvPr/>
        </p:nvSpPr>
        <p:spPr>
          <a:xfrm>
            <a:off x="868680" y="251460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Genome Browser can draw one assembly's tracks on another (QuickLift), but only over a prebuilt chain between the two assemblies.</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Chains are built on request, one assembly pair at a time.</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464 haplotypes are more than 200,000 pairs. Chains exist for 56 of them.</a:t>
            </a:r>
            <a:endParaRPr lang="en-US" sz="1700" dirty="0"/>
          </a:p>
        </p:txBody>
      </p:sp>
      <p:sp>
        <p:nvSpPr>
          <p:cNvPr id="10" name="Shape 7"/>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pic>
        <p:nvPicPr>
          <p:cNvPr id="11" name="Image 1" descr="/Users/seeskand/Documents/HPRC/2026/hprc_2026_poster/talk/figures/grids.png">    </p:cNvPr>
          <p:cNvPicPr>
            <a:picLocks noChangeAspect="1"/>
          </p:cNvPicPr>
          <p:nvPr/>
        </p:nvPicPr>
        <p:blipFill>
          <a:blip r:embed="rId2"/>
          <a:stretch>
            <a:fillRect/>
          </a:stretch>
        </p:blipFill>
        <p:spPr>
          <a:xfrm>
            <a:off x="6598768" y="1828800"/>
            <a:ext cx="4724248" cy="1666982"/>
          </a:xfrm>
          <a:prstGeom prst="rect">
            <a:avLst/>
          </a:prstGeom>
        </p:spPr>
      </p:pic>
      <p:sp>
        <p:nvSpPr>
          <p:cNvPr id="12" name="Text 8"/>
          <p:cNvSpPr txBox="1"/>
          <p:nvPr/>
        </p:nvSpPr>
        <p:spPr>
          <a:xfrm>
            <a:off x="6598768" y="3678662"/>
            <a:ext cx="4724248" cy="1097280"/>
          </a:xfrm>
          <a:prstGeom prst="rect">
            <a:avLst/>
          </a:prstGeom>
          <a:noFill/>
          <a:ln/>
        </p:spPr>
        <p:txBody>
          <a:bodyPr wrap="square" lIns="0" tIns="0" rIns="0" bIns="0" rtlCol="0" anchor="t"/>
          <a:lstStyle/>
          <a:p>
            <a:pPr algn="ctr" indent="0" marL="0">
              <a:buNone/>
            </a:pPr>
            <a:r>
              <a:rPr lang="en-US" sz="1900" i="1" dirty="0">
                <a:solidFill>
                  <a:srgbClr val="003C6C"/>
                </a:solidFill>
                <a:latin typeface="Calibri" pitchFamily="34" charset="0"/>
                <a:ea typeface="Calibri" pitchFamily="34" charset="-122"/>
                <a:cs typeface="Calibri" pitchFamily="34" charset="-120"/>
              </a:rPr>
              <a:t>For most release 2 haplotypes, HG02015 among them, no chain exists.</a:t>
            </a:r>
            <a:endParaRPr lang="en-US" sz="1900" dirty="0"/>
          </a:p>
        </p:txBody>
      </p:sp>
      <p:sp>
        <p:nvSpPr>
          <p:cNvPr id="13" name="Text 9"/>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contains the alignment for every pair. It has to be usable on demand.</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2: a known gene, on HG02015</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14</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coordinate translation and annotation transfer</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scenario2.mp4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Source: the gene's coordinates on the reference; target: HG02015 paternal, chosen from all 464 haplotypes.</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Translated in about 100 ms, covering 100% of bases.</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Opening the result shows the reference's tracks on HG02015, with insertions, deletions and mismatches marked.</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15</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11094415" cy="3819826"/>
          </a:xfrm>
          <a:prstGeom prst="roundRect">
            <a:avLst>
              <a:gd name="adj" fmla="val 2873"/>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lifted.png">    </p:cNvPr>
          <p:cNvPicPr>
            <a:picLocks noChangeAspect="1"/>
          </p:cNvPicPr>
          <p:nvPr/>
        </p:nvPicPr>
        <p:blipFill>
          <a:blip r:embed="rId1"/>
          <a:stretch>
            <a:fillRect/>
          </a:stretch>
        </p:blipFill>
        <p:spPr>
          <a:xfrm>
            <a:off x="658368" y="1636776"/>
            <a:ext cx="10874959" cy="3399202"/>
          </a:xfrm>
          <a:prstGeom prst="rect">
            <a:avLst/>
          </a:prstGeom>
        </p:spPr>
      </p:pic>
      <p:sp>
        <p:nvSpPr>
          <p:cNvPr id="11" name="Text 8"/>
          <p:cNvSpPr txBox="1"/>
          <p:nvPr/>
        </p:nvSpPr>
        <p:spPr>
          <a:xfrm>
            <a:off x="548640" y="5282866"/>
            <a:ext cx="11094415" cy="1051560"/>
          </a:xfrm>
          <a:prstGeom prst="rect">
            <a:avLst/>
          </a:prstGeom>
          <a:noFill/>
          <a:ln/>
        </p:spPr>
        <p:txBody>
          <a:bodyPr wrap="square" lIns="0" tIns="0" rIns="0" bIns="0" rtlCol="0" anchor="t"/>
          <a:lstStyle/>
          <a:p>
            <a:pPr indent="0" marL="0">
              <a:spcAft>
                <a:spcPts val="400"/>
              </a:spcAft>
              <a:buNone/>
            </a:pPr>
            <a:r>
              <a:rPr lang="en-US" sz="1600" b="1" dirty="0">
                <a:solidFill>
                  <a:srgbClr val="5B6B7C"/>
                </a:solidFill>
                <a:latin typeface="Calibri" pitchFamily="34" charset="0"/>
                <a:ea typeface="Calibri" pitchFamily="34" charset="-122"/>
                <a:cs typeface="Calibri" pitchFamily="34" charset="-120"/>
              </a:rPr>
              <a:t>Before: </a:t>
            </a:r>
            <a:pPr indent="0" marL="0">
              <a:spcAft>
                <a:spcPts val="400"/>
              </a:spcAft>
              <a:buNone/>
            </a:pPr>
            <a:r>
              <a:rPr lang="en-US" sz="1600" dirty="0">
                <a:solidFill>
                  <a:srgbClr val="5B6B7C"/>
                </a:solidFill>
                <a:latin typeface="Calibri" pitchFamily="34" charset="0"/>
                <a:ea typeface="Calibri" pitchFamily="34" charset="-122"/>
                <a:cs typeface="Calibri" pitchFamily="34" charset="-120"/>
              </a:rPr>
              <a:t>a locus could be moved only between assembly pairs with a prebuilt chain; a release 2 haplotype without one showed only its own tracks.</a:t>
            </a:r>
            <a:endParaRPr lang="en-US" sz="1600" dirty="0"/>
          </a:p>
          <a:p>
            <a:pPr indent="0" marL="0">
              <a:spcAft>
                <a:spcPts val="400"/>
              </a:spcAft>
              <a:buNone/>
            </a:pPr>
            <a:r>
              <a:rPr lang="en-US" sz="1600" b="1" dirty="0">
                <a:solidFill>
                  <a:srgbClr val="003C6C"/>
                </a:solidFill>
                <a:latin typeface="Calibri" pitchFamily="34" charset="0"/>
                <a:ea typeface="Calibri" pitchFamily="34" charset="-122"/>
                <a:cs typeface="Calibri" pitchFamily="34" charset="-120"/>
              </a:rPr>
              <a:t>Now: </a:t>
            </a:r>
            <a:pPr indent="0" marL="0">
              <a:spcAft>
                <a:spcPts val="400"/>
              </a:spcAft>
              <a:buNone/>
            </a:pPr>
            <a:r>
              <a:rPr lang="en-US" sz="1600" dirty="0">
                <a:solidFill>
                  <a:srgbClr val="18293B"/>
                </a:solidFill>
                <a:latin typeface="Calibri" pitchFamily="34" charset="0"/>
                <a:ea typeface="Calibri" pitchFamily="34" charset="-122"/>
                <a:cs typeface="Calibri" pitchFamily="34" charset="-120"/>
              </a:rPr>
              <a:t>any of the 464 haplotypes as the target, from GRCh38 or CHM13, in about 100 ms; the reference's tracks are drawn there over an alignment built for the region, with insertions, deletions and mismatches marked.</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a release 2 user can now ask</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16</a:t>
            </a:r>
            <a:endParaRPr lang="en-US" sz="1000" dirty="0"/>
          </a:p>
        </p:txBody>
      </p:sp>
      <p:sp>
        <p:nvSpPr>
          <p:cNvPr id="4" name="Shape 2"/>
          <p:cNvSpPr/>
          <p:nvPr/>
        </p:nvSpPr>
        <p:spPr>
          <a:xfrm>
            <a:off x="548640" y="1325880"/>
            <a:ext cx="3454298" cy="4114800"/>
          </a:xfrm>
          <a:prstGeom prst="roundRect">
            <a:avLst>
              <a:gd name="adj" fmla="val 3177"/>
            </a:avLst>
          </a:prstGeom>
          <a:solidFill>
            <a:srgbClr val="EDF1F6"/>
          </a:solidFill>
          <a:ln w="12700">
            <a:solidFill>
              <a:srgbClr val="DCE3EB"/>
            </a:solidFill>
            <a:prstDash val="solid"/>
          </a:ln>
        </p:spPr>
      </p:sp>
      <p:sp>
        <p:nvSpPr>
          <p:cNvPr id="5" name="Shape 3"/>
          <p:cNvSpPr/>
          <p:nvPr/>
        </p:nvSpPr>
        <p:spPr>
          <a:xfrm>
            <a:off x="868680" y="1645920"/>
            <a:ext cx="685800" cy="68580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46988" y="1824228"/>
            <a:ext cx="329184" cy="329184"/>
          </a:xfrm>
          <a:prstGeom prst="rect">
            <a:avLst/>
          </a:prstGeom>
        </p:spPr>
      </p:pic>
      <p:sp>
        <p:nvSpPr>
          <p:cNvPr id="7" name="Text 4"/>
          <p:cNvSpPr txBox="1"/>
          <p:nvPr/>
        </p:nvSpPr>
        <p:spPr>
          <a:xfrm>
            <a:off x="868680" y="2468880"/>
            <a:ext cx="2814218" cy="914400"/>
          </a:xfrm>
          <a:prstGeom prst="rect">
            <a:avLst/>
          </a:prstGeom>
          <a:noFill/>
          <a:ln/>
        </p:spPr>
        <p:txBody>
          <a:bodyPr wrap="square" lIns="0" tIns="0" rIns="0" bIns="0" rtlCol="0" anchor="t"/>
          <a:lstStyle/>
          <a:p>
            <a:pPr indent="0" marL="0">
              <a:buNone/>
            </a:pPr>
            <a:r>
              <a:rPr lang="en-US" sz="1900" b="1" dirty="0">
                <a:solidFill>
                  <a:srgbClr val="003C6C"/>
                </a:solidFill>
                <a:latin typeface="Calibri" pitchFamily="34" charset="0"/>
                <a:ea typeface="Calibri" pitchFamily="34" charset="-122"/>
                <a:cs typeface="Calibri" pitchFamily="34" charset="-120"/>
              </a:rPr>
              <a:t>Is my sequence in any HPRC individual?</a:t>
            </a:r>
            <a:endParaRPr lang="en-US" sz="1900" dirty="0"/>
          </a:p>
        </p:txBody>
      </p:sp>
      <p:sp>
        <p:nvSpPr>
          <p:cNvPr id="8" name="Text 5"/>
          <p:cNvSpPr txBox="1"/>
          <p:nvPr/>
        </p:nvSpPr>
        <p:spPr>
          <a:xfrm>
            <a:off x="868680" y="347472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give</a:t>
            </a:r>
            <a:endParaRPr lang="en-US" sz="1200" dirty="0"/>
          </a:p>
        </p:txBody>
      </p:sp>
      <p:sp>
        <p:nvSpPr>
          <p:cNvPr id="9" name="Text 6"/>
          <p:cNvSpPr txBox="1"/>
          <p:nvPr/>
        </p:nvSpPr>
        <p:spPr>
          <a:xfrm>
            <a:off x="868680" y="3749040"/>
            <a:ext cx="2814218" cy="45720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Paste a sequence.</a:t>
            </a:r>
            <a:endParaRPr lang="en-US" sz="1500" dirty="0"/>
          </a:p>
        </p:txBody>
      </p:sp>
      <p:sp>
        <p:nvSpPr>
          <p:cNvPr id="10" name="Text 7"/>
          <p:cNvSpPr txBox="1"/>
          <p:nvPr/>
        </p:nvSpPr>
        <p:spPr>
          <a:xfrm>
            <a:off x="868680" y="429768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get</a:t>
            </a:r>
            <a:endParaRPr lang="en-US" sz="1200" dirty="0"/>
          </a:p>
        </p:txBody>
      </p:sp>
      <p:sp>
        <p:nvSpPr>
          <p:cNvPr id="11" name="Text 8"/>
          <p:cNvSpPr txBox="1"/>
          <p:nvPr/>
        </p:nvSpPr>
        <p:spPr>
          <a:xfrm>
            <a:off x="868680" y="4572000"/>
            <a:ext cx="2814218"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Every haplotype that carries it, and where on each.</a:t>
            </a:r>
            <a:endParaRPr lang="en-US" sz="1500" dirty="0"/>
          </a:p>
        </p:txBody>
      </p:sp>
      <p:sp>
        <p:nvSpPr>
          <p:cNvPr id="12" name="Shape 9"/>
          <p:cNvSpPr/>
          <p:nvPr/>
        </p:nvSpPr>
        <p:spPr>
          <a:xfrm>
            <a:off x="4368698" y="1325880"/>
            <a:ext cx="3454298" cy="4114800"/>
          </a:xfrm>
          <a:prstGeom prst="roundRect">
            <a:avLst>
              <a:gd name="adj" fmla="val 3177"/>
            </a:avLst>
          </a:prstGeom>
          <a:solidFill>
            <a:srgbClr val="EDF1F6"/>
          </a:solidFill>
          <a:ln w="12700">
            <a:solidFill>
              <a:srgbClr val="DCE3EB"/>
            </a:solidFill>
            <a:prstDash val="solid"/>
          </a:ln>
        </p:spPr>
      </p:sp>
      <p:sp>
        <p:nvSpPr>
          <p:cNvPr id="13" name="Shape 10"/>
          <p:cNvSpPr/>
          <p:nvPr/>
        </p:nvSpPr>
        <p:spPr>
          <a:xfrm>
            <a:off x="4688738" y="1645920"/>
            <a:ext cx="685800" cy="68580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4867046" y="1824228"/>
            <a:ext cx="329184" cy="329184"/>
          </a:xfrm>
          <a:prstGeom prst="rect">
            <a:avLst/>
          </a:prstGeom>
        </p:spPr>
      </p:pic>
      <p:sp>
        <p:nvSpPr>
          <p:cNvPr id="15" name="Text 11"/>
          <p:cNvSpPr txBox="1"/>
          <p:nvPr/>
        </p:nvSpPr>
        <p:spPr>
          <a:xfrm>
            <a:off x="4688738" y="2468880"/>
            <a:ext cx="2814218" cy="914400"/>
          </a:xfrm>
          <a:prstGeom prst="rect">
            <a:avLst/>
          </a:prstGeom>
          <a:noFill/>
          <a:ln/>
        </p:spPr>
        <p:txBody>
          <a:bodyPr wrap="square" lIns="0" tIns="0" rIns="0" bIns="0" rtlCol="0" anchor="t"/>
          <a:lstStyle/>
          <a:p>
            <a:pPr indent="0" marL="0">
              <a:buNone/>
            </a:pPr>
            <a:r>
              <a:rPr lang="en-US" sz="1900" b="1" dirty="0">
                <a:solidFill>
                  <a:srgbClr val="003C6C"/>
                </a:solidFill>
                <a:latin typeface="Calibri" pitchFamily="34" charset="0"/>
                <a:ea typeface="Calibri" pitchFamily="34" charset="-122"/>
                <a:cs typeface="Calibri" pitchFamily="34" charset="-120"/>
              </a:rPr>
              <a:t>What does my locus look like on another haplotype?</a:t>
            </a:r>
            <a:endParaRPr lang="en-US" sz="1900" dirty="0"/>
          </a:p>
        </p:txBody>
      </p:sp>
      <p:sp>
        <p:nvSpPr>
          <p:cNvPr id="16" name="Text 12"/>
          <p:cNvSpPr txBox="1"/>
          <p:nvPr/>
        </p:nvSpPr>
        <p:spPr>
          <a:xfrm>
            <a:off x="4688738" y="347472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give</a:t>
            </a:r>
            <a:endParaRPr lang="en-US" sz="1200" dirty="0"/>
          </a:p>
        </p:txBody>
      </p:sp>
      <p:sp>
        <p:nvSpPr>
          <p:cNvPr id="17" name="Text 13"/>
          <p:cNvSpPr txBox="1"/>
          <p:nvPr/>
        </p:nvSpPr>
        <p:spPr>
          <a:xfrm>
            <a:off x="4688738" y="3749040"/>
            <a:ext cx="2814218" cy="45720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Give a position and pick a haplotype.</a:t>
            </a:r>
            <a:endParaRPr lang="en-US" sz="1500" dirty="0"/>
          </a:p>
        </p:txBody>
      </p:sp>
      <p:sp>
        <p:nvSpPr>
          <p:cNvPr id="18" name="Text 14"/>
          <p:cNvSpPr txBox="1"/>
          <p:nvPr/>
        </p:nvSpPr>
        <p:spPr>
          <a:xfrm>
            <a:off x="4688738" y="429768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get</a:t>
            </a:r>
            <a:endParaRPr lang="en-US" sz="1200" dirty="0"/>
          </a:p>
        </p:txBody>
      </p:sp>
      <p:sp>
        <p:nvSpPr>
          <p:cNvPr id="19" name="Text 15"/>
          <p:cNvSpPr txBox="1"/>
          <p:nvPr/>
        </p:nvSpPr>
        <p:spPr>
          <a:xfrm>
            <a:off x="4688738" y="4572000"/>
            <a:ext cx="2814218"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The locus on that haplotype, with the reference annotation drawn there.</a:t>
            </a:r>
            <a:endParaRPr lang="en-US" sz="1500" dirty="0"/>
          </a:p>
        </p:txBody>
      </p:sp>
      <p:sp>
        <p:nvSpPr>
          <p:cNvPr id="20" name="Shape 16"/>
          <p:cNvSpPr/>
          <p:nvPr/>
        </p:nvSpPr>
        <p:spPr>
          <a:xfrm>
            <a:off x="8188757" y="1325880"/>
            <a:ext cx="3454298" cy="4114800"/>
          </a:xfrm>
          <a:prstGeom prst="roundRect">
            <a:avLst>
              <a:gd name="adj" fmla="val 3177"/>
            </a:avLst>
          </a:prstGeom>
          <a:solidFill>
            <a:srgbClr val="EDF1F6"/>
          </a:solidFill>
          <a:ln w="12700">
            <a:solidFill>
              <a:srgbClr val="DCE3EB"/>
            </a:solidFill>
            <a:prstDash val="solid"/>
          </a:ln>
        </p:spPr>
      </p:sp>
      <p:sp>
        <p:nvSpPr>
          <p:cNvPr id="21" name="Shape 17"/>
          <p:cNvSpPr/>
          <p:nvPr/>
        </p:nvSpPr>
        <p:spPr>
          <a:xfrm>
            <a:off x="8508797" y="1645920"/>
            <a:ext cx="685800" cy="685800"/>
          </a:xfrm>
          <a:prstGeom prst="ellipse">
            <a:avLst/>
          </a:prstGeom>
          <a:solidFill>
            <a:srgbClr val="003C6C"/>
          </a:solidFill>
          <a:ln w="12700">
            <a:solidFill>
              <a:srgbClr val="003C6C"/>
            </a:solidFill>
            <a:prstDash val="solid"/>
          </a:ln>
        </p:spPr>
      </p:sp>
      <p:pic>
        <p:nvPicPr>
          <p:cNvPr id="22" name="Image 2" descr="preencoded.png">    </p:cNvPr>
          <p:cNvPicPr>
            <a:picLocks noChangeAspect="1"/>
          </p:cNvPicPr>
          <p:nvPr/>
        </p:nvPicPr>
        <p:blipFill>
          <a:blip r:embed="rId3"/>
          <a:stretch>
            <a:fillRect/>
          </a:stretch>
        </p:blipFill>
        <p:spPr>
          <a:xfrm>
            <a:off x="8687105" y="1824228"/>
            <a:ext cx="329184" cy="329184"/>
          </a:xfrm>
          <a:prstGeom prst="rect">
            <a:avLst/>
          </a:prstGeom>
        </p:spPr>
      </p:pic>
      <p:sp>
        <p:nvSpPr>
          <p:cNvPr id="23" name="Text 18"/>
          <p:cNvSpPr txBox="1"/>
          <p:nvPr/>
        </p:nvSpPr>
        <p:spPr>
          <a:xfrm>
            <a:off x="8508797" y="2468880"/>
            <a:ext cx="2814218" cy="914400"/>
          </a:xfrm>
          <a:prstGeom prst="rect">
            <a:avLst/>
          </a:prstGeom>
          <a:noFill/>
          <a:ln/>
        </p:spPr>
        <p:txBody>
          <a:bodyPr wrap="square" lIns="0" tIns="0" rIns="0" bIns="0" rtlCol="0" anchor="t"/>
          <a:lstStyle/>
          <a:p>
            <a:pPr indent="0" marL="0">
              <a:buNone/>
            </a:pPr>
            <a:r>
              <a:rPr lang="en-US" sz="1900" b="1" dirty="0">
                <a:solidFill>
                  <a:srgbClr val="003C6C"/>
                </a:solidFill>
                <a:latin typeface="Calibri" pitchFamily="34" charset="0"/>
                <a:ea typeface="Calibri" pitchFamily="34" charset="-122"/>
                <a:cs typeface="Calibri" pitchFamily="34" charset="-120"/>
              </a:rPr>
              <a:t>Where does that haplotype differ from the reference?</a:t>
            </a:r>
            <a:endParaRPr lang="en-US" sz="1900" dirty="0"/>
          </a:p>
        </p:txBody>
      </p:sp>
      <p:sp>
        <p:nvSpPr>
          <p:cNvPr id="24" name="Text 19"/>
          <p:cNvSpPr txBox="1"/>
          <p:nvPr/>
        </p:nvSpPr>
        <p:spPr>
          <a:xfrm>
            <a:off x="8508797" y="347472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give</a:t>
            </a:r>
            <a:endParaRPr lang="en-US" sz="1200" dirty="0"/>
          </a:p>
        </p:txBody>
      </p:sp>
      <p:sp>
        <p:nvSpPr>
          <p:cNvPr id="25" name="Text 20"/>
          <p:cNvSpPr txBox="1"/>
          <p:nvPr/>
        </p:nvSpPr>
        <p:spPr>
          <a:xfrm>
            <a:off x="8508797" y="3749040"/>
            <a:ext cx="2814218" cy="45720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Same view.</a:t>
            </a:r>
            <a:endParaRPr lang="en-US" sz="1500" dirty="0"/>
          </a:p>
        </p:txBody>
      </p:sp>
      <p:sp>
        <p:nvSpPr>
          <p:cNvPr id="26" name="Text 21"/>
          <p:cNvSpPr txBox="1"/>
          <p:nvPr/>
        </p:nvSpPr>
        <p:spPr>
          <a:xfrm>
            <a:off x="8508797" y="429768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get</a:t>
            </a:r>
            <a:endParaRPr lang="en-US" sz="1200" dirty="0"/>
          </a:p>
        </p:txBody>
      </p:sp>
      <p:sp>
        <p:nvSpPr>
          <p:cNvPr id="27" name="Text 22"/>
          <p:cNvSpPr txBox="1"/>
          <p:nvPr/>
        </p:nvSpPr>
        <p:spPr>
          <a:xfrm>
            <a:off x="8508797" y="4572000"/>
            <a:ext cx="2814218"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The graph's alignment, base by base, in the Alignment Differences track.</a:t>
            </a:r>
            <a:endParaRPr lang="en-US" sz="1500" dirty="0"/>
          </a:p>
        </p:txBody>
      </p:sp>
      <p:sp>
        <p:nvSpPr>
          <p:cNvPr id="28" name="Text 23"/>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A browser tab, and a sequence or a position. No pipeline, no download.</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Fast enough to sit behind a web page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17</a:t>
            </a:r>
            <a:endParaRPr lang="en-US" sz="1000" dirty="0"/>
          </a:p>
        </p:txBody>
      </p:sp>
      <p:sp>
        <p:nvSpPr>
          <p:cNvPr id="4" name="Text 2"/>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Translation latency, median (log scale)</a:t>
            </a:r>
            <a:endParaRPr lang="en-US" sz="1800" dirty="0"/>
          </a:p>
        </p:txBody>
      </p:sp>
      <p:sp>
        <p:nvSpPr>
          <p:cNvPr id="5" name="Shape 3"/>
          <p:cNvSpPr/>
          <p:nvPr/>
        </p:nvSpPr>
        <p:spPr>
          <a:xfrm>
            <a:off x="2148840" y="1965960"/>
            <a:ext cx="0" cy="2971800"/>
          </a:xfrm>
          <a:prstGeom prst="line">
            <a:avLst/>
          </a:prstGeom>
          <a:noFill/>
          <a:ln w="12700">
            <a:solidFill>
              <a:srgbClr val="D9E1E9"/>
            </a:solidFill>
            <a:prstDash val="dash"/>
          </a:ln>
        </p:spPr>
      </p:sp>
      <p:sp>
        <p:nvSpPr>
          <p:cNvPr id="6" name="Text 4"/>
          <p:cNvSpPr txBox="1"/>
          <p:nvPr/>
        </p:nvSpPr>
        <p:spPr>
          <a:xfrm>
            <a:off x="169164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ms</a:t>
            </a:r>
            <a:endParaRPr lang="en-US" sz="1400" dirty="0"/>
          </a:p>
        </p:txBody>
      </p:sp>
      <p:sp>
        <p:nvSpPr>
          <p:cNvPr id="7" name="Shape 5"/>
          <p:cNvSpPr/>
          <p:nvPr/>
        </p:nvSpPr>
        <p:spPr>
          <a:xfrm>
            <a:off x="3276600" y="1965960"/>
            <a:ext cx="0" cy="2971800"/>
          </a:xfrm>
          <a:prstGeom prst="line">
            <a:avLst/>
          </a:prstGeom>
          <a:noFill/>
          <a:ln w="12700">
            <a:solidFill>
              <a:srgbClr val="D9E1E9"/>
            </a:solidFill>
            <a:prstDash val="dash"/>
          </a:ln>
        </p:spPr>
      </p:sp>
      <p:sp>
        <p:nvSpPr>
          <p:cNvPr id="8" name="Text 6"/>
          <p:cNvSpPr txBox="1"/>
          <p:nvPr/>
        </p:nvSpPr>
        <p:spPr>
          <a:xfrm>
            <a:off x="281940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100 ms</a:t>
            </a:r>
            <a:endParaRPr lang="en-US" sz="1400" dirty="0"/>
          </a:p>
        </p:txBody>
      </p:sp>
      <p:sp>
        <p:nvSpPr>
          <p:cNvPr id="9" name="Shape 7"/>
          <p:cNvSpPr/>
          <p:nvPr/>
        </p:nvSpPr>
        <p:spPr>
          <a:xfrm>
            <a:off x="4404360" y="1965960"/>
            <a:ext cx="0" cy="2971800"/>
          </a:xfrm>
          <a:prstGeom prst="line">
            <a:avLst/>
          </a:prstGeom>
          <a:noFill/>
          <a:ln w="12700">
            <a:solidFill>
              <a:srgbClr val="D9E1E9"/>
            </a:solidFill>
            <a:prstDash val="dash"/>
          </a:ln>
        </p:spPr>
      </p:sp>
      <p:sp>
        <p:nvSpPr>
          <p:cNvPr id="10" name="Text 8"/>
          <p:cNvSpPr txBox="1"/>
          <p:nvPr/>
        </p:nvSpPr>
        <p:spPr>
          <a:xfrm>
            <a:off x="394716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 s</a:t>
            </a:r>
            <a:endParaRPr lang="en-US" sz="1400" dirty="0"/>
          </a:p>
        </p:txBody>
      </p:sp>
      <p:sp>
        <p:nvSpPr>
          <p:cNvPr id="11" name="Shape 9"/>
          <p:cNvSpPr/>
          <p:nvPr/>
        </p:nvSpPr>
        <p:spPr>
          <a:xfrm>
            <a:off x="5532120" y="1965960"/>
            <a:ext cx="0" cy="2971800"/>
          </a:xfrm>
          <a:prstGeom prst="line">
            <a:avLst/>
          </a:prstGeom>
          <a:noFill/>
          <a:ln w="12700">
            <a:solidFill>
              <a:srgbClr val="D9E1E9"/>
            </a:solidFill>
            <a:prstDash val="dash"/>
          </a:ln>
        </p:spPr>
      </p:sp>
      <p:sp>
        <p:nvSpPr>
          <p:cNvPr id="12" name="Text 10"/>
          <p:cNvSpPr txBox="1"/>
          <p:nvPr/>
        </p:nvSpPr>
        <p:spPr>
          <a:xfrm>
            <a:off x="507492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s</a:t>
            </a:r>
            <a:endParaRPr lang="en-US" sz="1400" dirty="0"/>
          </a:p>
        </p:txBody>
      </p:sp>
      <p:sp>
        <p:nvSpPr>
          <p:cNvPr id="13" name="Text 11"/>
          <p:cNvSpPr txBox="1"/>
          <p:nvPr/>
        </p:nvSpPr>
        <p:spPr>
          <a:xfrm>
            <a:off x="548640" y="210312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up to 1 kb</a:t>
            </a:r>
            <a:endParaRPr lang="en-US" sz="1600" dirty="0"/>
          </a:p>
        </p:txBody>
      </p:sp>
      <p:sp>
        <p:nvSpPr>
          <p:cNvPr id="14" name="Shape 12"/>
          <p:cNvSpPr/>
          <p:nvPr/>
        </p:nvSpPr>
        <p:spPr>
          <a:xfrm>
            <a:off x="2148840" y="2286000"/>
            <a:ext cx="363386" cy="0"/>
          </a:xfrm>
          <a:prstGeom prst="line">
            <a:avLst/>
          </a:prstGeom>
          <a:noFill/>
          <a:ln w="38100">
            <a:solidFill>
              <a:srgbClr val="B8C7D6"/>
            </a:solidFill>
            <a:prstDash val="solid"/>
          </a:ln>
        </p:spPr>
      </p:sp>
      <p:sp>
        <p:nvSpPr>
          <p:cNvPr id="15" name="Shape 13"/>
          <p:cNvSpPr/>
          <p:nvPr/>
        </p:nvSpPr>
        <p:spPr>
          <a:xfrm>
            <a:off x="2411642" y="2185416"/>
            <a:ext cx="201168" cy="201168"/>
          </a:xfrm>
          <a:prstGeom prst="ellipse">
            <a:avLst/>
          </a:prstGeom>
          <a:solidFill>
            <a:srgbClr val="003C6C"/>
          </a:solidFill>
          <a:ln w="12700">
            <a:solidFill>
              <a:srgbClr val="003C6C"/>
            </a:solidFill>
            <a:prstDash val="solid"/>
          </a:ln>
        </p:spPr>
      </p:sp>
      <p:sp>
        <p:nvSpPr>
          <p:cNvPr id="16" name="Text 14"/>
          <p:cNvSpPr txBox="1"/>
          <p:nvPr/>
        </p:nvSpPr>
        <p:spPr>
          <a:xfrm>
            <a:off x="2695106" y="210312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~20 ms</a:t>
            </a:r>
            <a:endParaRPr lang="en-US" sz="1800" dirty="0"/>
          </a:p>
        </p:txBody>
      </p:sp>
      <p:sp>
        <p:nvSpPr>
          <p:cNvPr id="17" name="Text 15"/>
          <p:cNvSpPr txBox="1"/>
          <p:nvPr/>
        </p:nvSpPr>
        <p:spPr>
          <a:xfrm>
            <a:off x="548640" y="288036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 kb</a:t>
            </a:r>
            <a:endParaRPr lang="en-US" sz="1600" dirty="0"/>
          </a:p>
        </p:txBody>
      </p:sp>
      <p:sp>
        <p:nvSpPr>
          <p:cNvPr id="18" name="Shape 16"/>
          <p:cNvSpPr/>
          <p:nvPr/>
        </p:nvSpPr>
        <p:spPr>
          <a:xfrm>
            <a:off x="2148840" y="3063240"/>
            <a:ext cx="1196213" cy="0"/>
          </a:xfrm>
          <a:prstGeom prst="line">
            <a:avLst/>
          </a:prstGeom>
          <a:noFill/>
          <a:ln w="38100">
            <a:solidFill>
              <a:srgbClr val="B8C7D6"/>
            </a:solidFill>
            <a:prstDash val="solid"/>
          </a:ln>
        </p:spPr>
      </p:sp>
      <p:sp>
        <p:nvSpPr>
          <p:cNvPr id="19" name="Shape 17"/>
          <p:cNvSpPr/>
          <p:nvPr/>
        </p:nvSpPr>
        <p:spPr>
          <a:xfrm>
            <a:off x="3244469" y="2962656"/>
            <a:ext cx="201168" cy="201168"/>
          </a:xfrm>
          <a:prstGeom prst="ellipse">
            <a:avLst/>
          </a:prstGeom>
          <a:solidFill>
            <a:srgbClr val="003C6C"/>
          </a:solidFill>
          <a:ln w="12700">
            <a:solidFill>
              <a:srgbClr val="003C6C"/>
            </a:solidFill>
            <a:prstDash val="solid"/>
          </a:ln>
        </p:spPr>
      </p:sp>
      <p:sp>
        <p:nvSpPr>
          <p:cNvPr id="20" name="Text 18"/>
          <p:cNvSpPr txBox="1"/>
          <p:nvPr/>
        </p:nvSpPr>
        <p:spPr>
          <a:xfrm>
            <a:off x="3527933" y="288036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115 ms</a:t>
            </a:r>
            <a:endParaRPr lang="en-US" sz="1800" dirty="0"/>
          </a:p>
        </p:txBody>
      </p:sp>
      <p:sp>
        <p:nvSpPr>
          <p:cNvPr id="21" name="Text 19"/>
          <p:cNvSpPr txBox="1"/>
          <p:nvPr/>
        </p:nvSpPr>
        <p:spPr>
          <a:xfrm>
            <a:off x="548640" y="365760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100 kb</a:t>
            </a:r>
            <a:endParaRPr lang="en-US" sz="1600" dirty="0"/>
          </a:p>
        </p:txBody>
      </p:sp>
      <p:sp>
        <p:nvSpPr>
          <p:cNvPr id="22" name="Shape 20"/>
          <p:cNvSpPr/>
          <p:nvPr/>
        </p:nvSpPr>
        <p:spPr>
          <a:xfrm>
            <a:off x="2148840" y="3840480"/>
            <a:ext cx="2004511" cy="0"/>
          </a:xfrm>
          <a:prstGeom prst="line">
            <a:avLst/>
          </a:prstGeom>
          <a:noFill/>
          <a:ln w="38100">
            <a:solidFill>
              <a:srgbClr val="B8C7D6"/>
            </a:solidFill>
            <a:prstDash val="solid"/>
          </a:ln>
        </p:spPr>
      </p:sp>
      <p:sp>
        <p:nvSpPr>
          <p:cNvPr id="23" name="Shape 21"/>
          <p:cNvSpPr/>
          <p:nvPr/>
        </p:nvSpPr>
        <p:spPr>
          <a:xfrm>
            <a:off x="4052767" y="3739896"/>
            <a:ext cx="201168" cy="201168"/>
          </a:xfrm>
          <a:prstGeom prst="ellipse">
            <a:avLst/>
          </a:prstGeom>
          <a:solidFill>
            <a:srgbClr val="003C6C"/>
          </a:solidFill>
          <a:ln w="12700">
            <a:solidFill>
              <a:srgbClr val="003C6C"/>
            </a:solidFill>
            <a:prstDash val="solid"/>
          </a:ln>
        </p:spPr>
      </p:sp>
      <p:sp>
        <p:nvSpPr>
          <p:cNvPr id="24" name="Text 22"/>
          <p:cNvSpPr txBox="1"/>
          <p:nvPr/>
        </p:nvSpPr>
        <p:spPr>
          <a:xfrm>
            <a:off x="4336231" y="365760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0.6 s</a:t>
            </a:r>
            <a:endParaRPr lang="en-US" sz="1800" dirty="0"/>
          </a:p>
        </p:txBody>
      </p:sp>
      <p:sp>
        <p:nvSpPr>
          <p:cNvPr id="25" name="Text 23"/>
          <p:cNvSpPr txBox="1"/>
          <p:nvPr/>
        </p:nvSpPr>
        <p:spPr>
          <a:xfrm>
            <a:off x="548640" y="443484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 Mb</a:t>
            </a:r>
            <a:endParaRPr lang="en-US" sz="1600" dirty="0"/>
          </a:p>
        </p:txBody>
      </p:sp>
      <p:sp>
        <p:nvSpPr>
          <p:cNvPr id="26" name="Shape 24"/>
          <p:cNvSpPr/>
          <p:nvPr/>
        </p:nvSpPr>
        <p:spPr>
          <a:xfrm>
            <a:off x="2148840" y="4617720"/>
            <a:ext cx="2969920" cy="0"/>
          </a:xfrm>
          <a:prstGeom prst="line">
            <a:avLst/>
          </a:prstGeom>
          <a:noFill/>
          <a:ln w="38100">
            <a:solidFill>
              <a:srgbClr val="B8C7D6"/>
            </a:solidFill>
            <a:prstDash val="solid"/>
          </a:ln>
        </p:spPr>
      </p:sp>
      <p:sp>
        <p:nvSpPr>
          <p:cNvPr id="27" name="Shape 25"/>
          <p:cNvSpPr/>
          <p:nvPr/>
        </p:nvSpPr>
        <p:spPr>
          <a:xfrm>
            <a:off x="5018176" y="4517136"/>
            <a:ext cx="201168" cy="201168"/>
          </a:xfrm>
          <a:prstGeom prst="ellipse">
            <a:avLst/>
          </a:prstGeom>
          <a:solidFill>
            <a:srgbClr val="003C6C"/>
          </a:solidFill>
          <a:ln w="12700">
            <a:solidFill>
              <a:srgbClr val="003C6C"/>
            </a:solidFill>
            <a:prstDash val="solid"/>
          </a:ln>
        </p:spPr>
      </p:sp>
      <p:sp>
        <p:nvSpPr>
          <p:cNvPr id="28" name="Text 26"/>
          <p:cNvSpPr txBox="1"/>
          <p:nvPr/>
        </p:nvSpPr>
        <p:spPr>
          <a:xfrm>
            <a:off x="5301640" y="443484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4.3 s</a:t>
            </a:r>
            <a:endParaRPr lang="en-US" sz="1800" dirty="0"/>
          </a:p>
        </p:txBody>
      </p:sp>
      <p:graphicFrame>
        <p:nvGraphicFramePr>
          <p:cNvPr id="29" name="Chart 0" descr=""/>
          <p:cNvGraphicFramePr/>
          <p:nvPr/>
        </p:nvGraphicFramePr>
        <p:xfrm>
          <a:off x="6309360" y="1325880"/>
          <a:ext cx="5333695" cy="3977640"/>
        </p:xfrm>
        <a:graphic xmlns:a="http://schemas.openxmlformats.org/drawingml/2006/main">
          <a:graphicData uri="http://schemas.openxmlformats.org/drawingml/2006/chart">
            <c:chart xmlns:c="http://schemas.openxmlformats.org/drawingml/2006/chart" r:id="rId1"/>
          </a:graphicData>
        </a:graphic>
      </p:graphicFrame>
      <p:sp>
        <p:nvSpPr>
          <p:cNvPr id="30" name="Text 27"/>
          <p:cNvSpPr txBox="1"/>
          <p:nvPr/>
        </p:nvSpPr>
        <p:spPr>
          <a:xfrm>
            <a:off x="6309360" y="5349240"/>
            <a:ext cx="533369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Single-thread run was warm-up-limited; read the plateau: about 60 queries per second per server.</a:t>
            </a:r>
            <a:endParaRPr lang="en-US" sz="1400" dirty="0"/>
          </a:p>
        </p:txBody>
      </p:sp>
      <p:sp>
        <p:nvSpPr>
          <p:cNvPr id="31" name="Text 28"/>
          <p:cNvSpPr txBox="1"/>
          <p:nvPr/>
        </p:nvSpPr>
        <p:spPr>
          <a:xfrm>
            <a:off x="548640" y="580644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Exon-scale in 20 ms, a 10 kb gene in a tenth of a second, a megabase in four. One server sustains about 60 queries a second.</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84048"/>
            <a:ext cx="11094415" cy="71323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Release 2, queryable</a:t>
            </a:r>
            <a:endParaRPr lang="en-US" sz="3200" dirty="0"/>
          </a:p>
        </p:txBody>
      </p:sp>
      <p:sp>
        <p:nvSpPr>
          <p:cNvPr id="4" name="Shape 2"/>
          <p:cNvSpPr/>
          <p:nvPr/>
        </p:nvSpPr>
        <p:spPr>
          <a:xfrm>
            <a:off x="548640" y="1325880"/>
            <a:ext cx="5364328" cy="3840480"/>
          </a:xfrm>
          <a:prstGeom prst="roundRect">
            <a:avLst>
              <a:gd name="adj" fmla="val 2857"/>
            </a:avLst>
          </a:prstGeom>
          <a:solidFill>
            <a:srgbClr val="0F3557"/>
          </a:solidFill>
          <a:ln w="12700">
            <a:solidFill>
              <a:srgbClr val="1D4F7C"/>
            </a:solidFill>
            <a:prstDash val="solid"/>
          </a:ln>
        </p:spPr>
      </p:sp>
      <p:sp>
        <p:nvSpPr>
          <p:cNvPr id="5" name="Shape 3"/>
          <p:cNvSpPr/>
          <p:nvPr/>
        </p:nvSpPr>
        <p:spPr>
          <a:xfrm>
            <a:off x="868680" y="1691640"/>
            <a:ext cx="777240" cy="77724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700" dirty="0"/>
          </a:p>
        </p:txBody>
      </p:sp>
      <p:sp>
        <p:nvSpPr>
          <p:cNvPr id="10" name="Text 7"/>
          <p:cNvSpPr txBox="1"/>
          <p:nvPr/>
        </p:nvSpPr>
        <p:spPr>
          <a:xfrm>
            <a:off x="868680"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every carrying haplotype found in seconds; the sequence viewed as a track on any of them</a:t>
            </a:r>
            <a:endParaRPr lang="en-US" sz="1600" dirty="0"/>
          </a:p>
        </p:txBody>
      </p:sp>
      <p:sp>
        <p:nvSpPr>
          <p:cNvPr id="11" name="Shape 8"/>
          <p:cNvSpPr/>
          <p:nvPr/>
        </p:nvSpPr>
        <p:spPr>
          <a:xfrm>
            <a:off x="6278728" y="1325880"/>
            <a:ext cx="5364328" cy="3840480"/>
          </a:xfrm>
          <a:prstGeom prst="roundRect">
            <a:avLst>
              <a:gd name="adj" fmla="val 2857"/>
            </a:avLst>
          </a:prstGeom>
          <a:solidFill>
            <a:srgbClr val="0F3557"/>
          </a:solidFill>
          <a:ln w="12700">
            <a:solidFill>
              <a:srgbClr val="1D4F7C"/>
            </a:solidFill>
            <a:prstDash val="solid"/>
          </a:ln>
        </p:spPr>
      </p:sp>
      <p:sp>
        <p:nvSpPr>
          <p:cNvPr id="12" name="Shape 9"/>
          <p:cNvSpPr/>
          <p:nvPr/>
        </p:nvSpPr>
        <p:spPr>
          <a:xfrm>
            <a:off x="6598768" y="1691640"/>
            <a:ext cx="777240" cy="777240"/>
          </a:xfrm>
          <a:prstGeom prst="ellipse">
            <a:avLst/>
          </a:prstGeom>
          <a:solidFill>
            <a:srgbClr val="0E7C9C"/>
          </a:solidFill>
          <a:ln w="12700">
            <a:solidFill>
              <a:srgbClr val="0E7C9C"/>
            </a:solidFill>
            <a:prstDash val="solid"/>
          </a:ln>
        </p:spPr>
      </p:sp>
      <p:pic>
        <p:nvPicPr>
          <p:cNvPr id="13"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4" name="Text 10"/>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2</a:t>
            </a:r>
            <a:endParaRPr lang="en-US" sz="1400" dirty="0"/>
          </a:p>
        </p:txBody>
      </p:sp>
      <p:sp>
        <p:nvSpPr>
          <p:cNvPr id="15" name="Text 11"/>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Coordinate translation</a:t>
            </a:r>
            <a:endParaRPr lang="en-US" sz="2200" dirty="0"/>
          </a:p>
        </p:txBody>
      </p:sp>
      <p:sp>
        <p:nvSpPr>
          <p:cNvPr id="16" name="Text 12"/>
          <p:cNvSpPr txBox="1"/>
          <p:nvPr/>
        </p:nvSpPr>
        <p:spPr>
          <a:xfrm>
            <a:off x="6598768"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700" dirty="0"/>
          </a:p>
        </p:txBody>
      </p:sp>
      <p:sp>
        <p:nvSpPr>
          <p:cNvPr id="17" name="Text 13"/>
          <p:cNvSpPr txBox="1"/>
          <p:nvPr/>
        </p:nvSpPr>
        <p:spPr>
          <a:xfrm>
            <a:off x="6598768"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any of 464 haplotypes as the target in ~100 ms, with the reference's annotation drawn there</a:t>
            </a:r>
            <a:endParaRPr lang="en-US" sz="1600" dirty="0"/>
          </a:p>
        </p:txBody>
      </p:sp>
      <p:sp>
        <p:nvSpPr>
          <p:cNvPr id="18" name="Text 14"/>
          <p:cNvSpPr txBox="1"/>
          <p:nvPr/>
        </p:nvSpPr>
        <p:spPr>
          <a:xfrm>
            <a:off x="548640" y="5440680"/>
            <a:ext cx="11094415" cy="457200"/>
          </a:xfrm>
          <a:prstGeom prst="rect">
            <a:avLst/>
          </a:prstGeom>
          <a:noFill/>
          <a:ln/>
        </p:spPr>
        <p:txBody>
          <a:bodyPr wrap="square" lIns="0" tIns="0" rIns="0" bIns="0" rtlCol="0" anchor="ctr"/>
          <a:lstStyle/>
          <a:p>
            <a:pPr algn="ctr" indent="0" marL="0">
              <a:buNone/>
            </a:pPr>
            <a:r>
              <a:rPr lang="en-US" sz="2200" dirty="0">
                <a:solidFill>
                  <a:srgbClr val="C6D3DF"/>
                </a:solidFill>
                <a:latin typeface="Calibri" pitchFamily="34" charset="0"/>
                <a:ea typeface="Calibri" pitchFamily="34" charset="-122"/>
                <a:cs typeface="Calibri" pitchFamily="34" charset="-120"/>
              </a:rPr>
              <a:t>Next: </a:t>
            </a:r>
            <a:pPr algn="ctr" indent="0" marL="0">
              <a:buNone/>
            </a:pPr>
            <a:r>
              <a:rPr lang="en-US" sz="2200" b="1" dirty="0">
                <a:solidFill>
                  <a:srgbClr val="FFFFFF"/>
                </a:solidFill>
                <a:latin typeface="Calibri" pitchFamily="34" charset="0"/>
                <a:ea typeface="Calibri" pitchFamily="34" charset="-122"/>
                <a:cs typeface="Calibri" pitchFamily="34" charset="-120"/>
              </a:rPr>
              <a:t>public release in the UCSC Genome Browser</a:t>
            </a:r>
            <a:endParaRPr lang="en-US" sz="2200" dirty="0"/>
          </a:p>
        </p:txBody>
      </p:sp>
      <p:sp>
        <p:nvSpPr>
          <p:cNvPr id="19" name="Text 15"/>
          <p:cNvSpPr txBox="1"/>
          <p:nvPr/>
        </p:nvSpPr>
        <p:spPr>
          <a:xfrm>
            <a:off x="548640" y="5943600"/>
            <a:ext cx="11094415" cy="457200"/>
          </a:xfrm>
          <a:prstGeom prst="rect">
            <a:avLst/>
          </a:prstGeom>
          <a:noFill/>
          <a:ln/>
        </p:spPr>
        <p:txBody>
          <a:bodyPr wrap="square" lIns="0" tIns="0" rIns="0" bIns="0" rtlCol="0" anchor="ctr"/>
          <a:lstStyle/>
          <a:p>
            <a:pPr algn="ctr" indent="0" marL="0">
              <a:buNone/>
            </a:pPr>
            <a:r>
              <a:rPr lang="en-US" sz="2000" i="1" dirty="0">
                <a:solidFill>
                  <a:srgbClr val="FDC700"/>
                </a:solidFill>
                <a:latin typeface="Calibri" pitchFamily="34" charset="0"/>
                <a:ea typeface="Calibri" pitchFamily="34" charset="-122"/>
                <a:cs typeface="Calibri" pitchFamily="34" charset="-120"/>
              </a:rPr>
              <a:t>Available on the development browser now. Bring us your hardest region.</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19</a:t>
            </a:r>
            <a:endParaRPr lang="en-US" sz="1000" dirty="0"/>
          </a:p>
        </p:txBody>
      </p:sp>
      <p:sp>
        <p:nvSpPr>
          <p:cNvPr id="3" name="Shape 1"/>
          <p:cNvSpPr/>
          <p:nvPr/>
        </p:nvSpPr>
        <p:spPr>
          <a:xfrm>
            <a:off x="0" y="21031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2.png">    </p:cNvPr>
          <p:cNvPicPr>
            <a:picLocks noChangeAspect="1"/>
          </p:cNvPicPr>
          <p:nvPr/>
        </p:nvPicPr>
        <p:blipFill>
          <a:blip r:embed="rId1"/>
          <a:stretch>
            <a:fillRect/>
          </a:stretch>
        </p:blipFill>
        <p:spPr>
          <a:xfrm>
            <a:off x="6613855" y="15293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2468880"/>
            <a:ext cx="548640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Thank you</a:t>
            </a:r>
            <a:endParaRPr lang="en-US" sz="3200" dirty="0"/>
          </a:p>
        </p:txBody>
      </p:sp>
      <p:sp>
        <p:nvSpPr>
          <p:cNvPr id="7" name="Text 3"/>
          <p:cNvSpPr txBox="1"/>
          <p:nvPr/>
        </p:nvSpPr>
        <p:spPr>
          <a:xfrm>
            <a:off x="548640" y="3291840"/>
            <a:ext cx="5943600" cy="457200"/>
          </a:xfrm>
          <a:prstGeom prst="rect">
            <a:avLst/>
          </a:prstGeom>
          <a:noFill/>
          <a:ln/>
        </p:spPr>
        <p:txBody>
          <a:bodyPr wrap="square" lIns="0" tIns="0" rIns="0" bIns="0" rtlCol="0" anchor="t"/>
          <a:lstStyle/>
          <a:p>
            <a:pPr indent="0" marL="0">
              <a:buNone/>
            </a:pPr>
            <a:r>
              <a:rPr lang="en-US" sz="2200" dirty="0">
                <a:solidFill>
                  <a:srgbClr val="FDC700"/>
                </a:solidFill>
                <a:latin typeface="Courier New" pitchFamily="34" charset="0"/>
                <a:ea typeface="Courier New" pitchFamily="34" charset="-122"/>
                <a:cs typeface="Courier New" pitchFamily="34" charset="-120"/>
              </a:rPr>
              <a:t>seeskand@ucsc.edu</a:t>
            </a:r>
            <a:endParaRPr lang="en-US" sz="2200" dirty="0"/>
          </a:p>
        </p:txBody>
      </p:sp>
      <p:sp>
        <p:nvSpPr>
          <p:cNvPr id="8" name="Text 4"/>
          <p:cNvSpPr txBox="1"/>
          <p:nvPr/>
        </p:nvSpPr>
        <p:spPr>
          <a:xfrm>
            <a:off x="548640" y="3749040"/>
            <a:ext cx="64008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github.com/parsaeskandar/hprc_2026_poster</a:t>
            </a:r>
            <a:endParaRPr lang="en-US" sz="1700" dirty="0"/>
          </a:p>
        </p:txBody>
      </p:sp>
      <p:sp>
        <p:nvSpPr>
          <p:cNvPr id="9" name="Text 5"/>
          <p:cNvSpPr txBox="1"/>
          <p:nvPr/>
        </p:nvSpPr>
        <p:spPr>
          <a:xfrm>
            <a:off x="548640" y="4160520"/>
            <a:ext cx="82296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github.com/parsaeskandar/pangenome-index</a:t>
            </a:r>
            <a:endParaRPr lang="en-US" sz="1700" dirty="0"/>
          </a:p>
        </p:txBody>
      </p:sp>
      <p:sp>
        <p:nvSpPr>
          <p:cNvPr id="10" name="Text 6"/>
          <p:cNvSpPr txBox="1"/>
          <p:nvPr/>
        </p:nvSpPr>
        <p:spPr>
          <a:xfrm>
            <a:off x="548640" y="4892040"/>
            <a:ext cx="11094415" cy="15544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The UCSC Genome Browser team  •  The Human Pangenome Reference Consortium</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Built on vg and the HPRC v2.0 graph</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20</a:t>
            </a:r>
            <a:endParaRPr lang="en-US" sz="1000" dirty="0"/>
          </a:p>
        </p:txBody>
      </p:sp>
      <p:sp>
        <p:nvSpPr>
          <p:cNvPr id="3" name="Shape 1"/>
          <p:cNvSpPr/>
          <p:nvPr/>
        </p:nvSpPr>
        <p:spPr>
          <a:xfrm>
            <a:off x="5394960" y="3063240"/>
            <a:ext cx="45720" cy="685800"/>
          </a:xfrm>
          <a:prstGeom prst="rect">
            <a:avLst/>
          </a:prstGeom>
          <a:solidFill>
            <a:srgbClr val="FDC700"/>
          </a:solidFill>
          <a:ln w="12700">
            <a:solidFill>
              <a:srgbClr val="FDC700"/>
            </a:solidFill>
            <a:prstDash val="solid"/>
          </a:ln>
        </p:spPr>
      </p:sp>
      <p:sp>
        <p:nvSpPr>
          <p:cNvPr id="4" name="Text 2"/>
          <p:cNvSpPr txBox="1"/>
          <p:nvPr/>
        </p:nvSpPr>
        <p:spPr>
          <a:xfrm>
            <a:off x="5623560" y="3017520"/>
            <a:ext cx="3657600" cy="7772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Backup</a:t>
            </a:r>
            <a:endParaRPr lang="en-US" sz="3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translation on a toy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4_0.png">    </p:cNvPr>
          <p:cNvPicPr>
            <a:picLocks noChangeAspect="1"/>
          </p:cNvPicPr>
          <p:nvPr/>
        </p:nvPicPr>
        <p:blipFill>
          <a:blip r:embed="rId1"/>
          <a:stretch>
            <a:fillRect/>
          </a:stretch>
        </p:blipFill>
        <p:spPr>
          <a:xfrm>
            <a:off x="548640" y="2148840"/>
            <a:ext cx="6400800" cy="2493335"/>
          </a:xfrm>
          <a:prstGeom prst="rect">
            <a:avLst/>
          </a:prstGeom>
        </p:spPr>
      </p:pic>
      <p:sp>
        <p:nvSpPr>
          <p:cNvPr id="6" name="Text 3"/>
          <p:cNvSpPr txBox="1"/>
          <p:nvPr/>
        </p:nvSpPr>
        <p:spPr>
          <a:xfrm>
            <a:off x="548640" y="4825055"/>
            <a:ext cx="6400800" cy="36576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source: orange, positions 3 to 7   •   target: purple</a:t>
            </a:r>
            <a:endParaRPr lang="en-US" sz="1500" dirty="0"/>
          </a:p>
        </p:txBody>
      </p:sp>
      <p:sp>
        <p:nvSpPr>
          <p:cNvPr id="7" name="Shape 4"/>
          <p:cNvSpPr/>
          <p:nvPr/>
        </p:nvSpPr>
        <p:spPr>
          <a:xfrm>
            <a:off x="7498080" y="1389888"/>
            <a:ext cx="420624" cy="420624"/>
          </a:xfrm>
          <a:prstGeom prst="roundRect">
            <a:avLst>
              <a:gd name="adj" fmla="val 19565"/>
            </a:avLst>
          </a:prstGeom>
          <a:solidFill>
            <a:srgbClr val="FDC700"/>
          </a:solidFill>
          <a:ln w="12700">
            <a:solidFill>
              <a:srgbClr val="FDC700"/>
            </a:solidFill>
            <a:prstDash val="solid"/>
          </a:ln>
        </p:spPr>
      </p:sp>
      <p:sp>
        <p:nvSpPr>
          <p:cNvPr id="8" name="Text 5"/>
          <p:cNvSpPr txBox="1"/>
          <p:nvPr/>
        </p:nvSpPr>
        <p:spPr>
          <a:xfrm>
            <a:off x="7498080" y="138988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8092440" y="137160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the source interval backwards with the r-index; collect the sampled tags it passes: nodes b, e, f.</a:t>
            </a:r>
            <a:endParaRPr lang="en-US" sz="1550" dirty="0"/>
          </a:p>
        </p:txBody>
      </p:sp>
      <p:sp>
        <p:nvSpPr>
          <p:cNvPr id="10" name="Shape 7"/>
          <p:cNvSpPr/>
          <p:nvPr/>
        </p:nvSpPr>
        <p:spPr>
          <a:xfrm>
            <a:off x="7498080" y="2487168"/>
            <a:ext cx="420624" cy="420624"/>
          </a:xfrm>
          <a:prstGeom prst="roundRect">
            <a:avLst>
              <a:gd name="adj" fmla="val 19565"/>
            </a:avLst>
          </a:prstGeom>
          <a:solidFill>
            <a:srgbClr val="FDC700"/>
          </a:solidFill>
          <a:ln w="12700">
            <a:solidFill>
              <a:srgbClr val="FDC700"/>
            </a:solidFill>
            <a:prstDash val="solid"/>
          </a:ln>
        </p:spPr>
      </p:sp>
      <p:sp>
        <p:nvSpPr>
          <p:cNvPr id="11" name="Text 8"/>
          <p:cNvSpPr txBox="1"/>
          <p:nvPr/>
        </p:nvSpPr>
        <p:spPr>
          <a:xfrm>
            <a:off x="7498080" y="248716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2" name="Text 9"/>
          <p:cNvSpPr txBox="1"/>
          <p:nvPr/>
        </p:nvSpPr>
        <p:spPr>
          <a:xfrm>
            <a:off x="8092440" y="246888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For each tag, the sampled tag array lists every haplotype at that graph position. Purple stands on b and f.</a:t>
            </a:r>
            <a:endParaRPr lang="en-US" sz="1550" dirty="0"/>
          </a:p>
        </p:txBody>
      </p:sp>
      <p:sp>
        <p:nvSpPr>
          <p:cNvPr id="13" name="Shape 10"/>
          <p:cNvSpPr/>
          <p:nvPr/>
        </p:nvSpPr>
        <p:spPr>
          <a:xfrm>
            <a:off x="7498080" y="3584448"/>
            <a:ext cx="420624" cy="420624"/>
          </a:xfrm>
          <a:prstGeom prst="roundRect">
            <a:avLst>
              <a:gd name="adj" fmla="val 19565"/>
            </a:avLst>
          </a:prstGeom>
          <a:solidFill>
            <a:srgbClr val="FDC700"/>
          </a:solidFill>
          <a:ln w="12700">
            <a:solidFill>
              <a:srgbClr val="FDC700"/>
            </a:solidFill>
            <a:prstDash val="solid"/>
          </a:ln>
        </p:spPr>
      </p:sp>
      <p:sp>
        <p:nvSpPr>
          <p:cNvPr id="14" name="Text 11"/>
          <p:cNvSpPr txBox="1"/>
          <p:nvPr/>
        </p:nvSpPr>
        <p:spPr>
          <a:xfrm>
            <a:off x="7498080" y="358444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5" name="Text 12"/>
          <p:cNvSpPr txBox="1"/>
          <p:nvPr/>
        </p:nvSpPr>
        <p:spPr>
          <a:xfrm>
            <a:off x="8092440" y="356616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Nodes both haplotypes visit exactly once anchor the two paths: b and f.</a:t>
            </a:r>
            <a:endParaRPr lang="en-US" sz="1550" dirty="0"/>
          </a:p>
        </p:txBody>
      </p:sp>
      <p:sp>
        <p:nvSpPr>
          <p:cNvPr id="16" name="Shape 13"/>
          <p:cNvSpPr/>
          <p:nvPr/>
        </p:nvSpPr>
        <p:spPr>
          <a:xfrm>
            <a:off x="7498080" y="4681728"/>
            <a:ext cx="420624" cy="420624"/>
          </a:xfrm>
          <a:prstGeom prst="roundRect">
            <a:avLst>
              <a:gd name="adj" fmla="val 19565"/>
            </a:avLst>
          </a:prstGeom>
          <a:solidFill>
            <a:srgbClr val="FDC700"/>
          </a:solidFill>
          <a:ln w="12700">
            <a:solidFill>
              <a:srgbClr val="FDC700"/>
            </a:solidFill>
            <a:prstDash val="solid"/>
          </a:ln>
        </p:spPr>
      </p:sp>
      <p:sp>
        <p:nvSpPr>
          <p:cNvPr id="17" name="Text 14"/>
          <p:cNvSpPr txBox="1"/>
          <p:nvPr/>
        </p:nvSpPr>
        <p:spPr>
          <a:xfrm>
            <a:off x="7498080" y="468172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8" name="Text 15"/>
          <p:cNvSpPr txBox="1"/>
          <p:nvPr/>
        </p:nvSpPr>
        <p:spPr>
          <a:xfrm>
            <a:off x="8092440" y="466344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both paths between the anchors and emit offsets: orange 3 to purple 3, orange 6 to purple 6; orange 5 sits on node e, which purple never visits: no position, never a wrong one.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anchors and blocks, precisely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22</a:t>
            </a:r>
            <a:endParaRPr lang="en-US" sz="1000" dirty="0"/>
          </a:p>
        </p:txBody>
      </p:sp>
      <p:sp>
        <p:nvSpPr>
          <p:cNvPr id="4" name="Shape 2"/>
          <p:cNvSpPr/>
          <p:nvPr/>
        </p:nvSpPr>
        <p:spPr>
          <a:xfrm>
            <a:off x="548640" y="1325880"/>
            <a:ext cx="5364328" cy="3931920"/>
          </a:xfrm>
          <a:prstGeom prst="roundRect">
            <a:avLst>
              <a:gd name="adj" fmla="val 2791"/>
            </a:avLst>
          </a:prstGeom>
          <a:solidFill>
            <a:srgbClr val="EDF1F6"/>
          </a:solidFill>
          <a:ln w="12700">
            <a:solidFill>
              <a:srgbClr val="DCE3EB"/>
            </a:solidFill>
            <a:prstDash val="solid"/>
          </a:ln>
        </p:spPr>
      </p:sp>
      <p:sp>
        <p:nvSpPr>
          <p:cNvPr id="5" name="Shape 3"/>
          <p:cNvSpPr/>
          <p:nvPr/>
        </p:nvSpPr>
        <p:spPr>
          <a:xfrm>
            <a:off x="6278728" y="1325880"/>
            <a:ext cx="5364328" cy="3931920"/>
          </a:xfrm>
          <a:prstGeom prst="roundRect">
            <a:avLst>
              <a:gd name="adj" fmla="val 2791"/>
            </a:avLst>
          </a:prstGeom>
          <a:solidFill>
            <a:srgbClr val="EDF1F6"/>
          </a:solidFill>
          <a:ln w="12700">
            <a:solidFill>
              <a:srgbClr val="DCE3EB"/>
            </a:solidFill>
            <a:prstDash val="solid"/>
          </a:ln>
        </p:spPr>
      </p:sp>
      <p:sp>
        <p:nvSpPr>
          <p:cNvPr id="6" name="Text 4"/>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Anchors</a:t>
            </a:r>
            <a:endParaRPr lang="en-US" sz="2200" dirty="0"/>
          </a:p>
        </p:txBody>
      </p:sp>
      <p:sp>
        <p:nvSpPr>
          <p:cNvPr id="7" name="Text 5"/>
          <p:cNvSpPr txBox="1"/>
          <p:nvPr/>
        </p:nvSpPr>
        <p:spPr>
          <a:xfrm>
            <a:off x="868680"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with respect to the graph's alignment: our procedure cannot create a false one; a paralogy collapsed in the graph still can.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600" dirty="0"/>
          </a:p>
        </p:txBody>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Blocks and chains</a:t>
            </a:r>
            <a:endParaRPr lang="en-US" sz="2200" dirty="0"/>
          </a:p>
        </p:txBody>
      </p:sp>
      <p:sp>
        <p:nvSpPr>
          <p:cNvPr id="9" name="Text 7"/>
          <p:cNvSpPr txBox="1"/>
          <p:nvPr/>
        </p:nvSpPr>
        <p:spPr>
          <a:xfrm>
            <a:off x="6598768"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block is a maximal run of constant offset: it breaks on indels, never on substitutions. Orientation flips and non-colinear jumps start a new chain.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chains that keep up with panning</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23</a:t>
            </a:r>
            <a:endParaRPr lang="en-US" sz="1000" dirty="0"/>
          </a:p>
        </p:txBody>
      </p:sp>
      <p:sp>
        <p:nvSpPr>
          <p:cNvPr id="4" name="Text 2"/>
          <p:cNvSpPr txBox="1"/>
          <p:nvPr/>
        </p:nvSpPr>
        <p:spPr>
          <a:xfrm>
            <a:off x="548640" y="1417320"/>
            <a:ext cx="5394960" cy="438912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request is padded to 5x its span (250 kb to 1 Mb) before the chain is built, so a gene-sized view gets a ~1 Mb chain.</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As the page navigates, the server rebuilds the same chain at +/-5 Mb in the background (about 11 s, off the user's path). The browser reopens the chain file on every request, so the next pan picks it up with no reload.</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Lifted gene items visible 4 Mb from the conversion: 1 with the first chain, 31 with the widened one.</a:t>
            </a:r>
            <a:endParaRPr lang="en-US" sz="1700" dirty="0"/>
          </a:p>
        </p:txBody>
      </p:sp>
      <p:graphicFrame>
        <p:nvGraphicFramePr>
          <p:cNvPr id="5" name="Chart 0" descr=""/>
          <p:cNvGraphicFramePr/>
          <p:nvPr/>
        </p:nvGraphicFramePr>
        <p:xfrm>
          <a:off x="6309360" y="1325880"/>
          <a:ext cx="5333695" cy="44805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by the numbers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24</a:t>
            </a:r>
            <a:endParaRPr lang="en-US" sz="1000" dirty="0"/>
          </a:p>
        </p:txBody>
      </p:sp>
      <p:sp>
        <p:nvSpPr>
          <p:cNvPr id="4" name="Shape 2"/>
          <p:cNvSpPr/>
          <p:nvPr/>
        </p:nvSpPr>
        <p:spPr>
          <a:xfrm>
            <a:off x="548640" y="1325880"/>
            <a:ext cx="2567864" cy="2148840"/>
          </a:xfrm>
          <a:prstGeom prst="roundRect">
            <a:avLst>
              <a:gd name="adj" fmla="val 5106"/>
            </a:avLst>
          </a:prstGeom>
          <a:solidFill>
            <a:srgbClr val="EDF1F6"/>
          </a:solidFill>
          <a:ln w="12700">
            <a:solidFill>
              <a:srgbClr val="DCE3EB"/>
            </a:solidFill>
            <a:prstDash val="solid"/>
          </a:ln>
        </p:spPr>
      </p:sp>
      <p:sp>
        <p:nvSpPr>
          <p:cNvPr id="5" name="Text 3"/>
          <p:cNvSpPr txBox="1"/>
          <p:nvPr/>
        </p:nvSpPr>
        <p:spPr>
          <a:xfrm>
            <a:off x="548640"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148M</a:t>
            </a:r>
            <a:endParaRPr lang="en-US" sz="3200" dirty="0"/>
          </a:p>
        </p:txBody>
      </p:sp>
      <p:sp>
        <p:nvSpPr>
          <p:cNvPr id="6" name="Text 4"/>
          <p:cNvSpPr txBox="1"/>
          <p:nvPr/>
        </p:nvSpPr>
        <p:spPr>
          <a:xfrm>
            <a:off x="777240"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nodes in the HPRC v2.0 Minigraph-Cactus graph</a:t>
            </a:r>
            <a:endParaRPr lang="en-US" sz="1600" dirty="0"/>
          </a:p>
        </p:txBody>
      </p:sp>
      <p:sp>
        <p:nvSpPr>
          <p:cNvPr id="7" name="Shape 5"/>
          <p:cNvSpPr/>
          <p:nvPr/>
        </p:nvSpPr>
        <p:spPr>
          <a:xfrm>
            <a:off x="3390824" y="1325880"/>
            <a:ext cx="2567864" cy="2148840"/>
          </a:xfrm>
          <a:prstGeom prst="roundRect">
            <a:avLst>
              <a:gd name="adj" fmla="val 5106"/>
            </a:avLst>
          </a:prstGeom>
          <a:solidFill>
            <a:srgbClr val="EDF1F6"/>
          </a:solidFill>
          <a:ln w="12700">
            <a:solidFill>
              <a:srgbClr val="DCE3EB"/>
            </a:solidFill>
            <a:prstDash val="solid"/>
          </a:ln>
        </p:spPr>
      </p:sp>
      <p:sp>
        <p:nvSpPr>
          <p:cNvPr id="8" name="Text 6"/>
          <p:cNvSpPr txBox="1"/>
          <p:nvPr/>
        </p:nvSpPr>
        <p:spPr>
          <a:xfrm>
            <a:off x="3390824"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464</a:t>
            </a:r>
            <a:endParaRPr lang="en-US" sz="3200" dirty="0"/>
          </a:p>
        </p:txBody>
      </p:sp>
      <p:sp>
        <p:nvSpPr>
          <p:cNvPr id="9" name="Text 7"/>
          <p:cNvSpPr txBox="1"/>
          <p:nvPr/>
        </p:nvSpPr>
        <p:spPr>
          <a:xfrm>
            <a:off x="3619424"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haplotypes indexed, CHM13 and GRCh38 included</a:t>
            </a:r>
            <a:endParaRPr lang="en-US" sz="1600" dirty="0"/>
          </a:p>
        </p:txBody>
      </p:sp>
      <p:sp>
        <p:nvSpPr>
          <p:cNvPr id="10" name="Shape 8"/>
          <p:cNvSpPr/>
          <p:nvPr/>
        </p:nvSpPr>
        <p:spPr>
          <a:xfrm>
            <a:off x="6233008" y="1325880"/>
            <a:ext cx="2567864" cy="2148840"/>
          </a:xfrm>
          <a:prstGeom prst="roundRect">
            <a:avLst>
              <a:gd name="adj" fmla="val 5106"/>
            </a:avLst>
          </a:prstGeom>
          <a:solidFill>
            <a:srgbClr val="EDF1F6"/>
          </a:solidFill>
          <a:ln w="12700">
            <a:solidFill>
              <a:srgbClr val="DCE3EB"/>
            </a:solidFill>
            <a:prstDash val="solid"/>
          </a:ln>
        </p:spPr>
      </p:sp>
      <p:sp>
        <p:nvSpPr>
          <p:cNvPr id="11" name="Text 9"/>
          <p:cNvSpPr txBox="1"/>
          <p:nvPr/>
        </p:nvSpPr>
        <p:spPr>
          <a:xfrm>
            <a:off x="6233008"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Tbp</a:t>
            </a:r>
            <a:endParaRPr lang="en-US" sz="3200" dirty="0"/>
          </a:p>
        </p:txBody>
      </p:sp>
      <p:sp>
        <p:nvSpPr>
          <p:cNvPr id="12" name="Text 10"/>
          <p:cNvSpPr txBox="1"/>
          <p:nvPr/>
        </p:nvSpPr>
        <p:spPr>
          <a:xfrm>
            <a:off x="6461608"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bidirectional sequence in the index</a:t>
            </a:r>
            <a:endParaRPr lang="en-US" sz="1600" dirty="0"/>
          </a:p>
        </p:txBody>
      </p:sp>
      <p:sp>
        <p:nvSpPr>
          <p:cNvPr id="13" name="Shape 11"/>
          <p:cNvSpPr/>
          <p:nvPr/>
        </p:nvSpPr>
        <p:spPr>
          <a:xfrm>
            <a:off x="9075191" y="1325880"/>
            <a:ext cx="2567864" cy="2148840"/>
          </a:xfrm>
          <a:prstGeom prst="roundRect">
            <a:avLst>
              <a:gd name="adj" fmla="val 5106"/>
            </a:avLst>
          </a:prstGeom>
          <a:solidFill>
            <a:srgbClr val="EDF1F6"/>
          </a:solidFill>
          <a:ln w="12700">
            <a:solidFill>
              <a:srgbClr val="DCE3EB"/>
            </a:solidFill>
            <a:prstDash val="solid"/>
          </a:ln>
        </p:spPr>
      </p:sp>
      <p:sp>
        <p:nvSpPr>
          <p:cNvPr id="14" name="Text 12"/>
          <p:cNvSpPr txBox="1"/>
          <p:nvPr/>
        </p:nvSpPr>
        <p:spPr>
          <a:xfrm>
            <a:off x="9075191"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B</a:t>
            </a:r>
            <a:endParaRPr lang="en-US" sz="3200" dirty="0"/>
          </a:p>
        </p:txBody>
      </p:sp>
      <p:sp>
        <p:nvSpPr>
          <p:cNvPr id="15" name="Text 13"/>
          <p:cNvSpPr txBox="1"/>
          <p:nvPr/>
        </p:nvSpPr>
        <p:spPr>
          <a:xfrm>
            <a:off x="9303791"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runs (4.9 B BWT runs)</a:t>
            </a:r>
            <a:endParaRPr lang="en-US" sz="1600" dirty="0"/>
          </a:p>
        </p:txBody>
      </p:sp>
      <p:sp>
        <p:nvSpPr>
          <p:cNvPr id="16" name="Shape 14"/>
          <p:cNvSpPr/>
          <p:nvPr/>
        </p:nvSpPr>
        <p:spPr>
          <a:xfrm>
            <a:off x="548640" y="3794760"/>
            <a:ext cx="2567864" cy="2148840"/>
          </a:xfrm>
          <a:prstGeom prst="roundRect">
            <a:avLst>
              <a:gd name="adj" fmla="val 5106"/>
            </a:avLst>
          </a:prstGeom>
          <a:solidFill>
            <a:srgbClr val="EDF1F6"/>
          </a:solidFill>
          <a:ln w="12700">
            <a:solidFill>
              <a:srgbClr val="DCE3EB"/>
            </a:solidFill>
            <a:prstDash val="solid"/>
          </a:ln>
        </p:spPr>
      </p:sp>
      <p:sp>
        <p:nvSpPr>
          <p:cNvPr id="17" name="Text 15"/>
          <p:cNvSpPr txBox="1"/>
          <p:nvPr/>
        </p:nvSpPr>
        <p:spPr>
          <a:xfrm>
            <a:off x="548640"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149 GiB</a:t>
            </a:r>
            <a:endParaRPr lang="en-US" sz="3200" dirty="0"/>
          </a:p>
        </p:txBody>
      </p:sp>
      <p:sp>
        <p:nvSpPr>
          <p:cNvPr id="18" name="Text 16"/>
          <p:cNvSpPr txBox="1"/>
          <p:nvPr/>
        </p:nvSpPr>
        <p:spPr>
          <a:xfrm>
            <a:off x="777240"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index; 23 GiB sampled tag array</a:t>
            </a:r>
            <a:endParaRPr lang="en-US" sz="1600" dirty="0"/>
          </a:p>
        </p:txBody>
      </p:sp>
      <p:sp>
        <p:nvSpPr>
          <p:cNvPr id="19" name="Shape 17"/>
          <p:cNvSpPr/>
          <p:nvPr/>
        </p:nvSpPr>
        <p:spPr>
          <a:xfrm>
            <a:off x="3390824" y="3794760"/>
            <a:ext cx="2567864" cy="2148840"/>
          </a:xfrm>
          <a:prstGeom prst="roundRect">
            <a:avLst>
              <a:gd name="adj" fmla="val 5106"/>
            </a:avLst>
          </a:prstGeom>
          <a:solidFill>
            <a:srgbClr val="EDF1F6"/>
          </a:solidFill>
          <a:ln w="12700">
            <a:solidFill>
              <a:srgbClr val="DCE3EB"/>
            </a:solidFill>
            <a:prstDash val="solid"/>
          </a:ln>
        </p:spPr>
      </p:sp>
      <p:sp>
        <p:nvSpPr>
          <p:cNvPr id="20" name="Text 18"/>
          <p:cNvSpPr txBox="1"/>
          <p:nvPr/>
        </p:nvSpPr>
        <p:spPr>
          <a:xfrm>
            <a:off x="3390824"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~250 GB</a:t>
            </a:r>
            <a:endParaRPr lang="en-US" sz="3200" dirty="0"/>
          </a:p>
        </p:txBody>
      </p:sp>
      <p:sp>
        <p:nvSpPr>
          <p:cNvPr id="21" name="Text 19"/>
          <p:cNvSpPr txBox="1"/>
          <p:nvPr/>
        </p:nvSpPr>
        <p:spPr>
          <a:xfrm>
            <a:off x="3619424"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RAM for the running service</a:t>
            </a:r>
            <a:endParaRPr lang="en-US" sz="1600" dirty="0"/>
          </a:p>
        </p:txBody>
      </p:sp>
      <p:sp>
        <p:nvSpPr>
          <p:cNvPr id="22" name="Shape 20"/>
          <p:cNvSpPr/>
          <p:nvPr/>
        </p:nvSpPr>
        <p:spPr>
          <a:xfrm>
            <a:off x="6233008" y="3794760"/>
            <a:ext cx="2567864" cy="2148840"/>
          </a:xfrm>
          <a:prstGeom prst="roundRect">
            <a:avLst>
              <a:gd name="adj" fmla="val 5106"/>
            </a:avLst>
          </a:prstGeom>
          <a:solidFill>
            <a:srgbClr val="EDF1F6"/>
          </a:solidFill>
          <a:ln w="12700">
            <a:solidFill>
              <a:srgbClr val="DCE3EB"/>
            </a:solidFill>
            <a:prstDash val="solid"/>
          </a:ln>
        </p:spPr>
      </p:sp>
      <p:sp>
        <p:nvSpPr>
          <p:cNvPr id="23" name="Text 21"/>
          <p:cNvSpPr txBox="1"/>
          <p:nvPr/>
        </p:nvSpPr>
        <p:spPr>
          <a:xfrm>
            <a:off x="6233008"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~60 / s</a:t>
            </a:r>
            <a:endParaRPr lang="en-US" sz="3200" dirty="0"/>
          </a:p>
        </p:txBody>
      </p:sp>
      <p:sp>
        <p:nvSpPr>
          <p:cNvPr id="24" name="Text 22"/>
          <p:cNvSpPr txBox="1"/>
          <p:nvPr/>
        </p:nvSpPr>
        <p:spPr>
          <a:xfrm>
            <a:off x="6461608"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translation queries per second on one server</a:t>
            </a:r>
            <a:endParaRPr lang="en-US" sz="1600" dirty="0"/>
          </a:p>
        </p:txBody>
      </p:sp>
      <p:sp>
        <p:nvSpPr>
          <p:cNvPr id="25" name="Shape 23"/>
          <p:cNvSpPr/>
          <p:nvPr/>
        </p:nvSpPr>
        <p:spPr>
          <a:xfrm>
            <a:off x="9075191" y="3794760"/>
            <a:ext cx="2567864" cy="2148840"/>
          </a:xfrm>
          <a:prstGeom prst="roundRect">
            <a:avLst>
              <a:gd name="adj" fmla="val 5106"/>
            </a:avLst>
          </a:prstGeom>
          <a:solidFill>
            <a:srgbClr val="EDF1F6"/>
          </a:solidFill>
          <a:ln w="12700">
            <a:solidFill>
              <a:srgbClr val="DCE3EB"/>
            </a:solidFill>
            <a:prstDash val="solid"/>
          </a:ln>
        </p:spPr>
      </p:sp>
      <p:sp>
        <p:nvSpPr>
          <p:cNvPr id="26" name="Text 24"/>
          <p:cNvSpPr txBox="1"/>
          <p:nvPr/>
        </p:nvSpPr>
        <p:spPr>
          <a:xfrm>
            <a:off x="9075191"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~100 ms</a:t>
            </a:r>
            <a:endParaRPr lang="en-US" sz="3200" dirty="0"/>
          </a:p>
        </p:txBody>
      </p:sp>
      <p:sp>
        <p:nvSpPr>
          <p:cNvPr id="27" name="Text 25"/>
          <p:cNvSpPr txBox="1"/>
          <p:nvPr/>
        </p:nvSpPr>
        <p:spPr>
          <a:xfrm>
            <a:off x="9303791"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to translate a 10 kb gene to any haplotype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2026-09-07T20:33:46Z</dcterms:created>
  <dcterms:modified xsi:type="dcterms:W3CDTF">2026-09-07T20:33:46Z</dcterms:modified>
</cp:coreProperties>
</file>
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The tools to work with the graph exist: vg giraffe maps to it, odgi and the r-index query it, halLiftover and impg move coordinates across it. But every one of them wants a large index on disk, real compute, and a command-line workflow that takes time to set up and time to run. A clinician, or a researcher outside a genomics group, never gets past that step. So in practice release 2 is browsed, one assembly at a time, and the graph itself goes unused. This talk is about removing that barrier.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 arbitrary release 2 haplotype.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So what would it take to do this in a web page, where a user waits a second and not an hour? Both use cases come down to two questions the index underneath has to answer in milliseconds.
Where in the graph is this sequence? Asked once, against all 464 haplotypes, not 464 times against one assembly each, and for any sequence, of any length.
And: who passes through this node, and where? Answered for any haplotype against any other, without a pairwise alignment prepared in advance for each of the more than two hundred thousand pairs.
Nothing that existed answered both, at that scale, at interactive speed. So before any tool, we built the index: a tag array index over the release 2 graph. Built once. Everything you will see in the rest of this talk is a query against it. Let me spend three slides on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[3:10-4:10]
Here is the index on a toy graph, and it is all you need for the rest of the talk. Three haplotypes, one text, one BWT. Alongside the BWT sits the tag array: every BWT position carries a tag, the node and offset in the graph that character came from. On the right, the same thing as columns: search a pattern the way any FM-index does, read the tags in the interval, and you have the graph positions.
Three consequences. One index answers for every haplotype: all 464 are indexed together, so a sequence is looked up once and found on every haplotype that carries it. Every match knows its place in the graph: a hit is a node and an offset, not a line in one assembly. And every node knows who visits it: ask a node and get every haplotype passing through it, each with its own coordinate. That last one is how a locus moves from one haplotype to another.
Earlier pangenome indexes made you choose: index the haplotypes and get every hit 464 times, or index the graph and lose parts of the haplotypes. Tag arrays keep the haplotypes and add the graph. Nothing is lost, nothing is repeated, and nothing anywhere says CHM13-to-HG02015: there is no pairwise index, which is why any of the 464 can be translated to any other. Details are in the paper and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[4:30-4:45]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[4:45-5:10]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[5:10-5:30]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[5:30-6:50]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[6:50-7:25]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[7:25-8:00]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an arbitrary release 2 haplotype, such as HG02015,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[8:00-9:40]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[9:40-10:15]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[10:15-10:40]
Put simply, three questions a release 2 user can now ask without leaving the browser.
Is my sequence in any HPRC individual? Paste it, and get every haplotype that carries it and where.
What does my locus look like on another haplotype? Give a position, pick a haplotype, and see it there with the reference annotation drawn on it.
And where does that haplotype differ from the reference? Same view: the graph's alignment, base by base.
A browser tab, and a sequence or a position. No pipeline, no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[10:40-11:25]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[11:25-12:05]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[12:05-12:20]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 arbitrary release 2 haplotype.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questions, answered in milliseconds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417320"/>
            <a:ext cx="5364328" cy="2514600"/>
          </a:xfrm>
          <a:prstGeom prst="roundRect">
            <a:avLst>
              <a:gd name="adj" fmla="val 4364"/>
            </a:avLst>
          </a:prstGeom>
          <a:solidFill>
            <a:srgbClr val="EDF1F6"/>
          </a:solidFill>
          <a:ln w="12700">
            <a:solidFill>
              <a:srgbClr val="DCE3EB"/>
            </a:solidFill>
            <a:prstDash val="solid"/>
          </a:ln>
        </p:spPr>
      </p:sp>
      <p:sp>
        <p:nvSpPr>
          <p:cNvPr id="5" name="Shape 3"/>
          <p:cNvSpPr/>
          <p:nvPr/>
        </p:nvSpPr>
        <p:spPr>
          <a:xfrm>
            <a:off x="868680" y="173736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927555"/>
            <a:ext cx="351130" cy="351130"/>
          </a:xfrm>
          <a:prstGeom prst="rect">
            <a:avLst/>
          </a:prstGeom>
        </p:spPr>
      </p:pic>
      <p:sp>
        <p:nvSpPr>
          <p:cNvPr id="7" name="Text 4"/>
          <p:cNvSpPr txBox="1"/>
          <p:nvPr/>
        </p:nvSpPr>
        <p:spPr>
          <a:xfrm>
            <a:off x="1828800"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Where in the graph is this sequence?</a:t>
            </a:r>
            <a:endParaRPr lang="en-US" sz="2000" dirty="0"/>
          </a:p>
        </p:txBody>
      </p:sp>
      <p:sp>
        <p:nvSpPr>
          <p:cNvPr id="8" name="Text 5"/>
          <p:cNvSpPr txBox="1"/>
          <p:nvPr/>
        </p:nvSpPr>
        <p:spPr>
          <a:xfrm>
            <a:off x="868680"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Asked once against all 464 haplotypes, not 464 times against one assembly each. Any sequence, any length.</a:t>
            </a:r>
            <a:endParaRPr lang="en-US" sz="1700" dirty="0"/>
          </a:p>
        </p:txBody>
      </p:sp>
      <p:sp>
        <p:nvSpPr>
          <p:cNvPr id="9" name="Shape 6"/>
          <p:cNvSpPr/>
          <p:nvPr/>
        </p:nvSpPr>
        <p:spPr>
          <a:xfrm>
            <a:off x="3230804" y="4023360"/>
            <a:ext cx="0" cy="457200"/>
          </a:xfrm>
          <a:prstGeom prst="line">
            <a:avLst/>
          </a:prstGeom>
          <a:noFill/>
          <a:ln w="25400">
            <a:solidFill>
              <a:srgbClr val="003C6C"/>
            </a:solidFill>
            <a:prstDash val="solid"/>
            <a:tailEnd type="triangle"/>
          </a:ln>
        </p:spPr>
      </p:sp>
      <p:sp>
        <p:nvSpPr>
          <p:cNvPr id="10" name="Shape 7"/>
          <p:cNvSpPr/>
          <p:nvPr/>
        </p:nvSpPr>
        <p:spPr>
          <a:xfrm>
            <a:off x="6278728" y="1417320"/>
            <a:ext cx="5364328" cy="2514600"/>
          </a:xfrm>
          <a:prstGeom prst="roundRect">
            <a:avLst>
              <a:gd name="adj" fmla="val 4364"/>
            </a:avLst>
          </a:prstGeom>
          <a:solidFill>
            <a:srgbClr val="EDF1F6"/>
          </a:solidFill>
          <a:ln w="12700">
            <a:solidFill>
              <a:srgbClr val="DCE3EB"/>
            </a:solidFill>
            <a:prstDash val="solid"/>
          </a:ln>
        </p:spPr>
      </p:sp>
      <p:sp>
        <p:nvSpPr>
          <p:cNvPr id="11" name="Shape 8"/>
          <p:cNvSpPr/>
          <p:nvPr/>
        </p:nvSpPr>
        <p:spPr>
          <a:xfrm>
            <a:off x="6598768" y="1737360"/>
            <a:ext cx="731520" cy="731520"/>
          </a:xfrm>
          <a:prstGeom prst="ellipse">
            <a:avLst/>
          </a:prstGeom>
          <a:solidFill>
            <a:srgbClr val="003C6C"/>
          </a:solidFill>
          <a:ln w="12700">
            <a:solidFill>
              <a:srgbClr val="003C6C"/>
            </a:solidFill>
            <a:prstDash val="solid"/>
          </a:ln>
        </p:spPr>
      </p:sp>
      <p:pic>
        <p:nvPicPr>
          <p:cNvPr id="12" name="Image 1" descr="preencoded.png">    </p:cNvPr>
          <p:cNvPicPr>
            <a:picLocks noChangeAspect="1"/>
          </p:cNvPicPr>
          <p:nvPr/>
        </p:nvPicPr>
        <p:blipFill>
          <a:blip r:embed="rId2"/>
          <a:stretch>
            <a:fillRect/>
          </a:stretch>
        </p:blipFill>
        <p:spPr>
          <a:xfrm>
            <a:off x="6788963" y="1927555"/>
            <a:ext cx="351130" cy="351130"/>
          </a:xfrm>
          <a:prstGeom prst="rect">
            <a:avLst/>
          </a:prstGeom>
        </p:spPr>
      </p:pic>
      <p:sp>
        <p:nvSpPr>
          <p:cNvPr id="13" name="Text 9"/>
          <p:cNvSpPr txBox="1"/>
          <p:nvPr/>
        </p:nvSpPr>
        <p:spPr>
          <a:xfrm>
            <a:off x="7558888" y="1783080"/>
            <a:ext cx="3718408" cy="685800"/>
          </a:xfrm>
          <a:prstGeom prst="rect">
            <a:avLst/>
          </a:prstGeom>
          <a:noFill/>
          <a:ln/>
        </p:spPr>
        <p:txBody>
          <a:bodyPr wrap="square" lIns="0" tIns="0" rIns="0" bIns="0" rtlCol="0" anchor="ctr"/>
          <a:lstStyle/>
          <a:p>
            <a:pPr indent="0" marL="0">
              <a:buNone/>
            </a:pPr>
            <a:r>
              <a:rPr lang="en-US" sz="2000" b="1" dirty="0">
                <a:solidFill>
                  <a:srgbClr val="003C6C"/>
                </a:solidFill>
                <a:latin typeface="Calibri" pitchFamily="34" charset="0"/>
                <a:ea typeface="Calibri" pitchFamily="34" charset="-122"/>
                <a:cs typeface="Calibri" pitchFamily="34" charset="-120"/>
              </a:rPr>
              <a:t>Who passes through this node, and where?</a:t>
            </a:r>
            <a:endParaRPr lang="en-US" sz="2000" dirty="0"/>
          </a:p>
        </p:txBody>
      </p:sp>
      <p:sp>
        <p:nvSpPr>
          <p:cNvPr id="14" name="Text 10"/>
          <p:cNvSpPr txBox="1"/>
          <p:nvPr/>
        </p:nvSpPr>
        <p:spPr>
          <a:xfrm>
            <a:off x="6598768" y="2606040"/>
            <a:ext cx="4724248" cy="12344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Answered for any haplotype against any other, without a pairwise alignment prepared for each of the 200,000+ pairs.</a:t>
            </a:r>
            <a:endParaRPr lang="en-US" sz="1700" dirty="0"/>
          </a:p>
        </p:txBody>
      </p:sp>
      <p:sp>
        <p:nvSpPr>
          <p:cNvPr id="15" name="Shape 11"/>
          <p:cNvSpPr/>
          <p:nvPr/>
        </p:nvSpPr>
        <p:spPr>
          <a:xfrm>
            <a:off x="8960891" y="4023360"/>
            <a:ext cx="0" cy="457200"/>
          </a:xfrm>
          <a:prstGeom prst="line">
            <a:avLst/>
          </a:prstGeom>
          <a:noFill/>
          <a:ln w="25400">
            <a:solidFill>
              <a:srgbClr val="003C6C"/>
            </a:solidFill>
            <a:prstDash val="solid"/>
            <a:tailEnd type="triangle"/>
          </a:ln>
        </p:spPr>
      </p:sp>
      <p:sp>
        <p:nvSpPr>
          <p:cNvPr id="16" name="Shape 12"/>
          <p:cNvSpPr/>
          <p:nvPr/>
        </p:nvSpPr>
        <p:spPr>
          <a:xfrm>
            <a:off x="548640" y="4572000"/>
            <a:ext cx="11094415" cy="1325880"/>
          </a:xfrm>
          <a:prstGeom prst="roundRect">
            <a:avLst>
              <a:gd name="adj" fmla="val 8276"/>
            </a:avLst>
          </a:prstGeom>
          <a:solidFill>
            <a:srgbClr val="003C6C"/>
          </a:solidFill>
          <a:ln w="12700">
            <a:solidFill>
              <a:srgbClr val="003C6C"/>
            </a:solidFill>
            <a:prstDash val="solid"/>
          </a:ln>
        </p:spPr>
      </p:sp>
      <p:sp>
        <p:nvSpPr>
          <p:cNvPr id="17" name="Text 13"/>
          <p:cNvSpPr txBox="1"/>
          <p:nvPr/>
        </p:nvSpPr>
        <p:spPr>
          <a:xfrm>
            <a:off x="548640" y="4690872"/>
            <a:ext cx="11094415"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Calibri" pitchFamily="34" charset="0"/>
                <a:ea typeface="Calibri" pitchFamily="34" charset="-122"/>
                <a:cs typeface="Calibri" pitchFamily="34" charset="-120"/>
              </a:rPr>
              <a:t>One index answers both: the tag array index</a:t>
            </a:r>
            <a:endParaRPr lang="en-US" sz="2400" dirty="0"/>
          </a:p>
        </p:txBody>
      </p:sp>
      <p:sp>
        <p:nvSpPr>
          <p:cNvPr id="18" name="Text 14"/>
          <p:cNvSpPr txBox="1"/>
          <p:nvPr/>
        </p:nvSpPr>
        <p:spPr>
          <a:xfrm>
            <a:off x="548640" y="5257800"/>
            <a:ext cx="11094415" cy="41148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Built once over the release 2 graph. Everything in the rest of this talk is a query against it.</a:t>
            </a:r>
            <a:endParaRPr lang="en-US" sz="16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web page can wait a second, not an hour. The index is what makes that possible.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371600"/>
            <a:ext cx="5154182" cy="3429000"/>
          </a:xfrm>
          <a:prstGeom prst="rect">
            <a:avLst/>
          </a:prstGeom>
        </p:spPr>
      </p:pic>
      <p:pic>
        <p:nvPicPr>
          <p:cNvPr id="6" name="Image 1" descr="/Users/seeskand/Documents/HPRC/2026/hprc_2026_poster/talk/figures/bwt_col.png">    </p:cNvPr>
          <p:cNvPicPr>
            <a:picLocks noChangeAspect="1"/>
          </p:cNvPicPr>
          <p:nvPr/>
        </p:nvPicPr>
        <p:blipFill>
          <a:blip r:embed="rId2"/>
          <a:stretch>
            <a:fillRect/>
          </a:stretch>
        </p:blipFill>
        <p:spPr>
          <a:xfrm>
            <a:off x="6205742" y="1371600"/>
            <a:ext cx="1285219" cy="3429000"/>
          </a:xfrm>
          <a:prstGeom prst="rect">
            <a:avLst/>
          </a:prstGeom>
        </p:spPr>
      </p:pic>
      <p:pic>
        <p:nvPicPr>
          <p:cNvPr id="7" name="Image 2" descr="/Users/seeskand/Documents/HPRC/2026/hprc_2026_poster/talk/figures/tags_col.png">    </p:cNvPr>
          <p:cNvPicPr>
            <a:picLocks noChangeAspect="1"/>
          </p:cNvPicPr>
          <p:nvPr/>
        </p:nvPicPr>
        <p:blipFill>
          <a:blip r:embed="rId3"/>
          <a:stretch>
            <a:fillRect/>
          </a:stretch>
        </p:blipFill>
        <p:spPr>
          <a:xfrm>
            <a:off x="7628122" y="1371600"/>
            <a:ext cx="737908" cy="3429000"/>
          </a:xfrm>
          <a:prstGeom prst="rect">
            <a:avLst/>
          </a:prstGeom>
        </p:spPr>
      </p:pic>
      <p:sp>
        <p:nvSpPr>
          <p:cNvPr id="8" name="Text 3"/>
          <p:cNvSpPr txBox="1"/>
          <p:nvPr/>
        </p:nvSpPr>
        <p:spPr>
          <a:xfrm>
            <a:off x="5382782" y="4846320"/>
            <a:ext cx="3806207" cy="320040"/>
          </a:xfrm>
          <a:prstGeom prst="rect">
            <a:avLst/>
          </a:prstGeom>
          <a:noFill/>
          <a:ln/>
        </p:spPr>
        <p:txBody>
          <a:bodyPr wrap="square" lIns="0" tIns="0" rIns="0" bIns="0" rtlCol="0" anchor="t"/>
          <a:lstStyle/>
          <a:p>
            <a:pPr algn="ctr" indent="0" marL="0">
              <a:buNone/>
            </a:pPr>
            <a:r>
              <a:rPr lang="en-US" sz="1100" i="1" dirty="0">
                <a:solidFill>
                  <a:srgbClr val="5B6B7C"/>
                </a:solidFill>
                <a:latin typeface="Calibri" pitchFamily="34" charset="0"/>
                <a:ea typeface="Calibri" pitchFamily="34" charset="-122"/>
                <a:cs typeface="Calibri" pitchFamily="34" charset="-120"/>
              </a:rPr>
              <a:t>every BWT position carries a tag: its node and offset</a:t>
            </a:r>
            <a:endParaRPr lang="en-US" sz="1100" dirty="0"/>
          </a:p>
        </p:txBody>
      </p:sp>
      <p:sp>
        <p:nvSpPr>
          <p:cNvPr id="9" name="Shape 4"/>
          <p:cNvSpPr/>
          <p:nvPr/>
        </p:nvSpPr>
        <p:spPr>
          <a:xfrm>
            <a:off x="548640" y="5321808"/>
            <a:ext cx="365760" cy="365760"/>
          </a:xfrm>
          <a:prstGeom prst="roundRect">
            <a:avLst>
              <a:gd name="adj" fmla="val 22500"/>
            </a:avLst>
          </a:prstGeom>
          <a:solidFill>
            <a:srgbClr val="FDC700"/>
          </a:solidFill>
          <a:ln w="12700">
            <a:solidFill>
              <a:srgbClr val="FDC700"/>
            </a:solidFill>
            <a:prstDash val="solid"/>
          </a:ln>
        </p:spPr>
      </p:sp>
      <p:sp>
        <p:nvSpPr>
          <p:cNvPr id="10" name="Text 5"/>
          <p:cNvSpPr txBox="1"/>
          <p:nvPr/>
        </p:nvSpPr>
        <p:spPr>
          <a:xfrm>
            <a:off x="548640"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1" name="Text 6"/>
          <p:cNvSpPr txBox="1"/>
          <p:nvPr/>
        </p:nvSpPr>
        <p:spPr>
          <a:xfrm>
            <a:off x="1051560"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One index answers for every haplotype</a:t>
            </a:r>
            <a:endParaRPr lang="en-US" sz="1500" dirty="0"/>
          </a:p>
        </p:txBody>
      </p:sp>
      <p:sp>
        <p:nvSpPr>
          <p:cNvPr id="12" name="Text 7"/>
          <p:cNvSpPr txBox="1"/>
          <p:nvPr/>
        </p:nvSpPr>
        <p:spPr>
          <a:xfrm>
            <a:off x="1051560"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All 464 haplotypes are indexed together. A sequence is looked up once and found on every haplotype that carries it.</a:t>
            </a:r>
            <a:endParaRPr lang="en-US" sz="1250" dirty="0"/>
          </a:p>
        </p:txBody>
      </p:sp>
      <p:sp>
        <p:nvSpPr>
          <p:cNvPr id="13" name="Shape 8"/>
          <p:cNvSpPr/>
          <p:nvPr/>
        </p:nvSpPr>
        <p:spPr>
          <a:xfrm>
            <a:off x="4368698" y="5321808"/>
            <a:ext cx="365760" cy="365760"/>
          </a:xfrm>
          <a:prstGeom prst="roundRect">
            <a:avLst>
              <a:gd name="adj" fmla="val 22500"/>
            </a:avLst>
          </a:prstGeom>
          <a:solidFill>
            <a:srgbClr val="FDC700"/>
          </a:solidFill>
          <a:ln w="12700">
            <a:solidFill>
              <a:srgbClr val="FDC700"/>
            </a:solidFill>
            <a:prstDash val="solid"/>
          </a:ln>
        </p:spPr>
      </p:sp>
      <p:sp>
        <p:nvSpPr>
          <p:cNvPr id="14" name="Text 9"/>
          <p:cNvSpPr txBox="1"/>
          <p:nvPr/>
        </p:nvSpPr>
        <p:spPr>
          <a:xfrm>
            <a:off x="4368698"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0"/>
          <p:cNvSpPr txBox="1"/>
          <p:nvPr/>
        </p:nvSpPr>
        <p:spPr>
          <a:xfrm>
            <a:off x="4871618"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match knows its place in the graph</a:t>
            </a:r>
            <a:endParaRPr lang="en-US" sz="1500" dirty="0"/>
          </a:p>
        </p:txBody>
      </p:sp>
      <p:sp>
        <p:nvSpPr>
          <p:cNvPr id="16" name="Text 11"/>
          <p:cNvSpPr txBox="1"/>
          <p:nvPr/>
        </p:nvSpPr>
        <p:spPr>
          <a:xfrm>
            <a:off x="4871618"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The tag on a BWT position is a node and an offset. A hit is a position in the graph, not a line in one assembly.</a:t>
            </a:r>
            <a:endParaRPr lang="en-US" sz="1250" dirty="0"/>
          </a:p>
        </p:txBody>
      </p:sp>
      <p:sp>
        <p:nvSpPr>
          <p:cNvPr id="17" name="Shape 12"/>
          <p:cNvSpPr/>
          <p:nvPr/>
        </p:nvSpPr>
        <p:spPr>
          <a:xfrm>
            <a:off x="8188757" y="5321808"/>
            <a:ext cx="365760" cy="365760"/>
          </a:xfrm>
          <a:prstGeom prst="roundRect">
            <a:avLst>
              <a:gd name="adj" fmla="val 22500"/>
            </a:avLst>
          </a:prstGeom>
          <a:solidFill>
            <a:srgbClr val="FDC700"/>
          </a:solidFill>
          <a:ln w="12700">
            <a:solidFill>
              <a:srgbClr val="FDC700"/>
            </a:solidFill>
            <a:prstDash val="solid"/>
          </a:ln>
        </p:spPr>
      </p:sp>
      <p:sp>
        <p:nvSpPr>
          <p:cNvPr id="18" name="Text 13"/>
          <p:cNvSpPr txBox="1"/>
          <p:nvPr/>
        </p:nvSpPr>
        <p:spPr>
          <a:xfrm>
            <a:off x="8188757" y="5321808"/>
            <a:ext cx="365760" cy="365760"/>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4"/>
          <p:cNvSpPr txBox="1"/>
          <p:nvPr/>
        </p:nvSpPr>
        <p:spPr>
          <a:xfrm>
            <a:off x="8691677" y="5303520"/>
            <a:ext cx="2951378" cy="411480"/>
          </a:xfrm>
          <a:prstGeom prst="rect">
            <a:avLst/>
          </a:prstGeom>
          <a:noFill/>
          <a:ln/>
        </p:spPr>
        <p:txBody>
          <a:bodyPr wrap="square" lIns="0" tIns="0" rIns="0" bIns="0" rtlCol="0" anchor="ctr"/>
          <a:lstStyle/>
          <a:p>
            <a:pPr indent="0" marL="0">
              <a:buNone/>
            </a:pPr>
            <a:r>
              <a:rPr lang="en-US" sz="1500" b="1" dirty="0">
                <a:solidFill>
                  <a:srgbClr val="003C6C"/>
                </a:solidFill>
                <a:latin typeface="Calibri" pitchFamily="34" charset="0"/>
                <a:ea typeface="Calibri" pitchFamily="34" charset="-122"/>
                <a:cs typeface="Calibri" pitchFamily="34" charset="-120"/>
              </a:rPr>
              <a:t>Every node knows who visits it</a:t>
            </a:r>
            <a:endParaRPr lang="en-US" sz="1500" dirty="0"/>
          </a:p>
        </p:txBody>
      </p:sp>
      <p:sp>
        <p:nvSpPr>
          <p:cNvPr id="20" name="Text 15"/>
          <p:cNvSpPr txBox="1"/>
          <p:nvPr/>
        </p:nvSpPr>
        <p:spPr>
          <a:xfrm>
            <a:off x="8691677" y="5760720"/>
            <a:ext cx="2951378" cy="685800"/>
          </a:xfrm>
          <a:prstGeom prst="rect">
            <a:avLst/>
          </a:prstGeom>
          <a:noFill/>
          <a:ln/>
        </p:spPr>
        <p:txBody>
          <a:bodyPr wrap="square" lIns="0" tIns="0" rIns="0" bIns="0" rtlCol="0" anchor="t"/>
          <a:lstStyle/>
          <a:p>
            <a:pPr indent="0" marL="0">
              <a:buNone/>
            </a:pPr>
            <a:r>
              <a:rPr lang="en-US" sz="1250" dirty="0">
                <a:solidFill>
                  <a:srgbClr val="18293B"/>
                </a:solidFill>
                <a:latin typeface="Calibri" pitchFamily="34" charset="0"/>
                <a:ea typeface="Calibri" pitchFamily="34" charset="-122"/>
                <a:cs typeface="Calibri" pitchFamily="34" charset="-120"/>
              </a:rPr>
              <a:t>Ask a node, get every haplotype passing through it with its own coordinate. That is how a locus moves between haplotypes.</a:t>
            </a:r>
            <a:endParaRPr lang="en-US" sz="1250" dirty="0"/>
          </a:p>
        </p:txBody>
      </p:sp>
      <p:sp>
        <p:nvSpPr>
          <p:cNvPr id="21" name="Text 16"/>
          <p:cNvSpPr txBox="1"/>
          <p:nvPr/>
        </p:nvSpPr>
        <p:spPr>
          <a:xfrm>
            <a:off x="548640" y="6473952"/>
            <a:ext cx="11094415" cy="292608"/>
          </a:xfrm>
          <a:prstGeom prst="rect">
            <a:avLst/>
          </a:prstGeom>
          <a:noFill/>
          <a:ln/>
        </p:spPr>
        <p:txBody>
          <a:bodyPr wrap="square" lIns="0" tIns="0" rIns="0" bIns="0" rtlCol="0" anchor="t"/>
          <a:lstStyle/>
          <a:p>
            <a:pPr algn="ctr" indent="0" marL="0">
              <a:buNone/>
            </a:pPr>
            <a:r>
              <a:rPr lang="en-US" sz="11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_step1.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_step2.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_step3.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_step4.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an arbitrary release 2 haplotype, such as HG02015,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a release 2 user can now ask</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Shape 2"/>
          <p:cNvSpPr/>
          <p:nvPr/>
        </p:nvSpPr>
        <p:spPr>
          <a:xfrm>
            <a:off x="548640" y="1325880"/>
            <a:ext cx="3454298" cy="411480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685800" cy="68580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46988" y="1824228"/>
            <a:ext cx="329184" cy="329184"/>
          </a:xfrm>
          <a:prstGeom prst="rect">
            <a:avLst/>
          </a:prstGeom>
        </p:spPr>
      </p:pic>
      <p:sp>
        <p:nvSpPr>
          <p:cNvPr id="7" name="Text 4"/>
          <p:cNvSpPr txBox="1"/>
          <p:nvPr/>
        </p:nvSpPr>
        <p:spPr>
          <a:xfrm>
            <a:off x="868680"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Is my sequence in any HPRC individual?</a:t>
            </a:r>
            <a:endParaRPr lang="en-US" sz="1900" dirty="0"/>
          </a:p>
        </p:txBody>
      </p:sp>
      <p:sp>
        <p:nvSpPr>
          <p:cNvPr id="8" name="Text 5"/>
          <p:cNvSpPr txBox="1"/>
          <p:nvPr/>
        </p:nvSpPr>
        <p:spPr>
          <a:xfrm>
            <a:off x="868680"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9" name="Text 6"/>
          <p:cNvSpPr txBox="1"/>
          <p:nvPr/>
        </p:nvSpPr>
        <p:spPr>
          <a:xfrm>
            <a:off x="868680"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Paste a sequence.</a:t>
            </a:r>
            <a:endParaRPr lang="en-US" sz="1500" dirty="0"/>
          </a:p>
        </p:txBody>
      </p:sp>
      <p:sp>
        <p:nvSpPr>
          <p:cNvPr id="10" name="Text 7"/>
          <p:cNvSpPr txBox="1"/>
          <p:nvPr/>
        </p:nvSpPr>
        <p:spPr>
          <a:xfrm>
            <a:off x="868680"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1" name="Text 8"/>
          <p:cNvSpPr txBox="1"/>
          <p:nvPr/>
        </p:nvSpPr>
        <p:spPr>
          <a:xfrm>
            <a:off x="868680"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 that carries it, and where on each.</a:t>
            </a:r>
            <a:endParaRPr lang="en-US" sz="1500" dirty="0"/>
          </a:p>
        </p:txBody>
      </p:sp>
      <p:sp>
        <p:nvSpPr>
          <p:cNvPr id="12" name="Shape 9"/>
          <p:cNvSpPr/>
          <p:nvPr/>
        </p:nvSpPr>
        <p:spPr>
          <a:xfrm>
            <a:off x="4368698" y="1325880"/>
            <a:ext cx="3454298" cy="4114800"/>
          </a:xfrm>
          <a:prstGeom prst="roundRect">
            <a:avLst>
              <a:gd name="adj" fmla="val 3177"/>
            </a:avLst>
          </a:prstGeom>
          <a:solidFill>
            <a:srgbClr val="EDF1F6"/>
          </a:solidFill>
          <a:ln w="12700">
            <a:solidFill>
              <a:srgbClr val="DCE3EB"/>
            </a:solidFill>
            <a:prstDash val="solid"/>
          </a:ln>
        </p:spPr>
      </p:sp>
      <p:sp>
        <p:nvSpPr>
          <p:cNvPr id="13" name="Shape 10"/>
          <p:cNvSpPr/>
          <p:nvPr/>
        </p:nvSpPr>
        <p:spPr>
          <a:xfrm>
            <a:off x="4688738" y="1645920"/>
            <a:ext cx="685800" cy="68580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4867046" y="1824228"/>
            <a:ext cx="329184" cy="329184"/>
          </a:xfrm>
          <a:prstGeom prst="rect">
            <a:avLst/>
          </a:prstGeom>
        </p:spPr>
      </p:pic>
      <p:sp>
        <p:nvSpPr>
          <p:cNvPr id="15" name="Text 11"/>
          <p:cNvSpPr txBox="1"/>
          <p:nvPr/>
        </p:nvSpPr>
        <p:spPr>
          <a:xfrm>
            <a:off x="4688738"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What does my locus look like on another haplotype?</a:t>
            </a:r>
            <a:endParaRPr lang="en-US" sz="1900" dirty="0"/>
          </a:p>
        </p:txBody>
      </p:sp>
      <p:sp>
        <p:nvSpPr>
          <p:cNvPr id="16" name="Text 12"/>
          <p:cNvSpPr txBox="1"/>
          <p:nvPr/>
        </p:nvSpPr>
        <p:spPr>
          <a:xfrm>
            <a:off x="4688738"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17" name="Text 13"/>
          <p:cNvSpPr txBox="1"/>
          <p:nvPr/>
        </p:nvSpPr>
        <p:spPr>
          <a:xfrm>
            <a:off x="4688738"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Give a position and pick a haplotype.</a:t>
            </a:r>
            <a:endParaRPr lang="en-US" sz="1500" dirty="0"/>
          </a:p>
        </p:txBody>
      </p:sp>
      <p:sp>
        <p:nvSpPr>
          <p:cNvPr id="18" name="Text 14"/>
          <p:cNvSpPr txBox="1"/>
          <p:nvPr/>
        </p:nvSpPr>
        <p:spPr>
          <a:xfrm>
            <a:off x="4688738"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19" name="Text 15"/>
          <p:cNvSpPr txBox="1"/>
          <p:nvPr/>
        </p:nvSpPr>
        <p:spPr>
          <a:xfrm>
            <a:off x="4688738"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locus on that haplotype, with the reference annotation drawn there.</a:t>
            </a:r>
            <a:endParaRPr lang="en-US" sz="1500" dirty="0"/>
          </a:p>
        </p:txBody>
      </p:sp>
      <p:sp>
        <p:nvSpPr>
          <p:cNvPr id="20" name="Shape 16"/>
          <p:cNvSpPr/>
          <p:nvPr/>
        </p:nvSpPr>
        <p:spPr>
          <a:xfrm>
            <a:off x="8188757" y="1325880"/>
            <a:ext cx="3454298" cy="4114800"/>
          </a:xfrm>
          <a:prstGeom prst="roundRect">
            <a:avLst>
              <a:gd name="adj" fmla="val 3177"/>
            </a:avLst>
          </a:prstGeom>
          <a:solidFill>
            <a:srgbClr val="EDF1F6"/>
          </a:solidFill>
          <a:ln w="12700">
            <a:solidFill>
              <a:srgbClr val="DCE3EB"/>
            </a:solidFill>
            <a:prstDash val="solid"/>
          </a:ln>
        </p:spPr>
      </p:sp>
      <p:sp>
        <p:nvSpPr>
          <p:cNvPr id="21" name="Shape 17"/>
          <p:cNvSpPr/>
          <p:nvPr/>
        </p:nvSpPr>
        <p:spPr>
          <a:xfrm>
            <a:off x="8508797" y="1645920"/>
            <a:ext cx="685800" cy="685800"/>
          </a:xfrm>
          <a:prstGeom prst="ellipse">
            <a:avLst/>
          </a:prstGeom>
          <a:solidFill>
            <a:srgbClr val="003C6C"/>
          </a:solidFill>
          <a:ln w="12700">
            <a:solidFill>
              <a:srgbClr val="003C6C"/>
            </a:solidFill>
            <a:prstDash val="solid"/>
          </a:ln>
        </p:spPr>
      </p:sp>
      <p:pic>
        <p:nvPicPr>
          <p:cNvPr id="22" name="Image 2" descr="preencoded.png">    </p:cNvPr>
          <p:cNvPicPr>
            <a:picLocks noChangeAspect="1"/>
          </p:cNvPicPr>
          <p:nvPr/>
        </p:nvPicPr>
        <p:blipFill>
          <a:blip r:embed="rId3"/>
          <a:stretch>
            <a:fillRect/>
          </a:stretch>
        </p:blipFill>
        <p:spPr>
          <a:xfrm>
            <a:off x="8687105" y="1824228"/>
            <a:ext cx="329184" cy="329184"/>
          </a:xfrm>
          <a:prstGeom prst="rect">
            <a:avLst/>
          </a:prstGeom>
        </p:spPr>
      </p:pic>
      <p:sp>
        <p:nvSpPr>
          <p:cNvPr id="23" name="Text 18"/>
          <p:cNvSpPr txBox="1"/>
          <p:nvPr/>
        </p:nvSpPr>
        <p:spPr>
          <a:xfrm>
            <a:off x="8508797" y="2468880"/>
            <a:ext cx="2814218" cy="914400"/>
          </a:xfrm>
          <a:prstGeom prst="rect">
            <a:avLst/>
          </a:prstGeom>
          <a:noFill/>
          <a:ln/>
        </p:spPr>
        <p:txBody>
          <a:bodyPr wrap="square" lIns="0" tIns="0" rIns="0" bIns="0" rtlCol="0" anchor="t"/>
          <a:lstStyle/>
          <a:p>
            <a:pPr indent="0" marL="0">
              <a:buNone/>
            </a:pPr>
            <a:r>
              <a:rPr lang="en-US" sz="1900" b="1" dirty="0">
                <a:solidFill>
                  <a:srgbClr val="003C6C"/>
                </a:solidFill>
                <a:latin typeface="Calibri" pitchFamily="34" charset="0"/>
                <a:ea typeface="Calibri" pitchFamily="34" charset="-122"/>
                <a:cs typeface="Calibri" pitchFamily="34" charset="-120"/>
              </a:rPr>
              <a:t>Where does that haplotype differ from the reference?</a:t>
            </a:r>
            <a:endParaRPr lang="en-US" sz="1900" dirty="0"/>
          </a:p>
        </p:txBody>
      </p:sp>
      <p:sp>
        <p:nvSpPr>
          <p:cNvPr id="24" name="Text 19"/>
          <p:cNvSpPr txBox="1"/>
          <p:nvPr/>
        </p:nvSpPr>
        <p:spPr>
          <a:xfrm>
            <a:off x="8508797" y="347472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give</a:t>
            </a:r>
            <a:endParaRPr lang="en-US" sz="1200" dirty="0"/>
          </a:p>
        </p:txBody>
      </p:sp>
      <p:sp>
        <p:nvSpPr>
          <p:cNvPr id="25" name="Text 20"/>
          <p:cNvSpPr txBox="1"/>
          <p:nvPr/>
        </p:nvSpPr>
        <p:spPr>
          <a:xfrm>
            <a:off x="8508797" y="3749040"/>
            <a:ext cx="2814218" cy="45720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Same view.</a:t>
            </a:r>
            <a:endParaRPr lang="en-US" sz="1500" dirty="0"/>
          </a:p>
        </p:txBody>
      </p:sp>
      <p:sp>
        <p:nvSpPr>
          <p:cNvPr id="26" name="Text 21"/>
          <p:cNvSpPr txBox="1"/>
          <p:nvPr/>
        </p:nvSpPr>
        <p:spPr>
          <a:xfrm>
            <a:off x="8508797" y="4297680"/>
            <a:ext cx="2814218" cy="274320"/>
          </a:xfrm>
          <a:prstGeom prst="rect">
            <a:avLst/>
          </a:prstGeom>
          <a:noFill/>
          <a:ln/>
        </p:spPr>
        <p:txBody>
          <a:bodyPr wrap="square" lIns="0" tIns="0" rIns="0" bIns="0" rtlCol="0" anchor="t"/>
          <a:lstStyle/>
          <a:p>
            <a:pPr indent="0" marL="0">
              <a:buNone/>
            </a:pPr>
            <a:r>
              <a:rPr lang="en-US" sz="1200" b="1" spc="200" kern="0" dirty="0">
                <a:solidFill>
                  <a:srgbClr val="5B6B7C"/>
                </a:solidFill>
                <a:latin typeface="Calibri" pitchFamily="34" charset="0"/>
                <a:ea typeface="Calibri" pitchFamily="34" charset="-122"/>
                <a:cs typeface="Calibri" pitchFamily="34" charset="-120"/>
              </a:rPr>
              <a:t>you get</a:t>
            </a:r>
            <a:endParaRPr lang="en-US" sz="1200" dirty="0"/>
          </a:p>
        </p:txBody>
      </p:sp>
      <p:sp>
        <p:nvSpPr>
          <p:cNvPr id="27" name="Text 22"/>
          <p:cNvSpPr txBox="1"/>
          <p:nvPr/>
        </p:nvSpPr>
        <p:spPr>
          <a:xfrm>
            <a:off x="8508797" y="4572000"/>
            <a:ext cx="2814218"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graph's alignment, base by base, in the Alignment Differences track.</a:t>
            </a:r>
            <a:endParaRPr lang="en-US" sz="1500" dirty="0"/>
          </a:p>
        </p:txBody>
      </p:sp>
      <p:sp>
        <p:nvSpPr>
          <p:cNvPr id="28" name="Text 23"/>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A browser tab, and a sequence or a position. No pipeline, no download.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2026-09-07T16:16:54Z</dcterms:created>
  <dcterms:modified xsi:type="dcterms:W3CDTF">2026-09-07T16:16:54Z</dcterms:modified>
</cp:coreProperties>
</file>
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charts/chart2.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charts/chart3.xml" ContentType="application/vnd.openxmlformats-officedocument.drawingml.chart+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03C6C"/>
                </a:solidFill>
                <a:latin typeface="Calibri"/>
              </a:defRPr>
            </a:pPr>
            <a:r>
              <a:rPr sz="1500" b="0" i="0" u="none" strike="noStrike">
                <a:solidFill>
                  <a:srgbClr val="003C6C"/>
                </a:solidFill>
                <a:latin typeface="Calibri"/>
              </a:rPr>
              <a:t>Translation latency, median (ms, log scale)</a:t>
            </a:r>
          </a:p>
        </c:rich>
      </c:tx>
      <c:layout/>
      <c:overlay val="0"/>
    </c:title>
    <c:autoTitleDeleted val="0"/>
    <c:plotArea>
      <c:layout/>
      <c:barChart>
        <c:barDir val="bar"/>
        <c:grouping val="clustered"/>
        <c:varyColors val="0"/>
        <c:ser>
          <c:idx val="0"/>
          <c:order val="0"/>
          <c:tx>
            <c:strRef>
              <c:f>Sheet1!$B$1</c:f>
              <c:strCache>
                <c:ptCount val="1"/>
                <c:pt idx="0">
                  <c:v>median latency (ms)</c:v>
                </c:pt>
              </c:strCache>
            </c:strRef>
          </c:tx>
          <c:spPr>
            <a:solidFill>
              <a:srgbClr val="003C6C"/>
            </a:solidFill>
            <a:effectLst/>
          </c:spPr>
          <c:invertIfNegative val="0"/>
          <c:dLbls>
            <c:numFmt formatCode="#,##0" sourceLinked="0"/>
            <c:txPr>
              <a:bodyPr/>
              <a:lstStyle/>
              <a:p>
                <a:pPr>
                  <a:defRPr b="0" i="0" strike="noStrike" sz="1200" u="none">
                    <a:solidFill>
                      <a:srgbClr val="18293B"/>
                    </a:solidFill>
                    <a:latin typeface="Calibri"/>
                  </a:defRPr>
                </a:pPr>
              </a:p>
            </c:txPr>
            <c:showLegendKey val="0"/>
            <c:showVal val="1"/>
            <c:showCatName val="0"/>
            <c:showSerName val="0"/>
            <c:showPercent val="0"/>
            <c:showBubbleSize val="0"/>
            <c:showLeaderLines val="0"/>
          </c:dLbls>
          <c:cat>
            <c:multiLvlStrRef>
              <c:f>Sheet1!$A$2:$A$6</c:f>
              <c:multiLvlStrCache>
                <c:ptCount val="5"/>
                <c:lvl>
                  <c:pt idx="0">
                    <c:v>100 bp</c:v>
                  </c:pt>
                  <c:pt idx="1">
                    <c:v>1 kb</c:v>
                  </c:pt>
                  <c:pt idx="2">
                    <c:v>10 kb</c:v>
                  </c:pt>
                  <c:pt idx="3">
                    <c:v>100 kb</c:v>
                  </c:pt>
                  <c:pt idx="4">
                    <c:v>1 Mb</c:v>
                  </c:pt>
                </c:lvl>
              </c:multiLvlStrCache>
            </c:multiLvlStrRef>
          </c:cat>
          <c:val>
            <c:numRef>
              <c:f>Sheet1!$B$2:$B$6</c:f>
              <c:numCache>
                <c:formatCode>General</c:formatCode>
                <c:ptCount val="5"/>
                <c:pt idx="0">
                  <c:v>22</c:v>
                </c:pt>
                <c:pt idx="1">
                  <c:v>21</c:v>
                </c:pt>
                <c:pt idx="2">
                  <c:v>115</c:v>
                </c:pt>
                <c:pt idx="3">
                  <c:v>599</c:v>
                </c:pt>
                <c:pt idx="4">
                  <c:v>4300</c:v>
                </c:pt>
              </c:numCache>
            </c:numRef>
          </c:val>
        </c:ser>
        <c:dLbls>
          <c:numFmt formatCode="#,##0" sourceLinked="0"/>
          <c:txPr>
            <a:bodyPr/>
            <a:lstStyle/>
            <a:p>
              <a:pPr>
                <a:defRPr b="0" i="0" strike="noStrike" sz="1200" u="none">
                  <a:solidFill>
                    <a:srgbClr val="18293B"/>
                  </a:solidFill>
                  <a:latin typeface="Calibri"/>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axMin"/>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logBase val="10"/>
          <c:orientation val="minMax"/>
          <c:max val="10000"/>
          <c:min val="10"/>
        </c:scaling>
        <c:delete val="0"/>
        <c:axPos val="b"/>
        <c:majorGridlines>
          <c:spPr>
            <a:ln w="6350" cap="flat">
              <a:solidFill>
                <a:srgbClr val="D9E1E9"/>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500" b="0" i="0" u="none" strike="noStrike">
                <a:solidFill>
                  <a:srgbClr val="003C6C"/>
                </a:solidFill>
                <a:latin typeface="Calibri"/>
              </a:defRPr>
            </a:pPr>
            <a:r>
              <a:rPr sz="1500" b="0" i="0" u="none" strike="noStrike">
                <a:solidFill>
                  <a:srgbClr val="003C6C"/>
                </a:solidFill>
                <a:latin typeface="Calibri"/>
              </a:rPr>
              <a:t>Concurrent 3.4 kb queries (queries / s) vs threads</a:t>
            </a:r>
          </a:p>
        </c:rich>
      </c:tx>
      <c:layout/>
      <c:overlay val="0"/>
    </c:title>
    <c:autoTitleDeleted val="0"/>
    <c:plotArea>
      <c:layout/>
      <c:lineChart>
        <c:varyColors val="0"/>
        <c:ser>
          <c:idx val="0"/>
          <c:order val="0"/>
          <c:tx>
            <c:strRef>
              <c:f>Sheet1!$B$1</c:f>
              <c:strCache>
                <c:ptCount val="1"/>
                <c:pt idx="0">
                  <c:v>queries / s</c:v>
                </c:pt>
              </c:strCache>
            </c:strRef>
          </c:tx>
          <c:spPr>
            <a:solidFill>
              <a:srgbClr val="003C6C"/>
            </a:solidFill>
            <a:ln w="38100" cap="flat">
              <a:solidFill>
                <a:srgbClr val="003C6C"/>
              </a:solidFill>
              <a:prstDash val="solid"/>
              <a:round/>
            </a:ln>
            <a:effectLst/>
          </c:spPr>
          <c:invertIfNegative val="0"/>
          <c:dLbls>
            <c:numFmt formatCode="0" sourceLinked="0"/>
            <c:txPr>
              <a:bodyPr/>
              <a:lstStyle/>
              <a:p>
                <a:pPr>
                  <a:defRPr b="0" i="0" strike="noStrike" sz="1200" u="none">
                    <a:solidFill>
                      <a:srgbClr val="18293B"/>
                    </a:solidFill>
                    <a:latin typeface="Calibri"/>
                  </a:defRPr>
                </a:pPr>
              </a:p>
            </c:txPr>
            <c:dLblPos val="t"/>
            <c:showLegendKey val="0"/>
            <c:showVal val="1"/>
            <c:showCatName val="0"/>
            <c:showSerName val="0"/>
            <c:showPercent val="0"/>
            <c:showBubbleSize val="0"/>
            <c:showLeaderLines val="0"/>
          </c:dLbls>
          <c:marker>
            <c:symbol val="circle"/>
            <c:size val="8"/>
            <c:spPr>
              <a:solidFill>
                <a:srgbClr val="003C6C"/>
              </a:solidFill>
              <a:ln w="9525" cap="flat">
                <a:solidFill>
                  <a:srgbClr val="003C6C"/>
                </a:solidFill>
                <a:prstDash val="solid"/>
                <a:round/>
              </a:ln>
              <a:effectLst/>
            </c:spPr>
          </c:marker>
          <c:cat>
            <c:multiLvlStrRef>
              <c:f>Sheet1!$A$2:$A$7</c:f>
              <c:multiLvlStrCache>
                <c:ptCount val="6"/>
                <c:lvl>
                  <c:pt idx="0">
                    <c:v>1</c:v>
                  </c:pt>
                  <c:pt idx="1">
                    <c:v>2</c:v>
                  </c:pt>
                  <c:pt idx="2">
                    <c:v>4</c:v>
                  </c:pt>
                  <c:pt idx="3">
                    <c:v>8</c:v>
                  </c:pt>
                  <c:pt idx="4">
                    <c:v>16</c:v>
                  </c:pt>
                  <c:pt idx="5">
                    <c:v>32</c:v>
                  </c:pt>
                </c:lvl>
              </c:multiLvlStrCache>
            </c:multiLvlStrRef>
          </c:cat>
          <c:val>
            <c:numRef>
              <c:f>Sheet1!$B$2:$B$7</c:f>
              <c:numCache>
                <c:formatCode>General</c:formatCode>
                <c:ptCount val="6"/>
                <c:pt idx="0">
                  <c:v>6.3</c:v>
                </c:pt>
                <c:pt idx="1">
                  <c:v>13.2</c:v>
                </c:pt>
                <c:pt idx="2">
                  <c:v>23.6</c:v>
                </c:pt>
                <c:pt idx="3">
                  <c:v>60.3</c:v>
                </c:pt>
                <c:pt idx="4">
                  <c:v>59.4</c:v>
                </c:pt>
                <c:pt idx="5">
                  <c:v>65.3</c:v>
                </c:pt>
              </c:numCache>
            </c:numRef>
          </c:val>
          <c:smooth val="0"/>
        </c:ser>
        <c:dLbls>
          <c:numFmt formatCode="0" sourceLinked="0"/>
          <c:txPr>
            <a:bodyPr/>
            <a:lstStyle/>
            <a:p>
              <a:pPr>
                <a:defRPr b="0" i="0" strike="noStrike" sz="1200" u="none">
                  <a:solidFill>
                    <a:srgbClr val="18293B"/>
                  </a:solidFill>
                  <a:latin typeface="Calibri"/>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title>
          <c:tx>
            <c:rich>
              <a:bodyPr/>
              <a:lstStyle/>
              <a:p>
                <a:pPr>
                  <a:defRPr sz="1200" b="0" i="0" u="none" strike="noStrike">
                    <a:solidFill>
                      <a:srgbClr val="5B6B7C"/>
                    </a:solidFill>
                    <a:latin typeface="Arial"/>
                  </a:defRPr>
                </a:pPr>
                <a:r>
                  <a:rPr sz="1200" b="0" i="0" u="none" strike="noStrike">
                    <a:solidFill>
                      <a:srgbClr val="5B6B7C"/>
                    </a:solidFill>
                    <a:latin typeface="Arial"/>
                  </a:rPr>
                  <a:t>threads</a:t>
                </a:r>
              </a:p>
            </c:rich>
          </c:tx>
          <c:layout/>
          <c:overlay val="0"/>
        </c:title>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orientation val="minMax"/>
          <c:max val="80"/>
          <c:min val="0"/>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B6B7C"/>
                </a:solidFill>
                <a:latin typeface="Arial"/>
              </a:defRPr>
            </a:pPr>
            <a:endParaRPr lang="en-US"/>
          </a:p>
        </c:txPr>
        <c:crossAx val="2094734554"/>
        <c:crosses val="autoZero"/>
        <c:crossBetween val="between"/>
        <c:majorUnit val="20"/>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003C6C"/>
                </a:solidFill>
                <a:latin typeface="Calibri"/>
              </a:defRPr>
            </a:pPr>
            <a:r>
              <a:rPr sz="1400" b="0" i="0" u="none" strike="noStrike">
                <a:solidFill>
                  <a:srgbClr val="003C6C"/>
                </a:solidFill>
                <a:latin typeface="Calibri"/>
              </a:rPr>
              <a:t>Lifted gene items after panning away (log scale)</a:t>
            </a:r>
          </a:p>
        </c:rich>
      </c:tx>
      <c:layout/>
      <c:overlay val="0"/>
    </c:title>
    <c:autoTitleDeleted val="0"/>
    <c:plotArea>
      <c:layout/>
      <c:barChart>
        <c:barDir val="col"/>
        <c:grouping val="clustered"/>
        <c:varyColors val="0"/>
        <c:ser>
          <c:idx val="0"/>
          <c:order val="0"/>
          <c:tx>
            <c:strRef>
              <c:f>Sheet1!$B$1</c:f>
              <c:strCache>
                <c:ptCount val="1"/>
                <c:pt idx="0">
                  <c:v>phase 1 (1.1 Mb chain)</c:v>
                </c:pt>
              </c:strCache>
            </c:strRef>
          </c:tx>
          <c:spPr>
            <a:solidFill>
              <a:srgbClr val="FDC700"/>
            </a:solidFill>
            <a:effectLst/>
          </c:spPr>
          <c:invertIfNegative val="0"/>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Sheet1!$B$2:$B$5</c:f>
              <c:numCache>
                <c:formatCode>General</c:formatCode>
                <c:ptCount val="4"/>
                <c:pt idx="0">
                  <c:v>3</c:v>
                </c:pt>
                <c:pt idx="1">
                  <c:v>129</c:v>
                </c:pt>
                <c:pt idx="2">
                  <c:v>1</c:v>
                </c:pt>
                <c:pt idx="3">
                  <c:v>1</c:v>
                </c:pt>
              </c:numCache>
            </c:numRef>
          </c:val>
        </c:ser>
        <c:ser>
          <c:idx val="1"/>
          <c:order val="1"/>
          <c:tx>
            <c:strRef>
              <c:f>Sheet1!$C$1</c:f>
              <c:strCache>
                <c:ptCount val="1"/>
                <c:pt idx="0">
                  <c:v>phase 2 (10 Mb chain)</c:v>
                </c:pt>
              </c:strCache>
            </c:strRef>
          </c:tx>
          <c:spPr>
            <a:solidFill>
              <a:srgbClr val="003C6C"/>
            </a:solidFill>
            <a:effectLst/>
          </c:spPr>
          <c:invertIfNegative val="0"/>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cat>
            <c:multiLvlStrRef>
              <c:f>Sheet1!$A$2:$A$5</c:f>
              <c:multiLvlStrCache>
                <c:ptCount val="4"/>
                <c:lvl>
                  <c:pt idx="0">
                    <c:v>in window</c:v>
                  </c:pt>
                  <c:pt idx="1">
                    <c:v>400 kb</c:v>
                  </c:pt>
                  <c:pt idx="2">
                    <c:v>2 Mb</c:v>
                  </c:pt>
                  <c:pt idx="3">
                    <c:v>4 Mb</c:v>
                  </c:pt>
                </c:lvl>
              </c:multiLvlStrCache>
            </c:multiLvlStrRef>
          </c:cat>
          <c:val>
            <c:numRef>
              <c:f>Sheet1!$C$2:$C$5</c:f>
              <c:numCache>
                <c:formatCode>General</c:formatCode>
                <c:ptCount val="4"/>
                <c:pt idx="0">
                  <c:v>3</c:v>
                </c:pt>
                <c:pt idx="1">
                  <c:v>129</c:v>
                </c:pt>
                <c:pt idx="2">
                  <c:v>5</c:v>
                </c:pt>
                <c:pt idx="3">
                  <c:v>31</c:v>
                </c:pt>
              </c:numCache>
            </c:numRef>
          </c:val>
        </c:ser>
        <c:dLbls>
          <c:numFmt formatCode="#,##0" sourceLinked="0"/>
          <c:txPr>
            <a:bodyPr/>
            <a:lstStyle/>
            <a:p>
              <a:pPr>
                <a:defRPr b="0" i="0" strike="noStrike" sz="1100" u="none">
                  <a:solidFill>
                    <a:srgbClr val="18293B"/>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2"/>
        <c:crosses val="autoZero"/>
        <c:auto val="1"/>
        <c:lblAlgn val="ctr"/>
        <c:noMultiLvlLbl val="1"/>
      </c:catAx>
      <c:valAx>
        <c:axId val="2094734552"/>
        <c:scaling>
          <c:logBase val="10"/>
          <c:orientation val="minMax"/>
          <c:max val="1000"/>
          <c:min val="1"/>
        </c:scaling>
        <c:delete val="0"/>
        <c:axPos val="l"/>
        <c:majorGridlines>
          <c:spPr>
            <a:ln w="6350" cap="flat">
              <a:solidFill>
                <a:srgbClr val="D9E1E9"/>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5B6B7C"/>
                </a:solidFill>
                <a:latin typeface="Arial"/>
              </a:defRPr>
            </a:pPr>
            <a:endParaRPr lang="en-US"/>
          </a:p>
        </c:txPr>
        <c:crossAx val="2094734554"/>
        <c:crosses val="autoZero"/>
        <c:crossBetween val="between"/>
      </c:valAx>
      <c:spPr>
        <a:noFill/>
        <a:ln>
          <a:noFill/>
        </a:ln>
        <a:effectLst/>
      </c:spPr>
    </c:plotArea>
    <c:legend>
      <c:legendPos val="t"/>
      <c:overlay val="0"/>
      <c:txPr>
        <a:bodyPr/>
        <a:lstStyle/>
        <a:p>
          <a:pPr>
            <a:defRPr sz="1100">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[0:00-0:20]
Thanks. I'm Parsa Eskandar from Benedict Paten's lab at UC Santa Cruz, and I want to show you something we built with the UCSC Genome Browser team: the browser can now speak pangenome.
(Advance on "speak pangenome".)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[0:20-1:20]
Every fact we know about the human genome has an address: a chromosome and a position. And almost every one of those addresses is written in one of two coordinate systems: hg38 or CHM13.
HPRC release 2 just handed us 466 more genomes. Which means 466 more coordinate systems.
(pause)
That is a gift and a problem. The gift is obvious. The problem is this talk: how do we make everything we already know findable in every one of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[1:20-2:35]
For thirty years, two tools have moved knowledge between genomes.
(point left) Alignment. You have a sequence, you BLAT it. But BLAT runs against one assembly at a time. There are 466 now, and nothing lets you ask the graph itself: who carries this?
(point right) Lift-over. A chain file between two assemblies, and QuickLift can draw one assembly's tracks on top of another. But a chain is a pairwise object. With 466 assemblies that's about 213,000 pairs. We counted what actually exists in the browser database: 56.
The pangenome graph is, in principle, the alignment of all of them at once. But inside the browser, it has been a file, not a tool.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[2:35-3:20]
Strip this down to what a browser user actually types.
One: I have a sequence. Which haplotypes carry it, and where?
Two: I have a region on CHM13. Where is it on HG02015?
Three: when I get there, can I see the genes?
Today the honest answer to all three is no. By the end of this talk I want to have answered all three: live, inside the browser you already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[3:20-4:10]
Here's the whole system in one breath. The browser talks to a service. The service holds two engines over the HPRC v2 graph: vg giraffe, for mapping sequences, and our coordinate-translation index. Everything else is presentation: three pages in the browser, and three things they do. Search. Translate. Lift annotations.
Let me start with the one idea that makes translation possible at 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[4:10-5:25]
The foundation is the tag-array index, from our lossless pangenome indexing work.
A standard FM-index or r-index over all 464 haplotype sequences will find where a string occurs. But it only gives you positions in a text. Tag arrays annotate every position of the BWT with its graph position: the node it belongs to.
And once you're standing on a node, the GBWT tells you every haplotype that passes through it, and where. All 464, in a single lookup.
Notice what's missing: there is no per-pair index anywhere. Nothing that says CHM13-to-HG02015. That one property is what makes any-to-any translation possible.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[5:25-6:55]
So here's how a region moves.
(1) Locate the query interval's nodes on the source haplotype's path.
(2) At those nodes, ask the tag arrays who else is standing here. Every haplotype comes back at once.
(3) Nodes that source and target each visit exactly once are unambiguous anchors: guaranteed orthologous. A colinearity check drops the few pairs that don't make sense.
(4) Walk the graph between anchors and emit an offset for every base. Then fold that into blocks: a block breaks on an indel or an inversion, never on a SNP.
That last part matters. That is exactly what a chain file means. So the output of translation isn't just a coordinate. It is a chain, and the browser already knows what to do with a chain.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[6:55-7:55]
Question one. This is the Pangenome Mapping page: BLAT, but for the pangenome.
You paste a sequence. It is mapped once, to the whole graph, with vg giraffe. You get back every assembly consistent with it, ranked by identity, and a position on whichever haplotype you pick. Picking a different haplotype re-surjects the same alignment; nothing is remapped.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[7:55-8:25]
And when you click through, the hit lands in the browser as a native track, with base-level differences colored the way BLAT users already know. Nothing here is a special case; it is just another track on another assembly.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[8:25-9:10]
Question two. Convert Coordinates Between Assemblies. Source CHM13, a ten-kilobase region on chromosome 6. Target: any of the other 463 haplotypes, and the picker can show only the ones that actually contain the region.
Result: HG02015 paternal, contig CM085893, a hundred percent of bases, a hundred percent of span. About twenty milliseconds.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[9:10-10:40]  SLOW DOWN. This is the slide the talk exists for.
Question three, and this is the one I care about most.
This is HG02015 paternal, a sample assembly with almost no annotation of its own. And you're looking at CHM13's CAT and Liftoff genes, the HLA-DMA cluster, RefSeq, CenSat, drawn at their translated positions. Above them, an Alignment Differences track marks every insertion, deletion and mismatch between the two assemblies.
(pause) The chain that made this possible did not exist a second before the page loaded. The translation blocks became a bigChain, the browser's own QuickLift drew the tracks, and the chain will be reused for every pan.
This is what I mean by making release 2 useful in the browser: every assembly can borrow the annotation of a well-annotated reference, on demand. No precomputation, no chain library, no waiting for someone to annotate 466 genomes.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[10:40-11:10]
And it asks nothing new of users. Open the ordinary hgConvert page and the pangenome assemblies are simply in the menu. Pick one, and the conversion goes through the graph instead of a chain file. Same button, new capability.
(If running long, skip this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[11:10-12:00]
Is it fast enough to sit behind a web page? Gene-scale regions translate in about twenty milliseconds. A hundred kilobases in under a second. A megabase in about four.
And it scales: the index is read-only and thread-safe, so eight concurrent users get nearly ten times the throughput of one. That is why this can be a service rather than a batch job.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[12:00-13:30]
Now, honestly, what's not finished, and what's planned.
Today, chains are built per view. Pan far enough and we build another one. Wide, segmental-duplication-heavy regions lose positions; on the 1q21.1 region we recover about half.
The plan. First, precomputed whole-genome chains: because we know both endpoints, we can intersect the two haplotype paths directly instead of probing the index, and that's roughly three hundred times faster: hours for every assembly pair, not weeks. That also removes the segdup problem, and it means lifted tracks pan and zoom anywhere for free.
Second, this is on the development browser today; the goal is the public UCSC Genome Browser.
Third: more graphs. Nothing here is specific to release 2. New HPRC releases plug in by building one index.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[13:30-14:10]
So, back to the three questions.
Which haplotypes carry my sequence? Yes. Where is my region on HG02015? Yes. Can I see the genes when I get there? Yes.
466 genomes, one browser, and knowledge that moves between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[14:10-14:25]
This is work with Jouni Sirén and Benedict Paten, with a lot of help from the Computational Genomics Lab and the Genome Browser team. Thank you, and I'm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slides for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algorithm details for questions about accuracy in repeats or how blocks relate to chain files.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how on-demand chains still let users pan and zoom, and why precomputed whole-genome chains are the long-term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Backup: sizes and costs for questions about what it takes to run this.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1.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chart" Target="/ppt/charts/chart2.xml"/><Relationship Id="rId3" Type="http://schemas.openxmlformats.org/officeDocument/2006/relationships/slideLayout" Target="../slideLayouts/slideLayout1.xm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a:t>
            </a:r>
            <a:endParaRPr lang="en-US" sz="1000" dirty="0"/>
          </a:p>
        </p:txBody>
      </p:sp>
      <p:pic>
        <p:nvPicPr>
          <p:cNvPr id="3" name="Image 0" descr="/Users/seeskand/Documents/HPRC/2026/hprc_2026_poster/talk/figures/emblem.png">    </p:cNvPr>
          <p:cNvPicPr>
            <a:picLocks noChangeAspect="1"/>
          </p:cNvPicPr>
          <p:nvPr/>
        </p:nvPicPr>
        <p:blipFill>
          <a:blip r:embed="rId1"/>
          <a:stretch>
            <a:fillRect/>
          </a:stretch>
        </p:blipFill>
        <p:spPr>
          <a:xfrm>
            <a:off x="3566160" y="1051560"/>
            <a:ext cx="5029200" cy="1174879"/>
          </a:xfrm>
          <a:prstGeom prst="rect">
            <a:avLst/>
          </a:prstGeom>
        </p:spPr>
      </p:pic>
      <p:sp>
        <p:nvSpPr>
          <p:cNvPr id="4" name="Text 1"/>
          <p:cNvSpPr txBox="1"/>
          <p:nvPr/>
        </p:nvSpPr>
        <p:spPr>
          <a:xfrm>
            <a:off x="548640" y="365760"/>
            <a:ext cx="3657600" cy="320040"/>
          </a:xfrm>
          <a:prstGeom prst="rect">
            <a:avLst/>
          </a:prstGeom>
          <a:noFill/>
          <a:ln/>
        </p:spPr>
        <p:txBody>
          <a:bodyPr wrap="square" lIns="0" tIns="0" rIns="0" bIns="0" rtlCol="0" anchor="ctr"/>
          <a:lstStyle/>
          <a:p>
            <a:pPr indent="0" marL="0">
              <a:buNone/>
            </a:pPr>
            <a:r>
              <a:rPr lang="en-US" sz="1300" b="1" spc="300" kern="0" dirty="0">
                <a:solidFill>
                  <a:srgbClr val="FDC700"/>
                </a:solidFill>
                <a:latin typeface="Calibri" pitchFamily="34" charset="0"/>
                <a:ea typeface="Calibri" pitchFamily="34" charset="-122"/>
                <a:cs typeface="Calibri" pitchFamily="34" charset="-120"/>
              </a:rPr>
              <a:t>HPRC 2026</a:t>
            </a:r>
            <a:endParaRPr lang="en-US" sz="1300" dirty="0"/>
          </a:p>
        </p:txBody>
      </p:sp>
      <p:sp>
        <p:nvSpPr>
          <p:cNvPr id="5" name="Text 2"/>
          <p:cNvSpPr txBox="1"/>
          <p:nvPr/>
        </p:nvSpPr>
        <p:spPr>
          <a:xfrm>
            <a:off x="548640" y="2560320"/>
            <a:ext cx="11094415" cy="1737360"/>
          </a:xfrm>
          <a:prstGeom prst="rect">
            <a:avLst/>
          </a:prstGeom>
          <a:noFill/>
          <a:ln/>
        </p:spPr>
        <p:txBody>
          <a:bodyPr wrap="square" lIns="0" tIns="0" rIns="0" bIns="0" rtlCol="0" anchor="ctr"/>
          <a:lstStyle/>
          <a:p>
            <a:pPr algn="ctr" indent="0" marL="0">
              <a:buNone/>
            </a:pPr>
            <a:r>
              <a:rPr lang="en-US" sz="4600" b="1" dirty="0">
                <a:solidFill>
                  <a:srgbClr val="FFFFFF"/>
                </a:solidFill>
                <a:latin typeface="Calibri" pitchFamily="34" charset="0"/>
                <a:ea typeface="Calibri" pitchFamily="34" charset="-122"/>
                <a:cs typeface="Calibri" pitchFamily="34" charset="-120"/>
              </a:rPr>
              <a:t>The UCSC Genome Browser</a:t>
            </a:r>
            <a:endParaRPr lang="en-US" sz="4600" dirty="0"/>
          </a:p>
          <a:p>
            <a:pPr algn="ctr" indent="0" marL="0">
              <a:buNone/>
            </a:pPr>
            <a:r>
              <a:rPr lang="en-US" sz="4600" b="1" dirty="0">
                <a:solidFill>
                  <a:srgbClr val="FDC700"/>
                </a:solidFill>
                <a:latin typeface="Calibri" pitchFamily="34" charset="0"/>
                <a:ea typeface="Calibri" pitchFamily="34" charset="-122"/>
                <a:cs typeface="Calibri" pitchFamily="34" charset="-120"/>
              </a:rPr>
              <a:t>now speaks pangenome.</a:t>
            </a:r>
            <a:endParaRPr lang="en-US" sz="4600" dirty="0"/>
          </a:p>
        </p:txBody>
      </p:sp>
      <p:sp>
        <p:nvSpPr>
          <p:cNvPr id="6" name="Text 3"/>
          <p:cNvSpPr txBox="1"/>
          <p:nvPr/>
        </p:nvSpPr>
        <p:spPr>
          <a:xfrm>
            <a:off x="548640" y="4297680"/>
            <a:ext cx="11094415" cy="457200"/>
          </a:xfrm>
          <a:prstGeom prst="rect">
            <a:avLst/>
          </a:prstGeom>
          <a:noFill/>
          <a:ln/>
        </p:spPr>
        <p:txBody>
          <a:bodyPr wrap="square" lIns="0" tIns="0" rIns="0" bIns="0" rtlCol="0" anchor="ctr"/>
          <a:lstStyle/>
          <a:p>
            <a:pPr algn="ctr" indent="0" marL="0">
              <a:buNone/>
            </a:pPr>
            <a:r>
              <a:rPr lang="en-US" sz="1800" dirty="0">
                <a:solidFill>
                  <a:srgbClr val="9DB0C4"/>
                </a:solidFill>
                <a:latin typeface="Calibri" pitchFamily="34" charset="0"/>
                <a:ea typeface="Calibri" pitchFamily="34" charset="-122"/>
                <a:cs typeface="Calibri" pitchFamily="34" charset="-120"/>
              </a:rPr>
              <a:t>Sequence search and coordinate translation across all 466 HPRC release 2 assemblies</a:t>
            </a:r>
            <a:endParaRPr lang="en-US" sz="1800" dirty="0"/>
          </a:p>
        </p:txBody>
      </p:sp>
      <p:sp>
        <p:nvSpPr>
          <p:cNvPr id="7" name="Text 4"/>
          <p:cNvSpPr txBox="1"/>
          <p:nvPr/>
        </p:nvSpPr>
        <p:spPr>
          <a:xfrm>
            <a:off x="548640" y="5257800"/>
            <a:ext cx="11094415" cy="411480"/>
          </a:xfrm>
          <a:prstGeom prst="rect">
            <a:avLst/>
          </a:prstGeom>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Parsa Eskandar   •   Jouni Sirén   •   Benedict Paten</a:t>
            </a:r>
            <a:endParaRPr lang="en-US" sz="2000" dirty="0"/>
          </a:p>
        </p:txBody>
      </p:sp>
      <p:sp>
        <p:nvSpPr>
          <p:cNvPr id="8" name="Text 5"/>
          <p:cNvSpPr txBox="1"/>
          <p:nvPr/>
        </p:nvSpPr>
        <p:spPr>
          <a:xfrm>
            <a:off x="548640" y="5715000"/>
            <a:ext cx="11094415" cy="365760"/>
          </a:xfrm>
          <a:prstGeom prst="rect">
            <a:avLst/>
          </a:prstGeom>
          <a:noFill/>
          <a:ln/>
        </p:spPr>
        <p:txBody>
          <a:bodyPr wrap="square" lIns="0" tIns="0" rIns="0" bIns="0" rtlCol="0" anchor="ctr"/>
          <a:lstStyle/>
          <a:p>
            <a:pPr algn="ctr" indent="0" marL="0">
              <a:buNone/>
            </a:pPr>
            <a:r>
              <a:rPr lang="en-US" sz="1500" dirty="0">
                <a:solidFill>
                  <a:srgbClr val="9DB0C4"/>
                </a:solidFill>
                <a:latin typeface="Calibri" pitchFamily="34" charset="0"/>
                <a:ea typeface="Calibri" pitchFamily="34" charset="-122"/>
                <a:cs typeface="Calibri" pitchFamily="34" charset="-120"/>
              </a:rPr>
              <a:t>UC Santa Cruz Genomics Institute</a:t>
            </a:r>
            <a:endParaRPr lang="en-US" sz="1500" dirty="0"/>
          </a:p>
        </p:txBody>
      </p:sp>
      <p:pic>
        <p:nvPicPr>
          <p:cNvPr id="9" name="Image 1" descr="/Users/seeskand/Documents/HPRC/2026/hprc_2026_poster/talk/figures/hprc_logo.png">    </p:cNvPr>
          <p:cNvPicPr>
            <a:picLocks noChangeAspect="1"/>
          </p:cNvPicPr>
          <p:nvPr/>
        </p:nvPicPr>
        <p:blipFill>
          <a:blip r:embed="rId2"/>
          <a:stretch>
            <a:fillRect/>
          </a:stretch>
        </p:blipFill>
        <p:spPr>
          <a:xfrm>
            <a:off x="10271455" y="5216393"/>
            <a:ext cx="1371600" cy="113868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2</a:t>
            </a:r>
            <a:endParaRPr lang="en-US" sz="1000" dirty="0"/>
          </a:p>
        </p:txBody>
      </p:sp>
      <p:sp>
        <p:nvSpPr>
          <p:cNvPr id="3" name="Text 1"/>
          <p:cNvSpPr txBox="1"/>
          <p:nvPr/>
        </p:nvSpPr>
        <p:spPr>
          <a:xfrm>
            <a:off x="548640" y="1005840"/>
            <a:ext cx="6766560" cy="2011680"/>
          </a:xfrm>
          <a:prstGeom prst="rect">
            <a:avLst/>
          </a:prstGeom>
          <a:noFill/>
          <a:ln/>
        </p:spPr>
        <p:txBody>
          <a:bodyPr wrap="square" lIns="0" tIns="0" rIns="0" bIns="0" rtlCol="0" anchor="t"/>
          <a:lstStyle/>
          <a:p>
            <a:pPr indent="0" marL="0">
              <a:buNone/>
            </a:pPr>
            <a:r>
              <a:rPr lang="en-US" sz="3600" b="1" dirty="0">
                <a:solidFill>
                  <a:srgbClr val="FFFFFF"/>
                </a:solidFill>
                <a:latin typeface="Calibri" pitchFamily="34" charset="0"/>
                <a:ea typeface="Calibri" pitchFamily="34" charset="-122"/>
                <a:cs typeface="Calibri" pitchFamily="34" charset="-120"/>
              </a:rPr>
              <a:t>Every fact we know about the human genome has an address.</a:t>
            </a:r>
            <a:endParaRPr lang="en-US" sz="3600" dirty="0"/>
          </a:p>
        </p:txBody>
      </p:sp>
      <p:sp>
        <p:nvSpPr>
          <p:cNvPr id="4" name="Text 2"/>
          <p:cNvSpPr txBox="1"/>
          <p:nvPr/>
        </p:nvSpPr>
        <p:spPr>
          <a:xfrm>
            <a:off x="548640" y="3200400"/>
            <a:ext cx="6766560" cy="548640"/>
          </a:xfrm>
          <a:prstGeom prst="rect">
            <a:avLst/>
          </a:prstGeom>
          <a:noFill/>
          <a:ln/>
        </p:spPr>
        <p:txBody>
          <a:bodyPr wrap="square" lIns="0" tIns="0" rIns="0" bIns="0" rtlCol="0" anchor="ctr"/>
          <a:lstStyle/>
          <a:p>
            <a:pPr indent="0" marL="0">
              <a:buNone/>
            </a:pPr>
            <a:r>
              <a:rPr lang="en-US" sz="2200" dirty="0">
                <a:solidFill>
                  <a:srgbClr val="9DB0C4"/>
                </a:solidFill>
                <a:latin typeface="Calibri" pitchFamily="34" charset="0"/>
                <a:ea typeface="Calibri" pitchFamily="34" charset="-122"/>
                <a:cs typeface="Calibri" pitchFamily="34" charset="-120"/>
              </a:rPr>
              <a:t>Almost all of them are written in </a:t>
            </a:r>
            <a:pPr indent="0" marL="0">
              <a:buNone/>
            </a:pPr>
            <a:r>
              <a:rPr lang="en-US" sz="2200" b="1" dirty="0">
                <a:solidFill>
                  <a:srgbClr val="FFFFFF"/>
                </a:solidFill>
                <a:latin typeface="Calibri" pitchFamily="34" charset="0"/>
                <a:ea typeface="Calibri" pitchFamily="34" charset="-122"/>
                <a:cs typeface="Calibri" pitchFamily="34" charset="-120"/>
              </a:rPr>
              <a:t>hg38</a:t>
            </a:r>
            <a:pPr indent="0" marL="0">
              <a:buNone/>
            </a:pPr>
            <a:r>
              <a:rPr lang="en-US" sz="2200" dirty="0">
                <a:solidFill>
                  <a:srgbClr val="9DB0C4"/>
                </a:solidFill>
                <a:latin typeface="Calibri" pitchFamily="34" charset="0"/>
                <a:ea typeface="Calibri" pitchFamily="34" charset="-122"/>
                <a:cs typeface="Calibri" pitchFamily="34" charset="-120"/>
              </a:rPr>
              <a:t> or </a:t>
            </a:r>
            <a:pPr indent="0" marL="0">
              <a:buNone/>
            </a:pPr>
            <a:r>
              <a:rPr lang="en-US" sz="2200" b="1" dirty="0">
                <a:solidFill>
                  <a:srgbClr val="FFFFFF"/>
                </a:solidFill>
                <a:latin typeface="Calibri" pitchFamily="34" charset="0"/>
                <a:ea typeface="Calibri" pitchFamily="34" charset="-122"/>
                <a:cs typeface="Calibri" pitchFamily="34" charset="-120"/>
              </a:rPr>
              <a:t>CHM13</a:t>
            </a:r>
            <a:pPr indent="0" marL="0">
              <a:buNone/>
            </a:pPr>
            <a:r>
              <a:rPr lang="en-US" sz="2200" dirty="0">
                <a:solidFill>
                  <a:srgbClr val="9DB0C4"/>
                </a:solidFill>
                <a:latin typeface="Calibri" pitchFamily="34" charset="0"/>
                <a:ea typeface="Calibri" pitchFamily="34" charset="-122"/>
                <a:cs typeface="Calibri" pitchFamily="34" charset="-120"/>
              </a:rPr>
              <a:t>.</a:t>
            </a:r>
            <a:endParaRPr lang="en-US" sz="2200" dirty="0"/>
          </a:p>
        </p:txBody>
      </p:sp>
      <p:sp>
        <p:nvSpPr>
          <p:cNvPr id="5" name="Text 3"/>
          <p:cNvSpPr txBox="1"/>
          <p:nvPr/>
        </p:nvSpPr>
        <p:spPr>
          <a:xfrm>
            <a:off x="7863840" y="960120"/>
            <a:ext cx="3840480" cy="457200"/>
          </a:xfrm>
          <a:prstGeom prst="rect">
            <a:avLst/>
          </a:prstGeom>
          <a:noFill/>
          <a:ln/>
        </p:spPr>
        <p:txBody>
          <a:bodyPr wrap="square" lIns="0" tIns="0" rIns="0" bIns="0" rtlCol="0" anchor="ctr"/>
          <a:lstStyle/>
          <a:p>
            <a:pPr algn="ctr" indent="0" marL="0">
              <a:buNone/>
            </a:pPr>
            <a:r>
              <a:rPr lang="en-US" sz="2000" dirty="0">
                <a:solidFill>
                  <a:srgbClr val="9DB0C4"/>
                </a:solidFill>
                <a:latin typeface="Calibri" pitchFamily="34" charset="0"/>
                <a:ea typeface="Calibri" pitchFamily="34" charset="-122"/>
                <a:cs typeface="Calibri" pitchFamily="34" charset="-120"/>
              </a:rPr>
              <a:t>HPRC release 2 adds</a:t>
            </a:r>
            <a:endParaRPr lang="en-US" sz="2000" dirty="0"/>
          </a:p>
        </p:txBody>
      </p:sp>
      <p:sp>
        <p:nvSpPr>
          <p:cNvPr id="6" name="Text 4"/>
          <p:cNvSpPr txBox="1"/>
          <p:nvPr/>
        </p:nvSpPr>
        <p:spPr>
          <a:xfrm>
            <a:off x="7589520" y="1325880"/>
            <a:ext cx="4389120" cy="1920240"/>
          </a:xfrm>
          <a:prstGeom prst="rect">
            <a:avLst/>
          </a:prstGeom>
          <a:noFill/>
          <a:ln/>
        </p:spPr>
        <p:txBody>
          <a:bodyPr wrap="square" lIns="0" tIns="0" rIns="0" bIns="0" rtlCol="0" anchor="ctr"/>
          <a:lstStyle/>
          <a:p>
            <a:pPr algn="ctr" indent="0" marL="0">
              <a:buNone/>
            </a:pPr>
            <a:r>
              <a:rPr lang="en-US" sz="12000" b="1" dirty="0">
                <a:solidFill>
                  <a:srgbClr val="FDC700"/>
                </a:solidFill>
                <a:latin typeface="Calibri" pitchFamily="34" charset="0"/>
                <a:ea typeface="Calibri" pitchFamily="34" charset="-122"/>
                <a:cs typeface="Calibri" pitchFamily="34" charset="-120"/>
              </a:rPr>
              <a:t>+466</a:t>
            </a:r>
            <a:endParaRPr lang="en-US" sz="12000" dirty="0"/>
          </a:p>
        </p:txBody>
      </p:sp>
      <p:sp>
        <p:nvSpPr>
          <p:cNvPr id="7" name="Text 5"/>
          <p:cNvSpPr txBox="1"/>
          <p:nvPr/>
        </p:nvSpPr>
        <p:spPr>
          <a:xfrm>
            <a:off x="7589520" y="3246120"/>
            <a:ext cx="4389120" cy="457200"/>
          </a:xfrm>
          <a:prstGeom prst="rect">
            <a:avLst/>
          </a:prstGeom>
          <a:noFill/>
          <a:ln/>
        </p:spPr>
        <p:txBody>
          <a:bodyPr wrap="square" lIns="0" tIns="0" rIns="0" bIns="0" rtlCol="0" anchor="ctr"/>
          <a:lstStyle/>
          <a:p>
            <a:pPr algn="ctr" indent="0" marL="0">
              <a:buNone/>
            </a:pPr>
            <a:r>
              <a:rPr lang="en-US" sz="2000" dirty="0">
                <a:solidFill>
                  <a:srgbClr val="FFFFFF"/>
                </a:solidFill>
                <a:latin typeface="Calibri" pitchFamily="34" charset="0"/>
                <a:ea typeface="Calibri" pitchFamily="34" charset="-122"/>
                <a:cs typeface="Calibri" pitchFamily="34" charset="-120"/>
              </a:rPr>
              <a:t>genomes. And 466 coordinate systems.</a:t>
            </a:r>
            <a:endParaRPr lang="en-US" sz="2000" dirty="0"/>
          </a:p>
        </p:txBody>
      </p:sp>
      <p:pic>
        <p:nvPicPr>
          <p:cNvPr id="8" name="Image 0" descr="/Users/seeskand/Documents/HPRC/2026/hprc_2026_poster/talk/figures/grid_sparse.png">    </p:cNvPr>
          <p:cNvPicPr>
            <a:picLocks noChangeAspect="1"/>
          </p:cNvPicPr>
          <p:nvPr/>
        </p:nvPicPr>
        <p:blipFill>
          <a:blip r:embed="rId1"/>
          <a:stretch>
            <a:fillRect/>
          </a:stretch>
        </p:blipFill>
        <p:spPr>
          <a:xfrm>
            <a:off x="7818120" y="3931920"/>
            <a:ext cx="3931920" cy="2378917"/>
          </a:xfrm>
          <a:prstGeom prst="rect">
            <a:avLst/>
          </a:prstGeom>
        </p:spPr>
      </p:pic>
      <p:sp>
        <p:nvSpPr>
          <p:cNvPr id="9" name="Text 6"/>
          <p:cNvSpPr txBox="1"/>
          <p:nvPr/>
        </p:nvSpPr>
        <p:spPr>
          <a:xfrm>
            <a:off x="548640" y="4572000"/>
            <a:ext cx="6766560" cy="1280160"/>
          </a:xfrm>
          <a:prstGeom prst="rect">
            <a:avLst/>
          </a:prstGeom>
          <a:noFill/>
          <a:ln/>
        </p:spPr>
        <p:txBody>
          <a:bodyPr wrap="square" lIns="0" tIns="0" rIns="0" bIns="0" rtlCol="0" anchor="t"/>
          <a:lstStyle/>
          <a:p>
            <a:pPr indent="0" marL="0">
              <a:buNone/>
            </a:pPr>
            <a:r>
              <a:rPr lang="en-US" sz="2400" i="1" dirty="0">
                <a:solidFill>
                  <a:srgbClr val="FDC700"/>
                </a:solidFill>
                <a:latin typeface="Calibri" pitchFamily="34" charset="0"/>
                <a:ea typeface="Calibri" pitchFamily="34" charset="-122"/>
                <a:cs typeface="Calibri" pitchFamily="34" charset="-120"/>
              </a:rPr>
              <a:t>How do we make everything we already know findable in every one of them?</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Two old tools, and why both break at 466</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3</a:t>
            </a:r>
            <a:endParaRPr lang="en-US" sz="1000" dirty="0"/>
          </a:p>
        </p:txBody>
      </p:sp>
      <p:sp>
        <p:nvSpPr>
          <p:cNvPr id="4" name="Shape 2"/>
          <p:cNvSpPr/>
          <p:nvPr/>
        </p:nvSpPr>
        <p:spPr>
          <a:xfrm>
            <a:off x="548640" y="1325880"/>
            <a:ext cx="5257800" cy="4160520"/>
          </a:xfrm>
          <a:prstGeom prst="roundRect">
            <a:avLst>
              <a:gd name="adj" fmla="val 2637"/>
            </a:avLst>
          </a:prstGeom>
          <a:solidFill>
            <a:srgbClr val="F1F4F8"/>
          </a:solidFill>
          <a:ln w="12700">
            <a:solidFill>
              <a:srgbClr val="F1F4F8"/>
            </a:solidFill>
            <a:prstDash val="solid"/>
          </a:ln>
        </p:spPr>
      </p:sp>
      <p:sp>
        <p:nvSpPr>
          <p:cNvPr id="5" name="Shape 3"/>
          <p:cNvSpPr/>
          <p:nvPr/>
        </p:nvSpPr>
        <p:spPr>
          <a:xfrm>
            <a:off x="822960" y="1600200"/>
            <a:ext cx="640080" cy="64008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989381" y="1766621"/>
            <a:ext cx="307238" cy="307238"/>
          </a:xfrm>
          <a:prstGeom prst="rect">
            <a:avLst/>
          </a:prstGeom>
        </p:spPr>
      </p:pic>
      <p:sp>
        <p:nvSpPr>
          <p:cNvPr id="7" name="Text 4"/>
          <p:cNvSpPr txBox="1"/>
          <p:nvPr/>
        </p:nvSpPr>
        <p:spPr>
          <a:xfrm>
            <a:off x="1645920" y="1655064"/>
            <a:ext cx="3840480"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Alignment (BLAT)</a:t>
            </a:r>
            <a:endParaRPr lang="en-US" sz="2200" dirty="0"/>
          </a:p>
        </p:txBody>
      </p:sp>
      <p:sp>
        <p:nvSpPr>
          <p:cNvPr id="8" name="Text 5"/>
          <p:cNvSpPr txBox="1"/>
          <p:nvPr/>
        </p:nvSpPr>
        <p:spPr>
          <a:xfrm>
            <a:off x="822960" y="2514600"/>
            <a:ext cx="4709160" cy="274320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One assembly at a time.</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There are 466 assemblies now.</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Nobody can ask the graph itself: who carries this sequence?</a:t>
            </a:r>
            <a:endParaRPr lang="en-US" sz="1700" dirty="0"/>
          </a:p>
        </p:txBody>
      </p:sp>
      <p:sp>
        <p:nvSpPr>
          <p:cNvPr id="9" name="Shape 6"/>
          <p:cNvSpPr/>
          <p:nvPr/>
        </p:nvSpPr>
        <p:spPr>
          <a:xfrm>
            <a:off x="6080760" y="1325880"/>
            <a:ext cx="5562295" cy="4160520"/>
          </a:xfrm>
          <a:prstGeom prst="roundRect">
            <a:avLst>
              <a:gd name="adj" fmla="val 2637"/>
            </a:avLst>
          </a:prstGeom>
          <a:solidFill>
            <a:srgbClr val="F1F4F8"/>
          </a:solidFill>
          <a:ln w="12700">
            <a:solidFill>
              <a:srgbClr val="F1F4F8"/>
            </a:solidFill>
            <a:prstDash val="solid"/>
          </a:ln>
        </p:spPr>
      </p:sp>
      <p:sp>
        <p:nvSpPr>
          <p:cNvPr id="10" name="Shape 7"/>
          <p:cNvSpPr/>
          <p:nvPr/>
        </p:nvSpPr>
        <p:spPr>
          <a:xfrm>
            <a:off x="6355080" y="1600200"/>
            <a:ext cx="640080" cy="640080"/>
          </a:xfrm>
          <a:prstGeom prst="ellipse">
            <a:avLst/>
          </a:prstGeom>
          <a:solidFill>
            <a:srgbClr val="003C6C"/>
          </a:solidFill>
          <a:ln w="12700">
            <a:solidFill>
              <a:srgbClr val="003C6C"/>
            </a:solidFill>
            <a:prstDash val="solid"/>
          </a:ln>
        </p:spPr>
      </p:sp>
      <p:pic>
        <p:nvPicPr>
          <p:cNvPr id="11" name="Image 1" descr="preencoded.png">    </p:cNvPr>
          <p:cNvPicPr>
            <a:picLocks noChangeAspect="1"/>
          </p:cNvPicPr>
          <p:nvPr/>
        </p:nvPicPr>
        <p:blipFill>
          <a:blip r:embed="rId2"/>
          <a:stretch>
            <a:fillRect/>
          </a:stretch>
        </p:blipFill>
        <p:spPr>
          <a:xfrm>
            <a:off x="6521501" y="1766621"/>
            <a:ext cx="307238" cy="307238"/>
          </a:xfrm>
          <a:prstGeom prst="rect">
            <a:avLst/>
          </a:prstGeom>
        </p:spPr>
      </p:pic>
      <p:sp>
        <p:nvSpPr>
          <p:cNvPr id="12" name="Text 8"/>
          <p:cNvSpPr txBox="1"/>
          <p:nvPr/>
        </p:nvSpPr>
        <p:spPr>
          <a:xfrm>
            <a:off x="7178040" y="1655064"/>
            <a:ext cx="4114800" cy="50292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Lift-over (chain files)</a:t>
            </a:r>
            <a:endParaRPr lang="en-US" sz="2200" dirty="0"/>
          </a:p>
        </p:txBody>
      </p:sp>
      <p:sp>
        <p:nvSpPr>
          <p:cNvPr id="13" name="Text 9"/>
          <p:cNvSpPr txBox="1"/>
          <p:nvPr/>
        </p:nvSpPr>
        <p:spPr>
          <a:xfrm>
            <a:off x="6355080" y="2514600"/>
            <a:ext cx="5212080" cy="1188720"/>
          </a:xfrm>
          <a:prstGeom prst="rect">
            <a:avLst/>
          </a:prstGeom>
          <a:noFill/>
          <a:ln/>
        </p:spPr>
        <p:txBody>
          <a:bodyPr wrap="square" lIns="0" tIns="0" rIns="0" bIns="0" rtlCol="0" anchor="t"/>
          <a:lstStyle/>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A chain is pairwise: 466 × 466 is about 213,000 pairs.</a:t>
            </a:r>
            <a:endParaRPr lang="en-US" sz="1700" dirty="0"/>
          </a:p>
          <a:p>
            <a:pPr marL="177800" indent="-177800">
              <a:spcAft>
                <a:spcPts val="800"/>
              </a:spcAft>
              <a:buSzPct val="100000"/>
              <a:buChar char="•"/>
            </a:pPr>
            <a:r>
              <a:rPr lang="en-US" sz="1700" dirty="0">
                <a:solidFill>
                  <a:srgbClr val="18293B"/>
                </a:solidFill>
                <a:latin typeface="Calibri" pitchFamily="34" charset="0"/>
                <a:ea typeface="Calibri" pitchFamily="34" charset="-122"/>
                <a:cs typeface="Calibri" pitchFamily="34" charset="-120"/>
              </a:rPr>
              <a:t>Chains in the browser database today: 56.</a:t>
            </a:r>
            <a:endParaRPr lang="en-US" sz="1700" dirty="0"/>
          </a:p>
        </p:txBody>
      </p:sp>
      <p:pic>
        <p:nvPicPr>
          <p:cNvPr id="14" name="Image 2" descr="/Users/seeskand/Documents/HPRC/2026/hprc_2026_poster/talk/figures/grids.png">    </p:cNvPr>
          <p:cNvPicPr>
            <a:picLocks noChangeAspect="1"/>
          </p:cNvPicPr>
          <p:nvPr/>
        </p:nvPicPr>
        <p:blipFill>
          <a:blip r:embed="rId3"/>
          <a:stretch>
            <a:fillRect/>
          </a:stretch>
        </p:blipFill>
        <p:spPr>
          <a:xfrm>
            <a:off x="6492240" y="3657600"/>
            <a:ext cx="5029200" cy="1774587"/>
          </a:xfrm>
          <a:prstGeom prst="rect">
            <a:avLst/>
          </a:prstGeom>
        </p:spPr>
      </p:pic>
      <p:sp>
        <p:nvSpPr>
          <p:cNvPr id="15" name="Text 10"/>
          <p:cNvSpPr txBox="1"/>
          <p:nvPr/>
        </p:nvSpPr>
        <p:spPr>
          <a:xfrm>
            <a:off x="548640" y="5760720"/>
            <a:ext cx="11094415" cy="548640"/>
          </a:xfrm>
          <a:prstGeom prst="rect">
            <a:avLst/>
          </a:prstGeom>
          <a:noFill/>
          <a:ln/>
        </p:spPr>
        <p:txBody>
          <a:bodyPr wrap="square" lIns="0" tIns="0" rIns="0" bIns="0" rtlCol="0" anchor="t"/>
          <a:lstStyle/>
          <a:p>
            <a:pPr algn="ctr" indent="0" marL="0">
              <a:buNone/>
            </a:pPr>
            <a:r>
              <a:rPr lang="en-US" sz="1900" i="1" dirty="0">
                <a:solidFill>
                  <a:srgbClr val="003C6C"/>
                </a:solidFill>
                <a:latin typeface="Calibri" pitchFamily="34" charset="0"/>
                <a:ea typeface="Calibri" pitchFamily="34" charset="-122"/>
                <a:cs typeface="Calibri" pitchFamily="34" charset="-120"/>
              </a:rPr>
              <a:t>The graph is the alignment of all of them at once. In the browser, it has been a file, not a tool.</a:t>
            </a:r>
            <a:endParaRPr lang="en-US" sz="1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 a browser user actually wants to ask</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4</a:t>
            </a:r>
            <a:endParaRPr lang="en-US" sz="1000" dirty="0"/>
          </a:p>
        </p:txBody>
      </p:sp>
      <p:sp>
        <p:nvSpPr>
          <p:cNvPr id="4" name="Shape 2"/>
          <p:cNvSpPr/>
          <p:nvPr/>
        </p:nvSpPr>
        <p:spPr>
          <a:xfrm>
            <a:off x="548640" y="1463040"/>
            <a:ext cx="3454298" cy="4206240"/>
          </a:xfrm>
          <a:prstGeom prst="roundRect">
            <a:avLst>
              <a:gd name="adj" fmla="val 3177"/>
            </a:avLst>
          </a:prstGeom>
          <a:solidFill>
            <a:srgbClr val="F1F4F8"/>
          </a:solidFill>
          <a:ln w="12700">
            <a:solidFill>
              <a:srgbClr val="F1F4F8"/>
            </a:solidFill>
            <a:prstDash val="solid"/>
          </a:ln>
        </p:spPr>
      </p:sp>
      <p:sp>
        <p:nvSpPr>
          <p:cNvPr id="5" name="Shape 3"/>
          <p:cNvSpPr/>
          <p:nvPr/>
        </p:nvSpPr>
        <p:spPr>
          <a:xfrm>
            <a:off x="868680" y="1828800"/>
            <a:ext cx="822960" cy="822960"/>
          </a:xfrm>
          <a:prstGeom prst="ellipse">
            <a:avLst/>
          </a:prstGeom>
          <a:solidFill>
            <a:srgbClr val="003C6C"/>
          </a:solidFill>
          <a:ln w="12700">
            <a:solidFill>
              <a:srgbClr val="003C6C"/>
            </a:solidFill>
            <a:prstDash val="solid"/>
          </a:ln>
        </p:spPr>
      </p:sp>
      <p:pic>
        <p:nvPicPr>
          <p:cNvPr id="6" name="Image 0" descr="preencoded.png">    </p:cNvPr>
          <p:cNvPicPr>
            <a:picLocks noChangeAspect="1"/>
          </p:cNvPicPr>
          <p:nvPr/>
        </p:nvPicPr>
        <p:blipFill>
          <a:blip r:embed="rId1"/>
          <a:stretch>
            <a:fillRect/>
          </a:stretch>
        </p:blipFill>
        <p:spPr>
          <a:xfrm>
            <a:off x="1082650" y="2042770"/>
            <a:ext cx="395021" cy="395021"/>
          </a:xfrm>
          <a:prstGeom prst="rect">
            <a:avLst/>
          </a:prstGeom>
        </p:spPr>
      </p:pic>
      <p:sp>
        <p:nvSpPr>
          <p:cNvPr id="7" name="Text 4"/>
          <p:cNvSpPr txBox="1"/>
          <p:nvPr/>
        </p:nvSpPr>
        <p:spPr>
          <a:xfrm>
            <a:off x="868680"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sequence.</a:t>
            </a:r>
            <a:endParaRPr lang="en-US" sz="2000" dirty="0"/>
          </a:p>
        </p:txBody>
      </p:sp>
      <p:sp>
        <p:nvSpPr>
          <p:cNvPr id="8" name="Text 5"/>
          <p:cNvSpPr txBox="1"/>
          <p:nvPr/>
        </p:nvSpPr>
        <p:spPr>
          <a:xfrm>
            <a:off x="868680"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Which haplotypes carry it, and where?</a:t>
            </a:r>
            <a:endParaRPr lang="en-US" sz="2000" dirty="0"/>
          </a:p>
        </p:txBody>
      </p:sp>
      <p:sp>
        <p:nvSpPr>
          <p:cNvPr id="9" name="Text 6"/>
          <p:cNvSpPr txBox="1"/>
          <p:nvPr/>
        </p:nvSpPr>
        <p:spPr>
          <a:xfrm>
            <a:off x="868680"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0" name="Text 7"/>
          <p:cNvSpPr txBox="1"/>
          <p:nvPr/>
        </p:nvSpPr>
        <p:spPr>
          <a:xfrm>
            <a:off x="1737360"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11" name="Shape 8"/>
          <p:cNvSpPr/>
          <p:nvPr/>
        </p:nvSpPr>
        <p:spPr>
          <a:xfrm>
            <a:off x="4368698" y="1463040"/>
            <a:ext cx="3454298" cy="4206240"/>
          </a:xfrm>
          <a:prstGeom prst="roundRect">
            <a:avLst>
              <a:gd name="adj" fmla="val 3177"/>
            </a:avLst>
          </a:prstGeom>
          <a:solidFill>
            <a:srgbClr val="F1F4F8"/>
          </a:solidFill>
          <a:ln w="12700">
            <a:solidFill>
              <a:srgbClr val="F1F4F8"/>
            </a:solidFill>
            <a:prstDash val="solid"/>
          </a:ln>
        </p:spPr>
      </p:sp>
      <p:sp>
        <p:nvSpPr>
          <p:cNvPr id="12" name="Shape 9"/>
          <p:cNvSpPr/>
          <p:nvPr/>
        </p:nvSpPr>
        <p:spPr>
          <a:xfrm>
            <a:off x="4688738" y="1828800"/>
            <a:ext cx="822960" cy="822960"/>
          </a:xfrm>
          <a:prstGeom prst="ellipse">
            <a:avLst/>
          </a:prstGeom>
          <a:solidFill>
            <a:srgbClr val="003C6C"/>
          </a:solidFill>
          <a:ln w="12700">
            <a:solidFill>
              <a:srgbClr val="003C6C"/>
            </a:solidFill>
            <a:prstDash val="solid"/>
          </a:ln>
        </p:spPr>
      </p:sp>
      <p:pic>
        <p:nvPicPr>
          <p:cNvPr id="13" name="Image 1" descr="preencoded.png">    </p:cNvPr>
          <p:cNvPicPr>
            <a:picLocks noChangeAspect="1"/>
          </p:cNvPicPr>
          <p:nvPr/>
        </p:nvPicPr>
        <p:blipFill>
          <a:blip r:embed="rId2"/>
          <a:stretch>
            <a:fillRect/>
          </a:stretch>
        </p:blipFill>
        <p:spPr>
          <a:xfrm>
            <a:off x="4902708" y="2042770"/>
            <a:ext cx="395021" cy="395021"/>
          </a:xfrm>
          <a:prstGeom prst="rect">
            <a:avLst/>
          </a:prstGeom>
        </p:spPr>
      </p:pic>
      <p:sp>
        <p:nvSpPr>
          <p:cNvPr id="14" name="Text 10"/>
          <p:cNvSpPr txBox="1"/>
          <p:nvPr/>
        </p:nvSpPr>
        <p:spPr>
          <a:xfrm>
            <a:off x="4688738"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I have a CHM13 region.</a:t>
            </a:r>
            <a:endParaRPr lang="en-US" sz="2000" dirty="0"/>
          </a:p>
        </p:txBody>
      </p:sp>
      <p:sp>
        <p:nvSpPr>
          <p:cNvPr id="15" name="Text 11"/>
          <p:cNvSpPr txBox="1"/>
          <p:nvPr/>
        </p:nvSpPr>
        <p:spPr>
          <a:xfrm>
            <a:off x="4688738"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Where is it on HG02015?</a:t>
            </a:r>
            <a:endParaRPr lang="en-US" sz="2000" dirty="0"/>
          </a:p>
        </p:txBody>
      </p:sp>
      <p:sp>
        <p:nvSpPr>
          <p:cNvPr id="16" name="Text 12"/>
          <p:cNvSpPr txBox="1"/>
          <p:nvPr/>
        </p:nvSpPr>
        <p:spPr>
          <a:xfrm>
            <a:off x="4688738"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17" name="Text 13"/>
          <p:cNvSpPr txBox="1"/>
          <p:nvPr/>
        </p:nvSpPr>
        <p:spPr>
          <a:xfrm>
            <a:off x="5557418"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18" name="Shape 14"/>
          <p:cNvSpPr/>
          <p:nvPr/>
        </p:nvSpPr>
        <p:spPr>
          <a:xfrm>
            <a:off x="8188757" y="1463040"/>
            <a:ext cx="3454298" cy="4206240"/>
          </a:xfrm>
          <a:prstGeom prst="roundRect">
            <a:avLst>
              <a:gd name="adj" fmla="val 3177"/>
            </a:avLst>
          </a:prstGeom>
          <a:solidFill>
            <a:srgbClr val="F1F4F8"/>
          </a:solidFill>
          <a:ln w="12700">
            <a:solidFill>
              <a:srgbClr val="F1F4F8"/>
            </a:solidFill>
            <a:prstDash val="solid"/>
          </a:ln>
        </p:spPr>
      </p:sp>
      <p:sp>
        <p:nvSpPr>
          <p:cNvPr id="19" name="Shape 15"/>
          <p:cNvSpPr/>
          <p:nvPr/>
        </p:nvSpPr>
        <p:spPr>
          <a:xfrm>
            <a:off x="8508797" y="1828800"/>
            <a:ext cx="822960" cy="822960"/>
          </a:xfrm>
          <a:prstGeom prst="ellipse">
            <a:avLst/>
          </a:prstGeom>
          <a:solidFill>
            <a:srgbClr val="003C6C"/>
          </a:solidFill>
          <a:ln w="12700">
            <a:solidFill>
              <a:srgbClr val="003C6C"/>
            </a:solidFill>
            <a:prstDash val="solid"/>
          </a:ln>
        </p:spPr>
      </p:sp>
      <p:pic>
        <p:nvPicPr>
          <p:cNvPr id="20" name="Image 2" descr="preencoded.png">    </p:cNvPr>
          <p:cNvPicPr>
            <a:picLocks noChangeAspect="1"/>
          </p:cNvPicPr>
          <p:nvPr/>
        </p:nvPicPr>
        <p:blipFill>
          <a:blip r:embed="rId3"/>
          <a:stretch>
            <a:fillRect/>
          </a:stretch>
        </p:blipFill>
        <p:spPr>
          <a:xfrm>
            <a:off x="8722766" y="2042770"/>
            <a:ext cx="395021" cy="395021"/>
          </a:xfrm>
          <a:prstGeom prst="rect">
            <a:avLst/>
          </a:prstGeom>
        </p:spPr>
      </p:pic>
      <p:sp>
        <p:nvSpPr>
          <p:cNvPr id="21" name="Text 16"/>
          <p:cNvSpPr txBox="1"/>
          <p:nvPr/>
        </p:nvSpPr>
        <p:spPr>
          <a:xfrm>
            <a:off x="8508797" y="2926080"/>
            <a:ext cx="281421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When I get there,</a:t>
            </a:r>
            <a:endParaRPr lang="en-US" sz="2000" dirty="0"/>
          </a:p>
        </p:txBody>
      </p:sp>
      <p:sp>
        <p:nvSpPr>
          <p:cNvPr id="22" name="Text 17"/>
          <p:cNvSpPr txBox="1"/>
          <p:nvPr/>
        </p:nvSpPr>
        <p:spPr>
          <a:xfrm>
            <a:off x="8508797" y="3474720"/>
            <a:ext cx="2814218" cy="914400"/>
          </a:xfrm>
          <a:prstGeom prst="rect">
            <a:avLst/>
          </a:prstGeom>
          <a:noFill/>
          <a:ln/>
        </p:spPr>
        <p:txBody>
          <a:bodyPr wrap="square" lIns="0" tIns="0" rIns="0" bIns="0" rtlCol="0" anchor="t"/>
          <a:lstStyle/>
          <a:p>
            <a:pPr indent="0" marL="0">
              <a:buNone/>
            </a:pPr>
            <a:r>
              <a:rPr lang="en-US" sz="2000" dirty="0">
                <a:solidFill>
                  <a:srgbClr val="18293B"/>
                </a:solidFill>
                <a:latin typeface="Calibri" pitchFamily="34" charset="0"/>
                <a:ea typeface="Calibri" pitchFamily="34" charset="-122"/>
                <a:cs typeface="Calibri" pitchFamily="34" charset="-120"/>
              </a:rPr>
              <a:t>can I see the genes?</a:t>
            </a:r>
            <a:endParaRPr lang="en-US" sz="2000" dirty="0"/>
          </a:p>
        </p:txBody>
      </p:sp>
      <p:sp>
        <p:nvSpPr>
          <p:cNvPr id="23" name="Text 18"/>
          <p:cNvSpPr txBox="1"/>
          <p:nvPr/>
        </p:nvSpPr>
        <p:spPr>
          <a:xfrm>
            <a:off x="8508797" y="4617720"/>
            <a:ext cx="1097280" cy="45720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today</a:t>
            </a:r>
            <a:endParaRPr lang="en-US" sz="1500" dirty="0"/>
          </a:p>
        </p:txBody>
      </p:sp>
      <p:sp>
        <p:nvSpPr>
          <p:cNvPr id="24" name="Text 19"/>
          <p:cNvSpPr txBox="1"/>
          <p:nvPr/>
        </p:nvSpPr>
        <p:spPr>
          <a:xfrm>
            <a:off x="9377477" y="4480560"/>
            <a:ext cx="1828800" cy="731520"/>
          </a:xfrm>
          <a:prstGeom prst="rect">
            <a:avLst/>
          </a:prstGeom>
          <a:noFill/>
          <a:ln/>
        </p:spPr>
        <p:txBody>
          <a:bodyPr wrap="square" lIns="0" tIns="0" rIns="0" bIns="0" rtlCol="0" anchor="ctr"/>
          <a:lstStyle/>
          <a:p>
            <a:pPr indent="0" marL="0">
              <a:buNone/>
            </a:pPr>
            <a:r>
              <a:rPr lang="en-US" sz="4000" b="1" dirty="0">
                <a:solidFill>
                  <a:srgbClr val="E4572E"/>
                </a:solidFill>
                <a:latin typeface="Calibri" pitchFamily="34" charset="0"/>
                <a:ea typeface="Calibri" pitchFamily="34" charset="-122"/>
                <a:cs typeface="Calibri" pitchFamily="34" charset="-120"/>
              </a:rPr>
              <a:t>no</a:t>
            </a:r>
            <a:endParaRPr lang="en-US" sz="4000" dirty="0"/>
          </a:p>
        </p:txBody>
      </p:sp>
      <p:sp>
        <p:nvSpPr>
          <p:cNvPr id="25" name="Text 20"/>
          <p:cNvSpPr txBox="1"/>
          <p:nvPr/>
        </p:nvSpPr>
        <p:spPr>
          <a:xfrm>
            <a:off x="548640" y="5897880"/>
            <a:ext cx="11094415" cy="457200"/>
          </a:xfrm>
          <a:prstGeom prst="rect">
            <a:avLst/>
          </a:prstGeom>
          <a:noFill/>
          <a:ln/>
        </p:spPr>
        <p:txBody>
          <a:bodyPr wrap="square" lIns="0" tIns="0" rIns="0" bIns="0" rtlCol="0" anchor="t"/>
          <a:lstStyle/>
          <a:p>
            <a:pPr algn="ctr" indent="0" marL="0">
              <a:buNone/>
            </a:pPr>
            <a:r>
              <a:rPr lang="en-US" sz="1800" i="1" dirty="0">
                <a:solidFill>
                  <a:srgbClr val="003C6C"/>
                </a:solidFill>
                <a:latin typeface="Calibri" pitchFamily="34" charset="0"/>
                <a:ea typeface="Calibri" pitchFamily="34" charset="-122"/>
                <a:cs typeface="Calibri" pitchFamily="34" charset="-120"/>
              </a:rPr>
              <a:t>By the end of this talk: all three, live, in the browser you already use.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We taught the UCSC Genome Browser to speak pangenome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5</a:t>
            </a:r>
            <a:endParaRPr lang="en-US" sz="1000" dirty="0"/>
          </a:p>
        </p:txBody>
      </p:sp>
      <p:sp>
        <p:nvSpPr>
          <p:cNvPr id="4" name="Shape 2"/>
          <p:cNvSpPr/>
          <p:nvPr/>
        </p:nvSpPr>
        <p:spPr>
          <a:xfrm>
            <a:off x="548640" y="1371600"/>
            <a:ext cx="6949440" cy="1188720"/>
          </a:xfrm>
          <a:prstGeom prst="roundRect">
            <a:avLst>
              <a:gd name="adj" fmla="val 9231"/>
            </a:avLst>
          </a:prstGeom>
          <a:solidFill>
            <a:srgbClr val="E7F0F7"/>
          </a:solidFill>
          <a:ln w="12700">
            <a:solidFill>
              <a:srgbClr val="E7F0F7"/>
            </a:solidFill>
            <a:prstDash val="solid"/>
          </a:ln>
        </p:spPr>
      </p:sp>
      <p:sp>
        <p:nvSpPr>
          <p:cNvPr id="5" name="Text 3"/>
          <p:cNvSpPr txBox="1"/>
          <p:nvPr/>
        </p:nvSpPr>
        <p:spPr>
          <a:xfrm>
            <a:off x="822960" y="1463040"/>
            <a:ext cx="3657600" cy="365760"/>
          </a:xfrm>
          <a:prstGeom prst="rect">
            <a:avLst/>
          </a:prstGeom>
          <a:noFill/>
          <a:ln/>
        </p:spPr>
        <p:txBody>
          <a:bodyPr wrap="square" lIns="0" tIns="0" rIns="0" bIns="0" rtlCol="0" anchor="t"/>
          <a:lstStyle/>
          <a:p>
            <a:pPr indent="0" marL="0">
              <a:buNone/>
            </a:pPr>
            <a:r>
              <a:rPr lang="en-US" sz="1800" b="1" dirty="0">
                <a:solidFill>
                  <a:srgbClr val="003C6C"/>
                </a:solidFill>
                <a:latin typeface="Calibri" pitchFamily="34" charset="0"/>
                <a:ea typeface="Calibri" pitchFamily="34" charset="-122"/>
                <a:cs typeface="Calibri" pitchFamily="34" charset="-120"/>
              </a:rPr>
              <a:t>UCSC Genome Browser</a:t>
            </a:r>
            <a:endParaRPr lang="en-US" sz="1800" dirty="0"/>
          </a:p>
        </p:txBody>
      </p:sp>
      <p:sp>
        <p:nvSpPr>
          <p:cNvPr id="6" name="Shape 4"/>
          <p:cNvSpPr/>
          <p:nvPr/>
        </p:nvSpPr>
        <p:spPr>
          <a:xfrm>
            <a:off x="822960" y="1920240"/>
            <a:ext cx="2011680" cy="457200"/>
          </a:xfrm>
          <a:prstGeom prst="roundRect">
            <a:avLst>
              <a:gd name="adj" fmla="val 16000"/>
            </a:avLst>
          </a:prstGeom>
          <a:solidFill>
            <a:srgbClr val="FFFFFF"/>
          </a:solidFill>
          <a:ln w="12700">
            <a:solidFill>
              <a:srgbClr val="D9E1E9"/>
            </a:solidFill>
            <a:prstDash val="solid"/>
          </a:ln>
        </p:spPr>
      </p:sp>
      <p:sp>
        <p:nvSpPr>
          <p:cNvPr id="7" name="Text 5"/>
          <p:cNvSpPr txBox="1"/>
          <p:nvPr/>
        </p:nvSpPr>
        <p:spPr>
          <a:xfrm>
            <a:off x="82296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Pangenome Mapping</a:t>
            </a:r>
            <a:endParaRPr lang="en-US" sz="1300" dirty="0"/>
          </a:p>
        </p:txBody>
      </p:sp>
      <p:sp>
        <p:nvSpPr>
          <p:cNvPr id="8" name="Shape 6"/>
          <p:cNvSpPr/>
          <p:nvPr/>
        </p:nvSpPr>
        <p:spPr>
          <a:xfrm>
            <a:off x="2971800" y="1920240"/>
            <a:ext cx="2011680" cy="457200"/>
          </a:xfrm>
          <a:prstGeom prst="roundRect">
            <a:avLst>
              <a:gd name="adj" fmla="val 16000"/>
            </a:avLst>
          </a:prstGeom>
          <a:solidFill>
            <a:srgbClr val="FFFFFF"/>
          </a:solidFill>
          <a:ln w="12700">
            <a:solidFill>
              <a:srgbClr val="D9E1E9"/>
            </a:solidFill>
            <a:prstDash val="solid"/>
          </a:ln>
        </p:spPr>
      </p:sp>
      <p:sp>
        <p:nvSpPr>
          <p:cNvPr id="9" name="Text 7"/>
          <p:cNvSpPr txBox="1"/>
          <p:nvPr/>
        </p:nvSpPr>
        <p:spPr>
          <a:xfrm>
            <a:off x="297180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Convert Coordinates</a:t>
            </a:r>
            <a:endParaRPr lang="en-US" sz="1300" dirty="0"/>
          </a:p>
        </p:txBody>
      </p:sp>
      <p:sp>
        <p:nvSpPr>
          <p:cNvPr id="10" name="Shape 8"/>
          <p:cNvSpPr/>
          <p:nvPr/>
        </p:nvSpPr>
        <p:spPr>
          <a:xfrm>
            <a:off x="5120640" y="1920240"/>
            <a:ext cx="2011680" cy="457200"/>
          </a:xfrm>
          <a:prstGeom prst="roundRect">
            <a:avLst>
              <a:gd name="adj" fmla="val 16000"/>
            </a:avLst>
          </a:prstGeom>
          <a:solidFill>
            <a:srgbClr val="FFFFFF"/>
          </a:solidFill>
          <a:ln w="12700">
            <a:solidFill>
              <a:srgbClr val="D9E1E9"/>
            </a:solidFill>
            <a:prstDash val="solid"/>
          </a:ln>
        </p:spPr>
      </p:sp>
      <p:sp>
        <p:nvSpPr>
          <p:cNvPr id="11" name="Text 9"/>
          <p:cNvSpPr txBox="1"/>
          <p:nvPr/>
        </p:nvSpPr>
        <p:spPr>
          <a:xfrm>
            <a:off x="5120640" y="1920240"/>
            <a:ext cx="2011680" cy="457200"/>
          </a:xfrm>
          <a:prstGeom prst="rect">
            <a:avLst/>
          </a:prstGeom>
          <a:noFill/>
          <a:ln/>
        </p:spPr>
        <p:txBody>
          <a:bodyPr wrap="square" lIns="0" tIns="0" rIns="0" bIns="0" rtlCol="0" anchor="ctr"/>
          <a:lstStyle/>
          <a:p>
            <a:pPr algn="ctr" indent="0" marL="0">
              <a:buNone/>
            </a:pPr>
            <a:r>
              <a:rPr lang="en-US" sz="1300" dirty="0">
                <a:solidFill>
                  <a:srgbClr val="18293B"/>
                </a:solidFill>
                <a:latin typeface="Calibri" pitchFamily="34" charset="0"/>
                <a:ea typeface="Calibri" pitchFamily="34" charset="-122"/>
                <a:cs typeface="Calibri" pitchFamily="34" charset="-120"/>
              </a:rPr>
              <a:t>hgConvert</a:t>
            </a:r>
            <a:endParaRPr lang="en-US" sz="1300" dirty="0"/>
          </a:p>
        </p:txBody>
      </p:sp>
      <p:sp>
        <p:nvSpPr>
          <p:cNvPr id="12" name="Shape 10"/>
          <p:cNvSpPr/>
          <p:nvPr/>
        </p:nvSpPr>
        <p:spPr>
          <a:xfrm>
            <a:off x="4023360" y="2560320"/>
            <a:ext cx="0" cy="457200"/>
          </a:xfrm>
          <a:prstGeom prst="line">
            <a:avLst/>
          </a:prstGeom>
          <a:noFill/>
          <a:ln w="25400">
            <a:solidFill>
              <a:srgbClr val="003C6C"/>
            </a:solidFill>
            <a:prstDash val="solid"/>
            <a:tailEnd type="triangle"/>
          </a:ln>
        </p:spPr>
      </p:sp>
      <p:sp>
        <p:nvSpPr>
          <p:cNvPr id="13" name="Text 11"/>
          <p:cNvSpPr txBox="1"/>
          <p:nvPr/>
        </p:nvSpPr>
        <p:spPr>
          <a:xfrm>
            <a:off x="4160520" y="2606040"/>
            <a:ext cx="1828800" cy="365760"/>
          </a:xfrm>
          <a:prstGeom prst="rect">
            <a:avLst/>
          </a:prstGeom>
          <a:noFill/>
          <a:ln/>
        </p:spPr>
        <p:txBody>
          <a:bodyPr wrap="square" lIns="0" tIns="0" rIns="0" bIns="0" rtlCol="0" anchor="t"/>
          <a:lstStyle/>
          <a:p>
            <a:pPr indent="0" marL="0">
              <a:buNone/>
            </a:pPr>
            <a:r>
              <a:rPr lang="en-US" sz="1200" dirty="0">
                <a:solidFill>
                  <a:srgbClr val="5B6B7C"/>
                </a:solidFill>
                <a:latin typeface="Calibri" pitchFamily="34" charset="0"/>
                <a:ea typeface="Calibri" pitchFamily="34" charset="-122"/>
                <a:cs typeface="Calibri" pitchFamily="34" charset="-120"/>
              </a:rPr>
              <a:t>HTTPS, JSON</a:t>
            </a:r>
            <a:endParaRPr lang="en-US" sz="1200" dirty="0"/>
          </a:p>
        </p:txBody>
      </p:sp>
      <p:sp>
        <p:nvSpPr>
          <p:cNvPr id="14" name="Shape 12"/>
          <p:cNvSpPr/>
          <p:nvPr/>
        </p:nvSpPr>
        <p:spPr>
          <a:xfrm>
            <a:off x="548640" y="3017520"/>
            <a:ext cx="6949440" cy="685800"/>
          </a:xfrm>
          <a:prstGeom prst="roundRect">
            <a:avLst>
              <a:gd name="adj" fmla="val 16000"/>
            </a:avLst>
          </a:prstGeom>
          <a:solidFill>
            <a:srgbClr val="E7F0F7"/>
          </a:solidFill>
          <a:ln w="12700">
            <a:solidFill>
              <a:srgbClr val="E7F0F7"/>
            </a:solidFill>
            <a:prstDash val="solid"/>
          </a:ln>
        </p:spPr>
      </p:sp>
      <p:sp>
        <p:nvSpPr>
          <p:cNvPr id="15" name="Text 13"/>
          <p:cNvSpPr txBox="1"/>
          <p:nvPr/>
        </p:nvSpPr>
        <p:spPr>
          <a:xfrm>
            <a:off x="548640" y="3017520"/>
            <a:ext cx="6949440" cy="685800"/>
          </a:xfrm>
          <a:prstGeom prst="rect">
            <a:avLst/>
          </a:prstGeom>
          <a:noFill/>
          <a:ln/>
        </p:spPr>
        <p:txBody>
          <a:bodyPr wrap="square" lIns="0" tIns="0" rIns="0" bIns="0" rtlCol="0" anchor="ctr"/>
          <a:lstStyle/>
          <a:p>
            <a:pPr algn="ctr" indent="0" marL="0">
              <a:buNone/>
            </a:pPr>
            <a:r>
              <a:rPr lang="en-US" sz="1700" b="1" dirty="0">
                <a:solidFill>
                  <a:srgbClr val="003C6C"/>
                </a:solidFill>
                <a:latin typeface="Calibri" pitchFamily="34" charset="0"/>
                <a:ea typeface="Calibri" pitchFamily="34" charset="-122"/>
                <a:cs typeface="Calibri" pitchFamily="34" charset="-120"/>
              </a:rPr>
              <a:t>pangenome service</a:t>
            </a:r>
            <a:endParaRPr lang="en-US" sz="1700" dirty="0"/>
          </a:p>
        </p:txBody>
      </p:sp>
      <p:sp>
        <p:nvSpPr>
          <p:cNvPr id="16" name="Shape 14"/>
          <p:cNvSpPr/>
          <p:nvPr/>
        </p:nvSpPr>
        <p:spPr>
          <a:xfrm>
            <a:off x="2286000" y="3703320"/>
            <a:ext cx="0" cy="411480"/>
          </a:xfrm>
          <a:prstGeom prst="line">
            <a:avLst/>
          </a:prstGeom>
          <a:noFill/>
          <a:ln w="25400">
            <a:solidFill>
              <a:srgbClr val="003C6C"/>
            </a:solidFill>
            <a:prstDash val="solid"/>
            <a:tailEnd type="triangle"/>
          </a:ln>
        </p:spPr>
      </p:sp>
      <p:sp>
        <p:nvSpPr>
          <p:cNvPr id="17" name="Shape 15"/>
          <p:cNvSpPr/>
          <p:nvPr/>
        </p:nvSpPr>
        <p:spPr>
          <a:xfrm>
            <a:off x="5760720" y="3703320"/>
            <a:ext cx="0" cy="411480"/>
          </a:xfrm>
          <a:prstGeom prst="line">
            <a:avLst/>
          </a:prstGeom>
          <a:noFill/>
          <a:ln w="25400">
            <a:solidFill>
              <a:srgbClr val="003C6C"/>
            </a:solidFill>
            <a:prstDash val="solid"/>
            <a:tailEnd type="triangle"/>
          </a:ln>
        </p:spPr>
      </p:sp>
      <p:sp>
        <p:nvSpPr>
          <p:cNvPr id="18" name="Shape 16"/>
          <p:cNvSpPr/>
          <p:nvPr/>
        </p:nvSpPr>
        <p:spPr>
          <a:xfrm>
            <a:off x="548640" y="4114800"/>
            <a:ext cx="3291840" cy="1051560"/>
          </a:xfrm>
          <a:prstGeom prst="roundRect">
            <a:avLst>
              <a:gd name="adj" fmla="val 10435"/>
            </a:avLst>
          </a:prstGeom>
          <a:solidFill>
            <a:srgbClr val="F1F4F8"/>
          </a:solidFill>
          <a:ln w="12700">
            <a:solidFill>
              <a:srgbClr val="F1F4F8"/>
            </a:solidFill>
            <a:prstDash val="solid"/>
          </a:ln>
        </p:spPr>
      </p:sp>
      <p:sp>
        <p:nvSpPr>
          <p:cNvPr id="19" name="Shape 17"/>
          <p:cNvSpPr/>
          <p:nvPr/>
        </p:nvSpPr>
        <p:spPr>
          <a:xfrm>
            <a:off x="4206240" y="4114800"/>
            <a:ext cx="3291840" cy="1051560"/>
          </a:xfrm>
          <a:prstGeom prst="roundRect">
            <a:avLst>
              <a:gd name="adj" fmla="val 10435"/>
            </a:avLst>
          </a:prstGeom>
          <a:solidFill>
            <a:srgbClr val="F1F4F8"/>
          </a:solidFill>
          <a:ln w="12700">
            <a:solidFill>
              <a:srgbClr val="F1F4F8"/>
            </a:solidFill>
            <a:prstDash val="solid"/>
          </a:ln>
        </p:spPr>
      </p:sp>
      <p:sp>
        <p:nvSpPr>
          <p:cNvPr id="20" name="Text 18"/>
          <p:cNvSpPr txBox="1"/>
          <p:nvPr/>
        </p:nvSpPr>
        <p:spPr>
          <a:xfrm>
            <a:off x="777240" y="4206240"/>
            <a:ext cx="2926080" cy="36576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vg giraffe</a:t>
            </a:r>
            <a:endParaRPr lang="en-US" sz="1600" dirty="0"/>
          </a:p>
        </p:txBody>
      </p:sp>
      <p:sp>
        <p:nvSpPr>
          <p:cNvPr id="21" name="Text 19"/>
          <p:cNvSpPr txBox="1"/>
          <p:nvPr/>
        </p:nvSpPr>
        <p:spPr>
          <a:xfrm>
            <a:off x="777240" y="4572000"/>
            <a:ext cx="2926080" cy="548640"/>
          </a:xfrm>
          <a:prstGeom prst="rect">
            <a:avLst/>
          </a:prstGeom>
          <a:noFill/>
          <a:ln/>
        </p:spPr>
        <p:txBody>
          <a:bodyPr wrap="square" lIns="0" tIns="0" rIns="0" bIns="0" rtlCol="0" anchor="t"/>
          <a:lstStyle/>
          <a:p>
            <a:pPr indent="0" marL="0">
              <a:buNone/>
            </a:pPr>
            <a:r>
              <a:rPr lang="en-US" sz="1300" dirty="0">
                <a:solidFill>
                  <a:srgbClr val="5B6B7C"/>
                </a:solidFill>
                <a:latin typeface="Calibri" pitchFamily="34" charset="0"/>
                <a:ea typeface="Calibri" pitchFamily="34" charset="-122"/>
                <a:cs typeface="Calibri" pitchFamily="34" charset="-120"/>
              </a:rPr>
              <a:t>maps a sequence to the whole graph</a:t>
            </a:r>
            <a:endParaRPr lang="en-US" sz="1300" dirty="0"/>
          </a:p>
        </p:txBody>
      </p:sp>
      <p:sp>
        <p:nvSpPr>
          <p:cNvPr id="22" name="Text 20"/>
          <p:cNvSpPr txBox="1"/>
          <p:nvPr/>
        </p:nvSpPr>
        <p:spPr>
          <a:xfrm>
            <a:off x="4434840" y="4206240"/>
            <a:ext cx="2926080" cy="36576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pangenome-index</a:t>
            </a:r>
            <a:endParaRPr lang="en-US" sz="1600" dirty="0"/>
          </a:p>
        </p:txBody>
      </p:sp>
      <p:sp>
        <p:nvSpPr>
          <p:cNvPr id="23" name="Text 21"/>
          <p:cNvSpPr txBox="1"/>
          <p:nvPr/>
        </p:nvSpPr>
        <p:spPr>
          <a:xfrm>
            <a:off x="4434840" y="4572000"/>
            <a:ext cx="2926080" cy="548640"/>
          </a:xfrm>
          <a:prstGeom prst="rect">
            <a:avLst/>
          </a:prstGeom>
          <a:noFill/>
          <a:ln/>
        </p:spPr>
        <p:txBody>
          <a:bodyPr wrap="square" lIns="0" tIns="0" rIns="0" bIns="0" rtlCol="0" anchor="t"/>
          <a:lstStyle/>
          <a:p>
            <a:pPr indent="0" marL="0">
              <a:buNone/>
            </a:pPr>
            <a:r>
              <a:rPr lang="en-US" sz="1300" dirty="0">
                <a:solidFill>
                  <a:srgbClr val="5B6B7C"/>
                </a:solidFill>
                <a:latin typeface="Calibri" pitchFamily="34" charset="0"/>
                <a:ea typeface="Calibri" pitchFamily="34" charset="-122"/>
                <a:cs typeface="Calibri" pitchFamily="34" charset="-120"/>
              </a:rPr>
              <a:t>tag arrays: any-to-any coordinate translation</a:t>
            </a:r>
            <a:endParaRPr lang="en-US" sz="1300" dirty="0"/>
          </a:p>
        </p:txBody>
      </p:sp>
      <p:sp>
        <p:nvSpPr>
          <p:cNvPr id="24" name="Shape 22"/>
          <p:cNvSpPr/>
          <p:nvPr/>
        </p:nvSpPr>
        <p:spPr>
          <a:xfrm>
            <a:off x="548640" y="5440680"/>
            <a:ext cx="6949440" cy="685800"/>
          </a:xfrm>
          <a:prstGeom prst="roundRect">
            <a:avLst>
              <a:gd name="adj" fmla="val 16000"/>
            </a:avLst>
          </a:prstGeom>
          <a:solidFill>
            <a:srgbClr val="003C6C"/>
          </a:solidFill>
          <a:ln w="12700">
            <a:solidFill>
              <a:srgbClr val="003C6C"/>
            </a:solidFill>
            <a:prstDash val="solid"/>
          </a:ln>
        </p:spPr>
      </p:sp>
      <p:sp>
        <p:nvSpPr>
          <p:cNvPr id="25" name="Text 23"/>
          <p:cNvSpPr txBox="1"/>
          <p:nvPr/>
        </p:nvSpPr>
        <p:spPr>
          <a:xfrm>
            <a:off x="548640" y="5440680"/>
            <a:ext cx="6949440" cy="685800"/>
          </a:xfrm>
          <a:prstGeom prst="rect">
            <a:avLst/>
          </a:prstGeom>
          <a:noFill/>
          <a:ln/>
        </p:spPr>
        <p:txBody>
          <a:bodyPr wrap="square" lIns="0" tIns="0" rIns="0" bIns="0" rtlCol="0" anchor="ctr"/>
          <a:lstStyle/>
          <a:p>
            <a:pPr algn="ctr" indent="0" marL="0">
              <a:buNone/>
            </a:pPr>
            <a:r>
              <a:rPr lang="en-US" sz="1300" dirty="0">
                <a:solidFill>
                  <a:srgbClr val="FFFFFF"/>
                </a:solidFill>
                <a:latin typeface="Calibri" pitchFamily="34" charset="0"/>
                <a:ea typeface="Calibri" pitchFamily="34" charset="-122"/>
                <a:cs typeface="Calibri" pitchFamily="34" charset="-120"/>
              </a:rPr>
              <a:t>HPRC v2.0 Minigraph-Cactus graph   •   233 samples   •   464 haplotypes   •   148M nodes</a:t>
            </a:r>
            <a:endParaRPr lang="en-US" sz="1300" dirty="0"/>
          </a:p>
        </p:txBody>
      </p:sp>
      <p:sp>
        <p:nvSpPr>
          <p:cNvPr id="26" name="Shape 24"/>
          <p:cNvSpPr/>
          <p:nvPr/>
        </p:nvSpPr>
        <p:spPr>
          <a:xfrm>
            <a:off x="8046720" y="1463040"/>
            <a:ext cx="777240" cy="777240"/>
          </a:xfrm>
          <a:prstGeom prst="ellipse">
            <a:avLst/>
          </a:prstGeom>
          <a:solidFill>
            <a:srgbClr val="003C6C"/>
          </a:solidFill>
          <a:ln w="12700">
            <a:solidFill>
              <a:srgbClr val="003C6C"/>
            </a:solidFill>
            <a:prstDash val="solid"/>
          </a:ln>
        </p:spPr>
      </p:sp>
      <p:pic>
        <p:nvPicPr>
          <p:cNvPr id="27" name="Image 0" descr="preencoded.png">    </p:cNvPr>
          <p:cNvPicPr>
            <a:picLocks noChangeAspect="1"/>
          </p:cNvPicPr>
          <p:nvPr/>
        </p:nvPicPr>
        <p:blipFill>
          <a:blip r:embed="rId1"/>
          <a:stretch>
            <a:fillRect/>
          </a:stretch>
        </p:blipFill>
        <p:spPr>
          <a:xfrm>
            <a:off x="8248802" y="1665122"/>
            <a:ext cx="373075" cy="373075"/>
          </a:xfrm>
          <a:prstGeom prst="rect">
            <a:avLst/>
          </a:prstGeom>
        </p:spPr>
      </p:pic>
      <p:sp>
        <p:nvSpPr>
          <p:cNvPr id="28" name="Text 25"/>
          <p:cNvSpPr txBox="1"/>
          <p:nvPr/>
        </p:nvSpPr>
        <p:spPr>
          <a:xfrm>
            <a:off x="9052560" y="14447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Search</a:t>
            </a:r>
            <a:endParaRPr lang="en-US" sz="2000" dirty="0"/>
          </a:p>
        </p:txBody>
      </p:sp>
      <p:sp>
        <p:nvSpPr>
          <p:cNvPr id="29" name="Text 26"/>
          <p:cNvSpPr txBox="1"/>
          <p:nvPr/>
        </p:nvSpPr>
        <p:spPr>
          <a:xfrm>
            <a:off x="9052560" y="18745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which haplotypes carry a sequence, and where</a:t>
            </a:r>
            <a:endParaRPr lang="en-US" sz="1500" dirty="0"/>
          </a:p>
        </p:txBody>
      </p:sp>
      <p:sp>
        <p:nvSpPr>
          <p:cNvPr id="30" name="Shape 27"/>
          <p:cNvSpPr/>
          <p:nvPr/>
        </p:nvSpPr>
        <p:spPr>
          <a:xfrm>
            <a:off x="8046720" y="3063240"/>
            <a:ext cx="777240" cy="777240"/>
          </a:xfrm>
          <a:prstGeom prst="ellipse">
            <a:avLst/>
          </a:prstGeom>
          <a:solidFill>
            <a:srgbClr val="003C6C"/>
          </a:solidFill>
          <a:ln w="12700">
            <a:solidFill>
              <a:srgbClr val="003C6C"/>
            </a:solidFill>
            <a:prstDash val="solid"/>
          </a:ln>
        </p:spPr>
      </p:sp>
      <p:pic>
        <p:nvPicPr>
          <p:cNvPr id="31" name="Image 1" descr="preencoded.png">    </p:cNvPr>
          <p:cNvPicPr>
            <a:picLocks noChangeAspect="1"/>
          </p:cNvPicPr>
          <p:nvPr/>
        </p:nvPicPr>
        <p:blipFill>
          <a:blip r:embed="rId2"/>
          <a:stretch>
            <a:fillRect/>
          </a:stretch>
        </p:blipFill>
        <p:spPr>
          <a:xfrm>
            <a:off x="8248802" y="3265322"/>
            <a:ext cx="373075" cy="373075"/>
          </a:xfrm>
          <a:prstGeom prst="rect">
            <a:avLst/>
          </a:prstGeom>
        </p:spPr>
      </p:pic>
      <p:sp>
        <p:nvSpPr>
          <p:cNvPr id="32" name="Text 28"/>
          <p:cNvSpPr txBox="1"/>
          <p:nvPr/>
        </p:nvSpPr>
        <p:spPr>
          <a:xfrm>
            <a:off x="9052560" y="30449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Translate</a:t>
            </a:r>
            <a:endParaRPr lang="en-US" sz="2000" dirty="0"/>
          </a:p>
        </p:txBody>
      </p:sp>
      <p:sp>
        <p:nvSpPr>
          <p:cNvPr id="33" name="Text 29"/>
          <p:cNvSpPr txBox="1"/>
          <p:nvPr/>
        </p:nvSpPr>
        <p:spPr>
          <a:xfrm>
            <a:off x="9052560" y="34747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 region between any two of 466 assemblies</a:t>
            </a:r>
            <a:endParaRPr lang="en-US" sz="1500" dirty="0"/>
          </a:p>
        </p:txBody>
      </p:sp>
      <p:sp>
        <p:nvSpPr>
          <p:cNvPr id="34" name="Shape 30"/>
          <p:cNvSpPr/>
          <p:nvPr/>
        </p:nvSpPr>
        <p:spPr>
          <a:xfrm>
            <a:off x="8046720" y="4663440"/>
            <a:ext cx="777240" cy="777240"/>
          </a:xfrm>
          <a:prstGeom prst="ellipse">
            <a:avLst/>
          </a:prstGeom>
          <a:solidFill>
            <a:srgbClr val="003C6C"/>
          </a:solidFill>
          <a:ln w="12700">
            <a:solidFill>
              <a:srgbClr val="003C6C"/>
            </a:solidFill>
            <a:prstDash val="solid"/>
          </a:ln>
        </p:spPr>
      </p:sp>
      <p:pic>
        <p:nvPicPr>
          <p:cNvPr id="35" name="Image 2" descr="preencoded.png">    </p:cNvPr>
          <p:cNvPicPr>
            <a:picLocks noChangeAspect="1"/>
          </p:cNvPicPr>
          <p:nvPr/>
        </p:nvPicPr>
        <p:blipFill>
          <a:blip r:embed="rId3"/>
          <a:stretch>
            <a:fillRect/>
          </a:stretch>
        </p:blipFill>
        <p:spPr>
          <a:xfrm>
            <a:off x="8248802" y="4865522"/>
            <a:ext cx="373075" cy="373075"/>
          </a:xfrm>
          <a:prstGeom prst="rect">
            <a:avLst/>
          </a:prstGeom>
        </p:spPr>
      </p:pic>
      <p:sp>
        <p:nvSpPr>
          <p:cNvPr id="36" name="Text 31"/>
          <p:cNvSpPr txBox="1"/>
          <p:nvPr/>
        </p:nvSpPr>
        <p:spPr>
          <a:xfrm>
            <a:off x="9052560" y="4645152"/>
            <a:ext cx="2590495" cy="41148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Lift annotations</a:t>
            </a:r>
            <a:endParaRPr lang="en-US" sz="2000" dirty="0"/>
          </a:p>
        </p:txBody>
      </p:sp>
      <p:sp>
        <p:nvSpPr>
          <p:cNvPr id="37" name="Text 32"/>
          <p:cNvSpPr txBox="1"/>
          <p:nvPr/>
        </p:nvSpPr>
        <p:spPr>
          <a:xfrm>
            <a:off x="9052560" y="5074920"/>
            <a:ext cx="2590495" cy="82296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arrive with the source's tracks drawn in place</a:t>
            </a:r>
            <a:endParaRPr lang="en-US" sz="1500" dirty="0"/>
          </a:p>
        </p:txBody>
      </p:sp>
      <p:sp>
        <p:nvSpPr>
          <p:cNvPr id="38" name="Text 33"/>
          <p:cNvSpPr txBox="1"/>
          <p:nvPr/>
        </p:nvSpPr>
        <p:spPr>
          <a:xfrm>
            <a:off x="8046720" y="5806440"/>
            <a:ext cx="3596335" cy="365760"/>
          </a:xfrm>
          <a:prstGeom prst="rect">
            <a:avLst/>
          </a:prstGeom>
          <a:noFill/>
          <a:ln/>
        </p:spPr>
        <p:txBody>
          <a:bodyPr wrap="square" lIns="0" tIns="0" rIns="0" bIns="0" rtlCol="0" anchor="t"/>
          <a:lstStyle/>
          <a:p>
            <a:pPr indent="0" marL="0">
              <a:buNone/>
            </a:pPr>
            <a:r>
              <a:rPr lang="en-US" sz="1300" i="1" dirty="0">
                <a:solidFill>
                  <a:srgbClr val="5B6B7C"/>
                </a:solidFill>
                <a:latin typeface="Calibri" pitchFamily="34" charset="0"/>
                <a:ea typeface="Calibri" pitchFamily="34" charset="-122"/>
                <a:cs typeface="Calibri" pitchFamily="34" charset="-120"/>
              </a:rPr>
              <a:t>Core browser changes: 3 files, 15 lines.</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One index, every haplotype</a:t>
            </a:r>
            <a:endParaRPr lang="en-US" sz="3200" dirty="0"/>
          </a:p>
        </p:txBody>
      </p:sp>
      <p:sp>
        <p:nvSpPr>
          <p:cNvPr id="3" name="Text 1"/>
          <p:cNvSpPr txBox="1"/>
          <p:nvPr/>
        </p:nvSpPr>
        <p:spPr>
          <a:xfrm>
            <a:off x="548640" y="1024128"/>
            <a:ext cx="11094415" cy="365760"/>
          </a:xfrm>
          <a:prstGeom prst="rect">
            <a:avLst/>
          </a:prstGeom>
          <a:noFill/>
          <a:ln/>
        </p:spPr>
        <p:txBody>
          <a:bodyPr wrap="square" lIns="0" tIns="0" rIns="0" bIns="0" rtlCol="0" anchor="ctr"/>
          <a:lstStyle/>
          <a:p>
            <a:pPr indent="0" marL="0">
              <a:buNone/>
            </a:pPr>
            <a:r>
              <a:rPr lang="en-US" sz="1500" dirty="0">
                <a:solidFill>
                  <a:srgbClr val="5B6B7C"/>
                </a:solidFill>
                <a:latin typeface="Calibri" pitchFamily="34" charset="0"/>
                <a:ea typeface="Calibri" pitchFamily="34" charset="-122"/>
                <a:cs typeface="Calibri" pitchFamily="34" charset="-120"/>
              </a:rPr>
              <a:t>Tag arrays (lossless pangenome indexing): every BWT position carries its graph position.</a:t>
            </a:r>
            <a:endParaRPr lang="en-US" sz="1500" dirty="0"/>
          </a:p>
        </p:txBody>
      </p:sp>
      <p:sp>
        <p:nvSpPr>
          <p:cNvPr id="4" name="Text 2"/>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6</a:t>
            </a:r>
            <a:endParaRPr lang="en-US" sz="1000" dirty="0"/>
          </a:p>
        </p:txBody>
      </p:sp>
      <p:pic>
        <p:nvPicPr>
          <p:cNvPr id="5" name="Image 0" descr="/Users/seeskand/Documents/HPRC/2026/hprc_2026_poster/talk/figures/tagarray.png">    </p:cNvPr>
          <p:cNvPicPr>
            <a:picLocks noChangeAspect="1"/>
          </p:cNvPicPr>
          <p:nvPr/>
        </p:nvPicPr>
        <p:blipFill>
          <a:blip r:embed="rId1"/>
          <a:stretch>
            <a:fillRect/>
          </a:stretch>
        </p:blipFill>
        <p:spPr>
          <a:xfrm>
            <a:off x="1432408" y="1508760"/>
            <a:ext cx="9326880" cy="4908138"/>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Translating a region is a walk, not a lookup</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7</a:t>
            </a:r>
            <a:endParaRPr lang="en-US" sz="1000" dirty="0"/>
          </a:p>
        </p:txBody>
      </p:sp>
      <p:pic>
        <p:nvPicPr>
          <p:cNvPr id="4" name="Image 0" descr="/Users/seeskand/Documents/HPRC/2026/hprc_2026_poster/talk/figures/translation.png">    </p:cNvPr>
          <p:cNvPicPr>
            <a:picLocks noChangeAspect="1"/>
          </p:cNvPicPr>
          <p:nvPr/>
        </p:nvPicPr>
        <p:blipFill>
          <a:blip r:embed="rId1"/>
          <a:stretch>
            <a:fillRect/>
          </a:stretch>
        </p:blipFill>
        <p:spPr>
          <a:xfrm>
            <a:off x="548640" y="1417320"/>
            <a:ext cx="6858000" cy="4370669"/>
          </a:xfrm>
          <a:prstGeom prst="rect">
            <a:avLst/>
          </a:prstGeom>
        </p:spPr>
      </p:pic>
      <p:sp>
        <p:nvSpPr>
          <p:cNvPr id="5" name="Shape 2"/>
          <p:cNvSpPr/>
          <p:nvPr/>
        </p:nvSpPr>
        <p:spPr>
          <a:xfrm>
            <a:off x="7863840" y="1481328"/>
            <a:ext cx="384048" cy="384048"/>
          </a:xfrm>
          <a:prstGeom prst="roundRect">
            <a:avLst>
              <a:gd name="adj" fmla="val 19048"/>
            </a:avLst>
          </a:prstGeom>
          <a:solidFill>
            <a:srgbClr val="FDC700"/>
          </a:solidFill>
          <a:ln w="12700">
            <a:solidFill>
              <a:srgbClr val="FDC700"/>
            </a:solidFill>
            <a:prstDash val="solid"/>
          </a:ln>
        </p:spPr>
      </p:sp>
      <p:sp>
        <p:nvSpPr>
          <p:cNvPr id="6" name="Text 3"/>
          <p:cNvSpPr txBox="1"/>
          <p:nvPr/>
        </p:nvSpPr>
        <p:spPr>
          <a:xfrm>
            <a:off x="7863840" y="1481328"/>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7" name="Text 4"/>
          <p:cNvSpPr txBox="1"/>
          <p:nvPr/>
        </p:nvSpPr>
        <p:spPr>
          <a:xfrm>
            <a:off x="8412480" y="1463040"/>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Locate the query interval's nodes on the source haplotype's path.</a:t>
            </a:r>
            <a:endParaRPr lang="en-US" sz="1500" dirty="0"/>
          </a:p>
        </p:txBody>
      </p:sp>
      <p:sp>
        <p:nvSpPr>
          <p:cNvPr id="8" name="Shape 5"/>
          <p:cNvSpPr/>
          <p:nvPr/>
        </p:nvSpPr>
        <p:spPr>
          <a:xfrm>
            <a:off x="7863840" y="2651760"/>
            <a:ext cx="384048" cy="384048"/>
          </a:xfrm>
          <a:prstGeom prst="roundRect">
            <a:avLst>
              <a:gd name="adj" fmla="val 19048"/>
            </a:avLst>
          </a:prstGeom>
          <a:solidFill>
            <a:srgbClr val="FDC700"/>
          </a:solidFill>
          <a:ln w="12700">
            <a:solidFill>
              <a:srgbClr val="FDC700"/>
            </a:solidFill>
            <a:prstDash val="solid"/>
          </a:ln>
        </p:spPr>
      </p:sp>
      <p:sp>
        <p:nvSpPr>
          <p:cNvPr id="9" name="Text 6"/>
          <p:cNvSpPr txBox="1"/>
          <p:nvPr/>
        </p:nvSpPr>
        <p:spPr>
          <a:xfrm>
            <a:off x="7863840" y="265176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0" name="Text 7"/>
          <p:cNvSpPr txBox="1"/>
          <p:nvPr/>
        </p:nvSpPr>
        <p:spPr>
          <a:xfrm>
            <a:off x="8412480" y="2633472"/>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Tag arrays report, at every node, each haplotype standing on it and where.</a:t>
            </a:r>
            <a:endParaRPr lang="en-US" sz="1500" dirty="0"/>
          </a:p>
        </p:txBody>
      </p:sp>
      <p:sp>
        <p:nvSpPr>
          <p:cNvPr id="11" name="Shape 8"/>
          <p:cNvSpPr/>
          <p:nvPr/>
        </p:nvSpPr>
        <p:spPr>
          <a:xfrm>
            <a:off x="7863840" y="3822192"/>
            <a:ext cx="384048" cy="384048"/>
          </a:xfrm>
          <a:prstGeom prst="roundRect">
            <a:avLst>
              <a:gd name="adj" fmla="val 19048"/>
            </a:avLst>
          </a:prstGeom>
          <a:solidFill>
            <a:srgbClr val="FDC700"/>
          </a:solidFill>
          <a:ln w="12700">
            <a:solidFill>
              <a:srgbClr val="FDC700"/>
            </a:solidFill>
            <a:prstDash val="solid"/>
          </a:ln>
        </p:spPr>
      </p:sp>
      <p:sp>
        <p:nvSpPr>
          <p:cNvPr id="12" name="Text 9"/>
          <p:cNvSpPr txBox="1"/>
          <p:nvPr/>
        </p:nvSpPr>
        <p:spPr>
          <a:xfrm>
            <a:off x="7863840" y="3822192"/>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13" name="Text 10"/>
          <p:cNvSpPr txBox="1"/>
          <p:nvPr/>
        </p:nvSpPr>
        <p:spPr>
          <a:xfrm>
            <a:off x="8412480" y="3803904"/>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Nodes visited exactly once by both source and target are guaranteed orthologous anchors.</a:t>
            </a:r>
            <a:endParaRPr lang="en-US" sz="1500" dirty="0"/>
          </a:p>
        </p:txBody>
      </p:sp>
      <p:sp>
        <p:nvSpPr>
          <p:cNvPr id="14" name="Shape 11"/>
          <p:cNvSpPr/>
          <p:nvPr/>
        </p:nvSpPr>
        <p:spPr>
          <a:xfrm>
            <a:off x="7863840" y="4992624"/>
            <a:ext cx="384048" cy="384048"/>
          </a:xfrm>
          <a:prstGeom prst="roundRect">
            <a:avLst>
              <a:gd name="adj" fmla="val 19048"/>
            </a:avLst>
          </a:prstGeom>
          <a:solidFill>
            <a:srgbClr val="FDC700"/>
          </a:solidFill>
          <a:ln w="12700">
            <a:solidFill>
              <a:srgbClr val="FDC700"/>
            </a:solidFill>
            <a:prstDash val="solid"/>
          </a:ln>
        </p:spPr>
      </p:sp>
      <p:sp>
        <p:nvSpPr>
          <p:cNvPr id="15" name="Text 12"/>
          <p:cNvSpPr txBox="1"/>
          <p:nvPr/>
        </p:nvSpPr>
        <p:spPr>
          <a:xfrm>
            <a:off x="7863840" y="4992624"/>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4</a:t>
            </a:r>
            <a:endParaRPr lang="en-US" sz="1400" dirty="0"/>
          </a:p>
        </p:txBody>
      </p:sp>
      <p:sp>
        <p:nvSpPr>
          <p:cNvPr id="16" name="Text 13"/>
          <p:cNvSpPr txBox="1"/>
          <p:nvPr/>
        </p:nvSpPr>
        <p:spPr>
          <a:xfrm>
            <a:off x="8412480" y="4974336"/>
            <a:ext cx="323057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A walk between anchors emits per-base offsets, folded into chain blocks: broken by indels and inversions, never by SNPs.</a:t>
            </a:r>
            <a:endParaRPr lang="en-US" sz="1500" dirty="0"/>
          </a:p>
        </p:txBody>
      </p:sp>
      <p:sp>
        <p:nvSpPr>
          <p:cNvPr id="17" name="Text 14"/>
          <p:cNvSpPr txBox="1"/>
          <p:nvPr/>
        </p:nvSpPr>
        <p:spPr>
          <a:xfrm>
            <a:off x="548640" y="5943600"/>
            <a:ext cx="11094415" cy="457200"/>
          </a:xfrm>
          <a:prstGeom prst="rect">
            <a:avLst/>
          </a:prstGeom>
          <a:noFill/>
          <a:ln/>
        </p:spPr>
        <p:txBody>
          <a:bodyPr wrap="square" lIns="0" tIns="0" rIns="0" bIns="0" rtlCol="0" anchor="t"/>
          <a:lstStyle/>
          <a:p>
            <a:pPr algn="ctr" indent="0" marL="0">
              <a:buNone/>
            </a:pPr>
            <a:r>
              <a:rPr lang="en-US" sz="1700" i="1" dirty="0">
                <a:solidFill>
                  <a:srgbClr val="003C6C"/>
                </a:solidFill>
                <a:latin typeface="Calibri" pitchFamily="34" charset="0"/>
                <a:ea typeface="Calibri" pitchFamily="34" charset="-122"/>
                <a:cs typeface="Calibri" pitchFamily="34" charset="-120"/>
              </a:rPr>
              <a:t>The output is not just a coordinate. It is a chain, and the browser already knows what to do with a chain.</a:t>
            </a:r>
            <a:endParaRPr lang="en-US" sz="1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Ask the graph: which haplotypes carry my sequence?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8</a:t>
            </a:r>
            <a:endParaRPr lang="en-US" sz="1000" dirty="0"/>
          </a:p>
        </p:txBody>
      </p:sp>
      <p:sp>
        <p:nvSpPr>
          <p:cNvPr id="4" name="Shape 2"/>
          <p:cNvSpPr/>
          <p:nvPr/>
        </p:nvSpPr>
        <p:spPr>
          <a:xfrm>
            <a:off x="548640" y="1325880"/>
            <a:ext cx="7589520" cy="4590404"/>
          </a:xfrm>
          <a:prstGeom prst="roundRect">
            <a:avLst>
              <a:gd name="adj" fmla="val 2390"/>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mapping_page.png">    </p:cNvPr>
          <p:cNvPicPr>
            <a:picLocks noChangeAspect="1"/>
          </p:cNvPicPr>
          <p:nvPr/>
        </p:nvPicPr>
        <p:blipFill>
          <a:blip r:embed="rId1"/>
          <a:stretch>
            <a:fillRect/>
          </a:stretch>
        </p:blipFill>
        <p:spPr>
          <a:xfrm>
            <a:off x="658368" y="1655064"/>
            <a:ext cx="7370064" cy="4151492"/>
          </a:xfrm>
          <a:prstGeom prst="rect">
            <a:avLst/>
          </a:prstGeom>
        </p:spPr>
      </p:pic>
      <p:sp>
        <p:nvSpPr>
          <p:cNvPr id="10" name="Shape 7"/>
          <p:cNvSpPr/>
          <p:nvPr/>
        </p:nvSpPr>
        <p:spPr>
          <a:xfrm>
            <a:off x="8549640" y="1600200"/>
            <a:ext cx="384048" cy="384048"/>
          </a:xfrm>
          <a:prstGeom prst="roundRect">
            <a:avLst>
              <a:gd name="adj" fmla="val 19048"/>
            </a:avLst>
          </a:prstGeom>
          <a:solidFill>
            <a:srgbClr val="FDC700"/>
          </a:solidFill>
          <a:ln w="12700">
            <a:solidFill>
              <a:srgbClr val="FDC700"/>
            </a:solidFill>
            <a:prstDash val="solid"/>
          </a:ln>
        </p:spPr>
      </p:sp>
      <p:sp>
        <p:nvSpPr>
          <p:cNvPr id="11" name="Text 8"/>
          <p:cNvSpPr txBox="1"/>
          <p:nvPr/>
        </p:nvSpPr>
        <p:spPr>
          <a:xfrm>
            <a:off x="8549640" y="16002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12" name="Text 9"/>
          <p:cNvSpPr txBox="1"/>
          <p:nvPr/>
        </p:nvSpPr>
        <p:spPr>
          <a:xfrm>
            <a:off x="9098280" y="15819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Mapped once, to the whole graph, with vg giraffe.</a:t>
            </a:r>
            <a:endParaRPr lang="en-US" sz="1600" dirty="0"/>
          </a:p>
        </p:txBody>
      </p:sp>
      <p:sp>
        <p:nvSpPr>
          <p:cNvPr id="13" name="Shape 10"/>
          <p:cNvSpPr/>
          <p:nvPr/>
        </p:nvSpPr>
        <p:spPr>
          <a:xfrm>
            <a:off x="8549640" y="2971800"/>
            <a:ext cx="384048" cy="384048"/>
          </a:xfrm>
          <a:prstGeom prst="roundRect">
            <a:avLst>
              <a:gd name="adj" fmla="val 19048"/>
            </a:avLst>
          </a:prstGeom>
          <a:solidFill>
            <a:srgbClr val="FDC700"/>
          </a:solidFill>
          <a:ln w="12700">
            <a:solidFill>
              <a:srgbClr val="FDC700"/>
            </a:solidFill>
            <a:prstDash val="solid"/>
          </a:ln>
        </p:spPr>
      </p:sp>
      <p:sp>
        <p:nvSpPr>
          <p:cNvPr id="14" name="Text 11"/>
          <p:cNvSpPr txBox="1"/>
          <p:nvPr/>
        </p:nvSpPr>
        <p:spPr>
          <a:xfrm>
            <a:off x="8549640" y="29718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5" name="Text 12"/>
          <p:cNvSpPr txBox="1"/>
          <p:nvPr/>
        </p:nvSpPr>
        <p:spPr>
          <a:xfrm>
            <a:off x="9098280" y="29535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Every assembly carrying it, ranked by identity.</a:t>
            </a:r>
            <a:endParaRPr lang="en-US" sz="1600" dirty="0"/>
          </a:p>
        </p:txBody>
      </p:sp>
      <p:sp>
        <p:nvSpPr>
          <p:cNvPr id="16" name="Shape 13"/>
          <p:cNvSpPr/>
          <p:nvPr/>
        </p:nvSpPr>
        <p:spPr>
          <a:xfrm>
            <a:off x="8549640" y="4343400"/>
            <a:ext cx="384048" cy="384048"/>
          </a:xfrm>
          <a:prstGeom prst="roundRect">
            <a:avLst>
              <a:gd name="adj" fmla="val 19048"/>
            </a:avLst>
          </a:prstGeom>
          <a:solidFill>
            <a:srgbClr val="FDC700"/>
          </a:solidFill>
          <a:ln w="12700">
            <a:solidFill>
              <a:srgbClr val="FDC700"/>
            </a:solidFill>
            <a:prstDash val="solid"/>
          </a:ln>
        </p:spPr>
      </p:sp>
      <p:sp>
        <p:nvSpPr>
          <p:cNvPr id="17" name="Text 14"/>
          <p:cNvSpPr txBox="1"/>
          <p:nvPr/>
        </p:nvSpPr>
        <p:spPr>
          <a:xfrm>
            <a:off x="8549640" y="4343400"/>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18" name="Text 15"/>
          <p:cNvSpPr txBox="1"/>
          <p:nvPr/>
        </p:nvSpPr>
        <p:spPr>
          <a:xfrm>
            <a:off x="9098280" y="4325112"/>
            <a:ext cx="2544775" cy="1188720"/>
          </a:xfrm>
          <a:prstGeom prst="rect">
            <a:avLst/>
          </a:prstGeom>
          <a:noFill/>
          <a:ln/>
        </p:spPr>
        <p:txBody>
          <a:bodyPr wrap="square" lIns="0" tIns="0" rIns="0" bIns="0" rtlCol="0" anchor="t"/>
          <a:lstStyle/>
          <a:p>
            <a:pPr indent="0" marL="0">
              <a:buNone/>
            </a:pPr>
            <a:r>
              <a:rPr lang="en-US" sz="1600" dirty="0">
                <a:solidFill>
                  <a:srgbClr val="18293B"/>
                </a:solidFill>
                <a:latin typeface="Calibri" pitchFamily="34" charset="0"/>
                <a:ea typeface="Calibri" pitchFamily="34" charset="-122"/>
                <a:cs typeface="Calibri" pitchFamily="34" charset="-120"/>
              </a:rPr>
              <a:t>A position on any haplotype you pick: one click, no remapping.</a:t>
            </a:r>
            <a:endParaRPr lang="en-US" sz="1600" dirty="0"/>
          </a:p>
        </p:txBody>
      </p:sp>
      <p:sp>
        <p:nvSpPr>
          <p:cNvPr id="19" name="Text 16"/>
          <p:cNvSpPr txBox="1"/>
          <p:nvPr/>
        </p:nvSpPr>
        <p:spPr>
          <a:xfrm>
            <a:off x="8549640" y="5760720"/>
            <a:ext cx="3093415" cy="365760"/>
          </a:xfrm>
          <a:prstGeom prst="rect">
            <a:avLst/>
          </a:prstGeom>
          <a:noFill/>
          <a:ln/>
        </p:spPr>
        <p:txBody>
          <a:bodyPr wrap="square" lIns="0" tIns="0" rIns="0" bIns="0" rtlCol="0" anchor="t"/>
          <a:lstStyle/>
          <a:p>
            <a:pPr indent="0" marL="0">
              <a:buNone/>
            </a:pPr>
            <a:r>
              <a:rPr lang="en-US" sz="1300" b="1" spc="200" kern="0" dirty="0">
                <a:solidFill>
                  <a:srgbClr val="C98A00"/>
                </a:solidFill>
                <a:latin typeface="Calibri" pitchFamily="34" charset="0"/>
                <a:ea typeface="Calibri" pitchFamily="34" charset="-122"/>
                <a:cs typeface="Calibri" pitchFamily="34" charset="-120"/>
              </a:rPr>
              <a:t>Question 1</a:t>
            </a:r>
            <a:endParaRPr lang="en-US" sz="13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…and land on it as a native track</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9</a:t>
            </a:r>
            <a:endParaRPr lang="en-US" sz="1000" dirty="0"/>
          </a:p>
        </p:txBody>
      </p:sp>
      <p:sp>
        <p:nvSpPr>
          <p:cNvPr id="4" name="Shape 2"/>
          <p:cNvSpPr/>
          <p:nvPr/>
        </p:nvSpPr>
        <p:spPr>
          <a:xfrm>
            <a:off x="548640" y="1371600"/>
            <a:ext cx="11094415" cy="3520688"/>
          </a:xfrm>
          <a:prstGeom prst="roundRect">
            <a:avLst>
              <a:gd name="adj" fmla="val 3117"/>
            </a:avLst>
          </a:prstGeom>
          <a:solidFill>
            <a:srgbClr val="F1F4F8"/>
          </a:solidFill>
          <a:ln w="12700">
            <a:solidFill>
              <a:srgbClr val="F1F4F8"/>
            </a:solidFill>
            <a:prstDash val="solid"/>
          </a:ln>
        </p:spPr>
      </p:sp>
      <p:sp>
        <p:nvSpPr>
          <p:cNvPr id="5" name="Shape 3"/>
          <p:cNvSpPr/>
          <p:nvPr/>
        </p:nvSpPr>
        <p:spPr>
          <a:xfrm>
            <a:off x="713232" y="147218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7218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7218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40817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pangenome_seq_track.png">    </p:cNvPr>
          <p:cNvPicPr>
            <a:picLocks noChangeAspect="1"/>
          </p:cNvPicPr>
          <p:nvPr/>
        </p:nvPicPr>
        <p:blipFill>
          <a:blip r:embed="rId1"/>
          <a:stretch>
            <a:fillRect/>
          </a:stretch>
        </p:blipFill>
        <p:spPr>
          <a:xfrm>
            <a:off x="658368" y="1700784"/>
            <a:ext cx="10874959" cy="3081776"/>
          </a:xfrm>
          <a:prstGeom prst="rect">
            <a:avLst/>
          </a:prstGeom>
        </p:spPr>
      </p:pic>
      <p:sp>
        <p:nvSpPr>
          <p:cNvPr id="10" name="Text 7"/>
          <p:cNvSpPr txBox="1"/>
          <p:nvPr/>
        </p:nvSpPr>
        <p:spPr>
          <a:xfrm>
            <a:off x="548640" y="5212328"/>
            <a:ext cx="11094415" cy="457200"/>
          </a:xfrm>
          <a:prstGeom prst="rect">
            <a:avLst/>
          </a:prstGeom>
          <a:noFill/>
          <a:ln/>
        </p:spPr>
        <p:txBody>
          <a:bodyPr wrap="square" lIns="0" tIns="0" rIns="0" bIns="0" rtlCol="0" anchor="t"/>
          <a:lstStyle/>
          <a:p>
            <a:pPr algn="ctr" indent="0" marL="0">
              <a:buNone/>
            </a:pPr>
            <a:r>
              <a:rPr lang="en-US" sz="1600" dirty="0">
                <a:solidFill>
                  <a:srgbClr val="5B6B7C"/>
                </a:solidFill>
                <a:latin typeface="Calibri" pitchFamily="34" charset="0"/>
                <a:ea typeface="Calibri" pitchFamily="34" charset="-122"/>
                <a:cs typeface="Calibri" pitchFamily="34" charset="-120"/>
              </a:rPr>
              <a:t>Pangenome Seq track on HG01167 hap1: the mapped sequence with BLAT-style base-level differences.</a:t>
            </a:r>
            <a:endParaRPr lang="en-US" sz="1600" dirty="0"/>
          </a:p>
        </p:txBody>
      </p:sp>
      <p:sp>
        <p:nvSpPr>
          <p:cNvPr id="11" name="Text 8"/>
          <p:cNvSpPr txBox="1"/>
          <p:nvPr/>
        </p:nvSpPr>
        <p:spPr>
          <a:xfrm>
            <a:off x="548640" y="5760968"/>
            <a:ext cx="11094415" cy="548640"/>
          </a:xfrm>
          <a:prstGeom prst="rect">
            <a:avLst/>
          </a:prstGeom>
          <a:noFill/>
          <a:ln/>
        </p:spPr>
        <p:txBody>
          <a:bodyPr wrap="square" lIns="0" tIns="0" rIns="0" bIns="0" rtlCol="0" anchor="t"/>
          <a:lstStyle/>
          <a:p>
            <a:pPr algn="ctr" indent="0" marL="0">
              <a:buNone/>
            </a:pPr>
            <a:r>
              <a:rPr lang="en-US" sz="2000" i="1" dirty="0">
                <a:solidFill>
                  <a:srgbClr val="003C6C"/>
                </a:solidFill>
                <a:latin typeface="Calibri" pitchFamily="34" charset="0"/>
                <a:ea typeface="Calibri" pitchFamily="34" charset="-122"/>
                <a:cs typeface="Calibri" pitchFamily="34" charset="-120"/>
              </a:rPr>
              <a:t>Not a special case. Just another track, on another assembly.</a:t>
            </a:r>
            <a:endParaRPr lang="en-US" sz="2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Ask: where is this region on HG02015?</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10</a:t>
            </a:r>
            <a:endParaRPr lang="en-US" sz="1000" dirty="0"/>
          </a:p>
        </p:txBody>
      </p:sp>
      <p:sp>
        <p:nvSpPr>
          <p:cNvPr id="4" name="Shape 2"/>
          <p:cNvSpPr/>
          <p:nvPr/>
        </p:nvSpPr>
        <p:spPr>
          <a:xfrm>
            <a:off x="548640" y="1325880"/>
            <a:ext cx="7406640" cy="4032504"/>
          </a:xfrm>
          <a:prstGeom prst="roundRect">
            <a:avLst>
              <a:gd name="adj" fmla="val 2721"/>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convert_page.png">    </p:cNvPr>
          <p:cNvPicPr>
            <a:picLocks noChangeAspect="1"/>
          </p:cNvPicPr>
          <p:nvPr/>
        </p:nvPicPr>
        <p:blipFill>
          <a:blip r:embed="rId1"/>
          <a:stretch>
            <a:fillRect/>
          </a:stretch>
        </p:blipFill>
        <p:spPr>
          <a:xfrm>
            <a:off x="658368" y="1655064"/>
            <a:ext cx="7187184" cy="3593592"/>
          </a:xfrm>
          <a:prstGeom prst="rect">
            <a:avLst/>
          </a:prstGeom>
        </p:spPr>
      </p:pic>
      <p:sp>
        <p:nvSpPr>
          <p:cNvPr id="10" name="Text 7"/>
          <p:cNvSpPr txBox="1"/>
          <p:nvPr/>
        </p:nvSpPr>
        <p:spPr>
          <a:xfrm>
            <a:off x="8366760" y="1463040"/>
            <a:ext cx="3276295" cy="320040"/>
          </a:xfrm>
          <a:prstGeom prst="rect">
            <a:avLst/>
          </a:prstGeom>
          <a:noFill/>
          <a:ln/>
        </p:spPr>
        <p:txBody>
          <a:bodyPr wrap="square" lIns="0" tIns="0" rIns="0" bIns="0" rtlCol="0" anchor="t"/>
          <a:lstStyle/>
          <a:p>
            <a:pPr indent="0" marL="0">
              <a:buNone/>
            </a:pPr>
            <a:r>
              <a:rPr lang="en-US" sz="1300" b="1" dirty="0">
                <a:solidFill>
                  <a:srgbClr val="5B6B7C"/>
                </a:solidFill>
                <a:latin typeface="Calibri" pitchFamily="34" charset="0"/>
                <a:ea typeface="Calibri" pitchFamily="34" charset="-122"/>
                <a:cs typeface="Calibri" pitchFamily="34" charset="-120"/>
              </a:rPr>
              <a:t>CHM13</a:t>
            </a:r>
            <a:endParaRPr lang="en-US" sz="1300" dirty="0"/>
          </a:p>
        </p:txBody>
      </p:sp>
      <p:sp>
        <p:nvSpPr>
          <p:cNvPr id="11" name="Text 8"/>
          <p:cNvSpPr txBox="1"/>
          <p:nvPr/>
        </p:nvSpPr>
        <p:spPr>
          <a:xfrm>
            <a:off x="8366760" y="1737360"/>
            <a:ext cx="3276295" cy="365760"/>
          </a:xfrm>
          <a:prstGeom prst="rect">
            <a:avLst/>
          </a:prstGeom>
          <a:noFill/>
          <a:ln/>
        </p:spPr>
        <p:txBody>
          <a:bodyPr wrap="square" lIns="0" tIns="0" rIns="0" bIns="0" rtlCol="0" anchor="t"/>
          <a:lstStyle/>
          <a:p>
            <a:pPr indent="0" marL="0">
              <a:buNone/>
            </a:pPr>
            <a:r>
              <a:rPr lang="en-US" sz="1500" dirty="0">
                <a:solidFill>
                  <a:srgbClr val="18293B"/>
                </a:solidFill>
                <a:latin typeface="Courier New" pitchFamily="34" charset="0"/>
                <a:ea typeface="Courier New" pitchFamily="34" charset="-122"/>
                <a:cs typeface="Courier New" pitchFamily="34" charset="-120"/>
              </a:rPr>
              <a:t>chr6:32,768,058-32,778,749</a:t>
            </a:r>
            <a:endParaRPr lang="en-US" sz="1500" dirty="0"/>
          </a:p>
        </p:txBody>
      </p:sp>
      <p:sp>
        <p:nvSpPr>
          <p:cNvPr id="12" name="Text 9"/>
          <p:cNvSpPr txBox="1"/>
          <p:nvPr/>
        </p:nvSpPr>
        <p:spPr>
          <a:xfrm>
            <a:off x="8366760" y="2148840"/>
            <a:ext cx="3276295" cy="365760"/>
          </a:xfrm>
          <a:prstGeom prst="rect">
            <a:avLst/>
          </a:prstGeom>
          <a:noFill/>
          <a:ln/>
        </p:spPr>
        <p:txBody>
          <a:bodyPr wrap="square" lIns="0" tIns="0" rIns="0" bIns="0" rtlCol="0" anchor="t"/>
          <a:lstStyle/>
          <a:p>
            <a:pPr indent="0" marL="0">
              <a:buNone/>
            </a:pPr>
            <a:r>
              <a:rPr lang="en-US" sz="2000" dirty="0">
                <a:solidFill>
                  <a:srgbClr val="C98A00"/>
                </a:solidFill>
                <a:latin typeface="Calibri" pitchFamily="34" charset="0"/>
                <a:ea typeface="Calibri" pitchFamily="34" charset="-122"/>
                <a:cs typeface="Calibri" pitchFamily="34" charset="-120"/>
              </a:rPr>
              <a:t>↓</a:t>
            </a:r>
            <a:endParaRPr lang="en-US" sz="2000" dirty="0"/>
          </a:p>
        </p:txBody>
      </p:sp>
      <p:sp>
        <p:nvSpPr>
          <p:cNvPr id="13" name="Text 10"/>
          <p:cNvSpPr txBox="1"/>
          <p:nvPr/>
        </p:nvSpPr>
        <p:spPr>
          <a:xfrm>
            <a:off x="8366760" y="2560320"/>
            <a:ext cx="3276295" cy="320040"/>
          </a:xfrm>
          <a:prstGeom prst="rect">
            <a:avLst/>
          </a:prstGeom>
          <a:noFill/>
          <a:ln/>
        </p:spPr>
        <p:txBody>
          <a:bodyPr wrap="square" lIns="0" tIns="0" rIns="0" bIns="0" rtlCol="0" anchor="t"/>
          <a:lstStyle/>
          <a:p>
            <a:pPr indent="0" marL="0">
              <a:buNone/>
            </a:pPr>
            <a:r>
              <a:rPr lang="en-US" sz="1300" b="1" dirty="0">
                <a:solidFill>
                  <a:srgbClr val="5B6B7C"/>
                </a:solidFill>
                <a:latin typeface="Calibri" pitchFamily="34" charset="0"/>
                <a:ea typeface="Calibri" pitchFamily="34" charset="-122"/>
                <a:cs typeface="Calibri" pitchFamily="34" charset="-120"/>
              </a:rPr>
              <a:t>HG02015 paternal</a:t>
            </a:r>
            <a:endParaRPr lang="en-US" sz="1300" dirty="0"/>
          </a:p>
        </p:txBody>
      </p:sp>
      <p:sp>
        <p:nvSpPr>
          <p:cNvPr id="14" name="Text 11"/>
          <p:cNvSpPr txBox="1"/>
          <p:nvPr/>
        </p:nvSpPr>
        <p:spPr>
          <a:xfrm>
            <a:off x="8366760" y="2834640"/>
            <a:ext cx="3276295" cy="548640"/>
          </a:xfrm>
          <a:prstGeom prst="rect">
            <a:avLst/>
          </a:prstGeom>
          <a:noFill/>
          <a:ln/>
        </p:spPr>
        <p:txBody>
          <a:bodyPr wrap="square" lIns="0" tIns="0" rIns="0" bIns="0" rtlCol="0" anchor="t"/>
          <a:lstStyle/>
          <a:p>
            <a:pPr indent="0" marL="0">
              <a:buNone/>
            </a:pPr>
            <a:r>
              <a:rPr lang="en-US" sz="1500" dirty="0">
                <a:solidFill>
                  <a:srgbClr val="18293B"/>
                </a:solidFill>
                <a:latin typeface="Courier New" pitchFamily="34" charset="0"/>
                <a:ea typeface="Courier New" pitchFamily="34" charset="-122"/>
                <a:cs typeface="Courier New" pitchFamily="34" charset="-120"/>
              </a:rPr>
              <a:t>CM085893.1:32,953,289-32,963,978</a:t>
            </a:r>
            <a:endParaRPr lang="en-US" sz="1500" dirty="0"/>
          </a:p>
        </p:txBody>
      </p:sp>
      <p:sp>
        <p:nvSpPr>
          <p:cNvPr id="15" name="Shape 12"/>
          <p:cNvSpPr/>
          <p:nvPr/>
        </p:nvSpPr>
        <p:spPr>
          <a:xfrm>
            <a:off x="8366760" y="3611880"/>
            <a:ext cx="3276295" cy="914400"/>
          </a:xfrm>
          <a:prstGeom prst="roundRect">
            <a:avLst>
              <a:gd name="adj" fmla="val 12000"/>
            </a:avLst>
          </a:prstGeom>
          <a:solidFill>
            <a:srgbClr val="E7F0F7"/>
          </a:solidFill>
          <a:ln w="12700">
            <a:solidFill>
              <a:srgbClr val="E7F0F7"/>
            </a:solidFill>
            <a:prstDash val="solid"/>
          </a:ln>
        </p:spPr>
      </p:sp>
      <p:sp>
        <p:nvSpPr>
          <p:cNvPr id="16" name="Text 13"/>
          <p:cNvSpPr txBox="1"/>
          <p:nvPr/>
        </p:nvSpPr>
        <p:spPr>
          <a:xfrm>
            <a:off x="8549640" y="3611880"/>
            <a:ext cx="2910535" cy="914400"/>
          </a:xfrm>
          <a:prstGeom prst="rect">
            <a:avLst/>
          </a:prstGeom>
          <a:noFill/>
          <a:ln/>
        </p:spPr>
        <p:txBody>
          <a:bodyPr wrap="square" lIns="0" tIns="0" rIns="0" bIns="0" rtlCol="0" anchor="ctr"/>
          <a:lstStyle/>
          <a:p>
            <a:pPr indent="0" marL="0">
              <a:buNone/>
            </a:pPr>
            <a:r>
              <a:rPr lang="en-US" sz="1700" b="1" dirty="0">
                <a:solidFill>
                  <a:srgbClr val="003C6C"/>
                </a:solidFill>
                <a:latin typeface="Calibri" pitchFamily="34" charset="0"/>
                <a:ea typeface="Calibri" pitchFamily="34" charset="-122"/>
                <a:cs typeface="Calibri" pitchFamily="34" charset="-120"/>
              </a:rPr>
              <a:t>100% of bases, 100% of span</a:t>
            </a:r>
            <a:endParaRPr lang="en-US" sz="1700" dirty="0"/>
          </a:p>
        </p:txBody>
      </p:sp>
      <p:sp>
        <p:nvSpPr>
          <p:cNvPr id="17" name="Text 14"/>
          <p:cNvSpPr txBox="1"/>
          <p:nvPr/>
        </p:nvSpPr>
        <p:spPr>
          <a:xfrm>
            <a:off x="8366760" y="4709160"/>
            <a:ext cx="3276295" cy="1097280"/>
          </a:xfrm>
          <a:prstGeom prst="rect">
            <a:avLst/>
          </a:prstGeom>
          <a:noFill/>
          <a:ln/>
        </p:spPr>
        <p:txBody>
          <a:bodyPr wrap="square" lIns="0" tIns="0" rIns="0" bIns="0" rtlCol="0" anchor="t"/>
          <a:lstStyle/>
          <a:p>
            <a:pPr indent="0" marL="0">
              <a:buNone/>
            </a:pPr>
            <a:r>
              <a:rPr lang="en-US" sz="1500" dirty="0">
                <a:solidFill>
                  <a:srgbClr val="18293B"/>
                </a:solidFill>
                <a:latin typeface="Calibri" pitchFamily="34" charset="0"/>
                <a:ea typeface="Calibri" pitchFamily="34" charset="-122"/>
                <a:cs typeface="Calibri" pitchFamily="34" charset="-120"/>
              </a:rPr>
              <a:t>The picker can show only the assemblies that actually contain the region. About 20 ms.</a:t>
            </a:r>
            <a:endParaRPr lang="en-US" sz="1500" dirty="0"/>
          </a:p>
        </p:txBody>
      </p:sp>
      <p:sp>
        <p:nvSpPr>
          <p:cNvPr id="18" name="Text 15"/>
          <p:cNvSpPr txBox="1"/>
          <p:nvPr/>
        </p:nvSpPr>
        <p:spPr>
          <a:xfrm>
            <a:off x="8366760" y="5760720"/>
            <a:ext cx="3276295" cy="365760"/>
          </a:xfrm>
          <a:prstGeom prst="rect">
            <a:avLst/>
          </a:prstGeom>
          <a:noFill/>
          <a:ln/>
        </p:spPr>
        <p:txBody>
          <a:bodyPr wrap="square" lIns="0" tIns="0" rIns="0" bIns="0" rtlCol="0" anchor="t"/>
          <a:lstStyle/>
          <a:p>
            <a:pPr indent="0" marL="0">
              <a:buNone/>
            </a:pPr>
            <a:r>
              <a:rPr lang="en-US" sz="1300" b="1" spc="200" kern="0" dirty="0">
                <a:solidFill>
                  <a:srgbClr val="C98A00"/>
                </a:solidFill>
                <a:latin typeface="Calibri" pitchFamily="34" charset="0"/>
                <a:ea typeface="Calibri" pitchFamily="34" charset="-122"/>
                <a:cs typeface="Calibri" pitchFamily="34" charset="-120"/>
              </a:rPr>
              <a:t>Question 2</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Arrive with the annotations you left behind</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11</a:t>
            </a:r>
            <a:endParaRPr lang="en-US" sz="1000" dirty="0"/>
          </a:p>
        </p:txBody>
      </p:sp>
      <p:sp>
        <p:nvSpPr>
          <p:cNvPr id="4" name="Shape 2"/>
          <p:cNvSpPr/>
          <p:nvPr/>
        </p:nvSpPr>
        <p:spPr>
          <a:xfrm>
            <a:off x="548640" y="1280160"/>
            <a:ext cx="11094415" cy="2906605"/>
          </a:xfrm>
          <a:prstGeom prst="roundRect">
            <a:avLst>
              <a:gd name="adj" fmla="val 3775"/>
            </a:avLst>
          </a:prstGeom>
          <a:solidFill>
            <a:srgbClr val="F1F4F8"/>
          </a:solidFill>
          <a:ln w="12700">
            <a:solidFill>
              <a:srgbClr val="F1F4F8"/>
            </a:solidFill>
            <a:prstDash val="solid"/>
          </a:ln>
        </p:spPr>
      </p:sp>
      <p:sp>
        <p:nvSpPr>
          <p:cNvPr id="5" name="Shape 3"/>
          <p:cNvSpPr/>
          <p:nvPr/>
        </p:nvSpPr>
        <p:spPr>
          <a:xfrm>
            <a:off x="713232" y="138074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38074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38074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1673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lifted_annotations.png">    </p:cNvPr>
          <p:cNvPicPr>
            <a:picLocks noChangeAspect="1"/>
          </p:cNvPicPr>
          <p:nvPr/>
        </p:nvPicPr>
        <p:blipFill>
          <a:blip r:embed="rId1"/>
          <a:stretch>
            <a:fillRect/>
          </a:stretch>
        </p:blipFill>
        <p:spPr>
          <a:xfrm>
            <a:off x="658368" y="1609344"/>
            <a:ext cx="10874959" cy="2467693"/>
          </a:xfrm>
          <a:prstGeom prst="rect">
            <a:avLst/>
          </a:prstGeom>
        </p:spPr>
      </p:pic>
      <p:sp>
        <p:nvSpPr>
          <p:cNvPr id="10" name="Text 7"/>
          <p:cNvSpPr txBox="1"/>
          <p:nvPr/>
        </p:nvSpPr>
        <p:spPr>
          <a:xfrm>
            <a:off x="548640" y="4369645"/>
            <a:ext cx="11094415" cy="502920"/>
          </a:xfrm>
          <a:prstGeom prst="rect">
            <a:avLst/>
          </a:prstGeom>
          <a:noFill/>
          <a:ln/>
        </p:spPr>
        <p:txBody>
          <a:bodyPr wrap="square" lIns="0" tIns="0" rIns="0" bIns="0" rtlCol="0" anchor="t"/>
          <a:lstStyle/>
          <a:p>
            <a:pPr algn="ctr" indent="0" marL="0">
              <a:buNone/>
            </a:pPr>
            <a:r>
              <a:rPr lang="en-US" sz="1400" dirty="0">
                <a:solidFill>
                  <a:srgbClr val="5B6B7C"/>
                </a:solidFill>
                <a:latin typeface="Calibri" pitchFamily="34" charset="0"/>
                <a:ea typeface="Calibri" pitchFamily="34" charset="-122"/>
                <a:cs typeface="Calibri" pitchFamily="34" charset="-120"/>
              </a:rPr>
              <a:t>HG02015 paternal, showing CHM13's CAT and Liftoff genes (the HLA-DMA cluster), RefSeq and CenSat at their translated positions, under an Alignment Differences track.</a:t>
            </a:r>
            <a:endParaRPr lang="en-US" sz="1400" dirty="0"/>
          </a:p>
        </p:txBody>
      </p:sp>
      <p:sp>
        <p:nvSpPr>
          <p:cNvPr id="11" name="Shape 8"/>
          <p:cNvSpPr/>
          <p:nvPr/>
        </p:nvSpPr>
        <p:spPr>
          <a:xfrm>
            <a:off x="548640" y="5055445"/>
            <a:ext cx="3454298" cy="1391075"/>
          </a:xfrm>
          <a:prstGeom prst="roundRect">
            <a:avLst>
              <a:gd name="adj" fmla="val 7888"/>
            </a:avLst>
          </a:prstGeom>
          <a:solidFill>
            <a:srgbClr val="F1F4F8"/>
          </a:solidFill>
          <a:ln w="12700">
            <a:solidFill>
              <a:srgbClr val="F1F4F8"/>
            </a:solidFill>
            <a:prstDash val="solid"/>
          </a:ln>
        </p:spPr>
      </p:sp>
      <p:sp>
        <p:nvSpPr>
          <p:cNvPr id="12" name="Shape 9"/>
          <p:cNvSpPr/>
          <p:nvPr/>
        </p:nvSpPr>
        <p:spPr>
          <a:xfrm>
            <a:off x="822960" y="5329765"/>
            <a:ext cx="384048" cy="384048"/>
          </a:xfrm>
          <a:prstGeom prst="roundRect">
            <a:avLst>
              <a:gd name="adj" fmla="val 19048"/>
            </a:avLst>
          </a:prstGeom>
          <a:solidFill>
            <a:srgbClr val="FDC700"/>
          </a:solidFill>
          <a:ln w="12700">
            <a:solidFill>
              <a:srgbClr val="FDC700"/>
            </a:solidFill>
            <a:prstDash val="solid"/>
          </a:ln>
        </p:spPr>
      </p:sp>
      <p:sp>
        <p:nvSpPr>
          <p:cNvPr id="13" name="Text 10"/>
          <p:cNvSpPr txBox="1"/>
          <p:nvPr/>
        </p:nvSpPr>
        <p:spPr>
          <a:xfrm>
            <a:off x="822960"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1</a:t>
            </a:r>
            <a:endParaRPr lang="en-US" sz="1400" dirty="0"/>
          </a:p>
        </p:txBody>
      </p:sp>
      <p:sp>
        <p:nvSpPr>
          <p:cNvPr id="14" name="Text 11"/>
          <p:cNvSpPr txBox="1"/>
          <p:nvPr/>
        </p:nvSpPr>
        <p:spPr>
          <a:xfrm>
            <a:off x="1371600"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Blocks become a bigChain</a:t>
            </a:r>
            <a:endParaRPr lang="en-US" sz="1600" dirty="0"/>
          </a:p>
        </p:txBody>
      </p:sp>
      <p:sp>
        <p:nvSpPr>
          <p:cNvPr id="15" name="Text 12"/>
          <p:cNvSpPr txBox="1"/>
          <p:nvPr/>
        </p:nvSpPr>
        <p:spPr>
          <a:xfrm>
            <a:off x="1371600"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built for this request, in about a second</a:t>
            </a:r>
            <a:endParaRPr lang="en-US" sz="1400" dirty="0"/>
          </a:p>
        </p:txBody>
      </p:sp>
      <p:sp>
        <p:nvSpPr>
          <p:cNvPr id="16" name="Shape 13"/>
          <p:cNvSpPr/>
          <p:nvPr/>
        </p:nvSpPr>
        <p:spPr>
          <a:xfrm>
            <a:off x="4368698" y="5055445"/>
            <a:ext cx="3454298" cy="1391075"/>
          </a:xfrm>
          <a:prstGeom prst="roundRect">
            <a:avLst>
              <a:gd name="adj" fmla="val 7888"/>
            </a:avLst>
          </a:prstGeom>
          <a:solidFill>
            <a:srgbClr val="F1F4F8"/>
          </a:solidFill>
          <a:ln w="12700">
            <a:solidFill>
              <a:srgbClr val="F1F4F8"/>
            </a:solidFill>
            <a:prstDash val="solid"/>
          </a:ln>
        </p:spPr>
      </p:sp>
      <p:sp>
        <p:nvSpPr>
          <p:cNvPr id="17" name="Shape 14"/>
          <p:cNvSpPr/>
          <p:nvPr/>
        </p:nvSpPr>
        <p:spPr>
          <a:xfrm>
            <a:off x="4643018" y="5329765"/>
            <a:ext cx="384048" cy="384048"/>
          </a:xfrm>
          <a:prstGeom prst="roundRect">
            <a:avLst>
              <a:gd name="adj" fmla="val 19048"/>
            </a:avLst>
          </a:prstGeom>
          <a:solidFill>
            <a:srgbClr val="FDC700"/>
          </a:solidFill>
          <a:ln w="12700">
            <a:solidFill>
              <a:srgbClr val="FDC700"/>
            </a:solidFill>
            <a:prstDash val="solid"/>
          </a:ln>
        </p:spPr>
      </p:sp>
      <p:sp>
        <p:nvSpPr>
          <p:cNvPr id="18" name="Text 15"/>
          <p:cNvSpPr txBox="1"/>
          <p:nvPr/>
        </p:nvSpPr>
        <p:spPr>
          <a:xfrm>
            <a:off x="4643018"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2</a:t>
            </a:r>
            <a:endParaRPr lang="en-US" sz="1400" dirty="0"/>
          </a:p>
        </p:txBody>
      </p:sp>
      <p:sp>
        <p:nvSpPr>
          <p:cNvPr id="19" name="Text 16"/>
          <p:cNvSpPr txBox="1"/>
          <p:nvPr/>
        </p:nvSpPr>
        <p:spPr>
          <a:xfrm>
            <a:off x="5191658"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QuickLift draws the tracks</a:t>
            </a:r>
            <a:endParaRPr lang="en-US" sz="1600" dirty="0"/>
          </a:p>
        </p:txBody>
      </p:sp>
      <p:sp>
        <p:nvSpPr>
          <p:cNvPr id="20" name="Text 17"/>
          <p:cNvSpPr txBox="1"/>
          <p:nvPr/>
        </p:nvSpPr>
        <p:spPr>
          <a:xfrm>
            <a:off x="5191658"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the source's annotations, at translated positions</a:t>
            </a:r>
            <a:endParaRPr lang="en-US" sz="1400" dirty="0"/>
          </a:p>
        </p:txBody>
      </p:sp>
      <p:sp>
        <p:nvSpPr>
          <p:cNvPr id="21" name="Shape 18"/>
          <p:cNvSpPr/>
          <p:nvPr/>
        </p:nvSpPr>
        <p:spPr>
          <a:xfrm>
            <a:off x="8188757" y="5055445"/>
            <a:ext cx="3454298" cy="1391075"/>
          </a:xfrm>
          <a:prstGeom prst="roundRect">
            <a:avLst>
              <a:gd name="adj" fmla="val 7888"/>
            </a:avLst>
          </a:prstGeom>
          <a:solidFill>
            <a:srgbClr val="F1F4F8"/>
          </a:solidFill>
          <a:ln w="12700">
            <a:solidFill>
              <a:srgbClr val="F1F4F8"/>
            </a:solidFill>
            <a:prstDash val="solid"/>
          </a:ln>
        </p:spPr>
      </p:sp>
      <p:sp>
        <p:nvSpPr>
          <p:cNvPr id="22" name="Shape 19"/>
          <p:cNvSpPr/>
          <p:nvPr/>
        </p:nvSpPr>
        <p:spPr>
          <a:xfrm>
            <a:off x="8463077" y="5329765"/>
            <a:ext cx="384048" cy="384048"/>
          </a:xfrm>
          <a:prstGeom prst="roundRect">
            <a:avLst>
              <a:gd name="adj" fmla="val 19048"/>
            </a:avLst>
          </a:prstGeom>
          <a:solidFill>
            <a:srgbClr val="FDC700"/>
          </a:solidFill>
          <a:ln w="12700">
            <a:solidFill>
              <a:srgbClr val="FDC700"/>
            </a:solidFill>
            <a:prstDash val="solid"/>
          </a:ln>
        </p:spPr>
      </p:sp>
      <p:sp>
        <p:nvSpPr>
          <p:cNvPr id="23" name="Text 20"/>
          <p:cNvSpPr txBox="1"/>
          <p:nvPr/>
        </p:nvSpPr>
        <p:spPr>
          <a:xfrm>
            <a:off x="8463077" y="5329765"/>
            <a:ext cx="384048" cy="384048"/>
          </a:xfrm>
          <a:prstGeom prst="rect">
            <a:avLst/>
          </a:prstGeom>
          <a:noFill/>
          <a:ln/>
        </p:spPr>
        <p:txBody>
          <a:bodyPr wrap="square" lIns="0" tIns="0" rIns="0" bIns="0" rtlCol="0" anchor="ctr"/>
          <a:lstStyle/>
          <a:p>
            <a:pPr algn="ctr" indent="0" marL="0">
              <a:buNone/>
            </a:pPr>
            <a:r>
              <a:rPr lang="en-US" sz="1400" b="1" dirty="0">
                <a:solidFill>
                  <a:srgbClr val="06294A"/>
                </a:solidFill>
                <a:latin typeface="Calibri" pitchFamily="34" charset="0"/>
                <a:ea typeface="Calibri" pitchFamily="34" charset="-122"/>
                <a:cs typeface="Calibri" pitchFamily="34" charset="-120"/>
              </a:rPr>
              <a:t>3</a:t>
            </a:r>
            <a:endParaRPr lang="en-US" sz="1400" dirty="0"/>
          </a:p>
        </p:txBody>
      </p:sp>
      <p:sp>
        <p:nvSpPr>
          <p:cNvPr id="24" name="Text 21"/>
          <p:cNvSpPr txBox="1"/>
          <p:nvPr/>
        </p:nvSpPr>
        <p:spPr>
          <a:xfrm>
            <a:off x="9011717" y="5302333"/>
            <a:ext cx="2357018" cy="411480"/>
          </a:xfrm>
          <a:prstGeom prst="rect">
            <a:avLst/>
          </a:prstGeom>
          <a:noFill/>
          <a:ln/>
        </p:spPr>
        <p:txBody>
          <a:bodyPr wrap="square" lIns="0" tIns="0" rIns="0" bIns="0" rtlCol="0" anchor="t"/>
          <a:lstStyle/>
          <a:p>
            <a:pPr indent="0" marL="0">
              <a:buNone/>
            </a:pPr>
            <a:r>
              <a:rPr lang="en-US" sz="1600" b="1" dirty="0">
                <a:solidFill>
                  <a:srgbClr val="003C6C"/>
                </a:solidFill>
                <a:latin typeface="Calibri" pitchFamily="34" charset="0"/>
                <a:ea typeface="Calibri" pitchFamily="34" charset="-122"/>
                <a:cs typeface="Calibri" pitchFamily="34" charset="-120"/>
              </a:rPr>
              <a:t>Alignment Differences</a:t>
            </a:r>
            <a:endParaRPr lang="en-US" sz="1600" dirty="0"/>
          </a:p>
        </p:txBody>
      </p:sp>
      <p:sp>
        <p:nvSpPr>
          <p:cNvPr id="25" name="Text 22"/>
          <p:cNvSpPr txBox="1"/>
          <p:nvPr/>
        </p:nvSpPr>
        <p:spPr>
          <a:xfrm>
            <a:off x="9011717" y="5786965"/>
            <a:ext cx="2357018" cy="568115"/>
          </a:xfrm>
          <a:prstGeom prst="rect">
            <a:avLst/>
          </a:prstGeom>
          <a:noFill/>
          <a:ln/>
        </p:spPr>
        <p:txBody>
          <a:bodyPr wrap="square" lIns="0" tIns="0" rIns="0" bIns="0" rtlCol="0" anchor="t"/>
          <a:lstStyle/>
          <a:p>
            <a:pPr indent="0" marL="0">
              <a:buNone/>
            </a:pPr>
            <a:r>
              <a:rPr lang="en-US" sz="1400" dirty="0">
                <a:solidFill>
                  <a:srgbClr val="18293B"/>
                </a:solidFill>
                <a:latin typeface="Calibri" pitchFamily="34" charset="0"/>
                <a:ea typeface="Calibri" pitchFamily="34" charset="-122"/>
                <a:cs typeface="Calibri" pitchFamily="34" charset="-120"/>
              </a:rPr>
              <a:t>marks every insertion, deletion and mismatch</a:t>
            </a:r>
            <a:endParaRPr lang="en-US" sz="1400" dirty="0"/>
          </a:p>
        </p:txBody>
      </p:sp>
      <p:sp>
        <p:nvSpPr>
          <p:cNvPr id="26" name="Text 23"/>
          <p:cNvSpPr txBox="1"/>
          <p:nvPr/>
        </p:nvSpPr>
        <p:spPr>
          <a:xfrm>
            <a:off x="9814255" y="384048"/>
            <a:ext cx="1828800" cy="685800"/>
          </a:xfrm>
          <a:prstGeom prst="rect">
            <a:avLst/>
          </a:prstGeom>
          <a:noFill/>
          <a:ln/>
        </p:spPr>
        <p:txBody>
          <a:bodyPr wrap="square" lIns="0" tIns="0" rIns="0" bIns="0" rtlCol="0" anchor="ctr"/>
          <a:lstStyle/>
          <a:p>
            <a:pPr algn="r" indent="0" marL="0">
              <a:buNone/>
            </a:pPr>
            <a:r>
              <a:rPr lang="en-US" sz="1300" b="1" spc="200" kern="0" dirty="0">
                <a:solidFill>
                  <a:srgbClr val="C98A00"/>
                </a:solidFill>
                <a:latin typeface="Calibri" pitchFamily="34" charset="0"/>
                <a:ea typeface="Calibri" pitchFamily="34" charset="-122"/>
                <a:cs typeface="Calibri" pitchFamily="34" charset="-120"/>
              </a:rPr>
              <a:t>Question 3</a:t>
            </a:r>
            <a:endParaRPr lang="en-US" sz="13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No new habits: it lives inside hgConvert too</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12</a:t>
            </a:r>
            <a:endParaRPr lang="en-US" sz="1000" dirty="0"/>
          </a:p>
        </p:txBody>
      </p:sp>
      <p:sp>
        <p:nvSpPr>
          <p:cNvPr id="4" name="Shape 2"/>
          <p:cNvSpPr/>
          <p:nvPr/>
        </p:nvSpPr>
        <p:spPr>
          <a:xfrm>
            <a:off x="548640" y="1325880"/>
            <a:ext cx="7132320" cy="4274708"/>
          </a:xfrm>
          <a:prstGeom prst="roundRect">
            <a:avLst>
              <a:gd name="adj" fmla="val 2567"/>
            </a:avLst>
          </a:prstGeom>
          <a:solidFill>
            <a:srgbClr val="F1F4F8"/>
          </a:solidFill>
          <a:ln w="12700">
            <a:solidFill>
              <a:srgbClr val="F1F4F8"/>
            </a:solidFill>
            <a:prstDash val="solid"/>
          </a:ln>
        </p:spPr>
      </p:sp>
      <p:sp>
        <p:nvSpPr>
          <p:cNvPr id="5" name="Shape 3"/>
          <p:cNvSpPr/>
          <p:nvPr/>
        </p:nvSpPr>
        <p:spPr>
          <a:xfrm>
            <a:off x="713232" y="1426464"/>
            <a:ext cx="109728" cy="109728"/>
          </a:xfrm>
          <a:prstGeom prst="ellipse">
            <a:avLst/>
          </a:prstGeom>
          <a:solidFill>
            <a:srgbClr val="E4572E"/>
          </a:solidFill>
          <a:ln w="12700">
            <a:solidFill>
              <a:srgbClr val="E4572E"/>
            </a:solidFill>
            <a:prstDash val="solid"/>
          </a:ln>
        </p:spPr>
      </p:sp>
      <p:sp>
        <p:nvSpPr>
          <p:cNvPr id="6" name="Shape 4"/>
          <p:cNvSpPr/>
          <p:nvPr/>
        </p:nvSpPr>
        <p:spPr>
          <a:xfrm>
            <a:off x="896112" y="1426464"/>
            <a:ext cx="109728" cy="109728"/>
          </a:xfrm>
          <a:prstGeom prst="ellipse">
            <a:avLst/>
          </a:prstGeom>
          <a:solidFill>
            <a:srgbClr val="FDC700"/>
          </a:solidFill>
          <a:ln w="12700">
            <a:solidFill>
              <a:srgbClr val="FDC700"/>
            </a:solidFill>
            <a:prstDash val="solid"/>
          </a:ln>
        </p:spPr>
      </p:sp>
      <p:sp>
        <p:nvSpPr>
          <p:cNvPr id="7" name="Shape 5"/>
          <p:cNvSpPr/>
          <p:nvPr/>
        </p:nvSpPr>
        <p:spPr>
          <a:xfrm>
            <a:off x="1078992" y="1426464"/>
            <a:ext cx="109728" cy="109728"/>
          </a:xfrm>
          <a:prstGeom prst="ellipse">
            <a:avLst/>
          </a:prstGeom>
          <a:solidFill>
            <a:srgbClr val="2E7D32"/>
          </a:solidFill>
          <a:ln w="12700">
            <a:solidFill>
              <a:srgbClr val="2E7D32"/>
            </a:solidFill>
            <a:prstDash val="solid"/>
          </a:ln>
        </p:spPr>
      </p:sp>
      <p:sp>
        <p:nvSpPr>
          <p:cNvPr id="8" name="Text 6"/>
          <p:cNvSpPr txBox="1"/>
          <p:nvPr/>
        </p:nvSpPr>
        <p:spPr>
          <a:xfrm>
            <a:off x="1371600" y="1362456"/>
            <a:ext cx="2743200" cy="237744"/>
          </a:xfrm>
          <a:prstGeom prst="rect">
            <a:avLst/>
          </a:prstGeom>
          <a:noFill/>
          <a:ln/>
        </p:spPr>
        <p:txBody>
          <a:bodyPr wrap="square" lIns="0" tIns="0" rIns="0" bIns="0" rtlCol="0" anchor="ctr"/>
          <a:lstStyle/>
          <a:p>
            <a:pPr indent="0" marL="0">
              <a:buNone/>
            </a:pPr>
            <a:r>
              <a:rPr lang="en-US" sz="900" dirty="0">
                <a:solidFill>
                  <a:srgbClr val="5B6B7C"/>
                </a:solidFill>
                <a:latin typeface="Courier New" pitchFamily="34" charset="0"/>
                <a:ea typeface="Courier New" pitchFamily="34" charset="-122"/>
                <a:cs typeface="Courier New" pitchFamily="34" charset="-120"/>
              </a:rPr>
              <a:t>genome.ucsc.edu</a:t>
            </a:r>
            <a:endParaRPr lang="en-US" sz="900" dirty="0"/>
          </a:p>
        </p:txBody>
      </p:sp>
      <p:pic>
        <p:nvPicPr>
          <p:cNvPr id="9" name="Image 0" descr="/Users/seeskand/Documents/HPRC/2026/hprc_2026_poster/talk/figures/hgconvert_dropdown.png">    </p:cNvPr>
          <p:cNvPicPr>
            <a:picLocks noChangeAspect="1"/>
          </p:cNvPicPr>
          <p:nvPr/>
        </p:nvPicPr>
        <p:blipFill>
          <a:blip r:embed="rId1"/>
          <a:stretch>
            <a:fillRect/>
          </a:stretch>
        </p:blipFill>
        <p:spPr>
          <a:xfrm>
            <a:off x="658368" y="1655064"/>
            <a:ext cx="6912864" cy="3835796"/>
          </a:xfrm>
          <a:prstGeom prst="rect">
            <a:avLst/>
          </a:prstGeom>
        </p:spPr>
      </p:pic>
      <p:sp>
        <p:nvSpPr>
          <p:cNvPr id="10" name="Text 7"/>
          <p:cNvSpPr txBox="1"/>
          <p:nvPr/>
        </p:nvSpPr>
        <p:spPr>
          <a:xfrm>
            <a:off x="8138160" y="1554480"/>
            <a:ext cx="3504895" cy="91440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Pangenome assemblies appear in the ordinary assembly menu.</a:t>
            </a:r>
            <a:endParaRPr lang="en-US" sz="1800" dirty="0"/>
          </a:p>
        </p:txBody>
      </p:sp>
      <p:sp>
        <p:nvSpPr>
          <p:cNvPr id="11" name="Text 8"/>
          <p:cNvSpPr txBox="1"/>
          <p:nvPr/>
        </p:nvSpPr>
        <p:spPr>
          <a:xfrm>
            <a:off x="8138160" y="2651760"/>
            <a:ext cx="3504895" cy="1097280"/>
          </a:xfrm>
          <a:prstGeom prst="rect">
            <a:avLst/>
          </a:prstGeom>
          <a:noFill/>
          <a:ln/>
        </p:spPr>
        <p:txBody>
          <a:bodyPr wrap="square" lIns="0" tIns="0" rIns="0" bIns="0" rtlCol="0" anchor="t"/>
          <a:lstStyle/>
          <a:p>
            <a:pPr indent="0" marL="0">
              <a:buNone/>
            </a:pPr>
            <a:r>
              <a:rPr lang="en-US" sz="1800" dirty="0">
                <a:solidFill>
                  <a:srgbClr val="18293B"/>
                </a:solidFill>
                <a:latin typeface="Calibri" pitchFamily="34" charset="0"/>
                <a:ea typeface="Calibri" pitchFamily="34" charset="-122"/>
                <a:cs typeface="Calibri" pitchFamily="34" charset="-120"/>
              </a:rPr>
              <a:t>Pick one, and the conversion goes through the graph instead of a chain file.</a:t>
            </a:r>
            <a:endParaRPr lang="en-US" sz="1800" dirty="0"/>
          </a:p>
        </p:txBody>
      </p:sp>
      <p:sp>
        <p:nvSpPr>
          <p:cNvPr id="12" name="Shape 9"/>
          <p:cNvSpPr/>
          <p:nvPr/>
        </p:nvSpPr>
        <p:spPr>
          <a:xfrm>
            <a:off x="8138160" y="4023360"/>
            <a:ext cx="3504895" cy="914400"/>
          </a:xfrm>
          <a:prstGeom prst="roundRect">
            <a:avLst>
              <a:gd name="adj" fmla="val 12000"/>
            </a:avLst>
          </a:prstGeom>
          <a:solidFill>
            <a:srgbClr val="E7F0F7"/>
          </a:solidFill>
          <a:ln w="12700">
            <a:solidFill>
              <a:srgbClr val="E7F0F7"/>
            </a:solidFill>
            <a:prstDash val="solid"/>
          </a:ln>
        </p:spPr>
      </p:sp>
      <p:sp>
        <p:nvSpPr>
          <p:cNvPr id="13" name="Text 10"/>
          <p:cNvSpPr txBox="1"/>
          <p:nvPr/>
        </p:nvSpPr>
        <p:spPr>
          <a:xfrm>
            <a:off x="8138160" y="4023360"/>
            <a:ext cx="3504895" cy="914400"/>
          </a:xfrm>
          <a:prstGeom prst="rect">
            <a:avLst/>
          </a:prstGeom>
          <a:noFill/>
          <a:ln/>
        </p:spPr>
        <p:txBody>
          <a:bodyPr wrap="square" lIns="0" tIns="0" rIns="0" bIns="0" rtlCol="0" anchor="ctr"/>
          <a:lstStyle/>
          <a:p>
            <a:pPr algn="ctr" indent="0" marL="0">
              <a:buNone/>
            </a:pPr>
            <a:r>
              <a:rPr lang="en-US" sz="1900" b="1" dirty="0">
                <a:solidFill>
                  <a:srgbClr val="003C6C"/>
                </a:solidFill>
                <a:latin typeface="Calibri" pitchFamily="34" charset="0"/>
                <a:ea typeface="Calibri" pitchFamily="34" charset="-122"/>
                <a:cs typeface="Calibri" pitchFamily="34" charset="-120"/>
              </a:rPr>
              <a:t>Same button. New capability.</a:t>
            </a:r>
            <a:endParaRPr lang="en-US" sz="1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Fast enough to sit behind a web page</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13</a:t>
            </a:r>
            <a:endParaRPr lang="en-US" sz="1000" dirty="0"/>
          </a:p>
        </p:txBody>
      </p:sp>
      <p:graphicFrame>
        <p:nvGraphicFramePr>
          <p:cNvPr id="4" name="Chart 0" descr=""/>
          <p:cNvGraphicFramePr/>
          <p:nvPr/>
        </p:nvGraphicFramePr>
        <p:xfrm>
          <a:off x="548640" y="1280160"/>
          <a:ext cx="5577840" cy="4206240"/>
        </p:xfrm>
        <a:graphic xmlns:a="http://schemas.openxmlformats.org/drawingml/2006/main">
          <a:graphicData uri="http://schemas.openxmlformats.org/drawingml/2006/chart">
            <c:chart xmlns:c="http://schemas.openxmlformats.org/drawingml/2006/chart" r:id="rId1"/>
          </a:graphicData>
        </a:graphic>
      </p:graphicFrame>
      <p:graphicFrame>
        <p:nvGraphicFramePr>
          <p:cNvPr id="5" name="Chart 1" descr=""/>
          <p:cNvGraphicFramePr/>
          <p:nvPr/>
        </p:nvGraphicFramePr>
        <p:xfrm>
          <a:off x="6400800" y="1280160"/>
          <a:ext cx="5242255" cy="4206240"/>
        </p:xfrm>
        <a:graphic xmlns:a="http://schemas.openxmlformats.org/drawingml/2006/main">
          <a:graphicData uri="http://schemas.openxmlformats.org/drawingml/2006/chart">
            <c:chart xmlns:c="http://schemas.openxmlformats.org/drawingml/2006/chart" r:id="rId2"/>
          </a:graphicData>
        </a:graphic>
      </p:graphicFrame>
      <p:sp>
        <p:nvSpPr>
          <p:cNvPr id="6" name="Shape 2"/>
          <p:cNvSpPr/>
          <p:nvPr/>
        </p:nvSpPr>
        <p:spPr>
          <a:xfrm>
            <a:off x="548640" y="5623560"/>
            <a:ext cx="2567864" cy="868680"/>
          </a:xfrm>
          <a:prstGeom prst="roundRect">
            <a:avLst>
              <a:gd name="adj" fmla="val 12632"/>
            </a:avLst>
          </a:prstGeom>
          <a:solidFill>
            <a:srgbClr val="F1F4F8"/>
          </a:solidFill>
          <a:ln w="12700">
            <a:solidFill>
              <a:srgbClr val="F1F4F8"/>
            </a:solidFill>
            <a:prstDash val="solid"/>
          </a:ln>
        </p:spPr>
      </p:sp>
      <p:sp>
        <p:nvSpPr>
          <p:cNvPr id="7" name="Text 3"/>
          <p:cNvSpPr txBox="1"/>
          <p:nvPr/>
        </p:nvSpPr>
        <p:spPr>
          <a:xfrm>
            <a:off x="548640"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~20 ms</a:t>
            </a:r>
            <a:endParaRPr lang="en-US" sz="2200" dirty="0"/>
          </a:p>
        </p:txBody>
      </p:sp>
      <p:sp>
        <p:nvSpPr>
          <p:cNvPr id="8" name="Text 4"/>
          <p:cNvSpPr txBox="1"/>
          <p:nvPr/>
        </p:nvSpPr>
        <p:spPr>
          <a:xfrm>
            <a:off x="548640"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gene-scale region</a:t>
            </a:r>
            <a:endParaRPr lang="en-US" sz="1200" dirty="0"/>
          </a:p>
        </p:txBody>
      </p:sp>
      <p:sp>
        <p:nvSpPr>
          <p:cNvPr id="9" name="Shape 5"/>
          <p:cNvSpPr/>
          <p:nvPr/>
        </p:nvSpPr>
        <p:spPr>
          <a:xfrm>
            <a:off x="3390824" y="5623560"/>
            <a:ext cx="2567864" cy="868680"/>
          </a:xfrm>
          <a:prstGeom prst="roundRect">
            <a:avLst>
              <a:gd name="adj" fmla="val 12632"/>
            </a:avLst>
          </a:prstGeom>
          <a:solidFill>
            <a:srgbClr val="F1F4F8"/>
          </a:solidFill>
          <a:ln w="12700">
            <a:solidFill>
              <a:srgbClr val="F1F4F8"/>
            </a:solidFill>
            <a:prstDash val="solid"/>
          </a:ln>
        </p:spPr>
      </p:sp>
      <p:sp>
        <p:nvSpPr>
          <p:cNvPr id="10" name="Text 6"/>
          <p:cNvSpPr txBox="1"/>
          <p:nvPr/>
        </p:nvSpPr>
        <p:spPr>
          <a:xfrm>
            <a:off x="3390824"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0.6 s</a:t>
            </a:r>
            <a:endParaRPr lang="en-US" sz="2200" dirty="0"/>
          </a:p>
        </p:txBody>
      </p:sp>
      <p:sp>
        <p:nvSpPr>
          <p:cNvPr id="11" name="Text 7"/>
          <p:cNvSpPr txBox="1"/>
          <p:nvPr/>
        </p:nvSpPr>
        <p:spPr>
          <a:xfrm>
            <a:off x="3390824"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100 kb</a:t>
            </a:r>
            <a:endParaRPr lang="en-US" sz="1200" dirty="0"/>
          </a:p>
        </p:txBody>
      </p:sp>
      <p:sp>
        <p:nvSpPr>
          <p:cNvPr id="12" name="Shape 8"/>
          <p:cNvSpPr/>
          <p:nvPr/>
        </p:nvSpPr>
        <p:spPr>
          <a:xfrm>
            <a:off x="6233008" y="5623560"/>
            <a:ext cx="2567864" cy="868680"/>
          </a:xfrm>
          <a:prstGeom prst="roundRect">
            <a:avLst>
              <a:gd name="adj" fmla="val 12632"/>
            </a:avLst>
          </a:prstGeom>
          <a:solidFill>
            <a:srgbClr val="F1F4F8"/>
          </a:solidFill>
          <a:ln w="12700">
            <a:solidFill>
              <a:srgbClr val="F1F4F8"/>
            </a:solidFill>
            <a:prstDash val="solid"/>
          </a:ln>
        </p:spPr>
      </p:sp>
      <p:sp>
        <p:nvSpPr>
          <p:cNvPr id="13" name="Text 9"/>
          <p:cNvSpPr txBox="1"/>
          <p:nvPr/>
        </p:nvSpPr>
        <p:spPr>
          <a:xfrm>
            <a:off x="6233008"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4.3 s</a:t>
            </a:r>
            <a:endParaRPr lang="en-US" sz="2200" dirty="0"/>
          </a:p>
        </p:txBody>
      </p:sp>
      <p:sp>
        <p:nvSpPr>
          <p:cNvPr id="14" name="Text 10"/>
          <p:cNvSpPr txBox="1"/>
          <p:nvPr/>
        </p:nvSpPr>
        <p:spPr>
          <a:xfrm>
            <a:off x="6233008"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1 Mb</a:t>
            </a:r>
            <a:endParaRPr lang="en-US" sz="1200" dirty="0"/>
          </a:p>
        </p:txBody>
      </p:sp>
      <p:sp>
        <p:nvSpPr>
          <p:cNvPr id="15" name="Shape 11"/>
          <p:cNvSpPr/>
          <p:nvPr/>
        </p:nvSpPr>
        <p:spPr>
          <a:xfrm>
            <a:off x="9075191" y="5623560"/>
            <a:ext cx="2567864" cy="868680"/>
          </a:xfrm>
          <a:prstGeom prst="roundRect">
            <a:avLst>
              <a:gd name="adj" fmla="val 12632"/>
            </a:avLst>
          </a:prstGeom>
          <a:solidFill>
            <a:srgbClr val="F1F4F8"/>
          </a:solidFill>
          <a:ln w="12700">
            <a:solidFill>
              <a:srgbClr val="F1F4F8"/>
            </a:solidFill>
            <a:prstDash val="solid"/>
          </a:ln>
        </p:spPr>
      </p:sp>
      <p:sp>
        <p:nvSpPr>
          <p:cNvPr id="16" name="Text 12"/>
          <p:cNvSpPr txBox="1"/>
          <p:nvPr/>
        </p:nvSpPr>
        <p:spPr>
          <a:xfrm>
            <a:off x="9075191" y="5650992"/>
            <a:ext cx="2567864" cy="457200"/>
          </a:xfrm>
          <a:prstGeom prst="rect">
            <a:avLst/>
          </a:prstGeom>
          <a:noFill/>
          <a:ln/>
        </p:spPr>
        <p:txBody>
          <a:bodyPr wrap="square" lIns="0" tIns="0" rIns="0" bIns="0" rtlCol="0" anchor="ctr"/>
          <a:lstStyle/>
          <a:p>
            <a:pPr algn="ctr" indent="0" marL="0">
              <a:buNone/>
            </a:pPr>
            <a:r>
              <a:rPr lang="en-US" sz="2200" b="1" dirty="0">
                <a:solidFill>
                  <a:srgbClr val="003C6C"/>
                </a:solidFill>
                <a:latin typeface="Calibri" pitchFamily="34" charset="0"/>
                <a:ea typeface="Calibri" pitchFamily="34" charset="-122"/>
                <a:cs typeface="Calibri" pitchFamily="34" charset="-120"/>
              </a:rPr>
              <a:t>9.6×</a:t>
            </a:r>
            <a:endParaRPr lang="en-US" sz="2200" dirty="0"/>
          </a:p>
        </p:txBody>
      </p:sp>
      <p:sp>
        <p:nvSpPr>
          <p:cNvPr id="17" name="Text 13"/>
          <p:cNvSpPr txBox="1"/>
          <p:nvPr/>
        </p:nvSpPr>
        <p:spPr>
          <a:xfrm>
            <a:off x="9075191" y="6089904"/>
            <a:ext cx="2567864" cy="365760"/>
          </a:xfrm>
          <a:prstGeom prst="rect">
            <a:avLst/>
          </a:prstGeom>
          <a:noFill/>
          <a:ln/>
        </p:spPr>
        <p:txBody>
          <a:bodyPr wrap="square" lIns="0" tIns="0" rIns="0" bIns="0" rtlCol="0" anchor="t"/>
          <a:lstStyle/>
          <a:p>
            <a:pPr algn="ctr" indent="0" marL="0">
              <a:buNone/>
            </a:pPr>
            <a:r>
              <a:rPr lang="en-US" sz="1200" dirty="0">
                <a:solidFill>
                  <a:srgbClr val="5B6B7C"/>
                </a:solidFill>
                <a:latin typeface="Calibri" pitchFamily="34" charset="0"/>
                <a:ea typeface="Calibri" pitchFamily="34" charset="-122"/>
                <a:cs typeface="Calibri" pitchFamily="34" charset="-120"/>
              </a:rPr>
              <a:t>throughput at 8 threads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What's not done yet, and what's planned</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14</a:t>
            </a:r>
            <a:endParaRPr lang="en-US" sz="1000" dirty="0"/>
          </a:p>
        </p:txBody>
      </p:sp>
      <p:sp>
        <p:nvSpPr>
          <p:cNvPr id="4" name="Shape 2"/>
          <p:cNvSpPr/>
          <p:nvPr/>
        </p:nvSpPr>
        <p:spPr>
          <a:xfrm>
            <a:off x="548640" y="1371600"/>
            <a:ext cx="5135728" cy="4297680"/>
          </a:xfrm>
          <a:prstGeom prst="roundRect">
            <a:avLst>
              <a:gd name="adj" fmla="val 2553"/>
            </a:avLst>
          </a:prstGeom>
          <a:solidFill>
            <a:srgbClr val="F1F4F8"/>
          </a:solidFill>
          <a:ln w="12700">
            <a:solidFill>
              <a:srgbClr val="F1F4F8"/>
            </a:solidFill>
            <a:prstDash val="solid"/>
          </a:ln>
        </p:spPr>
      </p:sp>
      <p:sp>
        <p:nvSpPr>
          <p:cNvPr id="5" name="Text 3"/>
          <p:cNvSpPr txBox="1"/>
          <p:nvPr/>
        </p:nvSpPr>
        <p:spPr>
          <a:xfrm>
            <a:off x="868680" y="1645920"/>
            <a:ext cx="4495648" cy="457200"/>
          </a:xfrm>
          <a:prstGeom prst="rect">
            <a:avLst/>
          </a:prstGeom>
          <a:noFill/>
          <a:ln/>
        </p:spPr>
        <p:txBody>
          <a:bodyPr wrap="square" lIns="0" tIns="0" rIns="0" bIns="0" rtlCol="0" anchor="t"/>
          <a:lstStyle/>
          <a:p>
            <a:pPr indent="0" marL="0">
              <a:buNone/>
            </a:pPr>
            <a:r>
              <a:rPr lang="en-US" sz="2200" b="1" dirty="0">
                <a:solidFill>
                  <a:srgbClr val="5B6B7C"/>
                </a:solidFill>
                <a:latin typeface="Calibri" pitchFamily="34" charset="0"/>
                <a:ea typeface="Calibri" pitchFamily="34" charset="-122"/>
                <a:cs typeface="Calibri" pitchFamily="34" charset="-120"/>
              </a:rPr>
              <a:t>Today</a:t>
            </a:r>
            <a:endParaRPr lang="en-US" sz="2200" dirty="0"/>
          </a:p>
        </p:txBody>
      </p:sp>
      <p:sp>
        <p:nvSpPr>
          <p:cNvPr id="6" name="Text 4"/>
          <p:cNvSpPr txBox="1"/>
          <p:nvPr/>
        </p:nvSpPr>
        <p:spPr>
          <a:xfrm>
            <a:off x="868680" y="2331720"/>
            <a:ext cx="4495648" cy="365760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Chains are built per view. Pan far enough and another one is built.</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Wide, segmental-duplication-heavy regions lose positions: about half recovered on 1q21.1.</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Runs on the development browser.</a:t>
            </a:r>
            <a:endParaRPr lang="en-US" sz="1600" dirty="0"/>
          </a:p>
        </p:txBody>
      </p:sp>
      <p:sp>
        <p:nvSpPr>
          <p:cNvPr id="7" name="Shape 5"/>
          <p:cNvSpPr/>
          <p:nvPr/>
        </p:nvSpPr>
        <p:spPr>
          <a:xfrm>
            <a:off x="5821528" y="3246120"/>
            <a:ext cx="548640" cy="548640"/>
          </a:xfrm>
          <a:prstGeom prst="rightArrow">
            <a:avLst/>
          </a:prstGeom>
          <a:solidFill>
            <a:srgbClr val="FDC700"/>
          </a:solidFill>
          <a:ln w="12700">
            <a:solidFill>
              <a:srgbClr val="FDC700"/>
            </a:solidFill>
            <a:prstDash val="solid"/>
          </a:ln>
        </p:spPr>
      </p:sp>
      <p:sp>
        <p:nvSpPr>
          <p:cNvPr id="8" name="Shape 6"/>
          <p:cNvSpPr/>
          <p:nvPr/>
        </p:nvSpPr>
        <p:spPr>
          <a:xfrm>
            <a:off x="6507328" y="1371600"/>
            <a:ext cx="5135728" cy="4297680"/>
          </a:xfrm>
          <a:prstGeom prst="roundRect">
            <a:avLst>
              <a:gd name="adj" fmla="val 2553"/>
            </a:avLst>
          </a:prstGeom>
          <a:solidFill>
            <a:srgbClr val="E7F0F7"/>
          </a:solidFill>
          <a:ln w="12700">
            <a:solidFill>
              <a:srgbClr val="E7F0F7"/>
            </a:solidFill>
            <a:prstDash val="solid"/>
          </a:ln>
        </p:spPr>
      </p:sp>
      <p:sp>
        <p:nvSpPr>
          <p:cNvPr id="9" name="Text 7"/>
          <p:cNvSpPr txBox="1"/>
          <p:nvPr/>
        </p:nvSpPr>
        <p:spPr>
          <a:xfrm>
            <a:off x="6827368" y="1645920"/>
            <a:ext cx="4495648" cy="457200"/>
          </a:xfrm>
          <a:prstGeom prst="rect">
            <a:avLst/>
          </a:prstGeom>
          <a:noFill/>
          <a:ln/>
        </p:spPr>
        <p:txBody>
          <a:bodyPr wrap="square" lIns="0" tIns="0" rIns="0" bIns="0" rtlCol="0" anchor="t"/>
          <a:lstStyle/>
          <a:p>
            <a:pPr indent="0" marL="0">
              <a:buNone/>
            </a:pPr>
            <a:r>
              <a:rPr lang="en-US" sz="2200" b="1" dirty="0">
                <a:solidFill>
                  <a:srgbClr val="003C6C"/>
                </a:solidFill>
                <a:latin typeface="Calibri" pitchFamily="34" charset="0"/>
                <a:ea typeface="Calibri" pitchFamily="34" charset="-122"/>
                <a:cs typeface="Calibri" pitchFamily="34" charset="-120"/>
              </a:rPr>
              <a:t>Planned</a:t>
            </a:r>
            <a:endParaRPr lang="en-US" sz="2200" dirty="0"/>
          </a:p>
        </p:txBody>
      </p:sp>
      <p:sp>
        <p:nvSpPr>
          <p:cNvPr id="10" name="Text 8"/>
          <p:cNvSpPr txBox="1"/>
          <p:nvPr/>
        </p:nvSpPr>
        <p:spPr>
          <a:xfrm>
            <a:off x="6827368" y="2331720"/>
            <a:ext cx="4495648" cy="3840480"/>
          </a:xfrm>
          <a:prstGeom prst="rect">
            <a:avLst/>
          </a:prstGeom>
          <a:noFill/>
          <a:ln/>
        </p:spPr>
        <p:txBody>
          <a:bodyPr wrap="square" lIns="0" tIns="0" rIns="0" bIns="0" rtlCol="0" anchor="t"/>
          <a:lstStyle/>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Precomputed whole-genome chains by direct path intersection: about 300× faster, hours for all 466 assemblies. Lifted tracks then pan and zoom anywhere for free.</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The same exact intersection fixes wide segdup regions.</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Public release in the UCSC Genome Browser.</a:t>
            </a:r>
            <a:endParaRPr lang="en-US" sz="1600" dirty="0"/>
          </a:p>
          <a:p>
            <a:pPr marL="177800" indent="-177800">
              <a:spcAft>
                <a:spcPts val="800"/>
              </a:spcAft>
              <a:buSzPct val="100000"/>
              <a:buChar char="•"/>
            </a:pPr>
            <a:r>
              <a:rPr lang="en-US" sz="1600" dirty="0">
                <a:solidFill>
                  <a:srgbClr val="18293B"/>
                </a:solidFill>
                <a:latin typeface="Calibri" pitchFamily="34" charset="0"/>
                <a:ea typeface="Calibri" pitchFamily="34" charset="-122"/>
                <a:cs typeface="Calibri" pitchFamily="34" charset="-120"/>
              </a:rPr>
              <a:t>New graphs plug in by building one index; nothing is release-specific.</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15</a:t>
            </a:r>
            <a:endParaRPr lang="en-US" sz="1000" dirty="0"/>
          </a:p>
        </p:txBody>
      </p:sp>
      <p:sp>
        <p:nvSpPr>
          <p:cNvPr id="3" name="Text 1"/>
          <p:cNvSpPr txBox="1"/>
          <p:nvPr/>
        </p:nvSpPr>
        <p:spPr>
          <a:xfrm>
            <a:off x="548640" y="640080"/>
            <a:ext cx="11094415" cy="731520"/>
          </a:xfrm>
          <a:prstGeom prst="rect">
            <a:avLst/>
          </a:prstGeom>
          <a:noFill/>
          <a:ln/>
        </p:spPr>
        <p:txBody>
          <a:bodyPr wrap="square" lIns="0" tIns="0" rIns="0" bIns="0" rtlCol="0" anchor="ctr"/>
          <a:lstStyle/>
          <a:p>
            <a:pPr algn="ctr" indent="0" marL="0">
              <a:buNone/>
            </a:pPr>
            <a:r>
              <a:rPr lang="en-US" sz="3400" b="1" dirty="0">
                <a:solidFill>
                  <a:srgbClr val="FFFFFF"/>
                </a:solidFill>
                <a:latin typeface="Calibri" pitchFamily="34" charset="0"/>
                <a:ea typeface="Calibri" pitchFamily="34" charset="-122"/>
                <a:cs typeface="Calibri" pitchFamily="34" charset="-120"/>
              </a:rPr>
              <a:t>HPRC release 2 as a place you can browse</a:t>
            </a:r>
            <a:endParaRPr lang="en-US" sz="3400" dirty="0"/>
          </a:p>
        </p:txBody>
      </p:sp>
      <p:sp>
        <p:nvSpPr>
          <p:cNvPr id="4" name="Shape 2"/>
          <p:cNvSpPr/>
          <p:nvPr/>
        </p:nvSpPr>
        <p:spPr>
          <a:xfrm>
            <a:off x="2011680" y="1874520"/>
            <a:ext cx="548640" cy="548640"/>
          </a:xfrm>
          <a:prstGeom prst="ellipse">
            <a:avLst/>
          </a:prstGeom>
          <a:solidFill>
            <a:srgbClr val="2E7D32"/>
          </a:solidFill>
          <a:ln w="12700">
            <a:solidFill>
              <a:srgbClr val="2E7D32"/>
            </a:solidFill>
            <a:prstDash val="solid"/>
          </a:ln>
        </p:spPr>
      </p:sp>
      <p:pic>
        <p:nvPicPr>
          <p:cNvPr id="5" name="Image 0" descr="preencoded.png">    </p:cNvPr>
          <p:cNvPicPr>
            <a:picLocks noChangeAspect="1"/>
          </p:cNvPicPr>
          <p:nvPr/>
        </p:nvPicPr>
        <p:blipFill>
          <a:blip r:embed="rId1"/>
          <a:stretch>
            <a:fillRect/>
          </a:stretch>
        </p:blipFill>
        <p:spPr>
          <a:xfrm>
            <a:off x="2154326" y="2017166"/>
            <a:ext cx="263347" cy="263347"/>
          </a:xfrm>
          <a:prstGeom prst="rect">
            <a:avLst/>
          </a:prstGeom>
        </p:spPr>
      </p:pic>
      <p:sp>
        <p:nvSpPr>
          <p:cNvPr id="6" name="Text 3"/>
          <p:cNvSpPr txBox="1"/>
          <p:nvPr/>
        </p:nvSpPr>
        <p:spPr>
          <a:xfrm>
            <a:off x="2743200" y="182880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7" name="Text 4"/>
          <p:cNvSpPr txBox="1"/>
          <p:nvPr/>
        </p:nvSpPr>
        <p:spPr>
          <a:xfrm>
            <a:off x="4023360" y="182880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Which haplotypes carry my sequence, and where?</a:t>
            </a:r>
            <a:endParaRPr lang="en-US" sz="2200" dirty="0"/>
          </a:p>
        </p:txBody>
      </p:sp>
      <p:sp>
        <p:nvSpPr>
          <p:cNvPr id="8" name="Shape 5"/>
          <p:cNvSpPr/>
          <p:nvPr/>
        </p:nvSpPr>
        <p:spPr>
          <a:xfrm>
            <a:off x="2011680" y="2926080"/>
            <a:ext cx="548640" cy="548640"/>
          </a:xfrm>
          <a:prstGeom prst="ellipse">
            <a:avLst/>
          </a:prstGeom>
          <a:solidFill>
            <a:srgbClr val="2E7D32"/>
          </a:solidFill>
          <a:ln w="12700">
            <a:solidFill>
              <a:srgbClr val="2E7D32"/>
            </a:solidFill>
            <a:prstDash val="solid"/>
          </a:ln>
        </p:spPr>
      </p:sp>
      <p:pic>
        <p:nvPicPr>
          <p:cNvPr id="9" name="Image 1" descr="preencoded.png">    </p:cNvPr>
          <p:cNvPicPr>
            <a:picLocks noChangeAspect="1"/>
          </p:cNvPicPr>
          <p:nvPr/>
        </p:nvPicPr>
        <p:blipFill>
          <a:blip r:embed="rId2"/>
          <a:stretch>
            <a:fillRect/>
          </a:stretch>
        </p:blipFill>
        <p:spPr>
          <a:xfrm>
            <a:off x="2154326" y="3068726"/>
            <a:ext cx="263347" cy="263347"/>
          </a:xfrm>
          <a:prstGeom prst="rect">
            <a:avLst/>
          </a:prstGeom>
        </p:spPr>
      </p:pic>
      <p:sp>
        <p:nvSpPr>
          <p:cNvPr id="10" name="Text 6"/>
          <p:cNvSpPr txBox="1"/>
          <p:nvPr/>
        </p:nvSpPr>
        <p:spPr>
          <a:xfrm>
            <a:off x="2743200" y="288036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11" name="Text 7"/>
          <p:cNvSpPr txBox="1"/>
          <p:nvPr/>
        </p:nvSpPr>
        <p:spPr>
          <a:xfrm>
            <a:off x="4023360" y="288036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Where is my region on HG02015?</a:t>
            </a:r>
            <a:endParaRPr lang="en-US" sz="2200" dirty="0"/>
          </a:p>
        </p:txBody>
      </p:sp>
      <p:sp>
        <p:nvSpPr>
          <p:cNvPr id="12" name="Shape 8"/>
          <p:cNvSpPr/>
          <p:nvPr/>
        </p:nvSpPr>
        <p:spPr>
          <a:xfrm>
            <a:off x="2011680" y="3977640"/>
            <a:ext cx="548640" cy="548640"/>
          </a:xfrm>
          <a:prstGeom prst="ellipse">
            <a:avLst/>
          </a:prstGeom>
          <a:solidFill>
            <a:srgbClr val="2E7D32"/>
          </a:solidFill>
          <a:ln w="12700">
            <a:solidFill>
              <a:srgbClr val="2E7D32"/>
            </a:solidFill>
            <a:prstDash val="solid"/>
          </a:ln>
        </p:spPr>
      </p:sp>
      <p:pic>
        <p:nvPicPr>
          <p:cNvPr id="13" name="Image 2" descr="preencoded.png">    </p:cNvPr>
          <p:cNvPicPr>
            <a:picLocks noChangeAspect="1"/>
          </p:cNvPicPr>
          <p:nvPr/>
        </p:nvPicPr>
        <p:blipFill>
          <a:blip r:embed="rId3"/>
          <a:stretch>
            <a:fillRect/>
          </a:stretch>
        </p:blipFill>
        <p:spPr>
          <a:xfrm>
            <a:off x="2154326" y="4120286"/>
            <a:ext cx="263347" cy="263347"/>
          </a:xfrm>
          <a:prstGeom prst="rect">
            <a:avLst/>
          </a:prstGeom>
        </p:spPr>
      </p:pic>
      <p:sp>
        <p:nvSpPr>
          <p:cNvPr id="14" name="Text 9"/>
          <p:cNvSpPr txBox="1"/>
          <p:nvPr/>
        </p:nvSpPr>
        <p:spPr>
          <a:xfrm>
            <a:off x="2743200" y="3931920"/>
            <a:ext cx="1188720" cy="640080"/>
          </a:xfrm>
          <a:prstGeom prst="rect">
            <a:avLst/>
          </a:prstGeom>
          <a:noFill/>
          <a:ln/>
        </p:spPr>
        <p:txBody>
          <a:bodyPr wrap="square" lIns="0" tIns="0" rIns="0" bIns="0" rtlCol="0" anchor="ctr"/>
          <a:lstStyle/>
          <a:p>
            <a:pPr indent="0" marL="0">
              <a:buNone/>
            </a:pPr>
            <a:r>
              <a:rPr lang="en-US" sz="3000" b="1" dirty="0">
                <a:solidFill>
                  <a:srgbClr val="FDC700"/>
                </a:solidFill>
                <a:latin typeface="Calibri" pitchFamily="34" charset="0"/>
                <a:ea typeface="Calibri" pitchFamily="34" charset="-122"/>
                <a:cs typeface="Calibri" pitchFamily="34" charset="-120"/>
              </a:rPr>
              <a:t>yes</a:t>
            </a:r>
            <a:endParaRPr lang="en-US" sz="3000" dirty="0"/>
          </a:p>
        </p:txBody>
      </p:sp>
      <p:sp>
        <p:nvSpPr>
          <p:cNvPr id="15" name="Text 10"/>
          <p:cNvSpPr txBox="1"/>
          <p:nvPr/>
        </p:nvSpPr>
        <p:spPr>
          <a:xfrm>
            <a:off x="4023360" y="3931920"/>
            <a:ext cx="7680960" cy="640080"/>
          </a:xfrm>
          <a:prstGeom prst="rect">
            <a:avLst/>
          </a:prstGeom>
          <a:noFill/>
          <a:ln/>
        </p:spPr>
        <p:txBody>
          <a:bodyPr wrap="square" lIns="0" tIns="0" rIns="0" bIns="0" rtlCol="0" anchor="ctr"/>
          <a:lstStyle/>
          <a:p>
            <a:pPr indent="0" marL="0">
              <a:buNone/>
            </a:pPr>
            <a:r>
              <a:rPr lang="en-US" sz="2200" dirty="0">
                <a:solidFill>
                  <a:srgbClr val="FFFFFF"/>
                </a:solidFill>
                <a:latin typeface="Calibri" pitchFamily="34" charset="0"/>
                <a:ea typeface="Calibri" pitchFamily="34" charset="-122"/>
                <a:cs typeface="Calibri" pitchFamily="34" charset="-120"/>
              </a:rPr>
              <a:t>Can I see the genes when I get there?</a:t>
            </a:r>
            <a:endParaRPr lang="en-US" sz="2200" dirty="0"/>
          </a:p>
        </p:txBody>
      </p:sp>
      <p:sp>
        <p:nvSpPr>
          <p:cNvPr id="16" name="Text 11"/>
          <p:cNvSpPr txBox="1"/>
          <p:nvPr/>
        </p:nvSpPr>
        <p:spPr>
          <a:xfrm>
            <a:off x="548640" y="5257800"/>
            <a:ext cx="11094415" cy="731520"/>
          </a:xfrm>
          <a:prstGeom prst="rect">
            <a:avLst/>
          </a:prstGeom>
          <a:noFill/>
          <a:ln/>
        </p:spPr>
        <p:txBody>
          <a:bodyPr wrap="square" lIns="0" tIns="0" rIns="0" bIns="0" rtlCol="0" anchor="ctr"/>
          <a:lstStyle/>
          <a:p>
            <a:pPr algn="ctr" indent="0" marL="0">
              <a:buNone/>
            </a:pPr>
            <a:r>
              <a:rPr lang="en-US" sz="2400" i="1" dirty="0">
                <a:solidFill>
                  <a:srgbClr val="9DB0C4"/>
                </a:solidFill>
                <a:latin typeface="Calibri" pitchFamily="34" charset="0"/>
                <a:ea typeface="Calibri" pitchFamily="34" charset="-122"/>
                <a:cs typeface="Calibri" pitchFamily="34" charset="-120"/>
              </a:rPr>
              <a:t>466 genomes. One browser. Knowledge that moves between them.</a:t>
            </a:r>
            <a:endParaRPr lang="en-US" sz="2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16</a:t>
            </a:r>
            <a:endParaRPr lang="en-US" sz="1000" dirty="0"/>
          </a:p>
        </p:txBody>
      </p:sp>
      <p:pic>
        <p:nvPicPr>
          <p:cNvPr id="3" name="Image 0" descr="/Users/seeskand/Documents/HPRC/2026/hprc_2026_poster/talk/figures/emblem.png">    </p:cNvPr>
          <p:cNvPicPr>
            <a:picLocks noChangeAspect="1"/>
          </p:cNvPicPr>
          <p:nvPr/>
        </p:nvPicPr>
        <p:blipFill>
          <a:blip r:embed="rId1"/>
          <a:stretch>
            <a:fillRect/>
          </a:stretch>
        </p:blipFill>
        <p:spPr>
          <a:xfrm>
            <a:off x="4023360" y="731520"/>
            <a:ext cx="4114800" cy="961264"/>
          </a:xfrm>
          <a:prstGeom prst="rect">
            <a:avLst/>
          </a:prstGeom>
        </p:spPr>
      </p:pic>
      <p:sp>
        <p:nvSpPr>
          <p:cNvPr id="4" name="Text 1"/>
          <p:cNvSpPr txBox="1"/>
          <p:nvPr/>
        </p:nvSpPr>
        <p:spPr>
          <a:xfrm>
            <a:off x="548640" y="2011680"/>
            <a:ext cx="11094415" cy="822960"/>
          </a:xfrm>
          <a:prstGeom prst="rect">
            <a:avLst/>
          </a:prstGeom>
          <a:noFill/>
          <a:ln/>
        </p:spPr>
        <p:txBody>
          <a:bodyPr wrap="square" lIns="0" tIns="0" rIns="0" bIns="0" rtlCol="0" anchor="ctr"/>
          <a:lstStyle/>
          <a:p>
            <a:pPr algn="ctr" indent="0" marL="0">
              <a:buNone/>
            </a:pPr>
            <a:r>
              <a:rPr lang="en-US" sz="4400" b="1" dirty="0">
                <a:solidFill>
                  <a:srgbClr val="FFFFFF"/>
                </a:solidFill>
                <a:latin typeface="Calibri" pitchFamily="34" charset="0"/>
                <a:ea typeface="Calibri" pitchFamily="34" charset="-122"/>
                <a:cs typeface="Calibri" pitchFamily="34" charset="-120"/>
              </a:rPr>
              <a:t>Thank you</a:t>
            </a:r>
            <a:endParaRPr lang="en-US" sz="4400" dirty="0"/>
          </a:p>
        </p:txBody>
      </p:sp>
      <p:sp>
        <p:nvSpPr>
          <p:cNvPr id="5" name="Text 2"/>
          <p:cNvSpPr txBox="1"/>
          <p:nvPr/>
        </p:nvSpPr>
        <p:spPr>
          <a:xfrm>
            <a:off x="548640" y="3063240"/>
            <a:ext cx="11094415" cy="1828800"/>
          </a:xfrm>
          <a:prstGeom prst="rect">
            <a:avLst/>
          </a:prstGeom>
          <a:noFill/>
          <a:ln/>
        </p:spPr>
        <p:txBody>
          <a:bodyPr wrap="square" lIns="0" tIns="0" rIns="0" bIns="0" rtlCol="0" anchor="t"/>
          <a:lstStyle/>
          <a:p>
            <a:pPr algn="ctr" indent="0" marL="0">
              <a:spcAft>
                <a:spcPts val="600"/>
              </a:spcAft>
              <a:buNone/>
            </a:pPr>
            <a:r>
              <a:rPr lang="en-US" sz="1800" dirty="0">
                <a:solidFill>
                  <a:srgbClr val="FFFFFF"/>
                </a:solidFill>
                <a:latin typeface="Calibri" pitchFamily="34" charset="0"/>
                <a:ea typeface="Calibri" pitchFamily="34" charset="-122"/>
                <a:cs typeface="Calibri" pitchFamily="34" charset="-120"/>
              </a:rPr>
              <a:t>Jouni Sirén  •  Benedict Paten</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UC Santa Cruz Computational Genomics Lab: Adam Novak, Glenn Hickey, Zia Truong, Mark Diekhans</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The UCSC Genome Browser team  •  The Human Pangenome Reference Consortium</a:t>
            </a:r>
            <a:endParaRPr lang="en-US" sz="1800" dirty="0"/>
          </a:p>
          <a:p>
            <a:pPr algn="ctr" indent="0" marL="0">
              <a:spcAft>
                <a:spcPts val="600"/>
              </a:spcAft>
              <a:buNone/>
            </a:pPr>
            <a:r>
              <a:rPr lang="en-US" sz="1500" dirty="0">
                <a:solidFill>
                  <a:srgbClr val="9DB0C4"/>
                </a:solidFill>
                <a:latin typeface="Calibri" pitchFamily="34" charset="0"/>
                <a:ea typeface="Calibri" pitchFamily="34" charset="-122"/>
                <a:cs typeface="Calibri" pitchFamily="34" charset="-120"/>
              </a:rPr>
              <a:t>Built on vg and the HPRC v2.0 graph</a:t>
            </a:r>
            <a:endParaRPr lang="en-US" sz="1800" dirty="0"/>
          </a:p>
        </p:txBody>
      </p:sp>
      <p:sp>
        <p:nvSpPr>
          <p:cNvPr id="6" name="Text 3"/>
          <p:cNvSpPr txBox="1"/>
          <p:nvPr/>
        </p:nvSpPr>
        <p:spPr>
          <a:xfrm>
            <a:off x="548640" y="5669280"/>
            <a:ext cx="11094415" cy="365760"/>
          </a:xfrm>
          <a:prstGeom prst="rect">
            <a:avLst/>
          </a:prstGeom>
          <a:noFill/>
          <a:ln/>
        </p:spPr>
        <p:txBody>
          <a:bodyPr wrap="square" lIns="0" tIns="0" rIns="0" bIns="0" rtlCol="0" anchor="ctr"/>
          <a:lstStyle/>
          <a:p>
            <a:pPr algn="ctr" indent="0" marL="0">
              <a:buNone/>
            </a:pPr>
            <a:r>
              <a:rPr lang="en-US" sz="1300" dirty="0">
                <a:solidFill>
                  <a:srgbClr val="FDC700"/>
                </a:solidFill>
                <a:latin typeface="Courier New" pitchFamily="34" charset="0"/>
                <a:ea typeface="Courier New" pitchFamily="34" charset="-122"/>
                <a:cs typeface="Courier New" pitchFamily="34" charset="-120"/>
              </a:rPr>
              <a:t>seeskand@ucsc.edu   •   github.com/parsaeskandar/hprc_2026_poster</a:t>
            </a:r>
            <a:endParaRPr lang="en-US" sz="1300" dirty="0"/>
          </a:p>
        </p:txBody>
      </p:sp>
      <p:pic>
        <p:nvPicPr>
          <p:cNvPr id="7" name="Image 1" descr="/Users/seeskand/Documents/HPRC/2026/hprc_2026_poster/talk/figures/hprc_logo.png">    </p:cNvPr>
          <p:cNvPicPr>
            <a:picLocks noChangeAspect="1"/>
          </p:cNvPicPr>
          <p:nvPr/>
        </p:nvPicPr>
        <p:blipFill>
          <a:blip r:embed="rId2"/>
          <a:stretch>
            <a:fillRect/>
          </a:stretch>
        </p:blipFill>
        <p:spPr>
          <a:xfrm>
            <a:off x="10271455" y="5216393"/>
            <a:ext cx="1371600" cy="1138687"/>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6294A"/>
        </a:solidFill>
      </p:bgPr>
    </p:bg>
    <p:spTree>
      <p:nvGrpSpPr>
        <p:cNvPr id="1" name=""/>
        <p:cNvGrpSpPr/>
        <p:nvPr/>
      </p:nvGrpSpPr>
      <p:grpSpPr>
        <a:xfrm>
          <a:off x="0" y="0"/>
          <a:ext cx="0" cy="0"/>
          <a:chOff x="0" y="0"/>
          <a:chExt cx="0" cy="0"/>
        </a:xfrm>
      </p:grpSpPr>
      <p:sp>
        <p:nvSpPr>
          <p:cNvPr id="2" name="Text 0"/>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3D5A7A"/>
                </a:solidFill>
                <a:latin typeface="Calibri" pitchFamily="34" charset="0"/>
                <a:ea typeface="Calibri" pitchFamily="34" charset="-122"/>
                <a:cs typeface="Calibri" pitchFamily="34" charset="-120"/>
              </a:rPr>
              <a:t>17</a:t>
            </a:r>
            <a:endParaRPr lang="en-US" sz="1000" dirty="0"/>
          </a:p>
        </p:txBody>
      </p:sp>
      <p:sp>
        <p:nvSpPr>
          <p:cNvPr id="3" name="Text 1"/>
          <p:cNvSpPr txBox="1"/>
          <p:nvPr/>
        </p:nvSpPr>
        <p:spPr>
          <a:xfrm>
            <a:off x="548640" y="2743200"/>
            <a:ext cx="11094415" cy="914400"/>
          </a:xfrm>
          <a:prstGeom prst="rect">
            <a:avLst/>
          </a:prstGeom>
          <a:noFill/>
          <a:ln/>
        </p:spPr>
        <p:txBody>
          <a:bodyPr wrap="square" lIns="0" tIns="0" rIns="0" bIns="0" rtlCol="0" anchor="ctr"/>
          <a:lstStyle/>
          <a:p>
            <a:pPr algn="ctr" indent="0" marL="0">
              <a:buNone/>
            </a:pPr>
            <a:r>
              <a:rPr lang="en-US" sz="4000" b="1" dirty="0">
                <a:solidFill>
                  <a:srgbClr val="9DB0C4"/>
                </a:solidFill>
                <a:latin typeface="Calibri" pitchFamily="34" charset="0"/>
                <a:ea typeface="Calibri" pitchFamily="34" charset="-122"/>
                <a:cs typeface="Calibri" pitchFamily="34" charset="-120"/>
              </a:rPr>
              <a:t>Backup</a:t>
            </a:r>
            <a:endParaRPr lang="en-US" sz="40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anchors and blocks, precisely</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18</a:t>
            </a:r>
            <a:endParaRPr lang="en-US" sz="1000" dirty="0"/>
          </a:p>
        </p:txBody>
      </p:sp>
      <p:sp>
        <p:nvSpPr>
          <p:cNvPr id="4" name="Shape 2"/>
          <p:cNvSpPr/>
          <p:nvPr/>
        </p:nvSpPr>
        <p:spPr>
          <a:xfrm>
            <a:off x="548640" y="1371600"/>
            <a:ext cx="5364328" cy="4846320"/>
          </a:xfrm>
          <a:prstGeom prst="roundRect">
            <a:avLst>
              <a:gd name="adj" fmla="val 2264"/>
            </a:avLst>
          </a:prstGeom>
          <a:solidFill>
            <a:srgbClr val="F1F4F8"/>
          </a:solidFill>
          <a:ln w="12700">
            <a:solidFill>
              <a:srgbClr val="F1F4F8"/>
            </a:solidFill>
            <a:prstDash val="solid"/>
          </a:ln>
        </p:spPr>
      </p:sp>
      <p:sp>
        <p:nvSpPr>
          <p:cNvPr id="5" name="Shape 3"/>
          <p:cNvSpPr/>
          <p:nvPr/>
        </p:nvSpPr>
        <p:spPr>
          <a:xfrm>
            <a:off x="6278728" y="1371600"/>
            <a:ext cx="5364328" cy="4846320"/>
          </a:xfrm>
          <a:prstGeom prst="roundRect">
            <a:avLst>
              <a:gd name="adj" fmla="val 2264"/>
            </a:avLst>
          </a:prstGeom>
          <a:solidFill>
            <a:srgbClr val="F1F4F8"/>
          </a:solidFill>
          <a:ln w="12700">
            <a:solidFill>
              <a:srgbClr val="F1F4F8"/>
            </a:solidFill>
            <a:prstDash val="solid"/>
          </a:ln>
        </p:spPr>
      </p:sp>
      <p:sp>
        <p:nvSpPr>
          <p:cNvPr id="6" name="Text 4"/>
          <p:cNvSpPr txBox="1"/>
          <p:nvPr/>
        </p:nvSpPr>
        <p:spPr>
          <a:xfrm>
            <a:off x="868680" y="1645920"/>
            <a:ext cx="472424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Anchors</a:t>
            </a:r>
            <a:endParaRPr lang="en-US" sz="2000" dirty="0"/>
          </a:p>
        </p:txBody>
      </p:sp>
      <p:sp>
        <p:nvSpPr>
          <p:cNvPr id="7" name="Text 5"/>
          <p:cNvSpPr txBox="1"/>
          <p:nvPr/>
        </p:nvSpPr>
        <p:spPr>
          <a:xfrm>
            <a:off x="868680" y="2240280"/>
            <a:ext cx="4724248" cy="384048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node visited exactly once by the source path and exactly once by the target path is an unambiguous anchor: repeats can never create a false one.</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colinearity gate rejects anchor pairs whose target span is wildly inconsistent with the source span (a 1 Mb query landing on 29 kb is a deletion, not a lift).</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The failure mode in hard regions is missing positions, never wrong ones.</a:t>
            </a:r>
            <a:endParaRPr lang="en-US" sz="1500" dirty="0"/>
          </a:p>
        </p:txBody>
      </p:sp>
      <p:sp>
        <p:nvSpPr>
          <p:cNvPr id="8" name="Text 6"/>
          <p:cNvSpPr txBox="1"/>
          <p:nvPr/>
        </p:nvSpPr>
        <p:spPr>
          <a:xfrm>
            <a:off x="6598768" y="1645920"/>
            <a:ext cx="4724248" cy="457200"/>
          </a:xfrm>
          <a:prstGeom prst="rect">
            <a:avLst/>
          </a:prstGeom>
          <a:noFill/>
          <a:ln/>
        </p:spPr>
        <p:txBody>
          <a:bodyPr wrap="square" lIns="0" tIns="0" rIns="0" bIns="0" rtlCol="0" anchor="t"/>
          <a:lstStyle/>
          <a:p>
            <a:pPr indent="0" marL="0">
              <a:buNone/>
            </a:pPr>
            <a:r>
              <a:rPr lang="en-US" sz="2000" b="1" dirty="0">
                <a:solidFill>
                  <a:srgbClr val="003C6C"/>
                </a:solidFill>
                <a:latin typeface="Calibri" pitchFamily="34" charset="0"/>
                <a:ea typeface="Calibri" pitchFamily="34" charset="-122"/>
                <a:cs typeface="Calibri" pitchFamily="34" charset="-120"/>
              </a:rPr>
              <a:t>Blocks</a:t>
            </a:r>
            <a:endParaRPr lang="en-US" sz="2000" dirty="0"/>
          </a:p>
        </p:txBody>
      </p:sp>
      <p:sp>
        <p:nvSpPr>
          <p:cNvPr id="9" name="Text 7"/>
          <p:cNvSpPr txBox="1"/>
          <p:nvPr/>
        </p:nvSpPr>
        <p:spPr>
          <a:xfrm>
            <a:off x="6598768" y="2240280"/>
            <a:ext cx="4724248" cy="384048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An LF-walk between anchors emits a per-base correspondence.</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A block is a maximal run of constant offset: it breaks on indels, orientation flips and contig changes, never on substitutions, matching chain-file semantics.</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Blocks are 0-based, half-open, and become bigChain + bigLink files the browser's QuickLift draws directly.</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Non-monotonic target order across blocks (transpositions) is preserved, not hidden.</a:t>
            </a:r>
            <a:endParaRPr lang="en-US" sz="15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chains that keep up with panning</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19</a:t>
            </a:r>
            <a:endParaRPr lang="en-US" sz="1000" dirty="0"/>
          </a:p>
        </p:txBody>
      </p:sp>
      <p:sp>
        <p:nvSpPr>
          <p:cNvPr id="4" name="Text 2"/>
          <p:cNvSpPr txBox="1"/>
          <p:nvPr/>
        </p:nvSpPr>
        <p:spPr>
          <a:xfrm>
            <a:off x="548640" y="1371600"/>
            <a:ext cx="5852160" cy="4389120"/>
          </a:xfrm>
          <a:prstGeom prst="rect">
            <a:avLst/>
          </a:prstGeom>
          <a:noFill/>
          <a:ln/>
        </p:spPr>
        <p:txBody>
          <a:bodyPr wrap="square" lIns="0" tIns="0" rIns="0" bIns="0" rtlCol="0" anchor="t"/>
          <a:lstStyle/>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Phase 1 (synchronous, ~0.7 s): the request is padded to 5× the span, clamped to 250 kb to 1 Mb.</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Phase 2 (background, ~11 s): a 222-byte sendBeacon fired during navigation rebuilds the chain at ±5 Mb; the browser reopens the chain file on every request, so the next pan picks it up with no reload.</a:t>
            </a:r>
            <a:endParaRPr lang="en-US" sz="1500" dirty="0"/>
          </a:p>
          <a:p>
            <a:pPr marL="177800" indent="-177800">
              <a:spcAft>
                <a:spcPts val="800"/>
              </a:spcAft>
              <a:buSzPct val="100000"/>
              <a:buChar char="•"/>
            </a:pPr>
            <a:r>
              <a:rPr lang="en-US" sz="1500" dirty="0">
                <a:solidFill>
                  <a:srgbClr val="18293B"/>
                </a:solidFill>
                <a:latin typeface="Calibri" pitchFamily="34" charset="0"/>
                <a:ea typeface="Calibri" pitchFamily="34" charset="-122"/>
                <a:cs typeface="Calibri" pitchFamily="34" charset="-120"/>
              </a:rPr>
              <a:t>Lifted gene items visible after panning 4 Mb away: 1 with the phase-1 chain, 31 with the phase-2 chain.</a:t>
            </a:r>
            <a:endParaRPr lang="en-US" sz="1500" dirty="0"/>
          </a:p>
        </p:txBody>
      </p:sp>
      <p:graphicFrame>
        <p:nvGraphicFramePr>
          <p:cNvPr id="5" name="Chart 0" descr=""/>
          <p:cNvGraphicFramePr/>
          <p:nvPr/>
        </p:nvGraphicFramePr>
        <p:xfrm>
          <a:off x="6675120" y="1280160"/>
          <a:ext cx="4967935" cy="4572000"/>
        </p:xfrm>
        <a:graphic xmlns:a="http://schemas.openxmlformats.org/drawingml/2006/main">
          <a:graphicData uri="http://schemas.openxmlformats.org/drawingml/2006/chart">
            <c:chart xmlns:c="http://schemas.openxmlformats.org/drawingml/2006/chart" r:id="rId1"/>
          </a:graphicData>
        </a:graphic>
      </p:graphicFrame>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384048"/>
            <a:ext cx="11094415" cy="685800"/>
          </a:xfrm>
          <a:prstGeom prst="rect">
            <a:avLst/>
          </a:prstGeom>
          <a:noFill/>
          <a:ln/>
        </p:spPr>
        <p:txBody>
          <a:bodyPr wrap="square" lIns="0" tIns="0" rIns="0" bIns="0" rtlCol="0" anchor="ctr"/>
          <a:lstStyle/>
          <a:p>
            <a:pPr indent="0" marL="0">
              <a:buNone/>
            </a:pPr>
            <a:r>
              <a:rPr lang="en-US" sz="3200" b="1" dirty="0">
                <a:solidFill>
                  <a:srgbClr val="003C6C"/>
                </a:solidFill>
                <a:latin typeface="Calibri" pitchFamily="34" charset="0"/>
                <a:ea typeface="Calibri" pitchFamily="34" charset="-122"/>
                <a:cs typeface="Calibri" pitchFamily="34" charset="-120"/>
              </a:rPr>
              <a:t>Backup: by the numbers</a:t>
            </a:r>
            <a:endParaRPr lang="en-US" sz="3200" dirty="0"/>
          </a:p>
        </p:txBody>
      </p:sp>
      <p:sp>
        <p:nvSpPr>
          <p:cNvPr id="3" name="Text 1"/>
          <p:cNvSpPr txBox="1"/>
          <p:nvPr/>
        </p:nvSpPr>
        <p:spPr>
          <a:xfrm>
            <a:off x="11277295" y="6446520"/>
            <a:ext cx="457200" cy="274320"/>
          </a:xfrm>
          <a:prstGeom prst="rect">
            <a:avLst/>
          </a:prstGeom>
          <a:noFill/>
          <a:ln/>
        </p:spPr>
        <p:txBody>
          <a:bodyPr wrap="square" lIns="0" tIns="0" rIns="0" bIns="0" rtlCol="0" anchor="ctr"/>
          <a:lstStyle/>
          <a:p>
            <a:pPr algn="r" indent="0" marL="0">
              <a:buNone/>
            </a:pPr>
            <a:r>
              <a:rPr lang="en-US" sz="1000" dirty="0">
                <a:solidFill>
                  <a:srgbClr val="9DB0C4"/>
                </a:solidFill>
                <a:latin typeface="Calibri" pitchFamily="34" charset="0"/>
                <a:ea typeface="Calibri" pitchFamily="34" charset="-122"/>
                <a:cs typeface="Calibri" pitchFamily="34" charset="-120"/>
              </a:rPr>
              <a:t>20</a:t>
            </a:r>
            <a:endParaRPr lang="en-US" sz="1000" dirty="0"/>
          </a:p>
        </p:txBody>
      </p:sp>
      <p:sp>
        <p:nvSpPr>
          <p:cNvPr id="4" name="Shape 2"/>
          <p:cNvSpPr/>
          <p:nvPr/>
        </p:nvSpPr>
        <p:spPr>
          <a:xfrm>
            <a:off x="548640" y="1371600"/>
            <a:ext cx="2567864" cy="2011680"/>
          </a:xfrm>
          <a:prstGeom prst="roundRect">
            <a:avLst>
              <a:gd name="adj" fmla="val 5455"/>
            </a:avLst>
          </a:prstGeom>
          <a:solidFill>
            <a:srgbClr val="F1F4F8"/>
          </a:solidFill>
          <a:ln w="12700">
            <a:solidFill>
              <a:srgbClr val="F1F4F8"/>
            </a:solidFill>
            <a:prstDash val="solid"/>
          </a:ln>
        </p:spPr>
      </p:sp>
      <p:sp>
        <p:nvSpPr>
          <p:cNvPr id="5" name="Text 3"/>
          <p:cNvSpPr txBox="1"/>
          <p:nvPr/>
        </p:nvSpPr>
        <p:spPr>
          <a:xfrm>
            <a:off x="548640"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148M</a:t>
            </a:r>
            <a:endParaRPr lang="en-US" sz="3200" dirty="0"/>
          </a:p>
        </p:txBody>
      </p:sp>
      <p:sp>
        <p:nvSpPr>
          <p:cNvPr id="6" name="Text 4"/>
          <p:cNvSpPr txBox="1"/>
          <p:nvPr/>
        </p:nvSpPr>
        <p:spPr>
          <a:xfrm>
            <a:off x="777240"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nodes in the HPRC v2.0 Minigraph-Cactus graph</a:t>
            </a:r>
            <a:endParaRPr lang="en-US" sz="1300" dirty="0"/>
          </a:p>
        </p:txBody>
      </p:sp>
      <p:sp>
        <p:nvSpPr>
          <p:cNvPr id="7" name="Shape 5"/>
          <p:cNvSpPr/>
          <p:nvPr/>
        </p:nvSpPr>
        <p:spPr>
          <a:xfrm>
            <a:off x="3390824" y="1371600"/>
            <a:ext cx="2567864" cy="2011680"/>
          </a:xfrm>
          <a:prstGeom prst="roundRect">
            <a:avLst>
              <a:gd name="adj" fmla="val 5455"/>
            </a:avLst>
          </a:prstGeom>
          <a:solidFill>
            <a:srgbClr val="F1F4F8"/>
          </a:solidFill>
          <a:ln w="12700">
            <a:solidFill>
              <a:srgbClr val="F1F4F8"/>
            </a:solidFill>
            <a:prstDash val="solid"/>
          </a:ln>
        </p:spPr>
      </p:sp>
      <p:sp>
        <p:nvSpPr>
          <p:cNvPr id="8" name="Text 6"/>
          <p:cNvSpPr txBox="1"/>
          <p:nvPr/>
        </p:nvSpPr>
        <p:spPr>
          <a:xfrm>
            <a:off x="3390824"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94,554</a:t>
            </a:r>
            <a:endParaRPr lang="en-US" sz="3200" dirty="0"/>
          </a:p>
        </p:txBody>
      </p:sp>
      <p:sp>
        <p:nvSpPr>
          <p:cNvPr id="9" name="Text 7"/>
          <p:cNvSpPr txBox="1"/>
          <p:nvPr/>
        </p:nvSpPr>
        <p:spPr>
          <a:xfrm>
            <a:off x="3619424"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haplotype paths indexed (non-filtered graph)</a:t>
            </a:r>
            <a:endParaRPr lang="en-US" sz="1300" dirty="0"/>
          </a:p>
        </p:txBody>
      </p:sp>
      <p:sp>
        <p:nvSpPr>
          <p:cNvPr id="10" name="Shape 8"/>
          <p:cNvSpPr/>
          <p:nvPr/>
        </p:nvSpPr>
        <p:spPr>
          <a:xfrm>
            <a:off x="6233008" y="1371600"/>
            <a:ext cx="2567864" cy="2011680"/>
          </a:xfrm>
          <a:prstGeom prst="roundRect">
            <a:avLst>
              <a:gd name="adj" fmla="val 5455"/>
            </a:avLst>
          </a:prstGeom>
          <a:solidFill>
            <a:srgbClr val="F1F4F8"/>
          </a:solidFill>
          <a:ln w="12700">
            <a:solidFill>
              <a:srgbClr val="F1F4F8"/>
            </a:solidFill>
            <a:prstDash val="solid"/>
          </a:ln>
        </p:spPr>
      </p:sp>
      <p:sp>
        <p:nvSpPr>
          <p:cNvPr id="11" name="Text 9"/>
          <p:cNvSpPr txBox="1"/>
          <p:nvPr/>
        </p:nvSpPr>
        <p:spPr>
          <a:xfrm>
            <a:off x="6233008"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~11 GB</a:t>
            </a:r>
            <a:endParaRPr lang="en-US" sz="3200" dirty="0"/>
          </a:p>
        </p:txBody>
      </p:sp>
      <p:sp>
        <p:nvSpPr>
          <p:cNvPr id="12" name="Text 10"/>
          <p:cNvSpPr txBox="1"/>
          <p:nvPr/>
        </p:nvSpPr>
        <p:spPr>
          <a:xfrm>
            <a:off x="6461608"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GBWT FastLocate structure</a:t>
            </a:r>
            <a:endParaRPr lang="en-US" sz="1300" dirty="0"/>
          </a:p>
        </p:txBody>
      </p:sp>
      <p:sp>
        <p:nvSpPr>
          <p:cNvPr id="13" name="Shape 11"/>
          <p:cNvSpPr/>
          <p:nvPr/>
        </p:nvSpPr>
        <p:spPr>
          <a:xfrm>
            <a:off x="9075191" y="1371600"/>
            <a:ext cx="2567864" cy="2011680"/>
          </a:xfrm>
          <a:prstGeom prst="roundRect">
            <a:avLst>
              <a:gd name="adj" fmla="val 5455"/>
            </a:avLst>
          </a:prstGeom>
          <a:solidFill>
            <a:srgbClr val="F1F4F8"/>
          </a:solidFill>
          <a:ln w="12700">
            <a:solidFill>
              <a:srgbClr val="F1F4F8"/>
            </a:solidFill>
            <a:prstDash val="solid"/>
          </a:ln>
        </p:spPr>
      </p:sp>
      <p:sp>
        <p:nvSpPr>
          <p:cNvPr id="14" name="Text 12"/>
          <p:cNvSpPr txBox="1"/>
          <p:nvPr/>
        </p:nvSpPr>
        <p:spPr>
          <a:xfrm>
            <a:off x="9075191" y="169164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1.78 GB</a:t>
            </a:r>
            <a:endParaRPr lang="en-US" sz="3200" dirty="0"/>
          </a:p>
        </p:txBody>
      </p:sp>
      <p:sp>
        <p:nvSpPr>
          <p:cNvPr id="15" name="Text 13"/>
          <p:cNvSpPr txBox="1"/>
          <p:nvPr/>
        </p:nvSpPr>
        <p:spPr>
          <a:xfrm>
            <a:off x="9303791" y="246888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routing table (a naive all-pairs table: 17.2 TB)</a:t>
            </a:r>
            <a:endParaRPr lang="en-US" sz="1300" dirty="0"/>
          </a:p>
        </p:txBody>
      </p:sp>
      <p:sp>
        <p:nvSpPr>
          <p:cNvPr id="16" name="Shape 14"/>
          <p:cNvSpPr/>
          <p:nvPr/>
        </p:nvSpPr>
        <p:spPr>
          <a:xfrm>
            <a:off x="548640" y="3703320"/>
            <a:ext cx="2567864" cy="2011680"/>
          </a:xfrm>
          <a:prstGeom prst="roundRect">
            <a:avLst>
              <a:gd name="adj" fmla="val 5455"/>
            </a:avLst>
          </a:prstGeom>
          <a:solidFill>
            <a:srgbClr val="F1F4F8"/>
          </a:solidFill>
          <a:ln w="12700">
            <a:solidFill>
              <a:srgbClr val="F1F4F8"/>
            </a:solidFill>
            <a:prstDash val="solid"/>
          </a:ln>
        </p:spPr>
      </p:sp>
      <p:sp>
        <p:nvSpPr>
          <p:cNvPr id="17" name="Text 15"/>
          <p:cNvSpPr txBox="1"/>
          <p:nvPr/>
        </p:nvSpPr>
        <p:spPr>
          <a:xfrm>
            <a:off x="548640"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35 min</a:t>
            </a:r>
            <a:endParaRPr lang="en-US" sz="3200" dirty="0"/>
          </a:p>
        </p:txBody>
      </p:sp>
      <p:sp>
        <p:nvSpPr>
          <p:cNvPr id="18" name="Text 16"/>
          <p:cNvSpPr txBox="1"/>
          <p:nvPr/>
        </p:nvSpPr>
        <p:spPr>
          <a:xfrm>
            <a:off x="777240"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routing table build at 32 threads</a:t>
            </a:r>
            <a:endParaRPr lang="en-US" sz="1300" dirty="0"/>
          </a:p>
        </p:txBody>
      </p:sp>
      <p:sp>
        <p:nvSpPr>
          <p:cNvPr id="19" name="Shape 17"/>
          <p:cNvSpPr/>
          <p:nvPr/>
        </p:nvSpPr>
        <p:spPr>
          <a:xfrm>
            <a:off x="3390824" y="3703320"/>
            <a:ext cx="2567864" cy="2011680"/>
          </a:xfrm>
          <a:prstGeom prst="roundRect">
            <a:avLst>
              <a:gd name="adj" fmla="val 5455"/>
            </a:avLst>
          </a:prstGeom>
          <a:solidFill>
            <a:srgbClr val="F1F4F8"/>
          </a:solidFill>
          <a:ln w="12700">
            <a:solidFill>
              <a:srgbClr val="F1F4F8"/>
            </a:solidFill>
            <a:prstDash val="solid"/>
          </a:ln>
        </p:spPr>
      </p:sp>
      <p:sp>
        <p:nvSpPr>
          <p:cNvPr id="20" name="Text 18"/>
          <p:cNvSpPr txBox="1"/>
          <p:nvPr/>
        </p:nvSpPr>
        <p:spPr>
          <a:xfrm>
            <a:off x="3390824"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~250 GB</a:t>
            </a:r>
            <a:endParaRPr lang="en-US" sz="3200" dirty="0"/>
          </a:p>
        </p:txBody>
      </p:sp>
      <p:sp>
        <p:nvSpPr>
          <p:cNvPr id="21" name="Text 19"/>
          <p:cNvSpPr txBox="1"/>
          <p:nvPr/>
        </p:nvSpPr>
        <p:spPr>
          <a:xfrm>
            <a:off x="3619424"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RAM for the running service</a:t>
            </a:r>
            <a:endParaRPr lang="en-US" sz="1300" dirty="0"/>
          </a:p>
        </p:txBody>
      </p:sp>
      <p:sp>
        <p:nvSpPr>
          <p:cNvPr id="22" name="Shape 20"/>
          <p:cNvSpPr/>
          <p:nvPr/>
        </p:nvSpPr>
        <p:spPr>
          <a:xfrm>
            <a:off x="6233008" y="3703320"/>
            <a:ext cx="2567864" cy="2011680"/>
          </a:xfrm>
          <a:prstGeom prst="roundRect">
            <a:avLst>
              <a:gd name="adj" fmla="val 5455"/>
            </a:avLst>
          </a:prstGeom>
          <a:solidFill>
            <a:srgbClr val="F1F4F8"/>
          </a:solidFill>
          <a:ln w="12700">
            <a:solidFill>
              <a:srgbClr val="F1F4F8"/>
            </a:solidFill>
            <a:prstDash val="solid"/>
          </a:ln>
        </p:spPr>
      </p:sp>
      <p:sp>
        <p:nvSpPr>
          <p:cNvPr id="23" name="Text 21"/>
          <p:cNvSpPr txBox="1"/>
          <p:nvPr/>
        </p:nvSpPr>
        <p:spPr>
          <a:xfrm>
            <a:off x="6233008"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15 lines</a:t>
            </a:r>
            <a:endParaRPr lang="en-US" sz="3200" dirty="0"/>
          </a:p>
        </p:txBody>
      </p:sp>
      <p:sp>
        <p:nvSpPr>
          <p:cNvPr id="24" name="Text 22"/>
          <p:cNvSpPr txBox="1"/>
          <p:nvPr/>
        </p:nvSpPr>
        <p:spPr>
          <a:xfrm>
            <a:off x="6461608"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changed in kent core, across 3 files</a:t>
            </a:r>
            <a:endParaRPr lang="en-US" sz="1300" dirty="0"/>
          </a:p>
        </p:txBody>
      </p:sp>
      <p:sp>
        <p:nvSpPr>
          <p:cNvPr id="25" name="Shape 23"/>
          <p:cNvSpPr/>
          <p:nvPr/>
        </p:nvSpPr>
        <p:spPr>
          <a:xfrm>
            <a:off x="9075191" y="3703320"/>
            <a:ext cx="2567864" cy="2011680"/>
          </a:xfrm>
          <a:prstGeom prst="roundRect">
            <a:avLst>
              <a:gd name="adj" fmla="val 5455"/>
            </a:avLst>
          </a:prstGeom>
          <a:solidFill>
            <a:srgbClr val="F1F4F8"/>
          </a:solidFill>
          <a:ln w="12700">
            <a:solidFill>
              <a:srgbClr val="F1F4F8"/>
            </a:solidFill>
            <a:prstDash val="solid"/>
          </a:ln>
        </p:spPr>
      </p:sp>
      <p:sp>
        <p:nvSpPr>
          <p:cNvPr id="26" name="Text 24"/>
          <p:cNvSpPr txBox="1"/>
          <p:nvPr/>
        </p:nvSpPr>
        <p:spPr>
          <a:xfrm>
            <a:off x="9075191" y="4023360"/>
            <a:ext cx="2567864" cy="731520"/>
          </a:xfrm>
          <a:prstGeom prst="rect">
            <a:avLst/>
          </a:prstGeom>
          <a:noFill/>
          <a:ln/>
        </p:spPr>
        <p:txBody>
          <a:bodyPr wrap="square" lIns="0" tIns="0" rIns="0" bIns="0" rtlCol="0" anchor="ctr"/>
          <a:lstStyle/>
          <a:p>
            <a:pPr algn="ctr" indent="0" marL="0">
              <a:buNone/>
            </a:pPr>
            <a:r>
              <a:rPr lang="en-US" sz="3200" b="1" dirty="0">
                <a:solidFill>
                  <a:srgbClr val="003C6C"/>
                </a:solidFill>
                <a:latin typeface="Calibri" pitchFamily="34" charset="0"/>
                <a:ea typeface="Calibri" pitchFamily="34" charset="-122"/>
                <a:cs typeface="Calibri" pitchFamily="34" charset="-120"/>
              </a:rPr>
              <a:t>385</a:t>
            </a:r>
            <a:endParaRPr lang="en-US" sz="3200" dirty="0"/>
          </a:p>
        </p:txBody>
      </p:sp>
      <p:sp>
        <p:nvSpPr>
          <p:cNvPr id="27" name="Text 25"/>
          <p:cNvSpPr txBox="1"/>
          <p:nvPr/>
        </p:nvSpPr>
        <p:spPr>
          <a:xfrm>
            <a:off x="9303791" y="4800600"/>
            <a:ext cx="2110664" cy="822960"/>
          </a:xfrm>
          <a:prstGeom prst="rect">
            <a:avLst/>
          </a:prstGeom>
          <a:noFill/>
          <a:ln/>
        </p:spPr>
        <p:txBody>
          <a:bodyPr wrap="square" lIns="0" tIns="0" rIns="0" bIns="0" rtlCol="0" anchor="t"/>
          <a:lstStyle/>
          <a:p>
            <a:pPr algn="ctr" indent="0" marL="0">
              <a:buNone/>
            </a:pPr>
            <a:r>
              <a:rPr lang="en-US" sz="1300" dirty="0">
                <a:solidFill>
                  <a:srgbClr val="5B6B7C"/>
                </a:solidFill>
                <a:latin typeface="Calibri" pitchFamily="34" charset="0"/>
                <a:ea typeface="Calibri" pitchFamily="34" charset="-122"/>
                <a:cs typeface="Calibri" pitchFamily="34" charset="-120"/>
              </a:rPr>
              <a:t>browser-side tests passing</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 pangenome sequence search and coordinate translation service for the UCSC Genome Browser</dc:title>
  <dc:subject>PptxGenJS Presentation</dc:subject>
  <dc:creator>Parsa Eskandar</dc:creator>
  <cp:lastModifiedBy>Parsa Eskandar</cp:lastModifiedBy>
  <cp:revision>1</cp:revision>
  <dcterms:created xsi:type="dcterms:W3CDTF">2026-09-02T18:57:38Z</dcterms:created>
  <dcterms:modified xsi:type="dcterms:W3CDTF">2026-09-02T18:57:38Z</dcterms:modified>
</cp:coreProperties>
</file>
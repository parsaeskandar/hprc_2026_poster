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1.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charts/chart2.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800" b="0" i="0" u="none" strike="noStrike">
                <a:solidFill>
                  <a:srgbClr val="003C6C"/>
                </a:solidFill>
                <a:latin typeface="Calibri"/>
              </a:defRPr>
            </a:pPr>
            <a:r>
              <a:rPr sz="1800" b="0" i="0" u="none" strike="noStrike">
                <a:solidFill>
                  <a:srgbClr val="003C6C"/>
                </a:solidFill>
                <a:latin typeface="Calibri"/>
              </a:rPr>
              <a:t>Concurrent 3.4 kb queries per second</a:t>
            </a:r>
          </a:p>
        </c:rich>
      </c:tx>
      <c:layout/>
      <c:overlay val="0"/>
    </c:title>
    <c:autoTitleDeleted val="0"/>
    <c:plotArea>
      <c:layout/>
      <c:lineChart>
        <c:varyColors val="0"/>
        <c:ser>
          <c:idx val="0"/>
          <c:order val="0"/>
          <c:tx>
            <c:strRef>
              <c:f>Sheet1!$B$1</c:f>
              <c:strCache>
                <c:ptCount val="1"/>
                <c:pt idx="0">
                  <c:v>queries / s</c:v>
                </c:pt>
              </c:strCache>
            </c:strRef>
          </c:tx>
          <c:spPr>
            <a:solidFill>
              <a:srgbClr val="003C6C"/>
            </a:solidFill>
            <a:ln w="38100" cap="flat">
              <a:solidFill>
                <a:srgbClr val="003C6C"/>
              </a:solidFill>
              <a:prstDash val="solid"/>
              <a:round/>
            </a:ln>
            <a:effectLst/>
          </c:spPr>
          <c:invertIfNegative val="0"/>
          <c:dLbls>
            <c:numFmt formatCode="0" sourceLinked="0"/>
            <c:txPr>
              <a:bodyPr/>
              <a:lstStyle/>
              <a:p>
                <a:pPr>
                  <a:defRPr b="0" i="0" strike="noStrike" sz="1600" u="none">
                    <a:solidFill>
                      <a:srgbClr val="003C6C"/>
                    </a:solidFill>
                    <a:latin typeface="Calibri"/>
                  </a:defRPr>
                </a:pPr>
              </a:p>
            </c:txPr>
            <c:dLblPos val="t"/>
            <c:showLegendKey val="0"/>
            <c:showVal val="1"/>
            <c:showCatName val="0"/>
            <c:showSerName val="0"/>
            <c:showPercent val="0"/>
            <c:showBubbleSize val="0"/>
            <c:showLeaderLines val="0"/>
          </c:dLbls>
          <c:marker>
            <c:symbol val="circle"/>
            <c:size val="9"/>
            <c:spPr>
              <a:solidFill>
                <a:srgbClr val="003C6C"/>
              </a:solidFill>
              <a:ln w="9525" cap="flat">
                <a:solidFill>
                  <a:srgbClr val="003C6C"/>
                </a:solidFill>
                <a:prstDash val="solid"/>
                <a:round/>
              </a:ln>
              <a:effectLst/>
            </c:spPr>
          </c:marker>
          <c:cat>
            <c:multiLvlStrRef>
              <c:f>Sheet1!$A$2:$A$7</c:f>
              <c:multiLvlStrCache>
                <c:ptCount val="6"/>
                <c:lvl>
                  <c:pt idx="0">
                    <c:v>1</c:v>
                  </c:pt>
                  <c:pt idx="1">
                    <c:v>2</c:v>
                  </c:pt>
                  <c:pt idx="2">
                    <c:v>4</c:v>
                  </c:pt>
                  <c:pt idx="3">
                    <c:v>8</c:v>
                  </c:pt>
                  <c:pt idx="4">
                    <c:v>16</c:v>
                  </c:pt>
                  <c:pt idx="5">
                    <c:v>32</c:v>
                  </c:pt>
                </c:lvl>
              </c:multiLvlStrCache>
            </c:multiLvlStrRef>
          </c:cat>
          <c:val>
            <c:numRef>
              <c:f>Sheet1!$B$2:$B$7</c:f>
              <c:numCache>
                <c:formatCode>General</c:formatCode>
                <c:ptCount val="6"/>
                <c:pt idx="0">
                  <c:v>6.3</c:v>
                </c:pt>
                <c:pt idx="1">
                  <c:v>13.2</c:v>
                </c:pt>
                <c:pt idx="2">
                  <c:v>23.6</c:v>
                </c:pt>
                <c:pt idx="3">
                  <c:v>60.3</c:v>
                </c:pt>
                <c:pt idx="4">
                  <c:v>59.4</c:v>
                </c:pt>
                <c:pt idx="5">
                  <c:v>65.3</c:v>
                </c:pt>
              </c:numCache>
            </c:numRef>
          </c:val>
          <c:smooth val="0"/>
        </c:ser>
        <c:dLbls>
          <c:numFmt formatCode="0" sourceLinked="0"/>
          <c:txPr>
            <a:bodyPr/>
            <a:lstStyle/>
            <a:p>
              <a:pPr>
                <a:defRPr b="0" i="0" strike="noStrike" sz="1600" u="none">
                  <a:solidFill>
                    <a:srgbClr val="003C6C"/>
                  </a:solidFill>
                  <a:latin typeface="Calibr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400" b="0" i="0" u="none" strike="noStrike">
                    <a:solidFill>
                      <a:srgbClr val="5B6B7C"/>
                    </a:solidFill>
                    <a:latin typeface="Arial"/>
                  </a:defRPr>
                </a:pPr>
                <a:r>
                  <a:rPr sz="1400" b="0" i="0" u="none" strike="noStrike">
                    <a:solidFill>
                      <a:srgbClr val="5B6B7C"/>
                    </a:solidFill>
                    <a:latin typeface="Arial"/>
                  </a:rPr>
                  <a:t>threads</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600" b="0" i="0" u="none" strike="noStrike">
                <a:solidFill>
                  <a:srgbClr val="18293B"/>
                </a:solidFill>
                <a:latin typeface="Arial"/>
              </a:defRPr>
            </a:pPr>
            <a:endParaRPr lang="en-US"/>
          </a:p>
        </c:txPr>
        <c:crossAx val="2094734552"/>
        <c:crosses val="autoZero"/>
        <c:auto val="1"/>
        <c:lblAlgn val="ctr"/>
        <c:noMultiLvlLbl val="1"/>
      </c:catAx>
      <c:valAx>
        <c:axId val="2094734552"/>
        <c:scaling>
          <c:orientation val="minMax"/>
          <c:max val="80"/>
          <c:min val="0"/>
        </c:scaling>
        <c:delete val="0"/>
        <c:axPos val="l"/>
        <c:majorGridlines>
          <c:spPr>
            <a:ln w="6350" cap="flat">
              <a:solidFill>
                <a:srgbClr val="D9E1E9"/>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600" b="0" i="0" u="none" strike="noStrike">
                <a:solidFill>
                  <a:srgbClr val="18293B"/>
                </a:solidFill>
                <a:latin typeface="Arial"/>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3C6C"/>
                </a:solidFill>
                <a:latin typeface="Calibri"/>
              </a:defRPr>
            </a:pPr>
            <a:r>
              <a:rPr sz="1600" b="0" i="0" u="none" strike="noStrike">
                <a:solidFill>
                  <a:srgbClr val="003C6C"/>
                </a:solidFill>
                <a:latin typeface="Calibri"/>
              </a:rPr>
              <a:t>Lifted gene items after panning away (log scale)</a:t>
            </a:r>
          </a:p>
        </c:rich>
      </c:tx>
      <c:layout/>
      <c:overlay val="0"/>
    </c:title>
    <c:autoTitleDeleted val="0"/>
    <c:plotArea>
      <c:layout/>
      <c:barChart>
        <c:barDir val="col"/>
        <c:grouping val="clustered"/>
        <c:varyColors val="0"/>
        <c:ser>
          <c:idx val="0"/>
          <c:order val="0"/>
          <c:tx>
            <c:strRef>
              <c:f>Sheet1!$B$1</c:f>
              <c:strCache>
                <c:ptCount val="1"/>
                <c:pt idx="0">
                  <c:v>first chain (1.1 Mb)</c:v>
                </c:pt>
              </c:strCache>
            </c:strRef>
          </c:tx>
          <c:spPr>
            <a:solidFill>
              <a:srgbClr val="FDC700"/>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Sheet1!$A$2:$A$5</c:f>
              <c:multiLvlStrCache>
                <c:ptCount val="4"/>
                <c:lvl>
                  <c:pt idx="0">
                    <c:v>in window</c:v>
                  </c:pt>
                  <c:pt idx="1">
                    <c:v>400 kb</c:v>
                  </c:pt>
                  <c:pt idx="2">
                    <c:v>2 Mb</c:v>
                  </c:pt>
                  <c:pt idx="3">
                    <c:v>4 Mb</c:v>
                  </c:pt>
                </c:lvl>
              </c:multiLvlStrCache>
            </c:multiLvlStrRef>
          </c:cat>
          <c:val>
            <c:numRef>
              <c:f>Sheet1!$B$2:$B$5</c:f>
              <c:numCache>
                <c:formatCode>General</c:formatCode>
                <c:ptCount val="4"/>
                <c:pt idx="0">
                  <c:v>3</c:v>
                </c:pt>
                <c:pt idx="1">
                  <c:v>129</c:v>
                </c:pt>
                <c:pt idx="2">
                  <c:v>1</c:v>
                </c:pt>
                <c:pt idx="3">
                  <c:v>1</c:v>
                </c:pt>
              </c:numCache>
            </c:numRef>
          </c:val>
        </c:ser>
        <c:ser>
          <c:idx val="1"/>
          <c:order val="1"/>
          <c:tx>
            <c:strRef>
              <c:f>Sheet1!$C$1</c:f>
              <c:strCache>
                <c:ptCount val="1"/>
                <c:pt idx="0">
                  <c:v>widened chain (10 Mb)</c:v>
                </c:pt>
              </c:strCache>
            </c:strRef>
          </c:tx>
          <c:spPr>
            <a:solidFill>
              <a:srgbClr val="003C6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Sheet1!$A$2:$A$5</c:f>
              <c:multiLvlStrCache>
                <c:ptCount val="4"/>
                <c:lvl>
                  <c:pt idx="0">
                    <c:v>in window</c:v>
                  </c:pt>
                  <c:pt idx="1">
                    <c:v>400 kb</c:v>
                  </c:pt>
                  <c:pt idx="2">
                    <c:v>2 Mb</c:v>
                  </c:pt>
                  <c:pt idx="3">
                    <c:v>4 Mb</c:v>
                  </c:pt>
                </c:lvl>
              </c:multiLvlStrCache>
            </c:multiLvlStrRef>
          </c:cat>
          <c:val>
            <c:numRef>
              <c:f>Sheet1!$C$2:$C$5</c:f>
              <c:numCache>
                <c:formatCode>General</c:formatCode>
                <c:ptCount val="4"/>
                <c:pt idx="0">
                  <c:v>3</c:v>
                </c:pt>
                <c:pt idx="1">
                  <c:v>129</c:v>
                </c:pt>
                <c:pt idx="2">
                  <c:v>5</c:v>
                </c:pt>
                <c:pt idx="3">
                  <c:v>31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8293B"/>
                </a:solidFill>
                <a:latin typeface="Arial"/>
              </a:defRPr>
            </a:pPr>
            <a:endParaRPr lang="en-US"/>
          </a:p>
        </c:txPr>
        <c:crossAx val="2094734552"/>
        <c:crosses val="autoZero"/>
        <c:auto val="1"/>
        <c:lblAlgn val="ctr"/>
        <c:noMultiLvlLbl val="1"/>
      </c:catAx>
      <c:valAx>
        <c:axId val="2094734552"/>
        <c:scaling>
          <c:logBase val="10"/>
          <c:orientation val="minMax"/>
          <c:max val="1000"/>
          <c:min val="0.1"/>
        </c:scaling>
        <c:delete val="0"/>
        <c:axPos val="l"/>
        <c:majorGridlines>
          <c:spPr>
            <a:ln w="6350" cap="flat">
              <a:solidFill>
                <a:srgbClr val="D9E1E9"/>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400" b="0" i="0" u="none" strike="noStrike">
                <a:solidFill>
                  <a:srgbClr val="18293B"/>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400">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[0:00-0:15]
Thanks. I'm Parsa Eskandar, from Benedict Paten's lab at UC Santa Cruz, and this is joint work with Jouni Sirén and the UCSC Genome Browser team.
(Don't linger. Advance.)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[0:15-1:00]
The UCSC Genome Browser can open 464 HPRC haplotype assemblies. The same database has 56 chain files.
(pause: two full beats, let them do the arithmetic)
Which means almost everything we know about the human genome is written in hg38 or CHM13, and for the other 462 there is no way to move any of it across. You can look at them. You can't ask them anything. That's this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[1:00-1:50]
For thirty years two tools have moved knowledge between genomes: alignment and lift-over. Neither is broken. Both are single-pair.
(point left) BLAT runs against one assembly. There are 464 now.
(point right) A chain covers one ordered pair. Two hundred thousand possible pairs; the browser has fifty-six.
And yes, this room can already query the graph: giraffe, the r-index, odgi, halLiftover on the Cactus alignment. From a shell, in seconds to minutes, by people who write shell.
What has not existed is that capability at web latency, for any pair, inside the tool everyone else uses. In the browser, the graph has been a file, not a tool.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[1:50-2:30]
Strip this down to what a browser user actually types.
One: I have a sequence. Which haplotypes carry it, and where?
Two: I have a region on CHM13. Where is it on HG02015?
Three: when I get there, can I see the genes?
Everyone in this room can answer all three with enough shell. Nobody can answer any of them from the browser, in seconds, for an arbitrary pair. By the end of this talk: all three,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[2:30-3:15]
Here's what we built to answer all three, and it fits on one slide. The browser talks to a service. The service holds two engines over the HPRC v2 graph: vg giraffe for mapping sequences, and our coordinate-translation index. Three pages in the browser, three things they do: search, translate, lift annotations.
Fifteen lines changed in the browser's core; everything else is a new page. Let me start with the one idea that makes translation possible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[3:15-4:25]
The foundation is our tag-array index, from the lossless pangenome indexing work.
An r-index over all 464 haplotypes tells you where a string occurs, but only as a position in a text. Tag arrays add one thing: every position in the BWT also carries its node in the graph. So a string match doesn't give you an offset. It gives you a place in the graph. One tag per BWT run, not per position, which is why this fits in memory.
And once you're standing on a node, the GBWT tells you every haplotype that passes through it, and where. All 464, in a single lookup.
Notice what's missing: nothing anywhere says CHM13-to-HG02015. That is the property that makes any-to-any translation possible.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[4:25-5:55]
With that one property in hand, translating a region stops being a lookup and becomes a walk.
(1) Find the query interval's nodes on the source haplotype's path.
(2) At those nodes, ask the tag arrays who else is standing here. Every haplotype comes back at once.
(3) Nodes that source and target each visit exactly once are unambiguous anchors. Orthology is inherited from the graph's alignment. What we guarantee is that a repeat can't manufacture a false anchor, and a colinearity check drops pairs whose spans disagree.
(4) Walk the graph between anchors, one base at a time, and group the bases that share an offset into blocks. A block breaks on an indel, never on a SNP; an inversion starts a new chain. That is exactly what a chain file means.
So the output isn't a coordinate. It is a chain, and the browser already knows what to do with a chain. And if the target simply doesn't contain the interval, you get fewer positions, never invented 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[5:55-6:55]
That's the whole method. Now the three questions, starting with the first.
This is the Pangenome Mapping page: BLAT, but for the pangenome. You paste a sequence. It is mapped once, to the whole graph, with vg giraffe. You get back every assembly consistent with it, ranked by identity, and a position on whichever haplotype you pick. Picking a different haplotype re-surjects the same alignment; nothing is remapped.
You'll notice MAPQ zero. That's not a bad alignment; that's what MAPQ means in a graph where every locus exists hundreds of times. We report identity and coverage per haplotype instead.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[6:55-7:25]
Click through to a haplotype, here HG01167 hap1, and you don't land on a special page. You land in the browser, with the sequence as a native track and base-level differences colored the way BLAT users already know. Nothing here is a special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[7:25-8:15]
Question two starts from coordinates instead of a sequence. Convert Coordinates Between Assemblies. Source: CHM13, a ten-kilobase region on chromosome 6. Target: any of the other 463 haplotypes; the picker can show only the ones that actually contain the region.
Result: HG02015 paternal, contig CM085893, a hundred percent of bases, a hundred percent of span, in about a hundred milliseconds. And GRCh38 is a path in this graph too, so hg38 works as the source.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[8:15-8:40]
And it asks nothing new of anyone. Open the ordinary hgConvert page and the pangenome assemblies are simply in the menu. Pick one, and the conversion goes through the graph instead of a chain file. Same button, new capability.
(Skip this slide if running long.)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[8:40-10:20]  SLOW DOWN. This is the slide the talk exists for.
But a coordinate on its own is a lonely thing. Question three, and this is the one I care about most.
This is HG02015 paternal. Release 2 gave it CAT and Liftoff genes, and per-assembly annotation is the right answer where it exists. What HG02015 does not have, and never will, is everything else: ClinVar, the GWAS catalog, ENCODE, your lab's BED file. Those live once, on one reference.
And here they are: CHM13's tracks, drawn at their translated positions, under an Alignment Differences track marking every insertion, deletion and mismatch between the two assemblies.
(pause) The chain that made this possible did not exist a second before the page loaded. The translation blocks became a bigChain, the browser's own QuickLift drew the tracks, and the chain is reused for every pan.
That's what I mean by making release 2 useful. The thousands of tracks that exist once, on one reference, will never be rebuilt 464 times. Any of these assemblies can borrow them, on demand, for the region you're actually looking 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[10:20-11:10]
Before the numbers on speed, the numbers on trust, and which ones I actually have.
Checked: the Alignment Differences track, base by base, across 22 kb of ABO: exactly the two real mismatches, nothing invented. A correctness check, not a divergence estimate. Completeness by span: 99% at gene scale, 93% at a megabase. And one hard case: a segdup-dense span on 1q21.1 recovers about half its bases. Missing positions, not wrong ones: a repeat cannot manufacture an anchor.
Not yet: halLiftover on the same Cactus alignment, agreement with the 56 existing chains, and the one I care about most, CHM13's CAT transcripts onto a haplotype that has its own CAT annotation, exon boundary by exon boundary. Those three come before public release.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[11:10-12:00]
None of this matters if it takes a minute. So: is it fast enough to sit behind a web page?
Exon-scale intervals translate in about twenty milliseconds, a ten-kilobase gene in about a tenth of a second, a hundred kilobases in under a second, a megabase in about four.
And it serves many people at once: throughput goes from six to sixty queries a second and saturates around eight cores. Read that as "one box serves about sixty queries a second", not as perfect scaling; the single-thread number was warm-up-limited.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[12:00-13:05]
Two things I want to be honest about before I stop.
Chains are built per view, so if you pan far enough we build another one. And wide, segdup-dense spans lose positions: on 1q21.1 we recover about half. Missing, not wrong. This runs on the development browser, as one service with about 250 gigabytes of RAM, and there is no public API yet.
What's next. Chains that persist: right now a widened chain dies with your session; share it across users and popular regions are free after the first visit. Better recovery in segdups. A documented JSON API, because half of you will want this from a pipeline, not a browser. And more graphs: nothing here is specific to release 2; a new release plugs in by building one index.
And the milestone all of that serves: the public UCSC Genome Browser.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[13:05-13:45]
So, back to the three questions I promised.
Which haplotypes carry my sequence? Yes. Where is my region on HG02015? Yes. Can I see the genes when I get there? Yes: the reference's tracks, over a chain built on the spot.
It's live on the development browser today. So bring me your hardest region, and tell me where it breaks.
(Advance to the thanks slide, let it breathe, then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[13:45-14:00]
None of this was mine alone: Jouni Sirén, Benedict Paten, and a lot of help from the Computational Genomics Lab and the Genome Browser team. Thank you.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slides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for questions about accuracy in repeats, or how the output relates to chain files.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how on-demand chains still let users pan and zoom.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sizes and costs for questions about what it takes to run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1.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6294A"/>
        </a:solidFill>
      </p:bgPr>
    </p:bg>
    <p:spTree>
      <p:nvGrpSpPr>
        <p:cNvPr id="1" name=""/>
        <p:cNvGrpSpPr/>
        <p:nvPr/>
      </p:nvGrpSpPr>
      <p:grpSpPr>
        <a:xfrm>
          <a:off x="0" y="0"/>
          <a:ext cx="0" cy="0"/>
          <a:chOff x="0" y="0"/>
          <a:chExt cx="0" cy="0"/>
        </a:xfrm>
      </p:grpSpPr>
      <p:sp>
        <p:nvSpPr>
          <p:cNvPr id="2" name="Text 0"/>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3D5A7A"/>
                </a:solidFill>
                <a:latin typeface="Calibri" pitchFamily="34" charset="0"/>
                <a:ea typeface="Calibri" pitchFamily="34" charset="-122"/>
                <a:cs typeface="Calibri" pitchFamily="34" charset="-120"/>
              </a:rPr>
              <a:t>1</a:t>
            </a:r>
            <a:endParaRPr lang="en-US" sz="1000" dirty="0"/>
          </a:p>
        </p:txBody>
      </p:sp>
      <p:sp>
        <p:nvSpPr>
          <p:cNvPr id="3" name="Shape 1"/>
          <p:cNvSpPr/>
          <p:nvPr/>
        </p:nvSpPr>
        <p:spPr>
          <a:xfrm>
            <a:off x="0" y="2331720"/>
            <a:ext cx="12191695" cy="27432"/>
          </a:xfrm>
          <a:prstGeom prst="rect">
            <a:avLst/>
          </a:prstGeom>
          <a:solidFill>
            <a:srgbClr val="0E7C9C"/>
          </a:solidFill>
          <a:ln w="12700">
            <a:solidFill>
              <a:srgbClr val="0E7C9C"/>
            </a:solidFill>
            <a:prstDash val="solid"/>
          </a:ln>
        </p:spPr>
      </p:sp>
      <p:pic>
        <p:nvPicPr>
          <p:cNvPr id="4" name="Image 0" descr="/Users/seeskand/Documents/HPRC/2026/hprc_2026_poster/talk/figures/emblem.png">    </p:cNvPr>
          <p:cNvPicPr>
            <a:picLocks noChangeAspect="1"/>
          </p:cNvPicPr>
          <p:nvPr/>
        </p:nvPicPr>
        <p:blipFill>
          <a:blip r:embed="rId1"/>
          <a:stretch>
            <a:fillRect/>
          </a:stretch>
        </p:blipFill>
        <p:spPr>
          <a:xfrm>
            <a:off x="6613855" y="1757997"/>
            <a:ext cx="5029200" cy="1174879"/>
          </a:xfrm>
          <a:prstGeom prst="rect">
            <a:avLst/>
          </a:prstGeom>
        </p:spPr>
      </p:pic>
      <p:pic>
        <p:nvPicPr>
          <p:cNvPr id="5" name="Image 1" descr="/Users/seeskand/Documents/HPRC/2026/hprc_2026_poster/talk/figures/hprc_logo.png">    </p:cNvPr>
          <p:cNvPicPr>
            <a:picLocks noChangeAspect="1"/>
          </p:cNvPicPr>
          <p:nvPr/>
        </p:nvPicPr>
        <p:blipFill>
          <a:blip r:embed="rId2"/>
          <a:stretch>
            <a:fillRect/>
          </a:stretch>
        </p:blipFill>
        <p:spPr>
          <a:xfrm>
            <a:off x="548640" y="411480"/>
            <a:ext cx="1280160" cy="1062774"/>
          </a:xfrm>
          <a:prstGeom prst="rect">
            <a:avLst/>
          </a:prstGeom>
        </p:spPr>
      </p:pic>
      <p:sp>
        <p:nvSpPr>
          <p:cNvPr id="6" name="Text 2"/>
          <p:cNvSpPr txBox="1"/>
          <p:nvPr/>
        </p:nvSpPr>
        <p:spPr>
          <a:xfrm>
            <a:off x="548640" y="1874520"/>
            <a:ext cx="3657600" cy="320040"/>
          </a:xfrm>
          <a:prstGeom prst="rect">
            <a:avLst/>
          </a:prstGeom>
          <a:noFill/>
          <a:ln/>
        </p:spPr>
        <p:txBody>
          <a:bodyPr wrap="square" lIns="0" tIns="0" rIns="0" bIns="0" rtlCol="0" anchor="t"/>
          <a:lstStyle/>
          <a:p>
            <a:pPr indent="0" marL="0">
              <a:buNone/>
            </a:pPr>
            <a:r>
              <a:rPr lang="en-US" sz="1400" b="1" spc="300" kern="0" dirty="0">
                <a:solidFill>
                  <a:srgbClr val="FDC700"/>
                </a:solidFill>
                <a:latin typeface="Calibri" pitchFamily="34" charset="0"/>
                <a:ea typeface="Calibri" pitchFamily="34" charset="-122"/>
                <a:cs typeface="Calibri" pitchFamily="34" charset="-120"/>
              </a:rPr>
              <a:t>HPRC 2026</a:t>
            </a:r>
            <a:endParaRPr lang="en-US" sz="1400" dirty="0"/>
          </a:p>
        </p:txBody>
      </p:sp>
      <p:sp>
        <p:nvSpPr>
          <p:cNvPr id="7" name="Text 3"/>
          <p:cNvSpPr txBox="1"/>
          <p:nvPr/>
        </p:nvSpPr>
        <p:spPr>
          <a:xfrm>
            <a:off x="548640" y="2606040"/>
            <a:ext cx="8686800" cy="1554480"/>
          </a:xfrm>
          <a:prstGeom prst="rect">
            <a:avLst/>
          </a:prstGeom>
          <a:noFill/>
          <a:ln/>
        </p:spPr>
        <p:txBody>
          <a:bodyPr wrap="square" lIns="0" tIns="0" rIns="0" bIns="0" rtlCol="0" anchor="t"/>
          <a:lstStyle/>
          <a:p>
            <a:pPr indent="0" marL="0">
              <a:buNone/>
            </a:pPr>
            <a:r>
              <a:rPr lang="en-US" sz="4400" b="1" dirty="0">
                <a:solidFill>
                  <a:srgbClr val="FFFFFF"/>
                </a:solidFill>
                <a:latin typeface="Calibri" pitchFamily="34" charset="0"/>
                <a:ea typeface="Calibri" pitchFamily="34" charset="-122"/>
                <a:cs typeface="Calibri" pitchFamily="34" charset="-120"/>
              </a:rPr>
              <a:t>The UCSC Genome Browser</a:t>
            </a:r>
            <a:endParaRPr lang="en-US" sz="4400" dirty="0"/>
          </a:p>
          <a:p>
            <a:pPr indent="0" marL="0">
              <a:buNone/>
            </a:pPr>
            <a:r>
              <a:rPr lang="en-US" sz="4400" b="1" dirty="0">
                <a:solidFill>
                  <a:srgbClr val="FDC700"/>
                </a:solidFill>
                <a:latin typeface="Calibri" pitchFamily="34" charset="0"/>
                <a:ea typeface="Calibri" pitchFamily="34" charset="-122"/>
                <a:cs typeface="Calibri" pitchFamily="34" charset="-120"/>
              </a:rPr>
              <a:t>now speaks pangenome.</a:t>
            </a:r>
            <a:endParaRPr lang="en-US" sz="4400" dirty="0"/>
          </a:p>
        </p:txBody>
      </p:sp>
      <p:sp>
        <p:nvSpPr>
          <p:cNvPr id="8" name="Text 4"/>
          <p:cNvSpPr txBox="1"/>
          <p:nvPr/>
        </p:nvSpPr>
        <p:spPr>
          <a:xfrm>
            <a:off x="548640" y="4251960"/>
            <a:ext cx="10515600" cy="457200"/>
          </a:xfrm>
          <a:prstGeom prst="rect">
            <a:avLst/>
          </a:prstGeom>
          <a:noFill/>
          <a:ln/>
        </p:spPr>
        <p:txBody>
          <a:bodyPr wrap="square" lIns="0" tIns="0" rIns="0" bIns="0" rtlCol="0" anchor="t"/>
          <a:lstStyle/>
          <a:p>
            <a:pPr indent="0" marL="0">
              <a:buNone/>
            </a:pPr>
            <a:r>
              <a:rPr lang="en-US" sz="2000" dirty="0">
                <a:solidFill>
                  <a:srgbClr val="FFFFFF"/>
                </a:solidFill>
                <a:latin typeface="Calibri" pitchFamily="34" charset="0"/>
                <a:ea typeface="Calibri" pitchFamily="34" charset="-122"/>
                <a:cs typeface="Calibri" pitchFamily="34" charset="-120"/>
              </a:rPr>
              <a:t>Sequence search and coordinate translation across all 464 HPRC haplotypes</a:t>
            </a:r>
            <a:endParaRPr lang="en-US" sz="2000" dirty="0"/>
          </a:p>
        </p:txBody>
      </p:sp>
      <p:sp>
        <p:nvSpPr>
          <p:cNvPr id="9" name="Text 5"/>
          <p:cNvSpPr txBox="1"/>
          <p:nvPr/>
        </p:nvSpPr>
        <p:spPr>
          <a:xfrm>
            <a:off x="548640" y="4754880"/>
            <a:ext cx="8686800" cy="365760"/>
          </a:xfrm>
          <a:prstGeom prst="rect">
            <a:avLst/>
          </a:prstGeom>
          <a:noFill/>
          <a:ln/>
        </p:spPr>
        <p:txBody>
          <a:bodyPr wrap="square" lIns="0" tIns="0" rIns="0" bIns="0" rtlCol="0" anchor="t"/>
          <a:lstStyle/>
          <a:p>
            <a:pPr indent="0" marL="0">
              <a:buNone/>
            </a:pPr>
            <a:r>
              <a:rPr lang="en-US" sz="1600" dirty="0">
                <a:solidFill>
                  <a:srgbClr val="C6D3DF"/>
                </a:solidFill>
                <a:latin typeface="Calibri" pitchFamily="34" charset="0"/>
                <a:ea typeface="Calibri" pitchFamily="34" charset="-122"/>
                <a:cs typeface="Calibri" pitchFamily="34" charset="-120"/>
              </a:rPr>
              <a:t>Live on the development browser today</a:t>
            </a:r>
            <a:endParaRPr lang="en-US" sz="1600" dirty="0"/>
          </a:p>
        </p:txBody>
      </p:sp>
      <p:sp>
        <p:nvSpPr>
          <p:cNvPr id="10" name="Text 6"/>
          <p:cNvSpPr txBox="1"/>
          <p:nvPr/>
        </p:nvSpPr>
        <p:spPr>
          <a:xfrm>
            <a:off x="548640" y="5532120"/>
            <a:ext cx="9144000" cy="411480"/>
          </a:xfrm>
          <a:prstGeom prst="rect">
            <a:avLst/>
          </a:prstGeom>
          <a:noFill/>
          <a:ln/>
        </p:spPr>
        <p:txBody>
          <a:bodyPr wrap="square" lIns="0" tIns="0" rIns="0" bIns="0" rtlCol="0" anchor="t"/>
          <a:lstStyle/>
          <a:p>
            <a:pPr indent="0" marL="0">
              <a:buNone/>
            </a:pPr>
            <a:r>
              <a:rPr lang="en-US" sz="1800" dirty="0">
                <a:solidFill>
                  <a:srgbClr val="FFFFFF"/>
                </a:solidFill>
                <a:latin typeface="Calibri" pitchFamily="34" charset="0"/>
                <a:ea typeface="Calibri" pitchFamily="34" charset="-122"/>
                <a:cs typeface="Calibri" pitchFamily="34" charset="-120"/>
              </a:rPr>
              <a:t>Parsa Eskandar   •   Jouni Sirén   •   Benedict Paten</a:t>
            </a:r>
            <a:endParaRPr lang="en-US" sz="1800" dirty="0"/>
          </a:p>
        </p:txBody>
      </p:sp>
      <p:sp>
        <p:nvSpPr>
          <p:cNvPr id="11" name="Text 7"/>
          <p:cNvSpPr txBox="1"/>
          <p:nvPr/>
        </p:nvSpPr>
        <p:spPr>
          <a:xfrm>
            <a:off x="548640" y="5943600"/>
            <a:ext cx="9144000" cy="365760"/>
          </a:xfrm>
          <a:prstGeom prst="rect">
            <a:avLst/>
          </a:prstGeom>
          <a:noFill/>
          <a:ln/>
        </p:spPr>
        <p:txBody>
          <a:bodyPr wrap="square" lIns="0" tIns="0" rIns="0" bIns="0" rtlCol="0" anchor="t"/>
          <a:lstStyle/>
          <a:p>
            <a:pPr indent="0" marL="0">
              <a:buNone/>
            </a:pPr>
            <a:r>
              <a:rPr lang="en-US" sz="1600" dirty="0">
                <a:solidFill>
                  <a:srgbClr val="C6D3DF"/>
                </a:solidFill>
                <a:latin typeface="Calibri" pitchFamily="34" charset="0"/>
                <a:ea typeface="Calibri" pitchFamily="34" charset="-122"/>
                <a:cs typeface="Calibri" pitchFamily="34" charset="-120"/>
              </a:rPr>
              <a:t>UC Santa Cruz Genomics Institute</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6294A"/>
        </a:solidFill>
      </p:bgPr>
    </p:bg>
    <p:spTree>
      <p:nvGrpSpPr>
        <p:cNvPr id="1" name=""/>
        <p:cNvGrpSpPr/>
        <p:nvPr/>
      </p:nvGrpSpPr>
      <p:grpSpPr>
        <a:xfrm>
          <a:off x="0" y="0"/>
          <a:ext cx="0" cy="0"/>
          <a:chOff x="0" y="0"/>
          <a:chExt cx="0" cy="0"/>
        </a:xfrm>
      </p:grpSpPr>
      <p:sp>
        <p:nvSpPr>
          <p:cNvPr id="2" name="Text 0"/>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3D5A7A"/>
                </a:solidFill>
                <a:latin typeface="Calibri" pitchFamily="34" charset="0"/>
                <a:ea typeface="Calibri" pitchFamily="34" charset="-122"/>
                <a:cs typeface="Calibri" pitchFamily="34" charset="-120"/>
              </a:rPr>
              <a:t>2</a:t>
            </a:r>
            <a:endParaRPr lang="en-US" sz="1000" dirty="0"/>
          </a:p>
        </p:txBody>
      </p:sp>
      <p:sp>
        <p:nvSpPr>
          <p:cNvPr id="3" name="Text 1"/>
          <p:cNvSpPr txBox="1"/>
          <p:nvPr/>
        </p:nvSpPr>
        <p:spPr>
          <a:xfrm>
            <a:off x="548640" y="777240"/>
            <a:ext cx="5120640" cy="1828800"/>
          </a:xfrm>
          <a:prstGeom prst="rect">
            <a:avLst/>
          </a:prstGeom>
          <a:noFill/>
          <a:ln/>
        </p:spPr>
        <p:txBody>
          <a:bodyPr wrap="square" lIns="0" tIns="0" rIns="0" bIns="0" rtlCol="0" anchor="ctr"/>
          <a:lstStyle/>
          <a:p>
            <a:pPr indent="0" marL="0">
              <a:buNone/>
            </a:pPr>
            <a:r>
              <a:rPr lang="en-US" sz="12000" b="1" dirty="0">
                <a:solidFill>
                  <a:srgbClr val="FDC700"/>
                </a:solidFill>
                <a:latin typeface="Calibri" pitchFamily="34" charset="0"/>
                <a:ea typeface="Calibri" pitchFamily="34" charset="-122"/>
                <a:cs typeface="Calibri" pitchFamily="34" charset="-120"/>
              </a:rPr>
              <a:t>464</a:t>
            </a:r>
            <a:endParaRPr lang="en-US" sz="12000" dirty="0"/>
          </a:p>
        </p:txBody>
      </p:sp>
      <p:sp>
        <p:nvSpPr>
          <p:cNvPr id="4" name="Text 2"/>
          <p:cNvSpPr txBox="1"/>
          <p:nvPr/>
        </p:nvSpPr>
        <p:spPr>
          <a:xfrm>
            <a:off x="548640" y="2606040"/>
            <a:ext cx="5120640" cy="822960"/>
          </a:xfrm>
          <a:prstGeom prst="rect">
            <a:avLst/>
          </a:prstGeom>
          <a:noFill/>
          <a:ln/>
        </p:spPr>
        <p:txBody>
          <a:bodyPr wrap="square" lIns="0" tIns="0" rIns="0" bIns="0" rtlCol="0" anchor="t"/>
          <a:lstStyle/>
          <a:p>
            <a:pPr indent="0" marL="0">
              <a:buNone/>
            </a:pPr>
            <a:r>
              <a:rPr lang="en-US" sz="2200" dirty="0">
                <a:solidFill>
                  <a:srgbClr val="FFFFFF"/>
                </a:solidFill>
                <a:latin typeface="Calibri" pitchFamily="34" charset="0"/>
                <a:ea typeface="Calibri" pitchFamily="34" charset="-122"/>
                <a:cs typeface="Calibri" pitchFamily="34" charset="-120"/>
              </a:rPr>
              <a:t>haplotype assemblies the Genome Browser can open</a:t>
            </a:r>
            <a:endParaRPr lang="en-US" sz="2200" dirty="0"/>
          </a:p>
        </p:txBody>
      </p:sp>
      <p:sp>
        <p:nvSpPr>
          <p:cNvPr id="5" name="Text 3"/>
          <p:cNvSpPr txBox="1"/>
          <p:nvPr/>
        </p:nvSpPr>
        <p:spPr>
          <a:xfrm>
            <a:off x="6400800" y="777240"/>
            <a:ext cx="5212080" cy="1828800"/>
          </a:xfrm>
          <a:prstGeom prst="rect">
            <a:avLst/>
          </a:prstGeom>
          <a:noFill/>
          <a:ln/>
        </p:spPr>
        <p:txBody>
          <a:bodyPr wrap="square" lIns="0" tIns="0" rIns="0" bIns="0" rtlCol="0" anchor="ctr"/>
          <a:lstStyle/>
          <a:p>
            <a:pPr indent="0" marL="0">
              <a:buNone/>
            </a:pPr>
            <a:r>
              <a:rPr lang="en-US" sz="12000" b="1" dirty="0">
                <a:solidFill>
                  <a:srgbClr val="FFFFFF"/>
                </a:solidFill>
                <a:latin typeface="Calibri" pitchFamily="34" charset="0"/>
                <a:ea typeface="Calibri" pitchFamily="34" charset="-122"/>
                <a:cs typeface="Calibri" pitchFamily="34" charset="-120"/>
              </a:rPr>
              <a:t>56</a:t>
            </a:r>
            <a:endParaRPr lang="en-US" sz="12000" dirty="0"/>
          </a:p>
        </p:txBody>
      </p:sp>
      <p:sp>
        <p:nvSpPr>
          <p:cNvPr id="6" name="Text 4"/>
          <p:cNvSpPr txBox="1"/>
          <p:nvPr/>
        </p:nvSpPr>
        <p:spPr>
          <a:xfrm>
            <a:off x="6400800" y="2606040"/>
            <a:ext cx="5212080" cy="822960"/>
          </a:xfrm>
          <a:prstGeom prst="rect">
            <a:avLst/>
          </a:prstGeom>
          <a:noFill/>
          <a:ln/>
        </p:spPr>
        <p:txBody>
          <a:bodyPr wrap="square" lIns="0" tIns="0" rIns="0" bIns="0" rtlCol="0" anchor="t"/>
          <a:lstStyle/>
          <a:p>
            <a:pPr indent="0" marL="0">
              <a:buNone/>
            </a:pPr>
            <a:r>
              <a:rPr lang="en-US" sz="2200" dirty="0">
                <a:solidFill>
                  <a:srgbClr val="C6D3DF"/>
                </a:solidFill>
                <a:latin typeface="Calibri" pitchFamily="34" charset="0"/>
                <a:ea typeface="Calibri" pitchFamily="34" charset="-122"/>
                <a:cs typeface="Calibri" pitchFamily="34" charset="-120"/>
              </a:rPr>
              <a:t>chain files in its database</a:t>
            </a:r>
            <a:endParaRPr lang="en-US" sz="2200" dirty="0"/>
          </a:p>
        </p:txBody>
      </p:sp>
      <p:sp>
        <p:nvSpPr>
          <p:cNvPr id="7" name="Shape 5"/>
          <p:cNvSpPr/>
          <p:nvPr/>
        </p:nvSpPr>
        <p:spPr>
          <a:xfrm>
            <a:off x="548640" y="3657600"/>
            <a:ext cx="105156" cy="105156"/>
          </a:xfrm>
          <a:prstGeom prst="rect">
            <a:avLst/>
          </a:prstGeom>
          <a:solidFill>
            <a:srgbClr val="17436B"/>
          </a:solidFill>
          <a:ln w="12700">
            <a:solidFill>
              <a:srgbClr val="17436B"/>
            </a:solidFill>
            <a:prstDash val="solid"/>
          </a:ln>
        </p:spPr>
      </p:sp>
      <p:sp>
        <p:nvSpPr>
          <p:cNvPr id="8" name="Shape 6"/>
          <p:cNvSpPr/>
          <p:nvPr/>
        </p:nvSpPr>
        <p:spPr>
          <a:xfrm>
            <a:off x="694944" y="3657600"/>
            <a:ext cx="105156" cy="105156"/>
          </a:xfrm>
          <a:prstGeom prst="rect">
            <a:avLst/>
          </a:prstGeom>
          <a:solidFill>
            <a:srgbClr val="17436B"/>
          </a:solidFill>
          <a:ln w="12700">
            <a:solidFill>
              <a:srgbClr val="17436B"/>
            </a:solidFill>
            <a:prstDash val="solid"/>
          </a:ln>
        </p:spPr>
      </p:sp>
      <p:sp>
        <p:nvSpPr>
          <p:cNvPr id="9" name="Shape 7"/>
          <p:cNvSpPr/>
          <p:nvPr/>
        </p:nvSpPr>
        <p:spPr>
          <a:xfrm>
            <a:off x="841248" y="3657600"/>
            <a:ext cx="105156" cy="105156"/>
          </a:xfrm>
          <a:prstGeom prst="rect">
            <a:avLst/>
          </a:prstGeom>
          <a:solidFill>
            <a:srgbClr val="17436B"/>
          </a:solidFill>
          <a:ln w="12700">
            <a:solidFill>
              <a:srgbClr val="17436B"/>
            </a:solidFill>
            <a:prstDash val="solid"/>
          </a:ln>
        </p:spPr>
      </p:sp>
      <p:sp>
        <p:nvSpPr>
          <p:cNvPr id="10" name="Shape 8"/>
          <p:cNvSpPr/>
          <p:nvPr/>
        </p:nvSpPr>
        <p:spPr>
          <a:xfrm>
            <a:off x="987552" y="3657600"/>
            <a:ext cx="105156" cy="105156"/>
          </a:xfrm>
          <a:prstGeom prst="rect">
            <a:avLst/>
          </a:prstGeom>
          <a:solidFill>
            <a:srgbClr val="17436B"/>
          </a:solidFill>
          <a:ln w="12700">
            <a:solidFill>
              <a:srgbClr val="17436B"/>
            </a:solidFill>
            <a:prstDash val="solid"/>
          </a:ln>
        </p:spPr>
      </p:sp>
      <p:sp>
        <p:nvSpPr>
          <p:cNvPr id="11" name="Shape 9"/>
          <p:cNvSpPr/>
          <p:nvPr/>
        </p:nvSpPr>
        <p:spPr>
          <a:xfrm>
            <a:off x="1133856" y="3657600"/>
            <a:ext cx="105156" cy="105156"/>
          </a:xfrm>
          <a:prstGeom prst="rect">
            <a:avLst/>
          </a:prstGeom>
          <a:solidFill>
            <a:srgbClr val="17436B"/>
          </a:solidFill>
          <a:ln w="12700">
            <a:solidFill>
              <a:srgbClr val="17436B"/>
            </a:solidFill>
            <a:prstDash val="solid"/>
          </a:ln>
        </p:spPr>
      </p:sp>
      <p:sp>
        <p:nvSpPr>
          <p:cNvPr id="12" name="Shape 10"/>
          <p:cNvSpPr/>
          <p:nvPr/>
        </p:nvSpPr>
        <p:spPr>
          <a:xfrm>
            <a:off x="1280160" y="3657600"/>
            <a:ext cx="105156" cy="105156"/>
          </a:xfrm>
          <a:prstGeom prst="rect">
            <a:avLst/>
          </a:prstGeom>
          <a:solidFill>
            <a:srgbClr val="17436B"/>
          </a:solidFill>
          <a:ln w="12700">
            <a:solidFill>
              <a:srgbClr val="17436B"/>
            </a:solidFill>
            <a:prstDash val="solid"/>
          </a:ln>
        </p:spPr>
      </p:sp>
      <p:sp>
        <p:nvSpPr>
          <p:cNvPr id="13" name="Shape 11"/>
          <p:cNvSpPr/>
          <p:nvPr/>
        </p:nvSpPr>
        <p:spPr>
          <a:xfrm>
            <a:off x="1426464" y="3657600"/>
            <a:ext cx="105156" cy="105156"/>
          </a:xfrm>
          <a:prstGeom prst="rect">
            <a:avLst/>
          </a:prstGeom>
          <a:solidFill>
            <a:srgbClr val="17436B"/>
          </a:solidFill>
          <a:ln w="12700">
            <a:solidFill>
              <a:srgbClr val="17436B"/>
            </a:solidFill>
            <a:prstDash val="solid"/>
          </a:ln>
        </p:spPr>
      </p:sp>
      <p:sp>
        <p:nvSpPr>
          <p:cNvPr id="14" name="Shape 12"/>
          <p:cNvSpPr/>
          <p:nvPr/>
        </p:nvSpPr>
        <p:spPr>
          <a:xfrm>
            <a:off x="1572768" y="3657600"/>
            <a:ext cx="105156" cy="105156"/>
          </a:xfrm>
          <a:prstGeom prst="rect">
            <a:avLst/>
          </a:prstGeom>
          <a:solidFill>
            <a:srgbClr val="17436B"/>
          </a:solidFill>
          <a:ln w="12700">
            <a:solidFill>
              <a:srgbClr val="17436B"/>
            </a:solidFill>
            <a:prstDash val="solid"/>
          </a:ln>
        </p:spPr>
      </p:sp>
      <p:sp>
        <p:nvSpPr>
          <p:cNvPr id="15" name="Shape 13"/>
          <p:cNvSpPr/>
          <p:nvPr/>
        </p:nvSpPr>
        <p:spPr>
          <a:xfrm>
            <a:off x="1719072" y="3657600"/>
            <a:ext cx="105156" cy="105156"/>
          </a:xfrm>
          <a:prstGeom prst="rect">
            <a:avLst/>
          </a:prstGeom>
          <a:solidFill>
            <a:srgbClr val="17436B"/>
          </a:solidFill>
          <a:ln w="12700">
            <a:solidFill>
              <a:srgbClr val="17436B"/>
            </a:solidFill>
            <a:prstDash val="solid"/>
          </a:ln>
        </p:spPr>
      </p:sp>
      <p:sp>
        <p:nvSpPr>
          <p:cNvPr id="16" name="Shape 14"/>
          <p:cNvSpPr/>
          <p:nvPr/>
        </p:nvSpPr>
        <p:spPr>
          <a:xfrm>
            <a:off x="1865376" y="3657600"/>
            <a:ext cx="105156" cy="105156"/>
          </a:xfrm>
          <a:prstGeom prst="rect">
            <a:avLst/>
          </a:prstGeom>
          <a:solidFill>
            <a:srgbClr val="17436B"/>
          </a:solidFill>
          <a:ln w="12700">
            <a:solidFill>
              <a:srgbClr val="17436B"/>
            </a:solidFill>
            <a:prstDash val="solid"/>
          </a:ln>
        </p:spPr>
      </p:sp>
      <p:sp>
        <p:nvSpPr>
          <p:cNvPr id="17" name="Shape 15"/>
          <p:cNvSpPr/>
          <p:nvPr/>
        </p:nvSpPr>
        <p:spPr>
          <a:xfrm>
            <a:off x="2011680" y="3657600"/>
            <a:ext cx="105156" cy="105156"/>
          </a:xfrm>
          <a:prstGeom prst="rect">
            <a:avLst/>
          </a:prstGeom>
          <a:solidFill>
            <a:srgbClr val="17436B"/>
          </a:solidFill>
          <a:ln w="12700">
            <a:solidFill>
              <a:srgbClr val="17436B"/>
            </a:solidFill>
            <a:prstDash val="solid"/>
          </a:ln>
        </p:spPr>
      </p:sp>
      <p:sp>
        <p:nvSpPr>
          <p:cNvPr id="18" name="Shape 16"/>
          <p:cNvSpPr/>
          <p:nvPr/>
        </p:nvSpPr>
        <p:spPr>
          <a:xfrm>
            <a:off x="2157984" y="3657600"/>
            <a:ext cx="105156" cy="105156"/>
          </a:xfrm>
          <a:prstGeom prst="rect">
            <a:avLst/>
          </a:prstGeom>
          <a:solidFill>
            <a:srgbClr val="17436B"/>
          </a:solidFill>
          <a:ln w="12700">
            <a:solidFill>
              <a:srgbClr val="17436B"/>
            </a:solidFill>
            <a:prstDash val="solid"/>
          </a:ln>
        </p:spPr>
      </p:sp>
      <p:sp>
        <p:nvSpPr>
          <p:cNvPr id="19" name="Shape 17"/>
          <p:cNvSpPr/>
          <p:nvPr/>
        </p:nvSpPr>
        <p:spPr>
          <a:xfrm>
            <a:off x="2304288" y="3657600"/>
            <a:ext cx="105156" cy="105156"/>
          </a:xfrm>
          <a:prstGeom prst="rect">
            <a:avLst/>
          </a:prstGeom>
          <a:solidFill>
            <a:srgbClr val="17436B"/>
          </a:solidFill>
          <a:ln w="12700">
            <a:solidFill>
              <a:srgbClr val="17436B"/>
            </a:solidFill>
            <a:prstDash val="solid"/>
          </a:ln>
        </p:spPr>
      </p:sp>
      <p:sp>
        <p:nvSpPr>
          <p:cNvPr id="20" name="Shape 18"/>
          <p:cNvSpPr/>
          <p:nvPr/>
        </p:nvSpPr>
        <p:spPr>
          <a:xfrm>
            <a:off x="2450592" y="3657600"/>
            <a:ext cx="105156" cy="105156"/>
          </a:xfrm>
          <a:prstGeom prst="rect">
            <a:avLst/>
          </a:prstGeom>
          <a:solidFill>
            <a:srgbClr val="17436B"/>
          </a:solidFill>
          <a:ln w="12700">
            <a:solidFill>
              <a:srgbClr val="17436B"/>
            </a:solidFill>
            <a:prstDash val="solid"/>
          </a:ln>
        </p:spPr>
      </p:sp>
      <p:sp>
        <p:nvSpPr>
          <p:cNvPr id="21" name="Shape 19"/>
          <p:cNvSpPr/>
          <p:nvPr/>
        </p:nvSpPr>
        <p:spPr>
          <a:xfrm>
            <a:off x="2596896" y="3657600"/>
            <a:ext cx="105156" cy="105156"/>
          </a:xfrm>
          <a:prstGeom prst="rect">
            <a:avLst/>
          </a:prstGeom>
          <a:solidFill>
            <a:srgbClr val="17436B"/>
          </a:solidFill>
          <a:ln w="12700">
            <a:solidFill>
              <a:srgbClr val="17436B"/>
            </a:solidFill>
            <a:prstDash val="solid"/>
          </a:ln>
        </p:spPr>
      </p:sp>
      <p:sp>
        <p:nvSpPr>
          <p:cNvPr id="22" name="Shape 20"/>
          <p:cNvSpPr/>
          <p:nvPr/>
        </p:nvSpPr>
        <p:spPr>
          <a:xfrm>
            <a:off x="2743200" y="3657600"/>
            <a:ext cx="105156" cy="105156"/>
          </a:xfrm>
          <a:prstGeom prst="rect">
            <a:avLst/>
          </a:prstGeom>
          <a:solidFill>
            <a:srgbClr val="17436B"/>
          </a:solidFill>
          <a:ln w="12700">
            <a:solidFill>
              <a:srgbClr val="17436B"/>
            </a:solidFill>
            <a:prstDash val="solid"/>
          </a:ln>
        </p:spPr>
      </p:sp>
      <p:sp>
        <p:nvSpPr>
          <p:cNvPr id="23" name="Shape 21"/>
          <p:cNvSpPr/>
          <p:nvPr/>
        </p:nvSpPr>
        <p:spPr>
          <a:xfrm>
            <a:off x="2889504" y="3657600"/>
            <a:ext cx="105156" cy="105156"/>
          </a:xfrm>
          <a:prstGeom prst="rect">
            <a:avLst/>
          </a:prstGeom>
          <a:solidFill>
            <a:srgbClr val="17436B"/>
          </a:solidFill>
          <a:ln w="12700">
            <a:solidFill>
              <a:srgbClr val="17436B"/>
            </a:solidFill>
            <a:prstDash val="solid"/>
          </a:ln>
        </p:spPr>
      </p:sp>
      <p:sp>
        <p:nvSpPr>
          <p:cNvPr id="24" name="Shape 22"/>
          <p:cNvSpPr/>
          <p:nvPr/>
        </p:nvSpPr>
        <p:spPr>
          <a:xfrm>
            <a:off x="3035808" y="3657600"/>
            <a:ext cx="105156" cy="105156"/>
          </a:xfrm>
          <a:prstGeom prst="rect">
            <a:avLst/>
          </a:prstGeom>
          <a:solidFill>
            <a:srgbClr val="17436B"/>
          </a:solidFill>
          <a:ln w="12700">
            <a:solidFill>
              <a:srgbClr val="17436B"/>
            </a:solidFill>
            <a:prstDash val="solid"/>
          </a:ln>
        </p:spPr>
      </p:sp>
      <p:sp>
        <p:nvSpPr>
          <p:cNvPr id="25" name="Shape 23"/>
          <p:cNvSpPr/>
          <p:nvPr/>
        </p:nvSpPr>
        <p:spPr>
          <a:xfrm>
            <a:off x="3182112" y="3657600"/>
            <a:ext cx="105156" cy="105156"/>
          </a:xfrm>
          <a:prstGeom prst="rect">
            <a:avLst/>
          </a:prstGeom>
          <a:solidFill>
            <a:srgbClr val="17436B"/>
          </a:solidFill>
          <a:ln w="12700">
            <a:solidFill>
              <a:srgbClr val="17436B"/>
            </a:solidFill>
            <a:prstDash val="solid"/>
          </a:ln>
        </p:spPr>
      </p:sp>
      <p:sp>
        <p:nvSpPr>
          <p:cNvPr id="26" name="Shape 24"/>
          <p:cNvSpPr/>
          <p:nvPr/>
        </p:nvSpPr>
        <p:spPr>
          <a:xfrm>
            <a:off x="3328416" y="3657600"/>
            <a:ext cx="105156" cy="105156"/>
          </a:xfrm>
          <a:prstGeom prst="rect">
            <a:avLst/>
          </a:prstGeom>
          <a:solidFill>
            <a:srgbClr val="17436B"/>
          </a:solidFill>
          <a:ln w="12700">
            <a:solidFill>
              <a:srgbClr val="17436B"/>
            </a:solidFill>
            <a:prstDash val="solid"/>
          </a:ln>
        </p:spPr>
      </p:sp>
      <p:sp>
        <p:nvSpPr>
          <p:cNvPr id="27" name="Shape 25"/>
          <p:cNvSpPr/>
          <p:nvPr/>
        </p:nvSpPr>
        <p:spPr>
          <a:xfrm>
            <a:off x="3474720" y="3657600"/>
            <a:ext cx="105156" cy="105156"/>
          </a:xfrm>
          <a:prstGeom prst="rect">
            <a:avLst/>
          </a:prstGeom>
          <a:solidFill>
            <a:srgbClr val="17436B"/>
          </a:solidFill>
          <a:ln w="12700">
            <a:solidFill>
              <a:srgbClr val="17436B"/>
            </a:solidFill>
            <a:prstDash val="solid"/>
          </a:ln>
        </p:spPr>
      </p:sp>
      <p:sp>
        <p:nvSpPr>
          <p:cNvPr id="28" name="Shape 26"/>
          <p:cNvSpPr/>
          <p:nvPr/>
        </p:nvSpPr>
        <p:spPr>
          <a:xfrm>
            <a:off x="3621024" y="3657600"/>
            <a:ext cx="105156" cy="105156"/>
          </a:xfrm>
          <a:prstGeom prst="rect">
            <a:avLst/>
          </a:prstGeom>
          <a:solidFill>
            <a:srgbClr val="17436B"/>
          </a:solidFill>
          <a:ln w="12700">
            <a:solidFill>
              <a:srgbClr val="17436B"/>
            </a:solidFill>
            <a:prstDash val="solid"/>
          </a:ln>
        </p:spPr>
      </p:sp>
      <p:sp>
        <p:nvSpPr>
          <p:cNvPr id="29" name="Shape 27"/>
          <p:cNvSpPr/>
          <p:nvPr/>
        </p:nvSpPr>
        <p:spPr>
          <a:xfrm>
            <a:off x="3767328" y="3657600"/>
            <a:ext cx="105156" cy="105156"/>
          </a:xfrm>
          <a:prstGeom prst="rect">
            <a:avLst/>
          </a:prstGeom>
          <a:solidFill>
            <a:srgbClr val="17436B"/>
          </a:solidFill>
          <a:ln w="12700">
            <a:solidFill>
              <a:srgbClr val="17436B"/>
            </a:solidFill>
            <a:prstDash val="solid"/>
          </a:ln>
        </p:spPr>
      </p:sp>
      <p:sp>
        <p:nvSpPr>
          <p:cNvPr id="30" name="Shape 28"/>
          <p:cNvSpPr/>
          <p:nvPr/>
        </p:nvSpPr>
        <p:spPr>
          <a:xfrm>
            <a:off x="3913632" y="3657600"/>
            <a:ext cx="105156" cy="105156"/>
          </a:xfrm>
          <a:prstGeom prst="rect">
            <a:avLst/>
          </a:prstGeom>
          <a:solidFill>
            <a:srgbClr val="17436B"/>
          </a:solidFill>
          <a:ln w="12700">
            <a:solidFill>
              <a:srgbClr val="17436B"/>
            </a:solidFill>
            <a:prstDash val="solid"/>
          </a:ln>
        </p:spPr>
      </p:sp>
      <p:sp>
        <p:nvSpPr>
          <p:cNvPr id="31" name="Shape 29"/>
          <p:cNvSpPr/>
          <p:nvPr/>
        </p:nvSpPr>
        <p:spPr>
          <a:xfrm>
            <a:off x="4059936" y="3657600"/>
            <a:ext cx="105156" cy="105156"/>
          </a:xfrm>
          <a:prstGeom prst="rect">
            <a:avLst/>
          </a:prstGeom>
          <a:solidFill>
            <a:srgbClr val="17436B"/>
          </a:solidFill>
          <a:ln w="12700">
            <a:solidFill>
              <a:srgbClr val="17436B"/>
            </a:solidFill>
            <a:prstDash val="solid"/>
          </a:ln>
        </p:spPr>
      </p:sp>
      <p:sp>
        <p:nvSpPr>
          <p:cNvPr id="32" name="Shape 30"/>
          <p:cNvSpPr/>
          <p:nvPr/>
        </p:nvSpPr>
        <p:spPr>
          <a:xfrm>
            <a:off x="4206240" y="3657600"/>
            <a:ext cx="105156" cy="105156"/>
          </a:xfrm>
          <a:prstGeom prst="rect">
            <a:avLst/>
          </a:prstGeom>
          <a:solidFill>
            <a:srgbClr val="17436B"/>
          </a:solidFill>
          <a:ln w="12700">
            <a:solidFill>
              <a:srgbClr val="17436B"/>
            </a:solidFill>
            <a:prstDash val="solid"/>
          </a:ln>
        </p:spPr>
      </p:sp>
      <p:sp>
        <p:nvSpPr>
          <p:cNvPr id="33" name="Shape 31"/>
          <p:cNvSpPr/>
          <p:nvPr/>
        </p:nvSpPr>
        <p:spPr>
          <a:xfrm>
            <a:off x="4352544" y="3657600"/>
            <a:ext cx="105156" cy="105156"/>
          </a:xfrm>
          <a:prstGeom prst="rect">
            <a:avLst/>
          </a:prstGeom>
          <a:solidFill>
            <a:srgbClr val="17436B"/>
          </a:solidFill>
          <a:ln w="12700">
            <a:solidFill>
              <a:srgbClr val="17436B"/>
            </a:solidFill>
            <a:prstDash val="solid"/>
          </a:ln>
        </p:spPr>
      </p:sp>
      <p:sp>
        <p:nvSpPr>
          <p:cNvPr id="34" name="Shape 32"/>
          <p:cNvSpPr/>
          <p:nvPr/>
        </p:nvSpPr>
        <p:spPr>
          <a:xfrm>
            <a:off x="4498848" y="3657600"/>
            <a:ext cx="105156" cy="105156"/>
          </a:xfrm>
          <a:prstGeom prst="rect">
            <a:avLst/>
          </a:prstGeom>
          <a:solidFill>
            <a:srgbClr val="17436B"/>
          </a:solidFill>
          <a:ln w="12700">
            <a:solidFill>
              <a:srgbClr val="17436B"/>
            </a:solidFill>
            <a:prstDash val="solid"/>
          </a:ln>
        </p:spPr>
      </p:sp>
      <p:sp>
        <p:nvSpPr>
          <p:cNvPr id="35" name="Shape 33"/>
          <p:cNvSpPr/>
          <p:nvPr/>
        </p:nvSpPr>
        <p:spPr>
          <a:xfrm>
            <a:off x="4645152" y="3657600"/>
            <a:ext cx="105156" cy="105156"/>
          </a:xfrm>
          <a:prstGeom prst="rect">
            <a:avLst/>
          </a:prstGeom>
          <a:solidFill>
            <a:srgbClr val="17436B"/>
          </a:solidFill>
          <a:ln w="12700">
            <a:solidFill>
              <a:srgbClr val="17436B"/>
            </a:solidFill>
            <a:prstDash val="solid"/>
          </a:ln>
        </p:spPr>
      </p:sp>
      <p:sp>
        <p:nvSpPr>
          <p:cNvPr id="36" name="Shape 34"/>
          <p:cNvSpPr/>
          <p:nvPr/>
        </p:nvSpPr>
        <p:spPr>
          <a:xfrm>
            <a:off x="548640" y="3803904"/>
            <a:ext cx="105156" cy="105156"/>
          </a:xfrm>
          <a:prstGeom prst="rect">
            <a:avLst/>
          </a:prstGeom>
          <a:solidFill>
            <a:srgbClr val="17436B"/>
          </a:solidFill>
          <a:ln w="12700">
            <a:solidFill>
              <a:srgbClr val="17436B"/>
            </a:solidFill>
            <a:prstDash val="solid"/>
          </a:ln>
        </p:spPr>
      </p:sp>
      <p:sp>
        <p:nvSpPr>
          <p:cNvPr id="37" name="Shape 35"/>
          <p:cNvSpPr/>
          <p:nvPr/>
        </p:nvSpPr>
        <p:spPr>
          <a:xfrm>
            <a:off x="694944" y="3803904"/>
            <a:ext cx="105156" cy="105156"/>
          </a:xfrm>
          <a:prstGeom prst="rect">
            <a:avLst/>
          </a:prstGeom>
          <a:solidFill>
            <a:srgbClr val="17436B"/>
          </a:solidFill>
          <a:ln w="12700">
            <a:solidFill>
              <a:srgbClr val="17436B"/>
            </a:solidFill>
            <a:prstDash val="solid"/>
          </a:ln>
        </p:spPr>
      </p:sp>
      <p:sp>
        <p:nvSpPr>
          <p:cNvPr id="38" name="Shape 36"/>
          <p:cNvSpPr/>
          <p:nvPr/>
        </p:nvSpPr>
        <p:spPr>
          <a:xfrm>
            <a:off x="841248" y="3803904"/>
            <a:ext cx="105156" cy="105156"/>
          </a:xfrm>
          <a:prstGeom prst="rect">
            <a:avLst/>
          </a:prstGeom>
          <a:solidFill>
            <a:srgbClr val="17436B"/>
          </a:solidFill>
          <a:ln w="12700">
            <a:solidFill>
              <a:srgbClr val="17436B"/>
            </a:solidFill>
            <a:prstDash val="solid"/>
          </a:ln>
        </p:spPr>
      </p:sp>
      <p:sp>
        <p:nvSpPr>
          <p:cNvPr id="39" name="Shape 37"/>
          <p:cNvSpPr/>
          <p:nvPr/>
        </p:nvSpPr>
        <p:spPr>
          <a:xfrm>
            <a:off x="987552" y="3803904"/>
            <a:ext cx="105156" cy="105156"/>
          </a:xfrm>
          <a:prstGeom prst="rect">
            <a:avLst/>
          </a:prstGeom>
          <a:solidFill>
            <a:srgbClr val="17436B"/>
          </a:solidFill>
          <a:ln w="12700">
            <a:solidFill>
              <a:srgbClr val="17436B"/>
            </a:solidFill>
            <a:prstDash val="solid"/>
          </a:ln>
        </p:spPr>
      </p:sp>
      <p:sp>
        <p:nvSpPr>
          <p:cNvPr id="40" name="Shape 38"/>
          <p:cNvSpPr/>
          <p:nvPr/>
        </p:nvSpPr>
        <p:spPr>
          <a:xfrm>
            <a:off x="1133856" y="3803904"/>
            <a:ext cx="105156" cy="105156"/>
          </a:xfrm>
          <a:prstGeom prst="rect">
            <a:avLst/>
          </a:prstGeom>
          <a:solidFill>
            <a:srgbClr val="17436B"/>
          </a:solidFill>
          <a:ln w="12700">
            <a:solidFill>
              <a:srgbClr val="17436B"/>
            </a:solidFill>
            <a:prstDash val="solid"/>
          </a:ln>
        </p:spPr>
      </p:sp>
      <p:sp>
        <p:nvSpPr>
          <p:cNvPr id="41" name="Shape 39"/>
          <p:cNvSpPr/>
          <p:nvPr/>
        </p:nvSpPr>
        <p:spPr>
          <a:xfrm>
            <a:off x="1280160" y="3803904"/>
            <a:ext cx="105156" cy="105156"/>
          </a:xfrm>
          <a:prstGeom prst="rect">
            <a:avLst/>
          </a:prstGeom>
          <a:solidFill>
            <a:srgbClr val="17436B"/>
          </a:solidFill>
          <a:ln w="12700">
            <a:solidFill>
              <a:srgbClr val="17436B"/>
            </a:solidFill>
            <a:prstDash val="solid"/>
          </a:ln>
        </p:spPr>
      </p:sp>
      <p:sp>
        <p:nvSpPr>
          <p:cNvPr id="42" name="Shape 40"/>
          <p:cNvSpPr/>
          <p:nvPr/>
        </p:nvSpPr>
        <p:spPr>
          <a:xfrm>
            <a:off x="1426464" y="3803904"/>
            <a:ext cx="105156" cy="105156"/>
          </a:xfrm>
          <a:prstGeom prst="rect">
            <a:avLst/>
          </a:prstGeom>
          <a:solidFill>
            <a:srgbClr val="17436B"/>
          </a:solidFill>
          <a:ln w="12700">
            <a:solidFill>
              <a:srgbClr val="17436B"/>
            </a:solidFill>
            <a:prstDash val="solid"/>
          </a:ln>
        </p:spPr>
      </p:sp>
      <p:sp>
        <p:nvSpPr>
          <p:cNvPr id="43" name="Shape 41"/>
          <p:cNvSpPr/>
          <p:nvPr/>
        </p:nvSpPr>
        <p:spPr>
          <a:xfrm>
            <a:off x="1572768" y="3803904"/>
            <a:ext cx="105156" cy="105156"/>
          </a:xfrm>
          <a:prstGeom prst="rect">
            <a:avLst/>
          </a:prstGeom>
          <a:solidFill>
            <a:srgbClr val="17436B"/>
          </a:solidFill>
          <a:ln w="12700">
            <a:solidFill>
              <a:srgbClr val="17436B"/>
            </a:solidFill>
            <a:prstDash val="solid"/>
          </a:ln>
        </p:spPr>
      </p:sp>
      <p:sp>
        <p:nvSpPr>
          <p:cNvPr id="44" name="Shape 42"/>
          <p:cNvSpPr/>
          <p:nvPr/>
        </p:nvSpPr>
        <p:spPr>
          <a:xfrm>
            <a:off x="1719072" y="3803904"/>
            <a:ext cx="105156" cy="105156"/>
          </a:xfrm>
          <a:prstGeom prst="rect">
            <a:avLst/>
          </a:prstGeom>
          <a:solidFill>
            <a:srgbClr val="17436B"/>
          </a:solidFill>
          <a:ln w="12700">
            <a:solidFill>
              <a:srgbClr val="17436B"/>
            </a:solidFill>
            <a:prstDash val="solid"/>
          </a:ln>
        </p:spPr>
      </p:sp>
      <p:sp>
        <p:nvSpPr>
          <p:cNvPr id="45" name="Shape 43"/>
          <p:cNvSpPr/>
          <p:nvPr/>
        </p:nvSpPr>
        <p:spPr>
          <a:xfrm>
            <a:off x="1865376" y="3803904"/>
            <a:ext cx="105156" cy="105156"/>
          </a:xfrm>
          <a:prstGeom prst="rect">
            <a:avLst/>
          </a:prstGeom>
          <a:solidFill>
            <a:srgbClr val="17436B"/>
          </a:solidFill>
          <a:ln w="12700">
            <a:solidFill>
              <a:srgbClr val="17436B"/>
            </a:solidFill>
            <a:prstDash val="solid"/>
          </a:ln>
        </p:spPr>
      </p:sp>
      <p:sp>
        <p:nvSpPr>
          <p:cNvPr id="46" name="Shape 44"/>
          <p:cNvSpPr/>
          <p:nvPr/>
        </p:nvSpPr>
        <p:spPr>
          <a:xfrm>
            <a:off x="2011680" y="3803904"/>
            <a:ext cx="105156" cy="105156"/>
          </a:xfrm>
          <a:prstGeom prst="rect">
            <a:avLst/>
          </a:prstGeom>
          <a:solidFill>
            <a:srgbClr val="17436B"/>
          </a:solidFill>
          <a:ln w="12700">
            <a:solidFill>
              <a:srgbClr val="17436B"/>
            </a:solidFill>
            <a:prstDash val="solid"/>
          </a:ln>
        </p:spPr>
      </p:sp>
      <p:sp>
        <p:nvSpPr>
          <p:cNvPr id="47" name="Shape 45"/>
          <p:cNvSpPr/>
          <p:nvPr/>
        </p:nvSpPr>
        <p:spPr>
          <a:xfrm>
            <a:off x="2157984" y="3803904"/>
            <a:ext cx="105156" cy="105156"/>
          </a:xfrm>
          <a:prstGeom prst="rect">
            <a:avLst/>
          </a:prstGeom>
          <a:solidFill>
            <a:srgbClr val="17436B"/>
          </a:solidFill>
          <a:ln w="12700">
            <a:solidFill>
              <a:srgbClr val="17436B"/>
            </a:solidFill>
            <a:prstDash val="solid"/>
          </a:ln>
        </p:spPr>
      </p:sp>
      <p:sp>
        <p:nvSpPr>
          <p:cNvPr id="48" name="Shape 46"/>
          <p:cNvSpPr/>
          <p:nvPr/>
        </p:nvSpPr>
        <p:spPr>
          <a:xfrm>
            <a:off x="2304288" y="3803904"/>
            <a:ext cx="105156" cy="105156"/>
          </a:xfrm>
          <a:prstGeom prst="rect">
            <a:avLst/>
          </a:prstGeom>
          <a:solidFill>
            <a:srgbClr val="17436B"/>
          </a:solidFill>
          <a:ln w="12700">
            <a:solidFill>
              <a:srgbClr val="17436B"/>
            </a:solidFill>
            <a:prstDash val="solid"/>
          </a:ln>
        </p:spPr>
      </p:sp>
      <p:sp>
        <p:nvSpPr>
          <p:cNvPr id="49" name="Shape 47"/>
          <p:cNvSpPr/>
          <p:nvPr/>
        </p:nvSpPr>
        <p:spPr>
          <a:xfrm>
            <a:off x="2450592" y="3803904"/>
            <a:ext cx="105156" cy="105156"/>
          </a:xfrm>
          <a:prstGeom prst="rect">
            <a:avLst/>
          </a:prstGeom>
          <a:solidFill>
            <a:srgbClr val="17436B"/>
          </a:solidFill>
          <a:ln w="12700">
            <a:solidFill>
              <a:srgbClr val="17436B"/>
            </a:solidFill>
            <a:prstDash val="solid"/>
          </a:ln>
        </p:spPr>
      </p:sp>
      <p:sp>
        <p:nvSpPr>
          <p:cNvPr id="50" name="Shape 48"/>
          <p:cNvSpPr/>
          <p:nvPr/>
        </p:nvSpPr>
        <p:spPr>
          <a:xfrm>
            <a:off x="2596896" y="3803904"/>
            <a:ext cx="105156" cy="105156"/>
          </a:xfrm>
          <a:prstGeom prst="rect">
            <a:avLst/>
          </a:prstGeom>
          <a:solidFill>
            <a:srgbClr val="17436B"/>
          </a:solidFill>
          <a:ln w="12700">
            <a:solidFill>
              <a:srgbClr val="17436B"/>
            </a:solidFill>
            <a:prstDash val="solid"/>
          </a:ln>
        </p:spPr>
      </p:sp>
      <p:sp>
        <p:nvSpPr>
          <p:cNvPr id="51" name="Shape 49"/>
          <p:cNvSpPr/>
          <p:nvPr/>
        </p:nvSpPr>
        <p:spPr>
          <a:xfrm>
            <a:off x="2743200" y="3803904"/>
            <a:ext cx="105156" cy="105156"/>
          </a:xfrm>
          <a:prstGeom prst="rect">
            <a:avLst/>
          </a:prstGeom>
          <a:solidFill>
            <a:srgbClr val="17436B"/>
          </a:solidFill>
          <a:ln w="12700">
            <a:solidFill>
              <a:srgbClr val="17436B"/>
            </a:solidFill>
            <a:prstDash val="solid"/>
          </a:ln>
        </p:spPr>
      </p:sp>
      <p:sp>
        <p:nvSpPr>
          <p:cNvPr id="52" name="Shape 50"/>
          <p:cNvSpPr/>
          <p:nvPr/>
        </p:nvSpPr>
        <p:spPr>
          <a:xfrm>
            <a:off x="2889504" y="3803904"/>
            <a:ext cx="105156" cy="105156"/>
          </a:xfrm>
          <a:prstGeom prst="rect">
            <a:avLst/>
          </a:prstGeom>
          <a:solidFill>
            <a:srgbClr val="17436B"/>
          </a:solidFill>
          <a:ln w="12700">
            <a:solidFill>
              <a:srgbClr val="17436B"/>
            </a:solidFill>
            <a:prstDash val="solid"/>
          </a:ln>
        </p:spPr>
      </p:sp>
      <p:sp>
        <p:nvSpPr>
          <p:cNvPr id="53" name="Shape 51"/>
          <p:cNvSpPr/>
          <p:nvPr/>
        </p:nvSpPr>
        <p:spPr>
          <a:xfrm>
            <a:off x="3035808" y="3803904"/>
            <a:ext cx="105156" cy="105156"/>
          </a:xfrm>
          <a:prstGeom prst="rect">
            <a:avLst/>
          </a:prstGeom>
          <a:solidFill>
            <a:srgbClr val="17436B"/>
          </a:solidFill>
          <a:ln w="12700">
            <a:solidFill>
              <a:srgbClr val="17436B"/>
            </a:solidFill>
            <a:prstDash val="solid"/>
          </a:ln>
        </p:spPr>
      </p:sp>
      <p:sp>
        <p:nvSpPr>
          <p:cNvPr id="54" name="Shape 52"/>
          <p:cNvSpPr/>
          <p:nvPr/>
        </p:nvSpPr>
        <p:spPr>
          <a:xfrm>
            <a:off x="3182112" y="3803904"/>
            <a:ext cx="105156" cy="105156"/>
          </a:xfrm>
          <a:prstGeom prst="rect">
            <a:avLst/>
          </a:prstGeom>
          <a:solidFill>
            <a:srgbClr val="17436B"/>
          </a:solidFill>
          <a:ln w="12700">
            <a:solidFill>
              <a:srgbClr val="17436B"/>
            </a:solidFill>
            <a:prstDash val="solid"/>
          </a:ln>
        </p:spPr>
      </p:sp>
      <p:sp>
        <p:nvSpPr>
          <p:cNvPr id="55" name="Shape 53"/>
          <p:cNvSpPr/>
          <p:nvPr/>
        </p:nvSpPr>
        <p:spPr>
          <a:xfrm>
            <a:off x="3328416" y="3803904"/>
            <a:ext cx="105156" cy="105156"/>
          </a:xfrm>
          <a:prstGeom prst="rect">
            <a:avLst/>
          </a:prstGeom>
          <a:solidFill>
            <a:srgbClr val="17436B"/>
          </a:solidFill>
          <a:ln w="12700">
            <a:solidFill>
              <a:srgbClr val="17436B"/>
            </a:solidFill>
            <a:prstDash val="solid"/>
          </a:ln>
        </p:spPr>
      </p:sp>
      <p:sp>
        <p:nvSpPr>
          <p:cNvPr id="56" name="Shape 54"/>
          <p:cNvSpPr/>
          <p:nvPr/>
        </p:nvSpPr>
        <p:spPr>
          <a:xfrm>
            <a:off x="3474720" y="3803904"/>
            <a:ext cx="105156" cy="105156"/>
          </a:xfrm>
          <a:prstGeom prst="rect">
            <a:avLst/>
          </a:prstGeom>
          <a:solidFill>
            <a:srgbClr val="17436B"/>
          </a:solidFill>
          <a:ln w="12700">
            <a:solidFill>
              <a:srgbClr val="17436B"/>
            </a:solidFill>
            <a:prstDash val="solid"/>
          </a:ln>
        </p:spPr>
      </p:sp>
      <p:sp>
        <p:nvSpPr>
          <p:cNvPr id="57" name="Shape 55"/>
          <p:cNvSpPr/>
          <p:nvPr/>
        </p:nvSpPr>
        <p:spPr>
          <a:xfrm>
            <a:off x="3621024" y="3803904"/>
            <a:ext cx="105156" cy="105156"/>
          </a:xfrm>
          <a:prstGeom prst="rect">
            <a:avLst/>
          </a:prstGeom>
          <a:solidFill>
            <a:srgbClr val="17436B"/>
          </a:solidFill>
          <a:ln w="12700">
            <a:solidFill>
              <a:srgbClr val="17436B"/>
            </a:solidFill>
            <a:prstDash val="solid"/>
          </a:ln>
        </p:spPr>
      </p:sp>
      <p:sp>
        <p:nvSpPr>
          <p:cNvPr id="58" name="Shape 56"/>
          <p:cNvSpPr/>
          <p:nvPr/>
        </p:nvSpPr>
        <p:spPr>
          <a:xfrm>
            <a:off x="3767328" y="3803904"/>
            <a:ext cx="105156" cy="105156"/>
          </a:xfrm>
          <a:prstGeom prst="rect">
            <a:avLst/>
          </a:prstGeom>
          <a:solidFill>
            <a:srgbClr val="17436B"/>
          </a:solidFill>
          <a:ln w="12700">
            <a:solidFill>
              <a:srgbClr val="17436B"/>
            </a:solidFill>
            <a:prstDash val="solid"/>
          </a:ln>
        </p:spPr>
      </p:sp>
      <p:sp>
        <p:nvSpPr>
          <p:cNvPr id="59" name="Shape 57"/>
          <p:cNvSpPr/>
          <p:nvPr/>
        </p:nvSpPr>
        <p:spPr>
          <a:xfrm>
            <a:off x="3913632" y="3803904"/>
            <a:ext cx="105156" cy="105156"/>
          </a:xfrm>
          <a:prstGeom prst="rect">
            <a:avLst/>
          </a:prstGeom>
          <a:solidFill>
            <a:srgbClr val="17436B"/>
          </a:solidFill>
          <a:ln w="12700">
            <a:solidFill>
              <a:srgbClr val="17436B"/>
            </a:solidFill>
            <a:prstDash val="solid"/>
          </a:ln>
        </p:spPr>
      </p:sp>
      <p:sp>
        <p:nvSpPr>
          <p:cNvPr id="60" name="Shape 58"/>
          <p:cNvSpPr/>
          <p:nvPr/>
        </p:nvSpPr>
        <p:spPr>
          <a:xfrm>
            <a:off x="4059936" y="3803904"/>
            <a:ext cx="105156" cy="105156"/>
          </a:xfrm>
          <a:prstGeom prst="rect">
            <a:avLst/>
          </a:prstGeom>
          <a:solidFill>
            <a:srgbClr val="17436B"/>
          </a:solidFill>
          <a:ln w="12700">
            <a:solidFill>
              <a:srgbClr val="17436B"/>
            </a:solidFill>
            <a:prstDash val="solid"/>
          </a:ln>
        </p:spPr>
      </p:sp>
      <p:sp>
        <p:nvSpPr>
          <p:cNvPr id="61" name="Shape 59"/>
          <p:cNvSpPr/>
          <p:nvPr/>
        </p:nvSpPr>
        <p:spPr>
          <a:xfrm>
            <a:off x="4206240" y="3803904"/>
            <a:ext cx="105156" cy="105156"/>
          </a:xfrm>
          <a:prstGeom prst="rect">
            <a:avLst/>
          </a:prstGeom>
          <a:solidFill>
            <a:srgbClr val="17436B"/>
          </a:solidFill>
          <a:ln w="12700">
            <a:solidFill>
              <a:srgbClr val="17436B"/>
            </a:solidFill>
            <a:prstDash val="solid"/>
          </a:ln>
        </p:spPr>
      </p:sp>
      <p:sp>
        <p:nvSpPr>
          <p:cNvPr id="62" name="Shape 60"/>
          <p:cNvSpPr/>
          <p:nvPr/>
        </p:nvSpPr>
        <p:spPr>
          <a:xfrm>
            <a:off x="4352544" y="3803904"/>
            <a:ext cx="105156" cy="105156"/>
          </a:xfrm>
          <a:prstGeom prst="rect">
            <a:avLst/>
          </a:prstGeom>
          <a:solidFill>
            <a:srgbClr val="17436B"/>
          </a:solidFill>
          <a:ln w="12700">
            <a:solidFill>
              <a:srgbClr val="17436B"/>
            </a:solidFill>
            <a:prstDash val="solid"/>
          </a:ln>
        </p:spPr>
      </p:sp>
      <p:sp>
        <p:nvSpPr>
          <p:cNvPr id="63" name="Shape 61"/>
          <p:cNvSpPr/>
          <p:nvPr/>
        </p:nvSpPr>
        <p:spPr>
          <a:xfrm>
            <a:off x="4498848" y="3803904"/>
            <a:ext cx="105156" cy="105156"/>
          </a:xfrm>
          <a:prstGeom prst="rect">
            <a:avLst/>
          </a:prstGeom>
          <a:solidFill>
            <a:srgbClr val="17436B"/>
          </a:solidFill>
          <a:ln w="12700">
            <a:solidFill>
              <a:srgbClr val="17436B"/>
            </a:solidFill>
            <a:prstDash val="solid"/>
          </a:ln>
        </p:spPr>
      </p:sp>
      <p:sp>
        <p:nvSpPr>
          <p:cNvPr id="64" name="Shape 62"/>
          <p:cNvSpPr/>
          <p:nvPr/>
        </p:nvSpPr>
        <p:spPr>
          <a:xfrm>
            <a:off x="4645152" y="3803904"/>
            <a:ext cx="105156" cy="105156"/>
          </a:xfrm>
          <a:prstGeom prst="rect">
            <a:avLst/>
          </a:prstGeom>
          <a:solidFill>
            <a:srgbClr val="17436B"/>
          </a:solidFill>
          <a:ln w="12700">
            <a:solidFill>
              <a:srgbClr val="17436B"/>
            </a:solidFill>
            <a:prstDash val="solid"/>
          </a:ln>
        </p:spPr>
      </p:sp>
      <p:sp>
        <p:nvSpPr>
          <p:cNvPr id="65" name="Shape 63"/>
          <p:cNvSpPr/>
          <p:nvPr/>
        </p:nvSpPr>
        <p:spPr>
          <a:xfrm>
            <a:off x="548640" y="3950208"/>
            <a:ext cx="105156" cy="105156"/>
          </a:xfrm>
          <a:prstGeom prst="rect">
            <a:avLst/>
          </a:prstGeom>
          <a:solidFill>
            <a:srgbClr val="17436B"/>
          </a:solidFill>
          <a:ln w="12700">
            <a:solidFill>
              <a:srgbClr val="17436B"/>
            </a:solidFill>
            <a:prstDash val="solid"/>
          </a:ln>
        </p:spPr>
      </p:sp>
      <p:sp>
        <p:nvSpPr>
          <p:cNvPr id="66" name="Shape 64"/>
          <p:cNvSpPr/>
          <p:nvPr/>
        </p:nvSpPr>
        <p:spPr>
          <a:xfrm>
            <a:off x="694944" y="3950208"/>
            <a:ext cx="105156" cy="105156"/>
          </a:xfrm>
          <a:prstGeom prst="rect">
            <a:avLst/>
          </a:prstGeom>
          <a:solidFill>
            <a:srgbClr val="17436B"/>
          </a:solidFill>
          <a:ln w="12700">
            <a:solidFill>
              <a:srgbClr val="17436B"/>
            </a:solidFill>
            <a:prstDash val="solid"/>
          </a:ln>
        </p:spPr>
      </p:sp>
      <p:sp>
        <p:nvSpPr>
          <p:cNvPr id="67" name="Shape 65"/>
          <p:cNvSpPr/>
          <p:nvPr/>
        </p:nvSpPr>
        <p:spPr>
          <a:xfrm>
            <a:off x="841248" y="3950208"/>
            <a:ext cx="105156" cy="105156"/>
          </a:xfrm>
          <a:prstGeom prst="rect">
            <a:avLst/>
          </a:prstGeom>
          <a:solidFill>
            <a:srgbClr val="17436B"/>
          </a:solidFill>
          <a:ln w="12700">
            <a:solidFill>
              <a:srgbClr val="17436B"/>
            </a:solidFill>
            <a:prstDash val="solid"/>
          </a:ln>
        </p:spPr>
      </p:sp>
      <p:sp>
        <p:nvSpPr>
          <p:cNvPr id="68" name="Shape 66"/>
          <p:cNvSpPr/>
          <p:nvPr/>
        </p:nvSpPr>
        <p:spPr>
          <a:xfrm>
            <a:off x="987552" y="3950208"/>
            <a:ext cx="105156" cy="105156"/>
          </a:xfrm>
          <a:prstGeom prst="rect">
            <a:avLst/>
          </a:prstGeom>
          <a:solidFill>
            <a:srgbClr val="17436B"/>
          </a:solidFill>
          <a:ln w="12700">
            <a:solidFill>
              <a:srgbClr val="17436B"/>
            </a:solidFill>
            <a:prstDash val="solid"/>
          </a:ln>
        </p:spPr>
      </p:sp>
      <p:sp>
        <p:nvSpPr>
          <p:cNvPr id="69" name="Shape 67"/>
          <p:cNvSpPr/>
          <p:nvPr/>
        </p:nvSpPr>
        <p:spPr>
          <a:xfrm>
            <a:off x="1133856" y="3950208"/>
            <a:ext cx="105156" cy="105156"/>
          </a:xfrm>
          <a:prstGeom prst="rect">
            <a:avLst/>
          </a:prstGeom>
          <a:solidFill>
            <a:srgbClr val="17436B"/>
          </a:solidFill>
          <a:ln w="12700">
            <a:solidFill>
              <a:srgbClr val="17436B"/>
            </a:solidFill>
            <a:prstDash val="solid"/>
          </a:ln>
        </p:spPr>
      </p:sp>
      <p:sp>
        <p:nvSpPr>
          <p:cNvPr id="70" name="Shape 68"/>
          <p:cNvSpPr/>
          <p:nvPr/>
        </p:nvSpPr>
        <p:spPr>
          <a:xfrm>
            <a:off x="1280160" y="3950208"/>
            <a:ext cx="105156" cy="105156"/>
          </a:xfrm>
          <a:prstGeom prst="rect">
            <a:avLst/>
          </a:prstGeom>
          <a:solidFill>
            <a:srgbClr val="17436B"/>
          </a:solidFill>
          <a:ln w="12700">
            <a:solidFill>
              <a:srgbClr val="17436B"/>
            </a:solidFill>
            <a:prstDash val="solid"/>
          </a:ln>
        </p:spPr>
      </p:sp>
      <p:sp>
        <p:nvSpPr>
          <p:cNvPr id="71" name="Shape 69"/>
          <p:cNvSpPr/>
          <p:nvPr/>
        </p:nvSpPr>
        <p:spPr>
          <a:xfrm>
            <a:off x="1426464" y="3950208"/>
            <a:ext cx="105156" cy="105156"/>
          </a:xfrm>
          <a:prstGeom prst="rect">
            <a:avLst/>
          </a:prstGeom>
          <a:solidFill>
            <a:srgbClr val="17436B"/>
          </a:solidFill>
          <a:ln w="12700">
            <a:solidFill>
              <a:srgbClr val="17436B"/>
            </a:solidFill>
            <a:prstDash val="solid"/>
          </a:ln>
        </p:spPr>
      </p:sp>
      <p:sp>
        <p:nvSpPr>
          <p:cNvPr id="72" name="Shape 70"/>
          <p:cNvSpPr/>
          <p:nvPr/>
        </p:nvSpPr>
        <p:spPr>
          <a:xfrm>
            <a:off x="1572768" y="3950208"/>
            <a:ext cx="105156" cy="105156"/>
          </a:xfrm>
          <a:prstGeom prst="rect">
            <a:avLst/>
          </a:prstGeom>
          <a:solidFill>
            <a:srgbClr val="17436B"/>
          </a:solidFill>
          <a:ln w="12700">
            <a:solidFill>
              <a:srgbClr val="17436B"/>
            </a:solidFill>
            <a:prstDash val="solid"/>
          </a:ln>
        </p:spPr>
      </p:sp>
      <p:sp>
        <p:nvSpPr>
          <p:cNvPr id="73" name="Shape 71"/>
          <p:cNvSpPr/>
          <p:nvPr/>
        </p:nvSpPr>
        <p:spPr>
          <a:xfrm>
            <a:off x="1719072" y="3950208"/>
            <a:ext cx="105156" cy="105156"/>
          </a:xfrm>
          <a:prstGeom prst="rect">
            <a:avLst/>
          </a:prstGeom>
          <a:solidFill>
            <a:srgbClr val="17436B"/>
          </a:solidFill>
          <a:ln w="12700">
            <a:solidFill>
              <a:srgbClr val="17436B"/>
            </a:solidFill>
            <a:prstDash val="solid"/>
          </a:ln>
        </p:spPr>
      </p:sp>
      <p:sp>
        <p:nvSpPr>
          <p:cNvPr id="74" name="Shape 72"/>
          <p:cNvSpPr/>
          <p:nvPr/>
        </p:nvSpPr>
        <p:spPr>
          <a:xfrm>
            <a:off x="1865376" y="3950208"/>
            <a:ext cx="105156" cy="105156"/>
          </a:xfrm>
          <a:prstGeom prst="rect">
            <a:avLst/>
          </a:prstGeom>
          <a:solidFill>
            <a:srgbClr val="17436B"/>
          </a:solidFill>
          <a:ln w="12700">
            <a:solidFill>
              <a:srgbClr val="17436B"/>
            </a:solidFill>
            <a:prstDash val="solid"/>
          </a:ln>
        </p:spPr>
      </p:sp>
      <p:sp>
        <p:nvSpPr>
          <p:cNvPr id="75" name="Shape 73"/>
          <p:cNvSpPr/>
          <p:nvPr/>
        </p:nvSpPr>
        <p:spPr>
          <a:xfrm>
            <a:off x="2011680" y="3950208"/>
            <a:ext cx="105156" cy="105156"/>
          </a:xfrm>
          <a:prstGeom prst="rect">
            <a:avLst/>
          </a:prstGeom>
          <a:solidFill>
            <a:srgbClr val="17436B"/>
          </a:solidFill>
          <a:ln w="12700">
            <a:solidFill>
              <a:srgbClr val="17436B"/>
            </a:solidFill>
            <a:prstDash val="solid"/>
          </a:ln>
        </p:spPr>
      </p:sp>
      <p:sp>
        <p:nvSpPr>
          <p:cNvPr id="76" name="Shape 74"/>
          <p:cNvSpPr/>
          <p:nvPr/>
        </p:nvSpPr>
        <p:spPr>
          <a:xfrm>
            <a:off x="2157984" y="3950208"/>
            <a:ext cx="105156" cy="105156"/>
          </a:xfrm>
          <a:prstGeom prst="rect">
            <a:avLst/>
          </a:prstGeom>
          <a:solidFill>
            <a:srgbClr val="17436B"/>
          </a:solidFill>
          <a:ln w="12700">
            <a:solidFill>
              <a:srgbClr val="17436B"/>
            </a:solidFill>
            <a:prstDash val="solid"/>
          </a:ln>
        </p:spPr>
      </p:sp>
      <p:sp>
        <p:nvSpPr>
          <p:cNvPr id="77" name="Shape 75"/>
          <p:cNvSpPr/>
          <p:nvPr/>
        </p:nvSpPr>
        <p:spPr>
          <a:xfrm>
            <a:off x="2304288" y="3950208"/>
            <a:ext cx="105156" cy="105156"/>
          </a:xfrm>
          <a:prstGeom prst="rect">
            <a:avLst/>
          </a:prstGeom>
          <a:solidFill>
            <a:srgbClr val="17436B"/>
          </a:solidFill>
          <a:ln w="12700">
            <a:solidFill>
              <a:srgbClr val="17436B"/>
            </a:solidFill>
            <a:prstDash val="solid"/>
          </a:ln>
        </p:spPr>
      </p:sp>
      <p:sp>
        <p:nvSpPr>
          <p:cNvPr id="78" name="Shape 76"/>
          <p:cNvSpPr/>
          <p:nvPr/>
        </p:nvSpPr>
        <p:spPr>
          <a:xfrm>
            <a:off x="2450592" y="3950208"/>
            <a:ext cx="105156" cy="105156"/>
          </a:xfrm>
          <a:prstGeom prst="rect">
            <a:avLst/>
          </a:prstGeom>
          <a:solidFill>
            <a:srgbClr val="17436B"/>
          </a:solidFill>
          <a:ln w="12700">
            <a:solidFill>
              <a:srgbClr val="17436B"/>
            </a:solidFill>
            <a:prstDash val="solid"/>
          </a:ln>
        </p:spPr>
      </p:sp>
      <p:sp>
        <p:nvSpPr>
          <p:cNvPr id="79" name="Shape 77"/>
          <p:cNvSpPr/>
          <p:nvPr/>
        </p:nvSpPr>
        <p:spPr>
          <a:xfrm>
            <a:off x="2596896" y="3950208"/>
            <a:ext cx="105156" cy="105156"/>
          </a:xfrm>
          <a:prstGeom prst="rect">
            <a:avLst/>
          </a:prstGeom>
          <a:solidFill>
            <a:srgbClr val="17436B"/>
          </a:solidFill>
          <a:ln w="12700">
            <a:solidFill>
              <a:srgbClr val="17436B"/>
            </a:solidFill>
            <a:prstDash val="solid"/>
          </a:ln>
        </p:spPr>
      </p:sp>
      <p:sp>
        <p:nvSpPr>
          <p:cNvPr id="80" name="Shape 78"/>
          <p:cNvSpPr/>
          <p:nvPr/>
        </p:nvSpPr>
        <p:spPr>
          <a:xfrm>
            <a:off x="2743200" y="3950208"/>
            <a:ext cx="105156" cy="105156"/>
          </a:xfrm>
          <a:prstGeom prst="rect">
            <a:avLst/>
          </a:prstGeom>
          <a:solidFill>
            <a:srgbClr val="17436B"/>
          </a:solidFill>
          <a:ln w="12700">
            <a:solidFill>
              <a:srgbClr val="17436B"/>
            </a:solidFill>
            <a:prstDash val="solid"/>
          </a:ln>
        </p:spPr>
      </p:sp>
      <p:sp>
        <p:nvSpPr>
          <p:cNvPr id="81" name="Shape 79"/>
          <p:cNvSpPr/>
          <p:nvPr/>
        </p:nvSpPr>
        <p:spPr>
          <a:xfrm>
            <a:off x="2889504" y="3950208"/>
            <a:ext cx="105156" cy="105156"/>
          </a:xfrm>
          <a:prstGeom prst="rect">
            <a:avLst/>
          </a:prstGeom>
          <a:solidFill>
            <a:srgbClr val="17436B"/>
          </a:solidFill>
          <a:ln w="12700">
            <a:solidFill>
              <a:srgbClr val="17436B"/>
            </a:solidFill>
            <a:prstDash val="solid"/>
          </a:ln>
        </p:spPr>
      </p:sp>
      <p:sp>
        <p:nvSpPr>
          <p:cNvPr id="82" name="Shape 80"/>
          <p:cNvSpPr/>
          <p:nvPr/>
        </p:nvSpPr>
        <p:spPr>
          <a:xfrm>
            <a:off x="3035808" y="3950208"/>
            <a:ext cx="105156" cy="105156"/>
          </a:xfrm>
          <a:prstGeom prst="rect">
            <a:avLst/>
          </a:prstGeom>
          <a:solidFill>
            <a:srgbClr val="17436B"/>
          </a:solidFill>
          <a:ln w="12700">
            <a:solidFill>
              <a:srgbClr val="17436B"/>
            </a:solidFill>
            <a:prstDash val="solid"/>
          </a:ln>
        </p:spPr>
      </p:sp>
      <p:sp>
        <p:nvSpPr>
          <p:cNvPr id="83" name="Shape 81"/>
          <p:cNvSpPr/>
          <p:nvPr/>
        </p:nvSpPr>
        <p:spPr>
          <a:xfrm>
            <a:off x="3182112" y="3950208"/>
            <a:ext cx="105156" cy="105156"/>
          </a:xfrm>
          <a:prstGeom prst="rect">
            <a:avLst/>
          </a:prstGeom>
          <a:solidFill>
            <a:srgbClr val="17436B"/>
          </a:solidFill>
          <a:ln w="12700">
            <a:solidFill>
              <a:srgbClr val="17436B"/>
            </a:solidFill>
            <a:prstDash val="solid"/>
          </a:ln>
        </p:spPr>
      </p:sp>
      <p:sp>
        <p:nvSpPr>
          <p:cNvPr id="84" name="Shape 82"/>
          <p:cNvSpPr/>
          <p:nvPr/>
        </p:nvSpPr>
        <p:spPr>
          <a:xfrm>
            <a:off x="3328416" y="3950208"/>
            <a:ext cx="105156" cy="105156"/>
          </a:xfrm>
          <a:prstGeom prst="rect">
            <a:avLst/>
          </a:prstGeom>
          <a:solidFill>
            <a:srgbClr val="17436B"/>
          </a:solidFill>
          <a:ln w="12700">
            <a:solidFill>
              <a:srgbClr val="17436B"/>
            </a:solidFill>
            <a:prstDash val="solid"/>
          </a:ln>
        </p:spPr>
      </p:sp>
      <p:sp>
        <p:nvSpPr>
          <p:cNvPr id="85" name="Shape 83"/>
          <p:cNvSpPr/>
          <p:nvPr/>
        </p:nvSpPr>
        <p:spPr>
          <a:xfrm>
            <a:off x="3474720" y="3950208"/>
            <a:ext cx="105156" cy="105156"/>
          </a:xfrm>
          <a:prstGeom prst="rect">
            <a:avLst/>
          </a:prstGeom>
          <a:solidFill>
            <a:srgbClr val="17436B"/>
          </a:solidFill>
          <a:ln w="12700">
            <a:solidFill>
              <a:srgbClr val="17436B"/>
            </a:solidFill>
            <a:prstDash val="solid"/>
          </a:ln>
        </p:spPr>
      </p:sp>
      <p:sp>
        <p:nvSpPr>
          <p:cNvPr id="86" name="Shape 84"/>
          <p:cNvSpPr/>
          <p:nvPr/>
        </p:nvSpPr>
        <p:spPr>
          <a:xfrm>
            <a:off x="3621024" y="3950208"/>
            <a:ext cx="105156" cy="105156"/>
          </a:xfrm>
          <a:prstGeom prst="rect">
            <a:avLst/>
          </a:prstGeom>
          <a:solidFill>
            <a:srgbClr val="17436B"/>
          </a:solidFill>
          <a:ln w="12700">
            <a:solidFill>
              <a:srgbClr val="17436B"/>
            </a:solidFill>
            <a:prstDash val="solid"/>
          </a:ln>
        </p:spPr>
      </p:sp>
      <p:sp>
        <p:nvSpPr>
          <p:cNvPr id="87" name="Shape 85"/>
          <p:cNvSpPr/>
          <p:nvPr/>
        </p:nvSpPr>
        <p:spPr>
          <a:xfrm>
            <a:off x="3767328" y="3950208"/>
            <a:ext cx="105156" cy="105156"/>
          </a:xfrm>
          <a:prstGeom prst="rect">
            <a:avLst/>
          </a:prstGeom>
          <a:solidFill>
            <a:srgbClr val="17436B"/>
          </a:solidFill>
          <a:ln w="12700">
            <a:solidFill>
              <a:srgbClr val="17436B"/>
            </a:solidFill>
            <a:prstDash val="solid"/>
          </a:ln>
        </p:spPr>
      </p:sp>
      <p:sp>
        <p:nvSpPr>
          <p:cNvPr id="88" name="Shape 86"/>
          <p:cNvSpPr/>
          <p:nvPr/>
        </p:nvSpPr>
        <p:spPr>
          <a:xfrm>
            <a:off x="3913632" y="3950208"/>
            <a:ext cx="105156" cy="105156"/>
          </a:xfrm>
          <a:prstGeom prst="rect">
            <a:avLst/>
          </a:prstGeom>
          <a:solidFill>
            <a:srgbClr val="17436B"/>
          </a:solidFill>
          <a:ln w="12700">
            <a:solidFill>
              <a:srgbClr val="17436B"/>
            </a:solidFill>
            <a:prstDash val="solid"/>
          </a:ln>
        </p:spPr>
      </p:sp>
      <p:sp>
        <p:nvSpPr>
          <p:cNvPr id="89" name="Shape 87"/>
          <p:cNvSpPr/>
          <p:nvPr/>
        </p:nvSpPr>
        <p:spPr>
          <a:xfrm>
            <a:off x="4059936" y="3950208"/>
            <a:ext cx="105156" cy="105156"/>
          </a:xfrm>
          <a:prstGeom prst="rect">
            <a:avLst/>
          </a:prstGeom>
          <a:solidFill>
            <a:srgbClr val="17436B"/>
          </a:solidFill>
          <a:ln w="12700">
            <a:solidFill>
              <a:srgbClr val="17436B"/>
            </a:solidFill>
            <a:prstDash val="solid"/>
          </a:ln>
        </p:spPr>
      </p:sp>
      <p:sp>
        <p:nvSpPr>
          <p:cNvPr id="90" name="Shape 88"/>
          <p:cNvSpPr/>
          <p:nvPr/>
        </p:nvSpPr>
        <p:spPr>
          <a:xfrm>
            <a:off x="4206240" y="3950208"/>
            <a:ext cx="105156" cy="105156"/>
          </a:xfrm>
          <a:prstGeom prst="rect">
            <a:avLst/>
          </a:prstGeom>
          <a:solidFill>
            <a:srgbClr val="17436B"/>
          </a:solidFill>
          <a:ln w="12700">
            <a:solidFill>
              <a:srgbClr val="17436B"/>
            </a:solidFill>
            <a:prstDash val="solid"/>
          </a:ln>
        </p:spPr>
      </p:sp>
      <p:sp>
        <p:nvSpPr>
          <p:cNvPr id="91" name="Shape 89"/>
          <p:cNvSpPr/>
          <p:nvPr/>
        </p:nvSpPr>
        <p:spPr>
          <a:xfrm>
            <a:off x="4352544" y="3950208"/>
            <a:ext cx="105156" cy="105156"/>
          </a:xfrm>
          <a:prstGeom prst="rect">
            <a:avLst/>
          </a:prstGeom>
          <a:solidFill>
            <a:srgbClr val="17436B"/>
          </a:solidFill>
          <a:ln w="12700">
            <a:solidFill>
              <a:srgbClr val="17436B"/>
            </a:solidFill>
            <a:prstDash val="solid"/>
          </a:ln>
        </p:spPr>
      </p:sp>
      <p:sp>
        <p:nvSpPr>
          <p:cNvPr id="92" name="Shape 90"/>
          <p:cNvSpPr/>
          <p:nvPr/>
        </p:nvSpPr>
        <p:spPr>
          <a:xfrm>
            <a:off x="4498848" y="3950208"/>
            <a:ext cx="105156" cy="105156"/>
          </a:xfrm>
          <a:prstGeom prst="rect">
            <a:avLst/>
          </a:prstGeom>
          <a:solidFill>
            <a:srgbClr val="17436B"/>
          </a:solidFill>
          <a:ln w="12700">
            <a:solidFill>
              <a:srgbClr val="17436B"/>
            </a:solidFill>
            <a:prstDash val="solid"/>
          </a:ln>
        </p:spPr>
      </p:sp>
      <p:sp>
        <p:nvSpPr>
          <p:cNvPr id="93" name="Shape 91"/>
          <p:cNvSpPr/>
          <p:nvPr/>
        </p:nvSpPr>
        <p:spPr>
          <a:xfrm>
            <a:off x="4645152" y="3950208"/>
            <a:ext cx="105156" cy="105156"/>
          </a:xfrm>
          <a:prstGeom prst="rect">
            <a:avLst/>
          </a:prstGeom>
          <a:solidFill>
            <a:srgbClr val="17436B"/>
          </a:solidFill>
          <a:ln w="12700">
            <a:solidFill>
              <a:srgbClr val="17436B"/>
            </a:solidFill>
            <a:prstDash val="solid"/>
          </a:ln>
        </p:spPr>
      </p:sp>
      <p:sp>
        <p:nvSpPr>
          <p:cNvPr id="94" name="Shape 92"/>
          <p:cNvSpPr/>
          <p:nvPr/>
        </p:nvSpPr>
        <p:spPr>
          <a:xfrm>
            <a:off x="548640" y="4096512"/>
            <a:ext cx="105156" cy="105156"/>
          </a:xfrm>
          <a:prstGeom prst="rect">
            <a:avLst/>
          </a:prstGeom>
          <a:solidFill>
            <a:srgbClr val="17436B"/>
          </a:solidFill>
          <a:ln w="12700">
            <a:solidFill>
              <a:srgbClr val="17436B"/>
            </a:solidFill>
            <a:prstDash val="solid"/>
          </a:ln>
        </p:spPr>
      </p:sp>
      <p:sp>
        <p:nvSpPr>
          <p:cNvPr id="95" name="Shape 93"/>
          <p:cNvSpPr/>
          <p:nvPr/>
        </p:nvSpPr>
        <p:spPr>
          <a:xfrm>
            <a:off x="694944" y="4096512"/>
            <a:ext cx="105156" cy="105156"/>
          </a:xfrm>
          <a:prstGeom prst="rect">
            <a:avLst/>
          </a:prstGeom>
          <a:solidFill>
            <a:srgbClr val="17436B"/>
          </a:solidFill>
          <a:ln w="12700">
            <a:solidFill>
              <a:srgbClr val="17436B"/>
            </a:solidFill>
            <a:prstDash val="solid"/>
          </a:ln>
        </p:spPr>
      </p:sp>
      <p:sp>
        <p:nvSpPr>
          <p:cNvPr id="96" name="Shape 94"/>
          <p:cNvSpPr/>
          <p:nvPr/>
        </p:nvSpPr>
        <p:spPr>
          <a:xfrm>
            <a:off x="841248" y="4096512"/>
            <a:ext cx="105156" cy="105156"/>
          </a:xfrm>
          <a:prstGeom prst="rect">
            <a:avLst/>
          </a:prstGeom>
          <a:solidFill>
            <a:srgbClr val="17436B"/>
          </a:solidFill>
          <a:ln w="12700">
            <a:solidFill>
              <a:srgbClr val="17436B"/>
            </a:solidFill>
            <a:prstDash val="solid"/>
          </a:ln>
        </p:spPr>
      </p:sp>
      <p:sp>
        <p:nvSpPr>
          <p:cNvPr id="97" name="Shape 95"/>
          <p:cNvSpPr/>
          <p:nvPr/>
        </p:nvSpPr>
        <p:spPr>
          <a:xfrm>
            <a:off x="987552" y="4096512"/>
            <a:ext cx="105156" cy="105156"/>
          </a:xfrm>
          <a:prstGeom prst="rect">
            <a:avLst/>
          </a:prstGeom>
          <a:solidFill>
            <a:srgbClr val="17436B"/>
          </a:solidFill>
          <a:ln w="12700">
            <a:solidFill>
              <a:srgbClr val="17436B"/>
            </a:solidFill>
            <a:prstDash val="solid"/>
          </a:ln>
        </p:spPr>
      </p:sp>
      <p:sp>
        <p:nvSpPr>
          <p:cNvPr id="98" name="Shape 96"/>
          <p:cNvSpPr/>
          <p:nvPr/>
        </p:nvSpPr>
        <p:spPr>
          <a:xfrm>
            <a:off x="1133856" y="4096512"/>
            <a:ext cx="105156" cy="105156"/>
          </a:xfrm>
          <a:prstGeom prst="rect">
            <a:avLst/>
          </a:prstGeom>
          <a:solidFill>
            <a:srgbClr val="17436B"/>
          </a:solidFill>
          <a:ln w="12700">
            <a:solidFill>
              <a:srgbClr val="17436B"/>
            </a:solidFill>
            <a:prstDash val="solid"/>
          </a:ln>
        </p:spPr>
      </p:sp>
      <p:sp>
        <p:nvSpPr>
          <p:cNvPr id="99" name="Shape 97"/>
          <p:cNvSpPr/>
          <p:nvPr/>
        </p:nvSpPr>
        <p:spPr>
          <a:xfrm>
            <a:off x="1280160" y="4096512"/>
            <a:ext cx="105156" cy="105156"/>
          </a:xfrm>
          <a:prstGeom prst="rect">
            <a:avLst/>
          </a:prstGeom>
          <a:solidFill>
            <a:srgbClr val="17436B"/>
          </a:solidFill>
          <a:ln w="12700">
            <a:solidFill>
              <a:srgbClr val="17436B"/>
            </a:solidFill>
            <a:prstDash val="solid"/>
          </a:ln>
        </p:spPr>
      </p:sp>
      <p:sp>
        <p:nvSpPr>
          <p:cNvPr id="100" name="Shape 98"/>
          <p:cNvSpPr/>
          <p:nvPr/>
        </p:nvSpPr>
        <p:spPr>
          <a:xfrm>
            <a:off x="1426464" y="4096512"/>
            <a:ext cx="105156" cy="105156"/>
          </a:xfrm>
          <a:prstGeom prst="rect">
            <a:avLst/>
          </a:prstGeom>
          <a:solidFill>
            <a:srgbClr val="17436B"/>
          </a:solidFill>
          <a:ln w="12700">
            <a:solidFill>
              <a:srgbClr val="17436B"/>
            </a:solidFill>
            <a:prstDash val="solid"/>
          </a:ln>
        </p:spPr>
      </p:sp>
      <p:sp>
        <p:nvSpPr>
          <p:cNvPr id="101" name="Shape 99"/>
          <p:cNvSpPr/>
          <p:nvPr/>
        </p:nvSpPr>
        <p:spPr>
          <a:xfrm>
            <a:off x="1572768" y="4096512"/>
            <a:ext cx="105156" cy="105156"/>
          </a:xfrm>
          <a:prstGeom prst="rect">
            <a:avLst/>
          </a:prstGeom>
          <a:solidFill>
            <a:srgbClr val="17436B"/>
          </a:solidFill>
          <a:ln w="12700">
            <a:solidFill>
              <a:srgbClr val="17436B"/>
            </a:solidFill>
            <a:prstDash val="solid"/>
          </a:ln>
        </p:spPr>
      </p:sp>
      <p:sp>
        <p:nvSpPr>
          <p:cNvPr id="102" name="Shape 100"/>
          <p:cNvSpPr/>
          <p:nvPr/>
        </p:nvSpPr>
        <p:spPr>
          <a:xfrm>
            <a:off x="1719072" y="4096512"/>
            <a:ext cx="105156" cy="105156"/>
          </a:xfrm>
          <a:prstGeom prst="rect">
            <a:avLst/>
          </a:prstGeom>
          <a:solidFill>
            <a:srgbClr val="17436B"/>
          </a:solidFill>
          <a:ln w="12700">
            <a:solidFill>
              <a:srgbClr val="17436B"/>
            </a:solidFill>
            <a:prstDash val="solid"/>
          </a:ln>
        </p:spPr>
      </p:sp>
      <p:sp>
        <p:nvSpPr>
          <p:cNvPr id="103" name="Shape 101"/>
          <p:cNvSpPr/>
          <p:nvPr/>
        </p:nvSpPr>
        <p:spPr>
          <a:xfrm>
            <a:off x="1865376" y="4096512"/>
            <a:ext cx="105156" cy="105156"/>
          </a:xfrm>
          <a:prstGeom prst="rect">
            <a:avLst/>
          </a:prstGeom>
          <a:solidFill>
            <a:srgbClr val="17436B"/>
          </a:solidFill>
          <a:ln w="12700">
            <a:solidFill>
              <a:srgbClr val="17436B"/>
            </a:solidFill>
            <a:prstDash val="solid"/>
          </a:ln>
        </p:spPr>
      </p:sp>
      <p:sp>
        <p:nvSpPr>
          <p:cNvPr id="104" name="Shape 102"/>
          <p:cNvSpPr/>
          <p:nvPr/>
        </p:nvSpPr>
        <p:spPr>
          <a:xfrm>
            <a:off x="2011680" y="4096512"/>
            <a:ext cx="105156" cy="105156"/>
          </a:xfrm>
          <a:prstGeom prst="rect">
            <a:avLst/>
          </a:prstGeom>
          <a:solidFill>
            <a:srgbClr val="17436B"/>
          </a:solidFill>
          <a:ln w="12700">
            <a:solidFill>
              <a:srgbClr val="17436B"/>
            </a:solidFill>
            <a:prstDash val="solid"/>
          </a:ln>
        </p:spPr>
      </p:sp>
      <p:sp>
        <p:nvSpPr>
          <p:cNvPr id="105" name="Shape 103"/>
          <p:cNvSpPr/>
          <p:nvPr/>
        </p:nvSpPr>
        <p:spPr>
          <a:xfrm>
            <a:off x="2157984" y="4096512"/>
            <a:ext cx="105156" cy="105156"/>
          </a:xfrm>
          <a:prstGeom prst="rect">
            <a:avLst/>
          </a:prstGeom>
          <a:solidFill>
            <a:srgbClr val="17436B"/>
          </a:solidFill>
          <a:ln w="12700">
            <a:solidFill>
              <a:srgbClr val="17436B"/>
            </a:solidFill>
            <a:prstDash val="solid"/>
          </a:ln>
        </p:spPr>
      </p:sp>
      <p:sp>
        <p:nvSpPr>
          <p:cNvPr id="106" name="Shape 104"/>
          <p:cNvSpPr/>
          <p:nvPr/>
        </p:nvSpPr>
        <p:spPr>
          <a:xfrm>
            <a:off x="2304288" y="4096512"/>
            <a:ext cx="105156" cy="105156"/>
          </a:xfrm>
          <a:prstGeom prst="rect">
            <a:avLst/>
          </a:prstGeom>
          <a:solidFill>
            <a:srgbClr val="17436B"/>
          </a:solidFill>
          <a:ln w="12700">
            <a:solidFill>
              <a:srgbClr val="17436B"/>
            </a:solidFill>
            <a:prstDash val="solid"/>
          </a:ln>
        </p:spPr>
      </p:sp>
      <p:sp>
        <p:nvSpPr>
          <p:cNvPr id="107" name="Shape 105"/>
          <p:cNvSpPr/>
          <p:nvPr/>
        </p:nvSpPr>
        <p:spPr>
          <a:xfrm>
            <a:off x="2450592" y="4096512"/>
            <a:ext cx="105156" cy="105156"/>
          </a:xfrm>
          <a:prstGeom prst="rect">
            <a:avLst/>
          </a:prstGeom>
          <a:solidFill>
            <a:srgbClr val="17436B"/>
          </a:solidFill>
          <a:ln w="12700">
            <a:solidFill>
              <a:srgbClr val="17436B"/>
            </a:solidFill>
            <a:prstDash val="solid"/>
          </a:ln>
        </p:spPr>
      </p:sp>
      <p:sp>
        <p:nvSpPr>
          <p:cNvPr id="108" name="Shape 106"/>
          <p:cNvSpPr/>
          <p:nvPr/>
        </p:nvSpPr>
        <p:spPr>
          <a:xfrm>
            <a:off x="2596896" y="4096512"/>
            <a:ext cx="105156" cy="105156"/>
          </a:xfrm>
          <a:prstGeom prst="rect">
            <a:avLst/>
          </a:prstGeom>
          <a:solidFill>
            <a:srgbClr val="17436B"/>
          </a:solidFill>
          <a:ln w="12700">
            <a:solidFill>
              <a:srgbClr val="17436B"/>
            </a:solidFill>
            <a:prstDash val="solid"/>
          </a:ln>
        </p:spPr>
      </p:sp>
      <p:sp>
        <p:nvSpPr>
          <p:cNvPr id="109" name="Shape 107"/>
          <p:cNvSpPr/>
          <p:nvPr/>
        </p:nvSpPr>
        <p:spPr>
          <a:xfrm>
            <a:off x="2743200" y="4096512"/>
            <a:ext cx="105156" cy="105156"/>
          </a:xfrm>
          <a:prstGeom prst="rect">
            <a:avLst/>
          </a:prstGeom>
          <a:solidFill>
            <a:srgbClr val="17436B"/>
          </a:solidFill>
          <a:ln w="12700">
            <a:solidFill>
              <a:srgbClr val="17436B"/>
            </a:solidFill>
            <a:prstDash val="solid"/>
          </a:ln>
        </p:spPr>
      </p:sp>
      <p:sp>
        <p:nvSpPr>
          <p:cNvPr id="110" name="Shape 108"/>
          <p:cNvSpPr/>
          <p:nvPr/>
        </p:nvSpPr>
        <p:spPr>
          <a:xfrm>
            <a:off x="2889504" y="4096512"/>
            <a:ext cx="105156" cy="105156"/>
          </a:xfrm>
          <a:prstGeom prst="rect">
            <a:avLst/>
          </a:prstGeom>
          <a:solidFill>
            <a:srgbClr val="17436B"/>
          </a:solidFill>
          <a:ln w="12700">
            <a:solidFill>
              <a:srgbClr val="17436B"/>
            </a:solidFill>
            <a:prstDash val="solid"/>
          </a:ln>
        </p:spPr>
      </p:sp>
      <p:sp>
        <p:nvSpPr>
          <p:cNvPr id="111" name="Shape 109"/>
          <p:cNvSpPr/>
          <p:nvPr/>
        </p:nvSpPr>
        <p:spPr>
          <a:xfrm>
            <a:off x="3035808" y="4096512"/>
            <a:ext cx="105156" cy="105156"/>
          </a:xfrm>
          <a:prstGeom prst="rect">
            <a:avLst/>
          </a:prstGeom>
          <a:solidFill>
            <a:srgbClr val="17436B"/>
          </a:solidFill>
          <a:ln w="12700">
            <a:solidFill>
              <a:srgbClr val="17436B"/>
            </a:solidFill>
            <a:prstDash val="solid"/>
          </a:ln>
        </p:spPr>
      </p:sp>
      <p:sp>
        <p:nvSpPr>
          <p:cNvPr id="112" name="Shape 110"/>
          <p:cNvSpPr/>
          <p:nvPr/>
        </p:nvSpPr>
        <p:spPr>
          <a:xfrm>
            <a:off x="3182112" y="4096512"/>
            <a:ext cx="105156" cy="105156"/>
          </a:xfrm>
          <a:prstGeom prst="rect">
            <a:avLst/>
          </a:prstGeom>
          <a:solidFill>
            <a:srgbClr val="17436B"/>
          </a:solidFill>
          <a:ln w="12700">
            <a:solidFill>
              <a:srgbClr val="17436B"/>
            </a:solidFill>
            <a:prstDash val="solid"/>
          </a:ln>
        </p:spPr>
      </p:sp>
      <p:sp>
        <p:nvSpPr>
          <p:cNvPr id="113" name="Shape 111"/>
          <p:cNvSpPr/>
          <p:nvPr/>
        </p:nvSpPr>
        <p:spPr>
          <a:xfrm>
            <a:off x="3328416" y="4096512"/>
            <a:ext cx="105156" cy="105156"/>
          </a:xfrm>
          <a:prstGeom prst="rect">
            <a:avLst/>
          </a:prstGeom>
          <a:solidFill>
            <a:srgbClr val="17436B"/>
          </a:solidFill>
          <a:ln w="12700">
            <a:solidFill>
              <a:srgbClr val="17436B"/>
            </a:solidFill>
            <a:prstDash val="solid"/>
          </a:ln>
        </p:spPr>
      </p:sp>
      <p:sp>
        <p:nvSpPr>
          <p:cNvPr id="114" name="Shape 112"/>
          <p:cNvSpPr/>
          <p:nvPr/>
        </p:nvSpPr>
        <p:spPr>
          <a:xfrm>
            <a:off x="3474720" y="4096512"/>
            <a:ext cx="105156" cy="105156"/>
          </a:xfrm>
          <a:prstGeom prst="rect">
            <a:avLst/>
          </a:prstGeom>
          <a:solidFill>
            <a:srgbClr val="17436B"/>
          </a:solidFill>
          <a:ln w="12700">
            <a:solidFill>
              <a:srgbClr val="17436B"/>
            </a:solidFill>
            <a:prstDash val="solid"/>
          </a:ln>
        </p:spPr>
      </p:sp>
      <p:sp>
        <p:nvSpPr>
          <p:cNvPr id="115" name="Shape 113"/>
          <p:cNvSpPr/>
          <p:nvPr/>
        </p:nvSpPr>
        <p:spPr>
          <a:xfrm>
            <a:off x="3621024" y="4096512"/>
            <a:ext cx="105156" cy="105156"/>
          </a:xfrm>
          <a:prstGeom prst="rect">
            <a:avLst/>
          </a:prstGeom>
          <a:solidFill>
            <a:srgbClr val="17436B"/>
          </a:solidFill>
          <a:ln w="12700">
            <a:solidFill>
              <a:srgbClr val="17436B"/>
            </a:solidFill>
            <a:prstDash val="solid"/>
          </a:ln>
        </p:spPr>
      </p:sp>
      <p:sp>
        <p:nvSpPr>
          <p:cNvPr id="116" name="Shape 114"/>
          <p:cNvSpPr/>
          <p:nvPr/>
        </p:nvSpPr>
        <p:spPr>
          <a:xfrm>
            <a:off x="3767328" y="4096512"/>
            <a:ext cx="105156" cy="105156"/>
          </a:xfrm>
          <a:prstGeom prst="rect">
            <a:avLst/>
          </a:prstGeom>
          <a:solidFill>
            <a:srgbClr val="17436B"/>
          </a:solidFill>
          <a:ln w="12700">
            <a:solidFill>
              <a:srgbClr val="17436B"/>
            </a:solidFill>
            <a:prstDash val="solid"/>
          </a:ln>
        </p:spPr>
      </p:sp>
      <p:sp>
        <p:nvSpPr>
          <p:cNvPr id="117" name="Shape 115"/>
          <p:cNvSpPr/>
          <p:nvPr/>
        </p:nvSpPr>
        <p:spPr>
          <a:xfrm>
            <a:off x="3913632" y="4096512"/>
            <a:ext cx="105156" cy="105156"/>
          </a:xfrm>
          <a:prstGeom prst="rect">
            <a:avLst/>
          </a:prstGeom>
          <a:solidFill>
            <a:srgbClr val="17436B"/>
          </a:solidFill>
          <a:ln w="12700">
            <a:solidFill>
              <a:srgbClr val="17436B"/>
            </a:solidFill>
            <a:prstDash val="solid"/>
          </a:ln>
        </p:spPr>
      </p:sp>
      <p:sp>
        <p:nvSpPr>
          <p:cNvPr id="118" name="Shape 116"/>
          <p:cNvSpPr/>
          <p:nvPr/>
        </p:nvSpPr>
        <p:spPr>
          <a:xfrm>
            <a:off x="4059936" y="4096512"/>
            <a:ext cx="105156" cy="105156"/>
          </a:xfrm>
          <a:prstGeom prst="rect">
            <a:avLst/>
          </a:prstGeom>
          <a:solidFill>
            <a:srgbClr val="17436B"/>
          </a:solidFill>
          <a:ln w="12700">
            <a:solidFill>
              <a:srgbClr val="17436B"/>
            </a:solidFill>
            <a:prstDash val="solid"/>
          </a:ln>
        </p:spPr>
      </p:sp>
      <p:sp>
        <p:nvSpPr>
          <p:cNvPr id="119" name="Shape 117"/>
          <p:cNvSpPr/>
          <p:nvPr/>
        </p:nvSpPr>
        <p:spPr>
          <a:xfrm>
            <a:off x="4206240" y="4096512"/>
            <a:ext cx="105156" cy="105156"/>
          </a:xfrm>
          <a:prstGeom prst="rect">
            <a:avLst/>
          </a:prstGeom>
          <a:solidFill>
            <a:srgbClr val="17436B"/>
          </a:solidFill>
          <a:ln w="12700">
            <a:solidFill>
              <a:srgbClr val="17436B"/>
            </a:solidFill>
            <a:prstDash val="solid"/>
          </a:ln>
        </p:spPr>
      </p:sp>
      <p:sp>
        <p:nvSpPr>
          <p:cNvPr id="120" name="Shape 118"/>
          <p:cNvSpPr/>
          <p:nvPr/>
        </p:nvSpPr>
        <p:spPr>
          <a:xfrm>
            <a:off x="4352544" y="4096512"/>
            <a:ext cx="105156" cy="105156"/>
          </a:xfrm>
          <a:prstGeom prst="rect">
            <a:avLst/>
          </a:prstGeom>
          <a:solidFill>
            <a:srgbClr val="17436B"/>
          </a:solidFill>
          <a:ln w="12700">
            <a:solidFill>
              <a:srgbClr val="17436B"/>
            </a:solidFill>
            <a:prstDash val="solid"/>
          </a:ln>
        </p:spPr>
      </p:sp>
      <p:sp>
        <p:nvSpPr>
          <p:cNvPr id="121" name="Shape 119"/>
          <p:cNvSpPr/>
          <p:nvPr/>
        </p:nvSpPr>
        <p:spPr>
          <a:xfrm>
            <a:off x="4498848" y="4096512"/>
            <a:ext cx="105156" cy="105156"/>
          </a:xfrm>
          <a:prstGeom prst="rect">
            <a:avLst/>
          </a:prstGeom>
          <a:solidFill>
            <a:srgbClr val="17436B"/>
          </a:solidFill>
          <a:ln w="12700">
            <a:solidFill>
              <a:srgbClr val="17436B"/>
            </a:solidFill>
            <a:prstDash val="solid"/>
          </a:ln>
        </p:spPr>
      </p:sp>
      <p:sp>
        <p:nvSpPr>
          <p:cNvPr id="122" name="Shape 120"/>
          <p:cNvSpPr/>
          <p:nvPr/>
        </p:nvSpPr>
        <p:spPr>
          <a:xfrm>
            <a:off x="4645152" y="4096512"/>
            <a:ext cx="105156" cy="105156"/>
          </a:xfrm>
          <a:prstGeom prst="rect">
            <a:avLst/>
          </a:prstGeom>
          <a:solidFill>
            <a:srgbClr val="17436B"/>
          </a:solidFill>
          <a:ln w="12700">
            <a:solidFill>
              <a:srgbClr val="17436B"/>
            </a:solidFill>
            <a:prstDash val="solid"/>
          </a:ln>
        </p:spPr>
      </p:sp>
      <p:sp>
        <p:nvSpPr>
          <p:cNvPr id="123" name="Shape 121"/>
          <p:cNvSpPr/>
          <p:nvPr/>
        </p:nvSpPr>
        <p:spPr>
          <a:xfrm>
            <a:off x="548640" y="4242816"/>
            <a:ext cx="105156" cy="105156"/>
          </a:xfrm>
          <a:prstGeom prst="rect">
            <a:avLst/>
          </a:prstGeom>
          <a:solidFill>
            <a:srgbClr val="17436B"/>
          </a:solidFill>
          <a:ln w="12700">
            <a:solidFill>
              <a:srgbClr val="17436B"/>
            </a:solidFill>
            <a:prstDash val="solid"/>
          </a:ln>
        </p:spPr>
      </p:sp>
      <p:sp>
        <p:nvSpPr>
          <p:cNvPr id="124" name="Shape 122"/>
          <p:cNvSpPr/>
          <p:nvPr/>
        </p:nvSpPr>
        <p:spPr>
          <a:xfrm>
            <a:off x="694944" y="4242816"/>
            <a:ext cx="105156" cy="105156"/>
          </a:xfrm>
          <a:prstGeom prst="rect">
            <a:avLst/>
          </a:prstGeom>
          <a:solidFill>
            <a:srgbClr val="17436B"/>
          </a:solidFill>
          <a:ln w="12700">
            <a:solidFill>
              <a:srgbClr val="17436B"/>
            </a:solidFill>
            <a:prstDash val="solid"/>
          </a:ln>
        </p:spPr>
      </p:sp>
      <p:sp>
        <p:nvSpPr>
          <p:cNvPr id="125" name="Shape 123"/>
          <p:cNvSpPr/>
          <p:nvPr/>
        </p:nvSpPr>
        <p:spPr>
          <a:xfrm>
            <a:off x="841248" y="4242816"/>
            <a:ext cx="105156" cy="105156"/>
          </a:xfrm>
          <a:prstGeom prst="rect">
            <a:avLst/>
          </a:prstGeom>
          <a:solidFill>
            <a:srgbClr val="17436B"/>
          </a:solidFill>
          <a:ln w="12700">
            <a:solidFill>
              <a:srgbClr val="17436B"/>
            </a:solidFill>
            <a:prstDash val="solid"/>
          </a:ln>
        </p:spPr>
      </p:sp>
      <p:sp>
        <p:nvSpPr>
          <p:cNvPr id="126" name="Shape 124"/>
          <p:cNvSpPr/>
          <p:nvPr/>
        </p:nvSpPr>
        <p:spPr>
          <a:xfrm>
            <a:off x="987552" y="4242816"/>
            <a:ext cx="105156" cy="105156"/>
          </a:xfrm>
          <a:prstGeom prst="rect">
            <a:avLst/>
          </a:prstGeom>
          <a:solidFill>
            <a:srgbClr val="17436B"/>
          </a:solidFill>
          <a:ln w="12700">
            <a:solidFill>
              <a:srgbClr val="17436B"/>
            </a:solidFill>
            <a:prstDash val="solid"/>
          </a:ln>
        </p:spPr>
      </p:sp>
      <p:sp>
        <p:nvSpPr>
          <p:cNvPr id="127" name="Shape 125"/>
          <p:cNvSpPr/>
          <p:nvPr/>
        </p:nvSpPr>
        <p:spPr>
          <a:xfrm>
            <a:off x="1133856" y="4242816"/>
            <a:ext cx="105156" cy="105156"/>
          </a:xfrm>
          <a:prstGeom prst="rect">
            <a:avLst/>
          </a:prstGeom>
          <a:solidFill>
            <a:srgbClr val="17436B"/>
          </a:solidFill>
          <a:ln w="12700">
            <a:solidFill>
              <a:srgbClr val="17436B"/>
            </a:solidFill>
            <a:prstDash val="solid"/>
          </a:ln>
        </p:spPr>
      </p:sp>
      <p:sp>
        <p:nvSpPr>
          <p:cNvPr id="128" name="Shape 126"/>
          <p:cNvSpPr/>
          <p:nvPr/>
        </p:nvSpPr>
        <p:spPr>
          <a:xfrm>
            <a:off x="1280160" y="4242816"/>
            <a:ext cx="105156" cy="105156"/>
          </a:xfrm>
          <a:prstGeom prst="rect">
            <a:avLst/>
          </a:prstGeom>
          <a:solidFill>
            <a:srgbClr val="17436B"/>
          </a:solidFill>
          <a:ln w="12700">
            <a:solidFill>
              <a:srgbClr val="17436B"/>
            </a:solidFill>
            <a:prstDash val="solid"/>
          </a:ln>
        </p:spPr>
      </p:sp>
      <p:sp>
        <p:nvSpPr>
          <p:cNvPr id="129" name="Shape 127"/>
          <p:cNvSpPr/>
          <p:nvPr/>
        </p:nvSpPr>
        <p:spPr>
          <a:xfrm>
            <a:off x="1426464" y="4242816"/>
            <a:ext cx="105156" cy="105156"/>
          </a:xfrm>
          <a:prstGeom prst="rect">
            <a:avLst/>
          </a:prstGeom>
          <a:solidFill>
            <a:srgbClr val="17436B"/>
          </a:solidFill>
          <a:ln w="12700">
            <a:solidFill>
              <a:srgbClr val="17436B"/>
            </a:solidFill>
            <a:prstDash val="solid"/>
          </a:ln>
        </p:spPr>
      </p:sp>
      <p:sp>
        <p:nvSpPr>
          <p:cNvPr id="130" name="Shape 128"/>
          <p:cNvSpPr/>
          <p:nvPr/>
        </p:nvSpPr>
        <p:spPr>
          <a:xfrm>
            <a:off x="1572768" y="4242816"/>
            <a:ext cx="105156" cy="105156"/>
          </a:xfrm>
          <a:prstGeom prst="rect">
            <a:avLst/>
          </a:prstGeom>
          <a:solidFill>
            <a:srgbClr val="17436B"/>
          </a:solidFill>
          <a:ln w="12700">
            <a:solidFill>
              <a:srgbClr val="17436B"/>
            </a:solidFill>
            <a:prstDash val="solid"/>
          </a:ln>
        </p:spPr>
      </p:sp>
      <p:sp>
        <p:nvSpPr>
          <p:cNvPr id="131" name="Shape 129"/>
          <p:cNvSpPr/>
          <p:nvPr/>
        </p:nvSpPr>
        <p:spPr>
          <a:xfrm>
            <a:off x="1719072" y="4242816"/>
            <a:ext cx="105156" cy="105156"/>
          </a:xfrm>
          <a:prstGeom prst="rect">
            <a:avLst/>
          </a:prstGeom>
          <a:solidFill>
            <a:srgbClr val="17436B"/>
          </a:solidFill>
          <a:ln w="12700">
            <a:solidFill>
              <a:srgbClr val="17436B"/>
            </a:solidFill>
            <a:prstDash val="solid"/>
          </a:ln>
        </p:spPr>
      </p:sp>
      <p:sp>
        <p:nvSpPr>
          <p:cNvPr id="132" name="Shape 130"/>
          <p:cNvSpPr/>
          <p:nvPr/>
        </p:nvSpPr>
        <p:spPr>
          <a:xfrm>
            <a:off x="1865376" y="4242816"/>
            <a:ext cx="105156" cy="105156"/>
          </a:xfrm>
          <a:prstGeom prst="rect">
            <a:avLst/>
          </a:prstGeom>
          <a:solidFill>
            <a:srgbClr val="17436B"/>
          </a:solidFill>
          <a:ln w="12700">
            <a:solidFill>
              <a:srgbClr val="17436B"/>
            </a:solidFill>
            <a:prstDash val="solid"/>
          </a:ln>
        </p:spPr>
      </p:sp>
      <p:sp>
        <p:nvSpPr>
          <p:cNvPr id="133" name="Shape 131"/>
          <p:cNvSpPr/>
          <p:nvPr/>
        </p:nvSpPr>
        <p:spPr>
          <a:xfrm>
            <a:off x="2011680" y="4242816"/>
            <a:ext cx="105156" cy="105156"/>
          </a:xfrm>
          <a:prstGeom prst="rect">
            <a:avLst/>
          </a:prstGeom>
          <a:solidFill>
            <a:srgbClr val="17436B"/>
          </a:solidFill>
          <a:ln w="12700">
            <a:solidFill>
              <a:srgbClr val="17436B"/>
            </a:solidFill>
            <a:prstDash val="solid"/>
          </a:ln>
        </p:spPr>
      </p:sp>
      <p:sp>
        <p:nvSpPr>
          <p:cNvPr id="134" name="Shape 132"/>
          <p:cNvSpPr/>
          <p:nvPr/>
        </p:nvSpPr>
        <p:spPr>
          <a:xfrm>
            <a:off x="2157984" y="4242816"/>
            <a:ext cx="105156" cy="105156"/>
          </a:xfrm>
          <a:prstGeom prst="rect">
            <a:avLst/>
          </a:prstGeom>
          <a:solidFill>
            <a:srgbClr val="17436B"/>
          </a:solidFill>
          <a:ln w="12700">
            <a:solidFill>
              <a:srgbClr val="17436B"/>
            </a:solidFill>
            <a:prstDash val="solid"/>
          </a:ln>
        </p:spPr>
      </p:sp>
      <p:sp>
        <p:nvSpPr>
          <p:cNvPr id="135" name="Shape 133"/>
          <p:cNvSpPr/>
          <p:nvPr/>
        </p:nvSpPr>
        <p:spPr>
          <a:xfrm>
            <a:off x="2304288" y="4242816"/>
            <a:ext cx="105156" cy="105156"/>
          </a:xfrm>
          <a:prstGeom prst="rect">
            <a:avLst/>
          </a:prstGeom>
          <a:solidFill>
            <a:srgbClr val="17436B"/>
          </a:solidFill>
          <a:ln w="12700">
            <a:solidFill>
              <a:srgbClr val="17436B"/>
            </a:solidFill>
            <a:prstDash val="solid"/>
          </a:ln>
        </p:spPr>
      </p:sp>
      <p:sp>
        <p:nvSpPr>
          <p:cNvPr id="136" name="Shape 134"/>
          <p:cNvSpPr/>
          <p:nvPr/>
        </p:nvSpPr>
        <p:spPr>
          <a:xfrm>
            <a:off x="2450592" y="4242816"/>
            <a:ext cx="105156" cy="105156"/>
          </a:xfrm>
          <a:prstGeom prst="rect">
            <a:avLst/>
          </a:prstGeom>
          <a:solidFill>
            <a:srgbClr val="17436B"/>
          </a:solidFill>
          <a:ln w="12700">
            <a:solidFill>
              <a:srgbClr val="17436B"/>
            </a:solidFill>
            <a:prstDash val="solid"/>
          </a:ln>
        </p:spPr>
      </p:sp>
      <p:sp>
        <p:nvSpPr>
          <p:cNvPr id="137" name="Shape 135"/>
          <p:cNvSpPr/>
          <p:nvPr/>
        </p:nvSpPr>
        <p:spPr>
          <a:xfrm>
            <a:off x="2596896" y="4242816"/>
            <a:ext cx="105156" cy="105156"/>
          </a:xfrm>
          <a:prstGeom prst="rect">
            <a:avLst/>
          </a:prstGeom>
          <a:solidFill>
            <a:srgbClr val="17436B"/>
          </a:solidFill>
          <a:ln w="12700">
            <a:solidFill>
              <a:srgbClr val="17436B"/>
            </a:solidFill>
            <a:prstDash val="solid"/>
          </a:ln>
        </p:spPr>
      </p:sp>
      <p:sp>
        <p:nvSpPr>
          <p:cNvPr id="138" name="Shape 136"/>
          <p:cNvSpPr/>
          <p:nvPr/>
        </p:nvSpPr>
        <p:spPr>
          <a:xfrm>
            <a:off x="2743200" y="4242816"/>
            <a:ext cx="105156" cy="105156"/>
          </a:xfrm>
          <a:prstGeom prst="rect">
            <a:avLst/>
          </a:prstGeom>
          <a:solidFill>
            <a:srgbClr val="17436B"/>
          </a:solidFill>
          <a:ln w="12700">
            <a:solidFill>
              <a:srgbClr val="17436B"/>
            </a:solidFill>
            <a:prstDash val="solid"/>
          </a:ln>
        </p:spPr>
      </p:sp>
      <p:sp>
        <p:nvSpPr>
          <p:cNvPr id="139" name="Shape 137"/>
          <p:cNvSpPr/>
          <p:nvPr/>
        </p:nvSpPr>
        <p:spPr>
          <a:xfrm>
            <a:off x="2889504" y="4242816"/>
            <a:ext cx="105156" cy="105156"/>
          </a:xfrm>
          <a:prstGeom prst="rect">
            <a:avLst/>
          </a:prstGeom>
          <a:solidFill>
            <a:srgbClr val="17436B"/>
          </a:solidFill>
          <a:ln w="12700">
            <a:solidFill>
              <a:srgbClr val="17436B"/>
            </a:solidFill>
            <a:prstDash val="solid"/>
          </a:ln>
        </p:spPr>
      </p:sp>
      <p:sp>
        <p:nvSpPr>
          <p:cNvPr id="140" name="Shape 138"/>
          <p:cNvSpPr/>
          <p:nvPr/>
        </p:nvSpPr>
        <p:spPr>
          <a:xfrm>
            <a:off x="3035808" y="4242816"/>
            <a:ext cx="105156" cy="105156"/>
          </a:xfrm>
          <a:prstGeom prst="rect">
            <a:avLst/>
          </a:prstGeom>
          <a:solidFill>
            <a:srgbClr val="17436B"/>
          </a:solidFill>
          <a:ln w="12700">
            <a:solidFill>
              <a:srgbClr val="17436B"/>
            </a:solidFill>
            <a:prstDash val="solid"/>
          </a:ln>
        </p:spPr>
      </p:sp>
      <p:sp>
        <p:nvSpPr>
          <p:cNvPr id="141" name="Shape 139"/>
          <p:cNvSpPr/>
          <p:nvPr/>
        </p:nvSpPr>
        <p:spPr>
          <a:xfrm>
            <a:off x="3182112" y="4242816"/>
            <a:ext cx="105156" cy="105156"/>
          </a:xfrm>
          <a:prstGeom prst="rect">
            <a:avLst/>
          </a:prstGeom>
          <a:solidFill>
            <a:srgbClr val="17436B"/>
          </a:solidFill>
          <a:ln w="12700">
            <a:solidFill>
              <a:srgbClr val="17436B"/>
            </a:solidFill>
            <a:prstDash val="solid"/>
          </a:ln>
        </p:spPr>
      </p:sp>
      <p:sp>
        <p:nvSpPr>
          <p:cNvPr id="142" name="Shape 140"/>
          <p:cNvSpPr/>
          <p:nvPr/>
        </p:nvSpPr>
        <p:spPr>
          <a:xfrm>
            <a:off x="3328416" y="4242816"/>
            <a:ext cx="105156" cy="105156"/>
          </a:xfrm>
          <a:prstGeom prst="rect">
            <a:avLst/>
          </a:prstGeom>
          <a:solidFill>
            <a:srgbClr val="17436B"/>
          </a:solidFill>
          <a:ln w="12700">
            <a:solidFill>
              <a:srgbClr val="17436B"/>
            </a:solidFill>
            <a:prstDash val="solid"/>
          </a:ln>
        </p:spPr>
      </p:sp>
      <p:sp>
        <p:nvSpPr>
          <p:cNvPr id="143" name="Shape 141"/>
          <p:cNvSpPr/>
          <p:nvPr/>
        </p:nvSpPr>
        <p:spPr>
          <a:xfrm>
            <a:off x="3474720" y="4242816"/>
            <a:ext cx="105156" cy="105156"/>
          </a:xfrm>
          <a:prstGeom prst="rect">
            <a:avLst/>
          </a:prstGeom>
          <a:solidFill>
            <a:srgbClr val="17436B"/>
          </a:solidFill>
          <a:ln w="12700">
            <a:solidFill>
              <a:srgbClr val="17436B"/>
            </a:solidFill>
            <a:prstDash val="solid"/>
          </a:ln>
        </p:spPr>
      </p:sp>
      <p:sp>
        <p:nvSpPr>
          <p:cNvPr id="144" name="Shape 142"/>
          <p:cNvSpPr/>
          <p:nvPr/>
        </p:nvSpPr>
        <p:spPr>
          <a:xfrm>
            <a:off x="3621024" y="4242816"/>
            <a:ext cx="105156" cy="105156"/>
          </a:xfrm>
          <a:prstGeom prst="rect">
            <a:avLst/>
          </a:prstGeom>
          <a:solidFill>
            <a:srgbClr val="17436B"/>
          </a:solidFill>
          <a:ln w="12700">
            <a:solidFill>
              <a:srgbClr val="17436B"/>
            </a:solidFill>
            <a:prstDash val="solid"/>
          </a:ln>
        </p:spPr>
      </p:sp>
      <p:sp>
        <p:nvSpPr>
          <p:cNvPr id="145" name="Shape 143"/>
          <p:cNvSpPr/>
          <p:nvPr/>
        </p:nvSpPr>
        <p:spPr>
          <a:xfrm>
            <a:off x="3767328" y="4242816"/>
            <a:ext cx="105156" cy="105156"/>
          </a:xfrm>
          <a:prstGeom prst="rect">
            <a:avLst/>
          </a:prstGeom>
          <a:solidFill>
            <a:srgbClr val="17436B"/>
          </a:solidFill>
          <a:ln w="12700">
            <a:solidFill>
              <a:srgbClr val="17436B"/>
            </a:solidFill>
            <a:prstDash val="solid"/>
          </a:ln>
        </p:spPr>
      </p:sp>
      <p:sp>
        <p:nvSpPr>
          <p:cNvPr id="146" name="Shape 144"/>
          <p:cNvSpPr/>
          <p:nvPr/>
        </p:nvSpPr>
        <p:spPr>
          <a:xfrm>
            <a:off x="3913632" y="4242816"/>
            <a:ext cx="105156" cy="105156"/>
          </a:xfrm>
          <a:prstGeom prst="rect">
            <a:avLst/>
          </a:prstGeom>
          <a:solidFill>
            <a:srgbClr val="17436B"/>
          </a:solidFill>
          <a:ln w="12700">
            <a:solidFill>
              <a:srgbClr val="17436B"/>
            </a:solidFill>
            <a:prstDash val="solid"/>
          </a:ln>
        </p:spPr>
      </p:sp>
      <p:sp>
        <p:nvSpPr>
          <p:cNvPr id="147" name="Shape 145"/>
          <p:cNvSpPr/>
          <p:nvPr/>
        </p:nvSpPr>
        <p:spPr>
          <a:xfrm>
            <a:off x="4059936" y="4242816"/>
            <a:ext cx="105156" cy="105156"/>
          </a:xfrm>
          <a:prstGeom prst="rect">
            <a:avLst/>
          </a:prstGeom>
          <a:solidFill>
            <a:srgbClr val="17436B"/>
          </a:solidFill>
          <a:ln w="12700">
            <a:solidFill>
              <a:srgbClr val="17436B"/>
            </a:solidFill>
            <a:prstDash val="solid"/>
          </a:ln>
        </p:spPr>
      </p:sp>
      <p:sp>
        <p:nvSpPr>
          <p:cNvPr id="148" name="Shape 146"/>
          <p:cNvSpPr/>
          <p:nvPr/>
        </p:nvSpPr>
        <p:spPr>
          <a:xfrm>
            <a:off x="4206240" y="4242816"/>
            <a:ext cx="105156" cy="105156"/>
          </a:xfrm>
          <a:prstGeom prst="rect">
            <a:avLst/>
          </a:prstGeom>
          <a:solidFill>
            <a:srgbClr val="17436B"/>
          </a:solidFill>
          <a:ln w="12700">
            <a:solidFill>
              <a:srgbClr val="17436B"/>
            </a:solidFill>
            <a:prstDash val="solid"/>
          </a:ln>
        </p:spPr>
      </p:sp>
      <p:sp>
        <p:nvSpPr>
          <p:cNvPr id="149" name="Shape 147"/>
          <p:cNvSpPr/>
          <p:nvPr/>
        </p:nvSpPr>
        <p:spPr>
          <a:xfrm>
            <a:off x="4352544" y="4242816"/>
            <a:ext cx="105156" cy="105156"/>
          </a:xfrm>
          <a:prstGeom prst="rect">
            <a:avLst/>
          </a:prstGeom>
          <a:solidFill>
            <a:srgbClr val="17436B"/>
          </a:solidFill>
          <a:ln w="12700">
            <a:solidFill>
              <a:srgbClr val="17436B"/>
            </a:solidFill>
            <a:prstDash val="solid"/>
          </a:ln>
        </p:spPr>
      </p:sp>
      <p:sp>
        <p:nvSpPr>
          <p:cNvPr id="150" name="Shape 148"/>
          <p:cNvSpPr/>
          <p:nvPr/>
        </p:nvSpPr>
        <p:spPr>
          <a:xfrm>
            <a:off x="4498848" y="4242816"/>
            <a:ext cx="105156" cy="105156"/>
          </a:xfrm>
          <a:prstGeom prst="rect">
            <a:avLst/>
          </a:prstGeom>
          <a:solidFill>
            <a:srgbClr val="17436B"/>
          </a:solidFill>
          <a:ln w="12700">
            <a:solidFill>
              <a:srgbClr val="17436B"/>
            </a:solidFill>
            <a:prstDash val="solid"/>
          </a:ln>
        </p:spPr>
      </p:sp>
      <p:sp>
        <p:nvSpPr>
          <p:cNvPr id="151" name="Shape 149"/>
          <p:cNvSpPr/>
          <p:nvPr/>
        </p:nvSpPr>
        <p:spPr>
          <a:xfrm>
            <a:off x="4645152" y="4242816"/>
            <a:ext cx="105156" cy="105156"/>
          </a:xfrm>
          <a:prstGeom prst="rect">
            <a:avLst/>
          </a:prstGeom>
          <a:solidFill>
            <a:srgbClr val="17436B"/>
          </a:solidFill>
          <a:ln w="12700">
            <a:solidFill>
              <a:srgbClr val="17436B"/>
            </a:solidFill>
            <a:prstDash val="solid"/>
          </a:ln>
        </p:spPr>
      </p:sp>
      <p:sp>
        <p:nvSpPr>
          <p:cNvPr id="152" name="Shape 150"/>
          <p:cNvSpPr/>
          <p:nvPr/>
        </p:nvSpPr>
        <p:spPr>
          <a:xfrm>
            <a:off x="548640" y="4389120"/>
            <a:ext cx="105156" cy="105156"/>
          </a:xfrm>
          <a:prstGeom prst="rect">
            <a:avLst/>
          </a:prstGeom>
          <a:solidFill>
            <a:srgbClr val="17436B"/>
          </a:solidFill>
          <a:ln w="12700">
            <a:solidFill>
              <a:srgbClr val="17436B"/>
            </a:solidFill>
            <a:prstDash val="solid"/>
          </a:ln>
        </p:spPr>
      </p:sp>
      <p:sp>
        <p:nvSpPr>
          <p:cNvPr id="153" name="Shape 151"/>
          <p:cNvSpPr/>
          <p:nvPr/>
        </p:nvSpPr>
        <p:spPr>
          <a:xfrm>
            <a:off x="694944" y="4389120"/>
            <a:ext cx="105156" cy="105156"/>
          </a:xfrm>
          <a:prstGeom prst="rect">
            <a:avLst/>
          </a:prstGeom>
          <a:solidFill>
            <a:srgbClr val="17436B"/>
          </a:solidFill>
          <a:ln w="12700">
            <a:solidFill>
              <a:srgbClr val="17436B"/>
            </a:solidFill>
            <a:prstDash val="solid"/>
          </a:ln>
        </p:spPr>
      </p:sp>
      <p:sp>
        <p:nvSpPr>
          <p:cNvPr id="154" name="Shape 152"/>
          <p:cNvSpPr/>
          <p:nvPr/>
        </p:nvSpPr>
        <p:spPr>
          <a:xfrm>
            <a:off x="841248" y="4389120"/>
            <a:ext cx="105156" cy="105156"/>
          </a:xfrm>
          <a:prstGeom prst="rect">
            <a:avLst/>
          </a:prstGeom>
          <a:solidFill>
            <a:srgbClr val="17436B"/>
          </a:solidFill>
          <a:ln w="12700">
            <a:solidFill>
              <a:srgbClr val="17436B"/>
            </a:solidFill>
            <a:prstDash val="solid"/>
          </a:ln>
        </p:spPr>
      </p:sp>
      <p:sp>
        <p:nvSpPr>
          <p:cNvPr id="155" name="Shape 153"/>
          <p:cNvSpPr/>
          <p:nvPr/>
        </p:nvSpPr>
        <p:spPr>
          <a:xfrm>
            <a:off x="987552" y="4389120"/>
            <a:ext cx="105156" cy="105156"/>
          </a:xfrm>
          <a:prstGeom prst="rect">
            <a:avLst/>
          </a:prstGeom>
          <a:solidFill>
            <a:srgbClr val="17436B"/>
          </a:solidFill>
          <a:ln w="12700">
            <a:solidFill>
              <a:srgbClr val="17436B"/>
            </a:solidFill>
            <a:prstDash val="solid"/>
          </a:ln>
        </p:spPr>
      </p:sp>
      <p:sp>
        <p:nvSpPr>
          <p:cNvPr id="156" name="Shape 154"/>
          <p:cNvSpPr/>
          <p:nvPr/>
        </p:nvSpPr>
        <p:spPr>
          <a:xfrm>
            <a:off x="1133856" y="4389120"/>
            <a:ext cx="105156" cy="105156"/>
          </a:xfrm>
          <a:prstGeom prst="rect">
            <a:avLst/>
          </a:prstGeom>
          <a:solidFill>
            <a:srgbClr val="17436B"/>
          </a:solidFill>
          <a:ln w="12700">
            <a:solidFill>
              <a:srgbClr val="17436B"/>
            </a:solidFill>
            <a:prstDash val="solid"/>
          </a:ln>
        </p:spPr>
      </p:sp>
      <p:sp>
        <p:nvSpPr>
          <p:cNvPr id="157" name="Shape 155"/>
          <p:cNvSpPr/>
          <p:nvPr/>
        </p:nvSpPr>
        <p:spPr>
          <a:xfrm>
            <a:off x="1280160" y="4389120"/>
            <a:ext cx="105156" cy="105156"/>
          </a:xfrm>
          <a:prstGeom prst="rect">
            <a:avLst/>
          </a:prstGeom>
          <a:solidFill>
            <a:srgbClr val="17436B"/>
          </a:solidFill>
          <a:ln w="12700">
            <a:solidFill>
              <a:srgbClr val="17436B"/>
            </a:solidFill>
            <a:prstDash val="solid"/>
          </a:ln>
        </p:spPr>
      </p:sp>
      <p:sp>
        <p:nvSpPr>
          <p:cNvPr id="158" name="Shape 156"/>
          <p:cNvSpPr/>
          <p:nvPr/>
        </p:nvSpPr>
        <p:spPr>
          <a:xfrm>
            <a:off x="1426464" y="4389120"/>
            <a:ext cx="105156" cy="105156"/>
          </a:xfrm>
          <a:prstGeom prst="rect">
            <a:avLst/>
          </a:prstGeom>
          <a:solidFill>
            <a:srgbClr val="17436B"/>
          </a:solidFill>
          <a:ln w="12700">
            <a:solidFill>
              <a:srgbClr val="17436B"/>
            </a:solidFill>
            <a:prstDash val="solid"/>
          </a:ln>
        </p:spPr>
      </p:sp>
      <p:sp>
        <p:nvSpPr>
          <p:cNvPr id="159" name="Shape 157"/>
          <p:cNvSpPr/>
          <p:nvPr/>
        </p:nvSpPr>
        <p:spPr>
          <a:xfrm>
            <a:off x="1572768" y="4389120"/>
            <a:ext cx="105156" cy="105156"/>
          </a:xfrm>
          <a:prstGeom prst="rect">
            <a:avLst/>
          </a:prstGeom>
          <a:solidFill>
            <a:srgbClr val="17436B"/>
          </a:solidFill>
          <a:ln w="12700">
            <a:solidFill>
              <a:srgbClr val="17436B"/>
            </a:solidFill>
            <a:prstDash val="solid"/>
          </a:ln>
        </p:spPr>
      </p:sp>
      <p:sp>
        <p:nvSpPr>
          <p:cNvPr id="160" name="Shape 158"/>
          <p:cNvSpPr/>
          <p:nvPr/>
        </p:nvSpPr>
        <p:spPr>
          <a:xfrm>
            <a:off x="1719072" y="4389120"/>
            <a:ext cx="105156" cy="105156"/>
          </a:xfrm>
          <a:prstGeom prst="rect">
            <a:avLst/>
          </a:prstGeom>
          <a:solidFill>
            <a:srgbClr val="17436B"/>
          </a:solidFill>
          <a:ln w="12700">
            <a:solidFill>
              <a:srgbClr val="17436B"/>
            </a:solidFill>
            <a:prstDash val="solid"/>
          </a:ln>
        </p:spPr>
      </p:sp>
      <p:sp>
        <p:nvSpPr>
          <p:cNvPr id="161" name="Shape 159"/>
          <p:cNvSpPr/>
          <p:nvPr/>
        </p:nvSpPr>
        <p:spPr>
          <a:xfrm>
            <a:off x="1865376" y="4389120"/>
            <a:ext cx="105156" cy="105156"/>
          </a:xfrm>
          <a:prstGeom prst="rect">
            <a:avLst/>
          </a:prstGeom>
          <a:solidFill>
            <a:srgbClr val="17436B"/>
          </a:solidFill>
          <a:ln w="12700">
            <a:solidFill>
              <a:srgbClr val="17436B"/>
            </a:solidFill>
            <a:prstDash val="solid"/>
          </a:ln>
        </p:spPr>
      </p:sp>
      <p:sp>
        <p:nvSpPr>
          <p:cNvPr id="162" name="Shape 160"/>
          <p:cNvSpPr/>
          <p:nvPr/>
        </p:nvSpPr>
        <p:spPr>
          <a:xfrm>
            <a:off x="2011680" y="4389120"/>
            <a:ext cx="105156" cy="105156"/>
          </a:xfrm>
          <a:prstGeom prst="rect">
            <a:avLst/>
          </a:prstGeom>
          <a:solidFill>
            <a:srgbClr val="17436B"/>
          </a:solidFill>
          <a:ln w="12700">
            <a:solidFill>
              <a:srgbClr val="17436B"/>
            </a:solidFill>
            <a:prstDash val="solid"/>
          </a:ln>
        </p:spPr>
      </p:sp>
      <p:sp>
        <p:nvSpPr>
          <p:cNvPr id="163" name="Shape 161"/>
          <p:cNvSpPr/>
          <p:nvPr/>
        </p:nvSpPr>
        <p:spPr>
          <a:xfrm>
            <a:off x="2157984" y="4389120"/>
            <a:ext cx="105156" cy="105156"/>
          </a:xfrm>
          <a:prstGeom prst="rect">
            <a:avLst/>
          </a:prstGeom>
          <a:solidFill>
            <a:srgbClr val="17436B"/>
          </a:solidFill>
          <a:ln w="12700">
            <a:solidFill>
              <a:srgbClr val="17436B"/>
            </a:solidFill>
            <a:prstDash val="solid"/>
          </a:ln>
        </p:spPr>
      </p:sp>
      <p:sp>
        <p:nvSpPr>
          <p:cNvPr id="164" name="Shape 162"/>
          <p:cNvSpPr/>
          <p:nvPr/>
        </p:nvSpPr>
        <p:spPr>
          <a:xfrm>
            <a:off x="2304288" y="4389120"/>
            <a:ext cx="105156" cy="105156"/>
          </a:xfrm>
          <a:prstGeom prst="rect">
            <a:avLst/>
          </a:prstGeom>
          <a:solidFill>
            <a:srgbClr val="17436B"/>
          </a:solidFill>
          <a:ln w="12700">
            <a:solidFill>
              <a:srgbClr val="17436B"/>
            </a:solidFill>
            <a:prstDash val="solid"/>
          </a:ln>
        </p:spPr>
      </p:sp>
      <p:sp>
        <p:nvSpPr>
          <p:cNvPr id="165" name="Shape 163"/>
          <p:cNvSpPr/>
          <p:nvPr/>
        </p:nvSpPr>
        <p:spPr>
          <a:xfrm>
            <a:off x="2450592" y="4389120"/>
            <a:ext cx="105156" cy="105156"/>
          </a:xfrm>
          <a:prstGeom prst="rect">
            <a:avLst/>
          </a:prstGeom>
          <a:solidFill>
            <a:srgbClr val="17436B"/>
          </a:solidFill>
          <a:ln w="12700">
            <a:solidFill>
              <a:srgbClr val="17436B"/>
            </a:solidFill>
            <a:prstDash val="solid"/>
          </a:ln>
        </p:spPr>
      </p:sp>
      <p:sp>
        <p:nvSpPr>
          <p:cNvPr id="166" name="Shape 164"/>
          <p:cNvSpPr/>
          <p:nvPr/>
        </p:nvSpPr>
        <p:spPr>
          <a:xfrm>
            <a:off x="2596896" y="4389120"/>
            <a:ext cx="105156" cy="105156"/>
          </a:xfrm>
          <a:prstGeom prst="rect">
            <a:avLst/>
          </a:prstGeom>
          <a:solidFill>
            <a:srgbClr val="17436B"/>
          </a:solidFill>
          <a:ln w="12700">
            <a:solidFill>
              <a:srgbClr val="17436B"/>
            </a:solidFill>
            <a:prstDash val="solid"/>
          </a:ln>
        </p:spPr>
      </p:sp>
      <p:sp>
        <p:nvSpPr>
          <p:cNvPr id="167" name="Shape 165"/>
          <p:cNvSpPr/>
          <p:nvPr/>
        </p:nvSpPr>
        <p:spPr>
          <a:xfrm>
            <a:off x="2743200" y="4389120"/>
            <a:ext cx="105156" cy="105156"/>
          </a:xfrm>
          <a:prstGeom prst="rect">
            <a:avLst/>
          </a:prstGeom>
          <a:solidFill>
            <a:srgbClr val="17436B"/>
          </a:solidFill>
          <a:ln w="12700">
            <a:solidFill>
              <a:srgbClr val="17436B"/>
            </a:solidFill>
            <a:prstDash val="solid"/>
          </a:ln>
        </p:spPr>
      </p:sp>
      <p:sp>
        <p:nvSpPr>
          <p:cNvPr id="168" name="Shape 166"/>
          <p:cNvSpPr/>
          <p:nvPr/>
        </p:nvSpPr>
        <p:spPr>
          <a:xfrm>
            <a:off x="2889504" y="4389120"/>
            <a:ext cx="105156" cy="105156"/>
          </a:xfrm>
          <a:prstGeom prst="rect">
            <a:avLst/>
          </a:prstGeom>
          <a:solidFill>
            <a:srgbClr val="17436B"/>
          </a:solidFill>
          <a:ln w="12700">
            <a:solidFill>
              <a:srgbClr val="17436B"/>
            </a:solidFill>
            <a:prstDash val="solid"/>
          </a:ln>
        </p:spPr>
      </p:sp>
      <p:sp>
        <p:nvSpPr>
          <p:cNvPr id="169" name="Shape 167"/>
          <p:cNvSpPr/>
          <p:nvPr/>
        </p:nvSpPr>
        <p:spPr>
          <a:xfrm>
            <a:off x="3035808" y="4389120"/>
            <a:ext cx="105156" cy="105156"/>
          </a:xfrm>
          <a:prstGeom prst="rect">
            <a:avLst/>
          </a:prstGeom>
          <a:solidFill>
            <a:srgbClr val="17436B"/>
          </a:solidFill>
          <a:ln w="12700">
            <a:solidFill>
              <a:srgbClr val="17436B"/>
            </a:solidFill>
            <a:prstDash val="solid"/>
          </a:ln>
        </p:spPr>
      </p:sp>
      <p:sp>
        <p:nvSpPr>
          <p:cNvPr id="170" name="Shape 168"/>
          <p:cNvSpPr/>
          <p:nvPr/>
        </p:nvSpPr>
        <p:spPr>
          <a:xfrm>
            <a:off x="3182112" y="4389120"/>
            <a:ext cx="105156" cy="105156"/>
          </a:xfrm>
          <a:prstGeom prst="rect">
            <a:avLst/>
          </a:prstGeom>
          <a:solidFill>
            <a:srgbClr val="17436B"/>
          </a:solidFill>
          <a:ln w="12700">
            <a:solidFill>
              <a:srgbClr val="17436B"/>
            </a:solidFill>
            <a:prstDash val="solid"/>
          </a:ln>
        </p:spPr>
      </p:sp>
      <p:sp>
        <p:nvSpPr>
          <p:cNvPr id="171" name="Shape 169"/>
          <p:cNvSpPr/>
          <p:nvPr/>
        </p:nvSpPr>
        <p:spPr>
          <a:xfrm>
            <a:off x="3328416" y="4389120"/>
            <a:ext cx="105156" cy="105156"/>
          </a:xfrm>
          <a:prstGeom prst="rect">
            <a:avLst/>
          </a:prstGeom>
          <a:solidFill>
            <a:srgbClr val="17436B"/>
          </a:solidFill>
          <a:ln w="12700">
            <a:solidFill>
              <a:srgbClr val="17436B"/>
            </a:solidFill>
            <a:prstDash val="solid"/>
          </a:ln>
        </p:spPr>
      </p:sp>
      <p:sp>
        <p:nvSpPr>
          <p:cNvPr id="172" name="Shape 170"/>
          <p:cNvSpPr/>
          <p:nvPr/>
        </p:nvSpPr>
        <p:spPr>
          <a:xfrm>
            <a:off x="3474720" y="4389120"/>
            <a:ext cx="105156" cy="105156"/>
          </a:xfrm>
          <a:prstGeom prst="rect">
            <a:avLst/>
          </a:prstGeom>
          <a:solidFill>
            <a:srgbClr val="17436B"/>
          </a:solidFill>
          <a:ln w="12700">
            <a:solidFill>
              <a:srgbClr val="17436B"/>
            </a:solidFill>
            <a:prstDash val="solid"/>
          </a:ln>
        </p:spPr>
      </p:sp>
      <p:sp>
        <p:nvSpPr>
          <p:cNvPr id="173" name="Shape 171"/>
          <p:cNvSpPr/>
          <p:nvPr/>
        </p:nvSpPr>
        <p:spPr>
          <a:xfrm>
            <a:off x="3621024" y="4389120"/>
            <a:ext cx="105156" cy="105156"/>
          </a:xfrm>
          <a:prstGeom prst="rect">
            <a:avLst/>
          </a:prstGeom>
          <a:solidFill>
            <a:srgbClr val="17436B"/>
          </a:solidFill>
          <a:ln w="12700">
            <a:solidFill>
              <a:srgbClr val="17436B"/>
            </a:solidFill>
            <a:prstDash val="solid"/>
          </a:ln>
        </p:spPr>
      </p:sp>
      <p:sp>
        <p:nvSpPr>
          <p:cNvPr id="174" name="Shape 172"/>
          <p:cNvSpPr/>
          <p:nvPr/>
        </p:nvSpPr>
        <p:spPr>
          <a:xfrm>
            <a:off x="3767328" y="4389120"/>
            <a:ext cx="105156" cy="105156"/>
          </a:xfrm>
          <a:prstGeom prst="rect">
            <a:avLst/>
          </a:prstGeom>
          <a:solidFill>
            <a:srgbClr val="17436B"/>
          </a:solidFill>
          <a:ln w="12700">
            <a:solidFill>
              <a:srgbClr val="17436B"/>
            </a:solidFill>
            <a:prstDash val="solid"/>
          </a:ln>
        </p:spPr>
      </p:sp>
      <p:sp>
        <p:nvSpPr>
          <p:cNvPr id="175" name="Shape 173"/>
          <p:cNvSpPr/>
          <p:nvPr/>
        </p:nvSpPr>
        <p:spPr>
          <a:xfrm>
            <a:off x="3913632" y="4389120"/>
            <a:ext cx="105156" cy="105156"/>
          </a:xfrm>
          <a:prstGeom prst="rect">
            <a:avLst/>
          </a:prstGeom>
          <a:solidFill>
            <a:srgbClr val="17436B"/>
          </a:solidFill>
          <a:ln w="12700">
            <a:solidFill>
              <a:srgbClr val="17436B"/>
            </a:solidFill>
            <a:prstDash val="solid"/>
          </a:ln>
        </p:spPr>
      </p:sp>
      <p:sp>
        <p:nvSpPr>
          <p:cNvPr id="176" name="Shape 174"/>
          <p:cNvSpPr/>
          <p:nvPr/>
        </p:nvSpPr>
        <p:spPr>
          <a:xfrm>
            <a:off x="4059936" y="4389120"/>
            <a:ext cx="105156" cy="105156"/>
          </a:xfrm>
          <a:prstGeom prst="rect">
            <a:avLst/>
          </a:prstGeom>
          <a:solidFill>
            <a:srgbClr val="17436B"/>
          </a:solidFill>
          <a:ln w="12700">
            <a:solidFill>
              <a:srgbClr val="17436B"/>
            </a:solidFill>
            <a:prstDash val="solid"/>
          </a:ln>
        </p:spPr>
      </p:sp>
      <p:sp>
        <p:nvSpPr>
          <p:cNvPr id="177" name="Shape 175"/>
          <p:cNvSpPr/>
          <p:nvPr/>
        </p:nvSpPr>
        <p:spPr>
          <a:xfrm>
            <a:off x="4206240" y="4389120"/>
            <a:ext cx="105156" cy="105156"/>
          </a:xfrm>
          <a:prstGeom prst="rect">
            <a:avLst/>
          </a:prstGeom>
          <a:solidFill>
            <a:srgbClr val="17436B"/>
          </a:solidFill>
          <a:ln w="12700">
            <a:solidFill>
              <a:srgbClr val="17436B"/>
            </a:solidFill>
            <a:prstDash val="solid"/>
          </a:ln>
        </p:spPr>
      </p:sp>
      <p:sp>
        <p:nvSpPr>
          <p:cNvPr id="178" name="Shape 176"/>
          <p:cNvSpPr/>
          <p:nvPr/>
        </p:nvSpPr>
        <p:spPr>
          <a:xfrm>
            <a:off x="4352544" y="4389120"/>
            <a:ext cx="105156" cy="105156"/>
          </a:xfrm>
          <a:prstGeom prst="rect">
            <a:avLst/>
          </a:prstGeom>
          <a:solidFill>
            <a:srgbClr val="17436B"/>
          </a:solidFill>
          <a:ln w="12700">
            <a:solidFill>
              <a:srgbClr val="17436B"/>
            </a:solidFill>
            <a:prstDash val="solid"/>
          </a:ln>
        </p:spPr>
      </p:sp>
      <p:sp>
        <p:nvSpPr>
          <p:cNvPr id="179" name="Shape 177"/>
          <p:cNvSpPr/>
          <p:nvPr/>
        </p:nvSpPr>
        <p:spPr>
          <a:xfrm>
            <a:off x="4498848" y="4389120"/>
            <a:ext cx="105156" cy="105156"/>
          </a:xfrm>
          <a:prstGeom prst="rect">
            <a:avLst/>
          </a:prstGeom>
          <a:solidFill>
            <a:srgbClr val="17436B"/>
          </a:solidFill>
          <a:ln w="12700">
            <a:solidFill>
              <a:srgbClr val="17436B"/>
            </a:solidFill>
            <a:prstDash val="solid"/>
          </a:ln>
        </p:spPr>
      </p:sp>
      <p:sp>
        <p:nvSpPr>
          <p:cNvPr id="180" name="Shape 178"/>
          <p:cNvSpPr/>
          <p:nvPr/>
        </p:nvSpPr>
        <p:spPr>
          <a:xfrm>
            <a:off x="4645152" y="4389120"/>
            <a:ext cx="105156" cy="105156"/>
          </a:xfrm>
          <a:prstGeom prst="rect">
            <a:avLst/>
          </a:prstGeom>
          <a:solidFill>
            <a:srgbClr val="17436B"/>
          </a:solidFill>
          <a:ln w="12700">
            <a:solidFill>
              <a:srgbClr val="17436B"/>
            </a:solidFill>
            <a:prstDash val="solid"/>
          </a:ln>
        </p:spPr>
      </p:sp>
      <p:sp>
        <p:nvSpPr>
          <p:cNvPr id="181" name="Shape 179"/>
          <p:cNvSpPr/>
          <p:nvPr/>
        </p:nvSpPr>
        <p:spPr>
          <a:xfrm>
            <a:off x="548640" y="4535424"/>
            <a:ext cx="105156" cy="105156"/>
          </a:xfrm>
          <a:prstGeom prst="rect">
            <a:avLst/>
          </a:prstGeom>
          <a:solidFill>
            <a:srgbClr val="17436B"/>
          </a:solidFill>
          <a:ln w="12700">
            <a:solidFill>
              <a:srgbClr val="17436B"/>
            </a:solidFill>
            <a:prstDash val="solid"/>
          </a:ln>
        </p:spPr>
      </p:sp>
      <p:sp>
        <p:nvSpPr>
          <p:cNvPr id="182" name="Shape 180"/>
          <p:cNvSpPr/>
          <p:nvPr/>
        </p:nvSpPr>
        <p:spPr>
          <a:xfrm>
            <a:off x="694944" y="4535424"/>
            <a:ext cx="105156" cy="105156"/>
          </a:xfrm>
          <a:prstGeom prst="rect">
            <a:avLst/>
          </a:prstGeom>
          <a:solidFill>
            <a:srgbClr val="17436B"/>
          </a:solidFill>
          <a:ln w="12700">
            <a:solidFill>
              <a:srgbClr val="17436B"/>
            </a:solidFill>
            <a:prstDash val="solid"/>
          </a:ln>
        </p:spPr>
      </p:sp>
      <p:sp>
        <p:nvSpPr>
          <p:cNvPr id="183" name="Shape 181"/>
          <p:cNvSpPr/>
          <p:nvPr/>
        </p:nvSpPr>
        <p:spPr>
          <a:xfrm>
            <a:off x="841248" y="4535424"/>
            <a:ext cx="105156" cy="105156"/>
          </a:xfrm>
          <a:prstGeom prst="rect">
            <a:avLst/>
          </a:prstGeom>
          <a:solidFill>
            <a:srgbClr val="17436B"/>
          </a:solidFill>
          <a:ln w="12700">
            <a:solidFill>
              <a:srgbClr val="17436B"/>
            </a:solidFill>
            <a:prstDash val="solid"/>
          </a:ln>
        </p:spPr>
      </p:sp>
      <p:sp>
        <p:nvSpPr>
          <p:cNvPr id="184" name="Shape 182"/>
          <p:cNvSpPr/>
          <p:nvPr/>
        </p:nvSpPr>
        <p:spPr>
          <a:xfrm>
            <a:off x="987552" y="4535424"/>
            <a:ext cx="105156" cy="105156"/>
          </a:xfrm>
          <a:prstGeom prst="rect">
            <a:avLst/>
          </a:prstGeom>
          <a:solidFill>
            <a:srgbClr val="17436B"/>
          </a:solidFill>
          <a:ln w="12700">
            <a:solidFill>
              <a:srgbClr val="17436B"/>
            </a:solidFill>
            <a:prstDash val="solid"/>
          </a:ln>
        </p:spPr>
      </p:sp>
      <p:sp>
        <p:nvSpPr>
          <p:cNvPr id="185" name="Shape 183"/>
          <p:cNvSpPr/>
          <p:nvPr/>
        </p:nvSpPr>
        <p:spPr>
          <a:xfrm>
            <a:off x="1133856" y="4535424"/>
            <a:ext cx="105156" cy="105156"/>
          </a:xfrm>
          <a:prstGeom prst="rect">
            <a:avLst/>
          </a:prstGeom>
          <a:solidFill>
            <a:srgbClr val="17436B"/>
          </a:solidFill>
          <a:ln w="12700">
            <a:solidFill>
              <a:srgbClr val="17436B"/>
            </a:solidFill>
            <a:prstDash val="solid"/>
          </a:ln>
        </p:spPr>
      </p:sp>
      <p:sp>
        <p:nvSpPr>
          <p:cNvPr id="186" name="Shape 184"/>
          <p:cNvSpPr/>
          <p:nvPr/>
        </p:nvSpPr>
        <p:spPr>
          <a:xfrm>
            <a:off x="1280160" y="4535424"/>
            <a:ext cx="105156" cy="105156"/>
          </a:xfrm>
          <a:prstGeom prst="rect">
            <a:avLst/>
          </a:prstGeom>
          <a:solidFill>
            <a:srgbClr val="17436B"/>
          </a:solidFill>
          <a:ln w="12700">
            <a:solidFill>
              <a:srgbClr val="17436B"/>
            </a:solidFill>
            <a:prstDash val="solid"/>
          </a:ln>
        </p:spPr>
      </p:sp>
      <p:sp>
        <p:nvSpPr>
          <p:cNvPr id="187" name="Shape 185"/>
          <p:cNvSpPr/>
          <p:nvPr/>
        </p:nvSpPr>
        <p:spPr>
          <a:xfrm>
            <a:off x="1426464" y="4535424"/>
            <a:ext cx="105156" cy="105156"/>
          </a:xfrm>
          <a:prstGeom prst="rect">
            <a:avLst/>
          </a:prstGeom>
          <a:solidFill>
            <a:srgbClr val="17436B"/>
          </a:solidFill>
          <a:ln w="12700">
            <a:solidFill>
              <a:srgbClr val="17436B"/>
            </a:solidFill>
            <a:prstDash val="solid"/>
          </a:ln>
        </p:spPr>
      </p:sp>
      <p:sp>
        <p:nvSpPr>
          <p:cNvPr id="188" name="Shape 186"/>
          <p:cNvSpPr/>
          <p:nvPr/>
        </p:nvSpPr>
        <p:spPr>
          <a:xfrm>
            <a:off x="1572768" y="4535424"/>
            <a:ext cx="105156" cy="105156"/>
          </a:xfrm>
          <a:prstGeom prst="rect">
            <a:avLst/>
          </a:prstGeom>
          <a:solidFill>
            <a:srgbClr val="17436B"/>
          </a:solidFill>
          <a:ln w="12700">
            <a:solidFill>
              <a:srgbClr val="17436B"/>
            </a:solidFill>
            <a:prstDash val="solid"/>
          </a:ln>
        </p:spPr>
      </p:sp>
      <p:sp>
        <p:nvSpPr>
          <p:cNvPr id="189" name="Shape 187"/>
          <p:cNvSpPr/>
          <p:nvPr/>
        </p:nvSpPr>
        <p:spPr>
          <a:xfrm>
            <a:off x="1719072" y="4535424"/>
            <a:ext cx="105156" cy="105156"/>
          </a:xfrm>
          <a:prstGeom prst="rect">
            <a:avLst/>
          </a:prstGeom>
          <a:solidFill>
            <a:srgbClr val="17436B"/>
          </a:solidFill>
          <a:ln w="12700">
            <a:solidFill>
              <a:srgbClr val="17436B"/>
            </a:solidFill>
            <a:prstDash val="solid"/>
          </a:ln>
        </p:spPr>
      </p:sp>
      <p:sp>
        <p:nvSpPr>
          <p:cNvPr id="190" name="Shape 188"/>
          <p:cNvSpPr/>
          <p:nvPr/>
        </p:nvSpPr>
        <p:spPr>
          <a:xfrm>
            <a:off x="1865376" y="4535424"/>
            <a:ext cx="105156" cy="105156"/>
          </a:xfrm>
          <a:prstGeom prst="rect">
            <a:avLst/>
          </a:prstGeom>
          <a:solidFill>
            <a:srgbClr val="FDC700"/>
          </a:solidFill>
          <a:ln w="12700">
            <a:solidFill>
              <a:srgbClr val="FDC700"/>
            </a:solidFill>
            <a:prstDash val="solid"/>
          </a:ln>
        </p:spPr>
      </p:sp>
      <p:sp>
        <p:nvSpPr>
          <p:cNvPr id="191" name="Shape 189"/>
          <p:cNvSpPr/>
          <p:nvPr/>
        </p:nvSpPr>
        <p:spPr>
          <a:xfrm>
            <a:off x="2011680" y="4535424"/>
            <a:ext cx="105156" cy="105156"/>
          </a:xfrm>
          <a:prstGeom prst="rect">
            <a:avLst/>
          </a:prstGeom>
          <a:solidFill>
            <a:srgbClr val="17436B"/>
          </a:solidFill>
          <a:ln w="12700">
            <a:solidFill>
              <a:srgbClr val="17436B"/>
            </a:solidFill>
            <a:prstDash val="solid"/>
          </a:ln>
        </p:spPr>
      </p:sp>
      <p:sp>
        <p:nvSpPr>
          <p:cNvPr id="192" name="Shape 190"/>
          <p:cNvSpPr/>
          <p:nvPr/>
        </p:nvSpPr>
        <p:spPr>
          <a:xfrm>
            <a:off x="2157984" y="4535424"/>
            <a:ext cx="105156" cy="105156"/>
          </a:xfrm>
          <a:prstGeom prst="rect">
            <a:avLst/>
          </a:prstGeom>
          <a:solidFill>
            <a:srgbClr val="17436B"/>
          </a:solidFill>
          <a:ln w="12700">
            <a:solidFill>
              <a:srgbClr val="17436B"/>
            </a:solidFill>
            <a:prstDash val="solid"/>
          </a:ln>
        </p:spPr>
      </p:sp>
      <p:sp>
        <p:nvSpPr>
          <p:cNvPr id="193" name="Shape 191"/>
          <p:cNvSpPr/>
          <p:nvPr/>
        </p:nvSpPr>
        <p:spPr>
          <a:xfrm>
            <a:off x="2304288" y="4535424"/>
            <a:ext cx="105156" cy="105156"/>
          </a:xfrm>
          <a:prstGeom prst="rect">
            <a:avLst/>
          </a:prstGeom>
          <a:solidFill>
            <a:srgbClr val="17436B"/>
          </a:solidFill>
          <a:ln w="12700">
            <a:solidFill>
              <a:srgbClr val="17436B"/>
            </a:solidFill>
            <a:prstDash val="solid"/>
          </a:ln>
        </p:spPr>
      </p:sp>
      <p:sp>
        <p:nvSpPr>
          <p:cNvPr id="194" name="Shape 192"/>
          <p:cNvSpPr/>
          <p:nvPr/>
        </p:nvSpPr>
        <p:spPr>
          <a:xfrm>
            <a:off x="2450592" y="4535424"/>
            <a:ext cx="105156" cy="105156"/>
          </a:xfrm>
          <a:prstGeom prst="rect">
            <a:avLst/>
          </a:prstGeom>
          <a:solidFill>
            <a:srgbClr val="17436B"/>
          </a:solidFill>
          <a:ln w="12700">
            <a:solidFill>
              <a:srgbClr val="17436B"/>
            </a:solidFill>
            <a:prstDash val="solid"/>
          </a:ln>
        </p:spPr>
      </p:sp>
      <p:sp>
        <p:nvSpPr>
          <p:cNvPr id="195" name="Shape 193"/>
          <p:cNvSpPr/>
          <p:nvPr/>
        </p:nvSpPr>
        <p:spPr>
          <a:xfrm>
            <a:off x="2596896" y="4535424"/>
            <a:ext cx="105156" cy="105156"/>
          </a:xfrm>
          <a:prstGeom prst="rect">
            <a:avLst/>
          </a:prstGeom>
          <a:solidFill>
            <a:srgbClr val="17436B"/>
          </a:solidFill>
          <a:ln w="12700">
            <a:solidFill>
              <a:srgbClr val="17436B"/>
            </a:solidFill>
            <a:prstDash val="solid"/>
          </a:ln>
        </p:spPr>
      </p:sp>
      <p:sp>
        <p:nvSpPr>
          <p:cNvPr id="196" name="Shape 194"/>
          <p:cNvSpPr/>
          <p:nvPr/>
        </p:nvSpPr>
        <p:spPr>
          <a:xfrm>
            <a:off x="2743200" y="4535424"/>
            <a:ext cx="105156" cy="105156"/>
          </a:xfrm>
          <a:prstGeom prst="rect">
            <a:avLst/>
          </a:prstGeom>
          <a:solidFill>
            <a:srgbClr val="17436B"/>
          </a:solidFill>
          <a:ln w="12700">
            <a:solidFill>
              <a:srgbClr val="17436B"/>
            </a:solidFill>
            <a:prstDash val="solid"/>
          </a:ln>
        </p:spPr>
      </p:sp>
      <p:sp>
        <p:nvSpPr>
          <p:cNvPr id="197" name="Shape 195"/>
          <p:cNvSpPr/>
          <p:nvPr/>
        </p:nvSpPr>
        <p:spPr>
          <a:xfrm>
            <a:off x="2889504" y="4535424"/>
            <a:ext cx="105156" cy="105156"/>
          </a:xfrm>
          <a:prstGeom prst="rect">
            <a:avLst/>
          </a:prstGeom>
          <a:solidFill>
            <a:srgbClr val="17436B"/>
          </a:solidFill>
          <a:ln w="12700">
            <a:solidFill>
              <a:srgbClr val="17436B"/>
            </a:solidFill>
            <a:prstDash val="solid"/>
          </a:ln>
        </p:spPr>
      </p:sp>
      <p:sp>
        <p:nvSpPr>
          <p:cNvPr id="198" name="Shape 196"/>
          <p:cNvSpPr/>
          <p:nvPr/>
        </p:nvSpPr>
        <p:spPr>
          <a:xfrm>
            <a:off x="3035808" y="4535424"/>
            <a:ext cx="105156" cy="105156"/>
          </a:xfrm>
          <a:prstGeom prst="rect">
            <a:avLst/>
          </a:prstGeom>
          <a:solidFill>
            <a:srgbClr val="17436B"/>
          </a:solidFill>
          <a:ln w="12700">
            <a:solidFill>
              <a:srgbClr val="17436B"/>
            </a:solidFill>
            <a:prstDash val="solid"/>
          </a:ln>
        </p:spPr>
      </p:sp>
      <p:sp>
        <p:nvSpPr>
          <p:cNvPr id="199" name="Shape 197"/>
          <p:cNvSpPr/>
          <p:nvPr/>
        </p:nvSpPr>
        <p:spPr>
          <a:xfrm>
            <a:off x="3182112" y="4535424"/>
            <a:ext cx="105156" cy="105156"/>
          </a:xfrm>
          <a:prstGeom prst="rect">
            <a:avLst/>
          </a:prstGeom>
          <a:solidFill>
            <a:srgbClr val="17436B"/>
          </a:solidFill>
          <a:ln w="12700">
            <a:solidFill>
              <a:srgbClr val="17436B"/>
            </a:solidFill>
            <a:prstDash val="solid"/>
          </a:ln>
        </p:spPr>
      </p:sp>
      <p:sp>
        <p:nvSpPr>
          <p:cNvPr id="200" name="Shape 198"/>
          <p:cNvSpPr/>
          <p:nvPr/>
        </p:nvSpPr>
        <p:spPr>
          <a:xfrm>
            <a:off x="3328416" y="4535424"/>
            <a:ext cx="105156" cy="105156"/>
          </a:xfrm>
          <a:prstGeom prst="rect">
            <a:avLst/>
          </a:prstGeom>
          <a:solidFill>
            <a:srgbClr val="17436B"/>
          </a:solidFill>
          <a:ln w="12700">
            <a:solidFill>
              <a:srgbClr val="17436B"/>
            </a:solidFill>
            <a:prstDash val="solid"/>
          </a:ln>
        </p:spPr>
      </p:sp>
      <p:sp>
        <p:nvSpPr>
          <p:cNvPr id="201" name="Shape 199"/>
          <p:cNvSpPr/>
          <p:nvPr/>
        </p:nvSpPr>
        <p:spPr>
          <a:xfrm>
            <a:off x="3474720" y="4535424"/>
            <a:ext cx="105156" cy="105156"/>
          </a:xfrm>
          <a:prstGeom prst="rect">
            <a:avLst/>
          </a:prstGeom>
          <a:solidFill>
            <a:srgbClr val="17436B"/>
          </a:solidFill>
          <a:ln w="12700">
            <a:solidFill>
              <a:srgbClr val="17436B"/>
            </a:solidFill>
            <a:prstDash val="solid"/>
          </a:ln>
        </p:spPr>
      </p:sp>
      <p:sp>
        <p:nvSpPr>
          <p:cNvPr id="202" name="Shape 200"/>
          <p:cNvSpPr/>
          <p:nvPr/>
        </p:nvSpPr>
        <p:spPr>
          <a:xfrm>
            <a:off x="3621024" y="4535424"/>
            <a:ext cx="105156" cy="105156"/>
          </a:xfrm>
          <a:prstGeom prst="rect">
            <a:avLst/>
          </a:prstGeom>
          <a:solidFill>
            <a:srgbClr val="17436B"/>
          </a:solidFill>
          <a:ln w="12700">
            <a:solidFill>
              <a:srgbClr val="17436B"/>
            </a:solidFill>
            <a:prstDash val="solid"/>
          </a:ln>
        </p:spPr>
      </p:sp>
      <p:sp>
        <p:nvSpPr>
          <p:cNvPr id="203" name="Shape 201"/>
          <p:cNvSpPr/>
          <p:nvPr/>
        </p:nvSpPr>
        <p:spPr>
          <a:xfrm>
            <a:off x="3767328" y="4535424"/>
            <a:ext cx="105156" cy="105156"/>
          </a:xfrm>
          <a:prstGeom prst="rect">
            <a:avLst/>
          </a:prstGeom>
          <a:solidFill>
            <a:srgbClr val="17436B"/>
          </a:solidFill>
          <a:ln w="12700">
            <a:solidFill>
              <a:srgbClr val="17436B"/>
            </a:solidFill>
            <a:prstDash val="solid"/>
          </a:ln>
        </p:spPr>
      </p:sp>
      <p:sp>
        <p:nvSpPr>
          <p:cNvPr id="204" name="Shape 202"/>
          <p:cNvSpPr/>
          <p:nvPr/>
        </p:nvSpPr>
        <p:spPr>
          <a:xfrm>
            <a:off x="3913632" y="4535424"/>
            <a:ext cx="105156" cy="105156"/>
          </a:xfrm>
          <a:prstGeom prst="rect">
            <a:avLst/>
          </a:prstGeom>
          <a:solidFill>
            <a:srgbClr val="17436B"/>
          </a:solidFill>
          <a:ln w="12700">
            <a:solidFill>
              <a:srgbClr val="17436B"/>
            </a:solidFill>
            <a:prstDash val="solid"/>
          </a:ln>
        </p:spPr>
      </p:sp>
      <p:sp>
        <p:nvSpPr>
          <p:cNvPr id="205" name="Shape 203"/>
          <p:cNvSpPr/>
          <p:nvPr/>
        </p:nvSpPr>
        <p:spPr>
          <a:xfrm>
            <a:off x="4059936" y="4535424"/>
            <a:ext cx="105156" cy="105156"/>
          </a:xfrm>
          <a:prstGeom prst="rect">
            <a:avLst/>
          </a:prstGeom>
          <a:solidFill>
            <a:srgbClr val="17436B"/>
          </a:solidFill>
          <a:ln w="12700">
            <a:solidFill>
              <a:srgbClr val="17436B"/>
            </a:solidFill>
            <a:prstDash val="solid"/>
          </a:ln>
        </p:spPr>
      </p:sp>
      <p:sp>
        <p:nvSpPr>
          <p:cNvPr id="206" name="Shape 204"/>
          <p:cNvSpPr/>
          <p:nvPr/>
        </p:nvSpPr>
        <p:spPr>
          <a:xfrm>
            <a:off x="4206240" y="4535424"/>
            <a:ext cx="105156" cy="105156"/>
          </a:xfrm>
          <a:prstGeom prst="rect">
            <a:avLst/>
          </a:prstGeom>
          <a:solidFill>
            <a:srgbClr val="17436B"/>
          </a:solidFill>
          <a:ln w="12700">
            <a:solidFill>
              <a:srgbClr val="17436B"/>
            </a:solidFill>
            <a:prstDash val="solid"/>
          </a:ln>
        </p:spPr>
      </p:sp>
      <p:sp>
        <p:nvSpPr>
          <p:cNvPr id="207" name="Shape 205"/>
          <p:cNvSpPr/>
          <p:nvPr/>
        </p:nvSpPr>
        <p:spPr>
          <a:xfrm>
            <a:off x="4352544" y="4535424"/>
            <a:ext cx="105156" cy="105156"/>
          </a:xfrm>
          <a:prstGeom prst="rect">
            <a:avLst/>
          </a:prstGeom>
          <a:solidFill>
            <a:srgbClr val="17436B"/>
          </a:solidFill>
          <a:ln w="12700">
            <a:solidFill>
              <a:srgbClr val="17436B"/>
            </a:solidFill>
            <a:prstDash val="solid"/>
          </a:ln>
        </p:spPr>
      </p:sp>
      <p:sp>
        <p:nvSpPr>
          <p:cNvPr id="208" name="Shape 206"/>
          <p:cNvSpPr/>
          <p:nvPr/>
        </p:nvSpPr>
        <p:spPr>
          <a:xfrm>
            <a:off x="4498848" y="4535424"/>
            <a:ext cx="105156" cy="105156"/>
          </a:xfrm>
          <a:prstGeom prst="rect">
            <a:avLst/>
          </a:prstGeom>
          <a:solidFill>
            <a:srgbClr val="17436B"/>
          </a:solidFill>
          <a:ln w="12700">
            <a:solidFill>
              <a:srgbClr val="17436B"/>
            </a:solidFill>
            <a:prstDash val="solid"/>
          </a:ln>
        </p:spPr>
      </p:sp>
      <p:sp>
        <p:nvSpPr>
          <p:cNvPr id="209" name="Shape 207"/>
          <p:cNvSpPr/>
          <p:nvPr/>
        </p:nvSpPr>
        <p:spPr>
          <a:xfrm>
            <a:off x="4645152" y="4535424"/>
            <a:ext cx="105156" cy="105156"/>
          </a:xfrm>
          <a:prstGeom prst="rect">
            <a:avLst/>
          </a:prstGeom>
          <a:solidFill>
            <a:srgbClr val="17436B"/>
          </a:solidFill>
          <a:ln w="12700">
            <a:solidFill>
              <a:srgbClr val="17436B"/>
            </a:solidFill>
            <a:prstDash val="solid"/>
          </a:ln>
        </p:spPr>
      </p:sp>
      <p:sp>
        <p:nvSpPr>
          <p:cNvPr id="210" name="Shape 208"/>
          <p:cNvSpPr/>
          <p:nvPr/>
        </p:nvSpPr>
        <p:spPr>
          <a:xfrm>
            <a:off x="548640" y="4681728"/>
            <a:ext cx="105156" cy="105156"/>
          </a:xfrm>
          <a:prstGeom prst="rect">
            <a:avLst/>
          </a:prstGeom>
          <a:solidFill>
            <a:srgbClr val="17436B"/>
          </a:solidFill>
          <a:ln w="12700">
            <a:solidFill>
              <a:srgbClr val="17436B"/>
            </a:solidFill>
            <a:prstDash val="solid"/>
          </a:ln>
        </p:spPr>
      </p:sp>
      <p:sp>
        <p:nvSpPr>
          <p:cNvPr id="211" name="Shape 209"/>
          <p:cNvSpPr/>
          <p:nvPr/>
        </p:nvSpPr>
        <p:spPr>
          <a:xfrm>
            <a:off x="694944" y="4681728"/>
            <a:ext cx="105156" cy="105156"/>
          </a:xfrm>
          <a:prstGeom prst="rect">
            <a:avLst/>
          </a:prstGeom>
          <a:solidFill>
            <a:srgbClr val="17436B"/>
          </a:solidFill>
          <a:ln w="12700">
            <a:solidFill>
              <a:srgbClr val="17436B"/>
            </a:solidFill>
            <a:prstDash val="solid"/>
          </a:ln>
        </p:spPr>
      </p:sp>
      <p:sp>
        <p:nvSpPr>
          <p:cNvPr id="212" name="Shape 210"/>
          <p:cNvSpPr/>
          <p:nvPr/>
        </p:nvSpPr>
        <p:spPr>
          <a:xfrm>
            <a:off x="841248" y="4681728"/>
            <a:ext cx="105156" cy="105156"/>
          </a:xfrm>
          <a:prstGeom prst="rect">
            <a:avLst/>
          </a:prstGeom>
          <a:solidFill>
            <a:srgbClr val="17436B"/>
          </a:solidFill>
          <a:ln w="12700">
            <a:solidFill>
              <a:srgbClr val="17436B"/>
            </a:solidFill>
            <a:prstDash val="solid"/>
          </a:ln>
        </p:spPr>
      </p:sp>
      <p:sp>
        <p:nvSpPr>
          <p:cNvPr id="213" name="Shape 211"/>
          <p:cNvSpPr/>
          <p:nvPr/>
        </p:nvSpPr>
        <p:spPr>
          <a:xfrm>
            <a:off x="987552" y="4681728"/>
            <a:ext cx="105156" cy="105156"/>
          </a:xfrm>
          <a:prstGeom prst="rect">
            <a:avLst/>
          </a:prstGeom>
          <a:solidFill>
            <a:srgbClr val="17436B"/>
          </a:solidFill>
          <a:ln w="12700">
            <a:solidFill>
              <a:srgbClr val="17436B"/>
            </a:solidFill>
            <a:prstDash val="solid"/>
          </a:ln>
        </p:spPr>
      </p:sp>
      <p:sp>
        <p:nvSpPr>
          <p:cNvPr id="214" name="Shape 212"/>
          <p:cNvSpPr/>
          <p:nvPr/>
        </p:nvSpPr>
        <p:spPr>
          <a:xfrm>
            <a:off x="1133856" y="4681728"/>
            <a:ext cx="105156" cy="105156"/>
          </a:xfrm>
          <a:prstGeom prst="rect">
            <a:avLst/>
          </a:prstGeom>
          <a:solidFill>
            <a:srgbClr val="17436B"/>
          </a:solidFill>
          <a:ln w="12700">
            <a:solidFill>
              <a:srgbClr val="17436B"/>
            </a:solidFill>
            <a:prstDash val="solid"/>
          </a:ln>
        </p:spPr>
      </p:sp>
      <p:sp>
        <p:nvSpPr>
          <p:cNvPr id="215" name="Shape 213"/>
          <p:cNvSpPr/>
          <p:nvPr/>
        </p:nvSpPr>
        <p:spPr>
          <a:xfrm>
            <a:off x="1280160" y="4681728"/>
            <a:ext cx="105156" cy="105156"/>
          </a:xfrm>
          <a:prstGeom prst="rect">
            <a:avLst/>
          </a:prstGeom>
          <a:solidFill>
            <a:srgbClr val="17436B"/>
          </a:solidFill>
          <a:ln w="12700">
            <a:solidFill>
              <a:srgbClr val="17436B"/>
            </a:solidFill>
            <a:prstDash val="solid"/>
          </a:ln>
        </p:spPr>
      </p:sp>
      <p:sp>
        <p:nvSpPr>
          <p:cNvPr id="216" name="Shape 214"/>
          <p:cNvSpPr/>
          <p:nvPr/>
        </p:nvSpPr>
        <p:spPr>
          <a:xfrm>
            <a:off x="1426464" y="4681728"/>
            <a:ext cx="105156" cy="105156"/>
          </a:xfrm>
          <a:prstGeom prst="rect">
            <a:avLst/>
          </a:prstGeom>
          <a:solidFill>
            <a:srgbClr val="17436B"/>
          </a:solidFill>
          <a:ln w="12700">
            <a:solidFill>
              <a:srgbClr val="17436B"/>
            </a:solidFill>
            <a:prstDash val="solid"/>
          </a:ln>
        </p:spPr>
      </p:sp>
      <p:sp>
        <p:nvSpPr>
          <p:cNvPr id="217" name="Shape 215"/>
          <p:cNvSpPr/>
          <p:nvPr/>
        </p:nvSpPr>
        <p:spPr>
          <a:xfrm>
            <a:off x="1572768" y="4681728"/>
            <a:ext cx="105156" cy="105156"/>
          </a:xfrm>
          <a:prstGeom prst="rect">
            <a:avLst/>
          </a:prstGeom>
          <a:solidFill>
            <a:srgbClr val="17436B"/>
          </a:solidFill>
          <a:ln w="12700">
            <a:solidFill>
              <a:srgbClr val="17436B"/>
            </a:solidFill>
            <a:prstDash val="solid"/>
          </a:ln>
        </p:spPr>
      </p:sp>
      <p:sp>
        <p:nvSpPr>
          <p:cNvPr id="218" name="Shape 216"/>
          <p:cNvSpPr/>
          <p:nvPr/>
        </p:nvSpPr>
        <p:spPr>
          <a:xfrm>
            <a:off x="1719072" y="4681728"/>
            <a:ext cx="105156" cy="105156"/>
          </a:xfrm>
          <a:prstGeom prst="rect">
            <a:avLst/>
          </a:prstGeom>
          <a:solidFill>
            <a:srgbClr val="17436B"/>
          </a:solidFill>
          <a:ln w="12700">
            <a:solidFill>
              <a:srgbClr val="17436B"/>
            </a:solidFill>
            <a:prstDash val="solid"/>
          </a:ln>
        </p:spPr>
      </p:sp>
      <p:sp>
        <p:nvSpPr>
          <p:cNvPr id="219" name="Shape 217"/>
          <p:cNvSpPr/>
          <p:nvPr/>
        </p:nvSpPr>
        <p:spPr>
          <a:xfrm>
            <a:off x="1865376" y="4681728"/>
            <a:ext cx="105156" cy="105156"/>
          </a:xfrm>
          <a:prstGeom prst="rect">
            <a:avLst/>
          </a:prstGeom>
          <a:solidFill>
            <a:srgbClr val="17436B"/>
          </a:solidFill>
          <a:ln w="12700">
            <a:solidFill>
              <a:srgbClr val="17436B"/>
            </a:solidFill>
            <a:prstDash val="solid"/>
          </a:ln>
        </p:spPr>
      </p:sp>
      <p:sp>
        <p:nvSpPr>
          <p:cNvPr id="220" name="Shape 218"/>
          <p:cNvSpPr/>
          <p:nvPr/>
        </p:nvSpPr>
        <p:spPr>
          <a:xfrm>
            <a:off x="2011680" y="4681728"/>
            <a:ext cx="105156" cy="105156"/>
          </a:xfrm>
          <a:prstGeom prst="rect">
            <a:avLst/>
          </a:prstGeom>
          <a:solidFill>
            <a:srgbClr val="17436B"/>
          </a:solidFill>
          <a:ln w="12700">
            <a:solidFill>
              <a:srgbClr val="17436B"/>
            </a:solidFill>
            <a:prstDash val="solid"/>
          </a:ln>
        </p:spPr>
      </p:sp>
      <p:sp>
        <p:nvSpPr>
          <p:cNvPr id="221" name="Shape 219"/>
          <p:cNvSpPr/>
          <p:nvPr/>
        </p:nvSpPr>
        <p:spPr>
          <a:xfrm>
            <a:off x="2157984" y="4681728"/>
            <a:ext cx="105156" cy="105156"/>
          </a:xfrm>
          <a:prstGeom prst="rect">
            <a:avLst/>
          </a:prstGeom>
          <a:solidFill>
            <a:srgbClr val="17436B"/>
          </a:solidFill>
          <a:ln w="12700">
            <a:solidFill>
              <a:srgbClr val="17436B"/>
            </a:solidFill>
            <a:prstDash val="solid"/>
          </a:ln>
        </p:spPr>
      </p:sp>
      <p:sp>
        <p:nvSpPr>
          <p:cNvPr id="222" name="Shape 220"/>
          <p:cNvSpPr/>
          <p:nvPr/>
        </p:nvSpPr>
        <p:spPr>
          <a:xfrm>
            <a:off x="2304288" y="4681728"/>
            <a:ext cx="105156" cy="105156"/>
          </a:xfrm>
          <a:prstGeom prst="rect">
            <a:avLst/>
          </a:prstGeom>
          <a:solidFill>
            <a:srgbClr val="17436B"/>
          </a:solidFill>
          <a:ln w="12700">
            <a:solidFill>
              <a:srgbClr val="17436B"/>
            </a:solidFill>
            <a:prstDash val="solid"/>
          </a:ln>
        </p:spPr>
      </p:sp>
      <p:sp>
        <p:nvSpPr>
          <p:cNvPr id="223" name="Shape 221"/>
          <p:cNvSpPr/>
          <p:nvPr/>
        </p:nvSpPr>
        <p:spPr>
          <a:xfrm>
            <a:off x="2450592" y="4681728"/>
            <a:ext cx="105156" cy="105156"/>
          </a:xfrm>
          <a:prstGeom prst="rect">
            <a:avLst/>
          </a:prstGeom>
          <a:solidFill>
            <a:srgbClr val="17436B"/>
          </a:solidFill>
          <a:ln w="12700">
            <a:solidFill>
              <a:srgbClr val="17436B"/>
            </a:solidFill>
            <a:prstDash val="solid"/>
          </a:ln>
        </p:spPr>
      </p:sp>
      <p:sp>
        <p:nvSpPr>
          <p:cNvPr id="224" name="Shape 222"/>
          <p:cNvSpPr/>
          <p:nvPr/>
        </p:nvSpPr>
        <p:spPr>
          <a:xfrm>
            <a:off x="2596896" y="4681728"/>
            <a:ext cx="105156" cy="105156"/>
          </a:xfrm>
          <a:prstGeom prst="rect">
            <a:avLst/>
          </a:prstGeom>
          <a:solidFill>
            <a:srgbClr val="17436B"/>
          </a:solidFill>
          <a:ln w="12700">
            <a:solidFill>
              <a:srgbClr val="17436B"/>
            </a:solidFill>
            <a:prstDash val="solid"/>
          </a:ln>
        </p:spPr>
      </p:sp>
      <p:sp>
        <p:nvSpPr>
          <p:cNvPr id="225" name="Shape 223"/>
          <p:cNvSpPr/>
          <p:nvPr/>
        </p:nvSpPr>
        <p:spPr>
          <a:xfrm>
            <a:off x="2743200" y="4681728"/>
            <a:ext cx="105156" cy="105156"/>
          </a:xfrm>
          <a:prstGeom prst="rect">
            <a:avLst/>
          </a:prstGeom>
          <a:solidFill>
            <a:srgbClr val="17436B"/>
          </a:solidFill>
          <a:ln w="12700">
            <a:solidFill>
              <a:srgbClr val="17436B"/>
            </a:solidFill>
            <a:prstDash val="solid"/>
          </a:ln>
        </p:spPr>
      </p:sp>
      <p:sp>
        <p:nvSpPr>
          <p:cNvPr id="226" name="Shape 224"/>
          <p:cNvSpPr/>
          <p:nvPr/>
        </p:nvSpPr>
        <p:spPr>
          <a:xfrm>
            <a:off x="2889504" y="4681728"/>
            <a:ext cx="105156" cy="105156"/>
          </a:xfrm>
          <a:prstGeom prst="rect">
            <a:avLst/>
          </a:prstGeom>
          <a:solidFill>
            <a:srgbClr val="17436B"/>
          </a:solidFill>
          <a:ln w="12700">
            <a:solidFill>
              <a:srgbClr val="17436B"/>
            </a:solidFill>
            <a:prstDash val="solid"/>
          </a:ln>
        </p:spPr>
      </p:sp>
      <p:sp>
        <p:nvSpPr>
          <p:cNvPr id="227" name="Shape 225"/>
          <p:cNvSpPr/>
          <p:nvPr/>
        </p:nvSpPr>
        <p:spPr>
          <a:xfrm>
            <a:off x="3035808" y="4681728"/>
            <a:ext cx="105156" cy="105156"/>
          </a:xfrm>
          <a:prstGeom prst="rect">
            <a:avLst/>
          </a:prstGeom>
          <a:solidFill>
            <a:srgbClr val="17436B"/>
          </a:solidFill>
          <a:ln w="12700">
            <a:solidFill>
              <a:srgbClr val="17436B"/>
            </a:solidFill>
            <a:prstDash val="solid"/>
          </a:ln>
        </p:spPr>
      </p:sp>
      <p:sp>
        <p:nvSpPr>
          <p:cNvPr id="228" name="Shape 226"/>
          <p:cNvSpPr/>
          <p:nvPr/>
        </p:nvSpPr>
        <p:spPr>
          <a:xfrm>
            <a:off x="3182112" y="4681728"/>
            <a:ext cx="105156" cy="105156"/>
          </a:xfrm>
          <a:prstGeom prst="rect">
            <a:avLst/>
          </a:prstGeom>
          <a:solidFill>
            <a:srgbClr val="17436B"/>
          </a:solidFill>
          <a:ln w="12700">
            <a:solidFill>
              <a:srgbClr val="17436B"/>
            </a:solidFill>
            <a:prstDash val="solid"/>
          </a:ln>
        </p:spPr>
      </p:sp>
      <p:sp>
        <p:nvSpPr>
          <p:cNvPr id="229" name="Shape 227"/>
          <p:cNvSpPr/>
          <p:nvPr/>
        </p:nvSpPr>
        <p:spPr>
          <a:xfrm>
            <a:off x="3328416" y="4681728"/>
            <a:ext cx="105156" cy="105156"/>
          </a:xfrm>
          <a:prstGeom prst="rect">
            <a:avLst/>
          </a:prstGeom>
          <a:solidFill>
            <a:srgbClr val="17436B"/>
          </a:solidFill>
          <a:ln w="12700">
            <a:solidFill>
              <a:srgbClr val="17436B"/>
            </a:solidFill>
            <a:prstDash val="solid"/>
          </a:ln>
        </p:spPr>
      </p:sp>
      <p:sp>
        <p:nvSpPr>
          <p:cNvPr id="230" name="Shape 228"/>
          <p:cNvSpPr/>
          <p:nvPr/>
        </p:nvSpPr>
        <p:spPr>
          <a:xfrm>
            <a:off x="3474720" y="4681728"/>
            <a:ext cx="105156" cy="105156"/>
          </a:xfrm>
          <a:prstGeom prst="rect">
            <a:avLst/>
          </a:prstGeom>
          <a:solidFill>
            <a:srgbClr val="17436B"/>
          </a:solidFill>
          <a:ln w="12700">
            <a:solidFill>
              <a:srgbClr val="17436B"/>
            </a:solidFill>
            <a:prstDash val="solid"/>
          </a:ln>
        </p:spPr>
      </p:sp>
      <p:sp>
        <p:nvSpPr>
          <p:cNvPr id="231" name="Shape 229"/>
          <p:cNvSpPr/>
          <p:nvPr/>
        </p:nvSpPr>
        <p:spPr>
          <a:xfrm>
            <a:off x="3621024" y="4681728"/>
            <a:ext cx="105156" cy="105156"/>
          </a:xfrm>
          <a:prstGeom prst="rect">
            <a:avLst/>
          </a:prstGeom>
          <a:solidFill>
            <a:srgbClr val="17436B"/>
          </a:solidFill>
          <a:ln w="12700">
            <a:solidFill>
              <a:srgbClr val="17436B"/>
            </a:solidFill>
            <a:prstDash val="solid"/>
          </a:ln>
        </p:spPr>
      </p:sp>
      <p:sp>
        <p:nvSpPr>
          <p:cNvPr id="232" name="Shape 230"/>
          <p:cNvSpPr/>
          <p:nvPr/>
        </p:nvSpPr>
        <p:spPr>
          <a:xfrm>
            <a:off x="3767328" y="4681728"/>
            <a:ext cx="105156" cy="105156"/>
          </a:xfrm>
          <a:prstGeom prst="rect">
            <a:avLst/>
          </a:prstGeom>
          <a:solidFill>
            <a:srgbClr val="17436B"/>
          </a:solidFill>
          <a:ln w="12700">
            <a:solidFill>
              <a:srgbClr val="17436B"/>
            </a:solidFill>
            <a:prstDash val="solid"/>
          </a:ln>
        </p:spPr>
      </p:sp>
      <p:sp>
        <p:nvSpPr>
          <p:cNvPr id="233" name="Shape 231"/>
          <p:cNvSpPr/>
          <p:nvPr/>
        </p:nvSpPr>
        <p:spPr>
          <a:xfrm>
            <a:off x="3913632" y="4681728"/>
            <a:ext cx="105156" cy="105156"/>
          </a:xfrm>
          <a:prstGeom prst="rect">
            <a:avLst/>
          </a:prstGeom>
          <a:solidFill>
            <a:srgbClr val="17436B"/>
          </a:solidFill>
          <a:ln w="12700">
            <a:solidFill>
              <a:srgbClr val="17436B"/>
            </a:solidFill>
            <a:prstDash val="solid"/>
          </a:ln>
        </p:spPr>
      </p:sp>
      <p:sp>
        <p:nvSpPr>
          <p:cNvPr id="234" name="Shape 232"/>
          <p:cNvSpPr/>
          <p:nvPr/>
        </p:nvSpPr>
        <p:spPr>
          <a:xfrm>
            <a:off x="4059936" y="4681728"/>
            <a:ext cx="105156" cy="105156"/>
          </a:xfrm>
          <a:prstGeom prst="rect">
            <a:avLst/>
          </a:prstGeom>
          <a:solidFill>
            <a:srgbClr val="17436B"/>
          </a:solidFill>
          <a:ln w="12700">
            <a:solidFill>
              <a:srgbClr val="17436B"/>
            </a:solidFill>
            <a:prstDash val="solid"/>
          </a:ln>
        </p:spPr>
      </p:sp>
      <p:sp>
        <p:nvSpPr>
          <p:cNvPr id="235" name="Shape 233"/>
          <p:cNvSpPr/>
          <p:nvPr/>
        </p:nvSpPr>
        <p:spPr>
          <a:xfrm>
            <a:off x="4206240" y="4681728"/>
            <a:ext cx="105156" cy="105156"/>
          </a:xfrm>
          <a:prstGeom prst="rect">
            <a:avLst/>
          </a:prstGeom>
          <a:solidFill>
            <a:srgbClr val="17436B"/>
          </a:solidFill>
          <a:ln w="12700">
            <a:solidFill>
              <a:srgbClr val="17436B"/>
            </a:solidFill>
            <a:prstDash val="solid"/>
          </a:ln>
        </p:spPr>
      </p:sp>
      <p:sp>
        <p:nvSpPr>
          <p:cNvPr id="236" name="Shape 234"/>
          <p:cNvSpPr/>
          <p:nvPr/>
        </p:nvSpPr>
        <p:spPr>
          <a:xfrm>
            <a:off x="4352544" y="4681728"/>
            <a:ext cx="105156" cy="105156"/>
          </a:xfrm>
          <a:prstGeom prst="rect">
            <a:avLst/>
          </a:prstGeom>
          <a:solidFill>
            <a:srgbClr val="17436B"/>
          </a:solidFill>
          <a:ln w="12700">
            <a:solidFill>
              <a:srgbClr val="17436B"/>
            </a:solidFill>
            <a:prstDash val="solid"/>
          </a:ln>
        </p:spPr>
      </p:sp>
      <p:sp>
        <p:nvSpPr>
          <p:cNvPr id="237" name="Shape 235"/>
          <p:cNvSpPr/>
          <p:nvPr/>
        </p:nvSpPr>
        <p:spPr>
          <a:xfrm>
            <a:off x="4498848" y="4681728"/>
            <a:ext cx="105156" cy="105156"/>
          </a:xfrm>
          <a:prstGeom prst="rect">
            <a:avLst/>
          </a:prstGeom>
          <a:solidFill>
            <a:srgbClr val="17436B"/>
          </a:solidFill>
          <a:ln w="12700">
            <a:solidFill>
              <a:srgbClr val="17436B"/>
            </a:solidFill>
            <a:prstDash val="solid"/>
          </a:ln>
        </p:spPr>
      </p:sp>
      <p:sp>
        <p:nvSpPr>
          <p:cNvPr id="238" name="Shape 236"/>
          <p:cNvSpPr/>
          <p:nvPr/>
        </p:nvSpPr>
        <p:spPr>
          <a:xfrm>
            <a:off x="4645152" y="4681728"/>
            <a:ext cx="105156" cy="105156"/>
          </a:xfrm>
          <a:prstGeom prst="rect">
            <a:avLst/>
          </a:prstGeom>
          <a:solidFill>
            <a:srgbClr val="17436B"/>
          </a:solidFill>
          <a:ln w="12700">
            <a:solidFill>
              <a:srgbClr val="17436B"/>
            </a:solidFill>
            <a:prstDash val="solid"/>
          </a:ln>
        </p:spPr>
      </p:sp>
      <p:sp>
        <p:nvSpPr>
          <p:cNvPr id="239" name="Shape 237"/>
          <p:cNvSpPr/>
          <p:nvPr/>
        </p:nvSpPr>
        <p:spPr>
          <a:xfrm>
            <a:off x="548640" y="4828032"/>
            <a:ext cx="105156" cy="105156"/>
          </a:xfrm>
          <a:prstGeom prst="rect">
            <a:avLst/>
          </a:prstGeom>
          <a:solidFill>
            <a:srgbClr val="17436B"/>
          </a:solidFill>
          <a:ln w="12700">
            <a:solidFill>
              <a:srgbClr val="17436B"/>
            </a:solidFill>
            <a:prstDash val="solid"/>
          </a:ln>
        </p:spPr>
      </p:sp>
      <p:sp>
        <p:nvSpPr>
          <p:cNvPr id="240" name="Shape 238"/>
          <p:cNvSpPr/>
          <p:nvPr/>
        </p:nvSpPr>
        <p:spPr>
          <a:xfrm>
            <a:off x="694944" y="4828032"/>
            <a:ext cx="105156" cy="105156"/>
          </a:xfrm>
          <a:prstGeom prst="rect">
            <a:avLst/>
          </a:prstGeom>
          <a:solidFill>
            <a:srgbClr val="17436B"/>
          </a:solidFill>
          <a:ln w="12700">
            <a:solidFill>
              <a:srgbClr val="17436B"/>
            </a:solidFill>
            <a:prstDash val="solid"/>
          </a:ln>
        </p:spPr>
      </p:sp>
      <p:sp>
        <p:nvSpPr>
          <p:cNvPr id="241" name="Shape 239"/>
          <p:cNvSpPr/>
          <p:nvPr/>
        </p:nvSpPr>
        <p:spPr>
          <a:xfrm>
            <a:off x="841248" y="4828032"/>
            <a:ext cx="105156" cy="105156"/>
          </a:xfrm>
          <a:prstGeom prst="rect">
            <a:avLst/>
          </a:prstGeom>
          <a:solidFill>
            <a:srgbClr val="17436B"/>
          </a:solidFill>
          <a:ln w="12700">
            <a:solidFill>
              <a:srgbClr val="17436B"/>
            </a:solidFill>
            <a:prstDash val="solid"/>
          </a:ln>
        </p:spPr>
      </p:sp>
      <p:sp>
        <p:nvSpPr>
          <p:cNvPr id="242" name="Shape 240"/>
          <p:cNvSpPr/>
          <p:nvPr/>
        </p:nvSpPr>
        <p:spPr>
          <a:xfrm>
            <a:off x="987552" y="4828032"/>
            <a:ext cx="105156" cy="105156"/>
          </a:xfrm>
          <a:prstGeom prst="rect">
            <a:avLst/>
          </a:prstGeom>
          <a:solidFill>
            <a:srgbClr val="17436B"/>
          </a:solidFill>
          <a:ln w="12700">
            <a:solidFill>
              <a:srgbClr val="17436B"/>
            </a:solidFill>
            <a:prstDash val="solid"/>
          </a:ln>
        </p:spPr>
      </p:sp>
      <p:sp>
        <p:nvSpPr>
          <p:cNvPr id="243" name="Shape 241"/>
          <p:cNvSpPr/>
          <p:nvPr/>
        </p:nvSpPr>
        <p:spPr>
          <a:xfrm>
            <a:off x="1133856" y="4828032"/>
            <a:ext cx="105156" cy="105156"/>
          </a:xfrm>
          <a:prstGeom prst="rect">
            <a:avLst/>
          </a:prstGeom>
          <a:solidFill>
            <a:srgbClr val="17436B"/>
          </a:solidFill>
          <a:ln w="12700">
            <a:solidFill>
              <a:srgbClr val="17436B"/>
            </a:solidFill>
            <a:prstDash val="solid"/>
          </a:ln>
        </p:spPr>
      </p:sp>
      <p:sp>
        <p:nvSpPr>
          <p:cNvPr id="244" name="Shape 242"/>
          <p:cNvSpPr/>
          <p:nvPr/>
        </p:nvSpPr>
        <p:spPr>
          <a:xfrm>
            <a:off x="1280160" y="4828032"/>
            <a:ext cx="105156" cy="105156"/>
          </a:xfrm>
          <a:prstGeom prst="rect">
            <a:avLst/>
          </a:prstGeom>
          <a:solidFill>
            <a:srgbClr val="17436B"/>
          </a:solidFill>
          <a:ln w="12700">
            <a:solidFill>
              <a:srgbClr val="17436B"/>
            </a:solidFill>
            <a:prstDash val="solid"/>
          </a:ln>
        </p:spPr>
      </p:sp>
      <p:sp>
        <p:nvSpPr>
          <p:cNvPr id="245" name="Shape 243"/>
          <p:cNvSpPr/>
          <p:nvPr/>
        </p:nvSpPr>
        <p:spPr>
          <a:xfrm>
            <a:off x="1426464" y="4828032"/>
            <a:ext cx="105156" cy="105156"/>
          </a:xfrm>
          <a:prstGeom prst="rect">
            <a:avLst/>
          </a:prstGeom>
          <a:solidFill>
            <a:srgbClr val="17436B"/>
          </a:solidFill>
          <a:ln w="12700">
            <a:solidFill>
              <a:srgbClr val="17436B"/>
            </a:solidFill>
            <a:prstDash val="solid"/>
          </a:ln>
        </p:spPr>
      </p:sp>
      <p:sp>
        <p:nvSpPr>
          <p:cNvPr id="246" name="Shape 244"/>
          <p:cNvSpPr/>
          <p:nvPr/>
        </p:nvSpPr>
        <p:spPr>
          <a:xfrm>
            <a:off x="1572768" y="4828032"/>
            <a:ext cx="105156" cy="105156"/>
          </a:xfrm>
          <a:prstGeom prst="rect">
            <a:avLst/>
          </a:prstGeom>
          <a:solidFill>
            <a:srgbClr val="17436B"/>
          </a:solidFill>
          <a:ln w="12700">
            <a:solidFill>
              <a:srgbClr val="17436B"/>
            </a:solidFill>
            <a:prstDash val="solid"/>
          </a:ln>
        </p:spPr>
      </p:sp>
      <p:sp>
        <p:nvSpPr>
          <p:cNvPr id="247" name="Shape 245"/>
          <p:cNvSpPr/>
          <p:nvPr/>
        </p:nvSpPr>
        <p:spPr>
          <a:xfrm>
            <a:off x="1719072" y="4828032"/>
            <a:ext cx="105156" cy="105156"/>
          </a:xfrm>
          <a:prstGeom prst="rect">
            <a:avLst/>
          </a:prstGeom>
          <a:solidFill>
            <a:srgbClr val="17436B"/>
          </a:solidFill>
          <a:ln w="12700">
            <a:solidFill>
              <a:srgbClr val="17436B"/>
            </a:solidFill>
            <a:prstDash val="solid"/>
          </a:ln>
        </p:spPr>
      </p:sp>
      <p:sp>
        <p:nvSpPr>
          <p:cNvPr id="248" name="Shape 246"/>
          <p:cNvSpPr/>
          <p:nvPr/>
        </p:nvSpPr>
        <p:spPr>
          <a:xfrm>
            <a:off x="1865376" y="4828032"/>
            <a:ext cx="105156" cy="105156"/>
          </a:xfrm>
          <a:prstGeom prst="rect">
            <a:avLst/>
          </a:prstGeom>
          <a:solidFill>
            <a:srgbClr val="17436B"/>
          </a:solidFill>
          <a:ln w="12700">
            <a:solidFill>
              <a:srgbClr val="17436B"/>
            </a:solidFill>
            <a:prstDash val="solid"/>
          </a:ln>
        </p:spPr>
      </p:sp>
      <p:sp>
        <p:nvSpPr>
          <p:cNvPr id="249" name="Shape 247"/>
          <p:cNvSpPr/>
          <p:nvPr/>
        </p:nvSpPr>
        <p:spPr>
          <a:xfrm>
            <a:off x="2011680" y="4828032"/>
            <a:ext cx="105156" cy="105156"/>
          </a:xfrm>
          <a:prstGeom prst="rect">
            <a:avLst/>
          </a:prstGeom>
          <a:solidFill>
            <a:srgbClr val="17436B"/>
          </a:solidFill>
          <a:ln w="12700">
            <a:solidFill>
              <a:srgbClr val="17436B"/>
            </a:solidFill>
            <a:prstDash val="solid"/>
          </a:ln>
        </p:spPr>
      </p:sp>
      <p:sp>
        <p:nvSpPr>
          <p:cNvPr id="250" name="Shape 248"/>
          <p:cNvSpPr/>
          <p:nvPr/>
        </p:nvSpPr>
        <p:spPr>
          <a:xfrm>
            <a:off x="2157984" y="4828032"/>
            <a:ext cx="105156" cy="105156"/>
          </a:xfrm>
          <a:prstGeom prst="rect">
            <a:avLst/>
          </a:prstGeom>
          <a:solidFill>
            <a:srgbClr val="17436B"/>
          </a:solidFill>
          <a:ln w="12700">
            <a:solidFill>
              <a:srgbClr val="17436B"/>
            </a:solidFill>
            <a:prstDash val="solid"/>
          </a:ln>
        </p:spPr>
      </p:sp>
      <p:sp>
        <p:nvSpPr>
          <p:cNvPr id="251" name="Shape 249"/>
          <p:cNvSpPr/>
          <p:nvPr/>
        </p:nvSpPr>
        <p:spPr>
          <a:xfrm>
            <a:off x="2304288" y="4828032"/>
            <a:ext cx="105156" cy="105156"/>
          </a:xfrm>
          <a:prstGeom prst="rect">
            <a:avLst/>
          </a:prstGeom>
          <a:solidFill>
            <a:srgbClr val="17436B"/>
          </a:solidFill>
          <a:ln w="12700">
            <a:solidFill>
              <a:srgbClr val="17436B"/>
            </a:solidFill>
            <a:prstDash val="solid"/>
          </a:ln>
        </p:spPr>
      </p:sp>
      <p:sp>
        <p:nvSpPr>
          <p:cNvPr id="252" name="Shape 250"/>
          <p:cNvSpPr/>
          <p:nvPr/>
        </p:nvSpPr>
        <p:spPr>
          <a:xfrm>
            <a:off x="2450592" y="4828032"/>
            <a:ext cx="105156" cy="105156"/>
          </a:xfrm>
          <a:prstGeom prst="rect">
            <a:avLst/>
          </a:prstGeom>
          <a:solidFill>
            <a:srgbClr val="17436B"/>
          </a:solidFill>
          <a:ln w="12700">
            <a:solidFill>
              <a:srgbClr val="17436B"/>
            </a:solidFill>
            <a:prstDash val="solid"/>
          </a:ln>
        </p:spPr>
      </p:sp>
      <p:sp>
        <p:nvSpPr>
          <p:cNvPr id="253" name="Shape 251"/>
          <p:cNvSpPr/>
          <p:nvPr/>
        </p:nvSpPr>
        <p:spPr>
          <a:xfrm>
            <a:off x="2596896" y="4828032"/>
            <a:ext cx="105156" cy="105156"/>
          </a:xfrm>
          <a:prstGeom prst="rect">
            <a:avLst/>
          </a:prstGeom>
          <a:solidFill>
            <a:srgbClr val="17436B"/>
          </a:solidFill>
          <a:ln w="12700">
            <a:solidFill>
              <a:srgbClr val="17436B"/>
            </a:solidFill>
            <a:prstDash val="solid"/>
          </a:ln>
        </p:spPr>
      </p:sp>
      <p:sp>
        <p:nvSpPr>
          <p:cNvPr id="254" name="Shape 252"/>
          <p:cNvSpPr/>
          <p:nvPr/>
        </p:nvSpPr>
        <p:spPr>
          <a:xfrm>
            <a:off x="2743200" y="4828032"/>
            <a:ext cx="105156" cy="105156"/>
          </a:xfrm>
          <a:prstGeom prst="rect">
            <a:avLst/>
          </a:prstGeom>
          <a:solidFill>
            <a:srgbClr val="17436B"/>
          </a:solidFill>
          <a:ln w="12700">
            <a:solidFill>
              <a:srgbClr val="17436B"/>
            </a:solidFill>
            <a:prstDash val="solid"/>
          </a:ln>
        </p:spPr>
      </p:sp>
      <p:sp>
        <p:nvSpPr>
          <p:cNvPr id="255" name="Shape 253"/>
          <p:cNvSpPr/>
          <p:nvPr/>
        </p:nvSpPr>
        <p:spPr>
          <a:xfrm>
            <a:off x="2889504" y="4828032"/>
            <a:ext cx="105156" cy="105156"/>
          </a:xfrm>
          <a:prstGeom prst="rect">
            <a:avLst/>
          </a:prstGeom>
          <a:solidFill>
            <a:srgbClr val="17436B"/>
          </a:solidFill>
          <a:ln w="12700">
            <a:solidFill>
              <a:srgbClr val="17436B"/>
            </a:solidFill>
            <a:prstDash val="solid"/>
          </a:ln>
        </p:spPr>
      </p:sp>
      <p:sp>
        <p:nvSpPr>
          <p:cNvPr id="256" name="Shape 254"/>
          <p:cNvSpPr/>
          <p:nvPr/>
        </p:nvSpPr>
        <p:spPr>
          <a:xfrm>
            <a:off x="3035808" y="4828032"/>
            <a:ext cx="105156" cy="105156"/>
          </a:xfrm>
          <a:prstGeom prst="rect">
            <a:avLst/>
          </a:prstGeom>
          <a:solidFill>
            <a:srgbClr val="17436B"/>
          </a:solidFill>
          <a:ln w="12700">
            <a:solidFill>
              <a:srgbClr val="17436B"/>
            </a:solidFill>
            <a:prstDash val="solid"/>
          </a:ln>
        </p:spPr>
      </p:sp>
      <p:sp>
        <p:nvSpPr>
          <p:cNvPr id="257" name="Shape 255"/>
          <p:cNvSpPr/>
          <p:nvPr/>
        </p:nvSpPr>
        <p:spPr>
          <a:xfrm>
            <a:off x="3182112" y="4828032"/>
            <a:ext cx="105156" cy="105156"/>
          </a:xfrm>
          <a:prstGeom prst="rect">
            <a:avLst/>
          </a:prstGeom>
          <a:solidFill>
            <a:srgbClr val="17436B"/>
          </a:solidFill>
          <a:ln w="12700">
            <a:solidFill>
              <a:srgbClr val="17436B"/>
            </a:solidFill>
            <a:prstDash val="solid"/>
          </a:ln>
        </p:spPr>
      </p:sp>
      <p:sp>
        <p:nvSpPr>
          <p:cNvPr id="258" name="Shape 256"/>
          <p:cNvSpPr/>
          <p:nvPr/>
        </p:nvSpPr>
        <p:spPr>
          <a:xfrm>
            <a:off x="3328416" y="4828032"/>
            <a:ext cx="105156" cy="105156"/>
          </a:xfrm>
          <a:prstGeom prst="rect">
            <a:avLst/>
          </a:prstGeom>
          <a:solidFill>
            <a:srgbClr val="17436B"/>
          </a:solidFill>
          <a:ln w="12700">
            <a:solidFill>
              <a:srgbClr val="17436B"/>
            </a:solidFill>
            <a:prstDash val="solid"/>
          </a:ln>
        </p:spPr>
      </p:sp>
      <p:sp>
        <p:nvSpPr>
          <p:cNvPr id="259" name="Shape 257"/>
          <p:cNvSpPr/>
          <p:nvPr/>
        </p:nvSpPr>
        <p:spPr>
          <a:xfrm>
            <a:off x="3474720" y="4828032"/>
            <a:ext cx="105156" cy="105156"/>
          </a:xfrm>
          <a:prstGeom prst="rect">
            <a:avLst/>
          </a:prstGeom>
          <a:solidFill>
            <a:srgbClr val="17436B"/>
          </a:solidFill>
          <a:ln w="12700">
            <a:solidFill>
              <a:srgbClr val="17436B"/>
            </a:solidFill>
            <a:prstDash val="solid"/>
          </a:ln>
        </p:spPr>
      </p:sp>
      <p:sp>
        <p:nvSpPr>
          <p:cNvPr id="260" name="Shape 258"/>
          <p:cNvSpPr/>
          <p:nvPr/>
        </p:nvSpPr>
        <p:spPr>
          <a:xfrm>
            <a:off x="3621024" y="4828032"/>
            <a:ext cx="105156" cy="105156"/>
          </a:xfrm>
          <a:prstGeom prst="rect">
            <a:avLst/>
          </a:prstGeom>
          <a:solidFill>
            <a:srgbClr val="17436B"/>
          </a:solidFill>
          <a:ln w="12700">
            <a:solidFill>
              <a:srgbClr val="17436B"/>
            </a:solidFill>
            <a:prstDash val="solid"/>
          </a:ln>
        </p:spPr>
      </p:sp>
      <p:sp>
        <p:nvSpPr>
          <p:cNvPr id="261" name="Shape 259"/>
          <p:cNvSpPr/>
          <p:nvPr/>
        </p:nvSpPr>
        <p:spPr>
          <a:xfrm>
            <a:off x="3767328" y="4828032"/>
            <a:ext cx="105156" cy="105156"/>
          </a:xfrm>
          <a:prstGeom prst="rect">
            <a:avLst/>
          </a:prstGeom>
          <a:solidFill>
            <a:srgbClr val="17436B"/>
          </a:solidFill>
          <a:ln w="12700">
            <a:solidFill>
              <a:srgbClr val="17436B"/>
            </a:solidFill>
            <a:prstDash val="solid"/>
          </a:ln>
        </p:spPr>
      </p:sp>
      <p:sp>
        <p:nvSpPr>
          <p:cNvPr id="262" name="Shape 260"/>
          <p:cNvSpPr/>
          <p:nvPr/>
        </p:nvSpPr>
        <p:spPr>
          <a:xfrm>
            <a:off x="3913632" y="4828032"/>
            <a:ext cx="105156" cy="105156"/>
          </a:xfrm>
          <a:prstGeom prst="rect">
            <a:avLst/>
          </a:prstGeom>
          <a:solidFill>
            <a:srgbClr val="17436B"/>
          </a:solidFill>
          <a:ln w="12700">
            <a:solidFill>
              <a:srgbClr val="17436B"/>
            </a:solidFill>
            <a:prstDash val="solid"/>
          </a:ln>
        </p:spPr>
      </p:sp>
      <p:sp>
        <p:nvSpPr>
          <p:cNvPr id="263" name="Shape 261"/>
          <p:cNvSpPr/>
          <p:nvPr/>
        </p:nvSpPr>
        <p:spPr>
          <a:xfrm>
            <a:off x="4059936" y="4828032"/>
            <a:ext cx="105156" cy="105156"/>
          </a:xfrm>
          <a:prstGeom prst="rect">
            <a:avLst/>
          </a:prstGeom>
          <a:solidFill>
            <a:srgbClr val="17436B"/>
          </a:solidFill>
          <a:ln w="12700">
            <a:solidFill>
              <a:srgbClr val="17436B"/>
            </a:solidFill>
            <a:prstDash val="solid"/>
          </a:ln>
        </p:spPr>
      </p:sp>
      <p:sp>
        <p:nvSpPr>
          <p:cNvPr id="264" name="Shape 262"/>
          <p:cNvSpPr/>
          <p:nvPr/>
        </p:nvSpPr>
        <p:spPr>
          <a:xfrm>
            <a:off x="4206240" y="4828032"/>
            <a:ext cx="105156" cy="105156"/>
          </a:xfrm>
          <a:prstGeom prst="rect">
            <a:avLst/>
          </a:prstGeom>
          <a:solidFill>
            <a:srgbClr val="17436B"/>
          </a:solidFill>
          <a:ln w="12700">
            <a:solidFill>
              <a:srgbClr val="17436B"/>
            </a:solidFill>
            <a:prstDash val="solid"/>
          </a:ln>
        </p:spPr>
      </p:sp>
      <p:sp>
        <p:nvSpPr>
          <p:cNvPr id="265" name="Shape 263"/>
          <p:cNvSpPr/>
          <p:nvPr/>
        </p:nvSpPr>
        <p:spPr>
          <a:xfrm>
            <a:off x="4352544" y="4828032"/>
            <a:ext cx="105156" cy="105156"/>
          </a:xfrm>
          <a:prstGeom prst="rect">
            <a:avLst/>
          </a:prstGeom>
          <a:solidFill>
            <a:srgbClr val="17436B"/>
          </a:solidFill>
          <a:ln w="12700">
            <a:solidFill>
              <a:srgbClr val="17436B"/>
            </a:solidFill>
            <a:prstDash val="solid"/>
          </a:ln>
        </p:spPr>
      </p:sp>
      <p:sp>
        <p:nvSpPr>
          <p:cNvPr id="266" name="Shape 264"/>
          <p:cNvSpPr/>
          <p:nvPr/>
        </p:nvSpPr>
        <p:spPr>
          <a:xfrm>
            <a:off x="4498848" y="4828032"/>
            <a:ext cx="105156" cy="105156"/>
          </a:xfrm>
          <a:prstGeom prst="rect">
            <a:avLst/>
          </a:prstGeom>
          <a:solidFill>
            <a:srgbClr val="17436B"/>
          </a:solidFill>
          <a:ln w="12700">
            <a:solidFill>
              <a:srgbClr val="17436B"/>
            </a:solidFill>
            <a:prstDash val="solid"/>
          </a:ln>
        </p:spPr>
      </p:sp>
      <p:sp>
        <p:nvSpPr>
          <p:cNvPr id="267" name="Shape 265"/>
          <p:cNvSpPr/>
          <p:nvPr/>
        </p:nvSpPr>
        <p:spPr>
          <a:xfrm>
            <a:off x="4645152" y="4828032"/>
            <a:ext cx="105156" cy="105156"/>
          </a:xfrm>
          <a:prstGeom prst="rect">
            <a:avLst/>
          </a:prstGeom>
          <a:solidFill>
            <a:srgbClr val="17436B"/>
          </a:solidFill>
          <a:ln w="12700">
            <a:solidFill>
              <a:srgbClr val="17436B"/>
            </a:solidFill>
            <a:prstDash val="solid"/>
          </a:ln>
        </p:spPr>
      </p:sp>
      <p:sp>
        <p:nvSpPr>
          <p:cNvPr id="268" name="Shape 266"/>
          <p:cNvSpPr/>
          <p:nvPr/>
        </p:nvSpPr>
        <p:spPr>
          <a:xfrm>
            <a:off x="548640" y="4974336"/>
            <a:ext cx="105156" cy="105156"/>
          </a:xfrm>
          <a:prstGeom prst="rect">
            <a:avLst/>
          </a:prstGeom>
          <a:solidFill>
            <a:srgbClr val="17436B"/>
          </a:solidFill>
          <a:ln w="12700">
            <a:solidFill>
              <a:srgbClr val="17436B"/>
            </a:solidFill>
            <a:prstDash val="solid"/>
          </a:ln>
        </p:spPr>
      </p:sp>
      <p:sp>
        <p:nvSpPr>
          <p:cNvPr id="269" name="Shape 267"/>
          <p:cNvSpPr/>
          <p:nvPr/>
        </p:nvSpPr>
        <p:spPr>
          <a:xfrm>
            <a:off x="694944" y="4974336"/>
            <a:ext cx="105156" cy="105156"/>
          </a:xfrm>
          <a:prstGeom prst="rect">
            <a:avLst/>
          </a:prstGeom>
          <a:solidFill>
            <a:srgbClr val="17436B"/>
          </a:solidFill>
          <a:ln w="12700">
            <a:solidFill>
              <a:srgbClr val="17436B"/>
            </a:solidFill>
            <a:prstDash val="solid"/>
          </a:ln>
        </p:spPr>
      </p:sp>
      <p:sp>
        <p:nvSpPr>
          <p:cNvPr id="270" name="Shape 268"/>
          <p:cNvSpPr/>
          <p:nvPr/>
        </p:nvSpPr>
        <p:spPr>
          <a:xfrm>
            <a:off x="841248" y="4974336"/>
            <a:ext cx="105156" cy="105156"/>
          </a:xfrm>
          <a:prstGeom prst="rect">
            <a:avLst/>
          </a:prstGeom>
          <a:solidFill>
            <a:srgbClr val="17436B"/>
          </a:solidFill>
          <a:ln w="12700">
            <a:solidFill>
              <a:srgbClr val="17436B"/>
            </a:solidFill>
            <a:prstDash val="solid"/>
          </a:ln>
        </p:spPr>
      </p:sp>
      <p:sp>
        <p:nvSpPr>
          <p:cNvPr id="271" name="Shape 269"/>
          <p:cNvSpPr/>
          <p:nvPr/>
        </p:nvSpPr>
        <p:spPr>
          <a:xfrm>
            <a:off x="987552" y="4974336"/>
            <a:ext cx="105156" cy="105156"/>
          </a:xfrm>
          <a:prstGeom prst="rect">
            <a:avLst/>
          </a:prstGeom>
          <a:solidFill>
            <a:srgbClr val="17436B"/>
          </a:solidFill>
          <a:ln w="12700">
            <a:solidFill>
              <a:srgbClr val="17436B"/>
            </a:solidFill>
            <a:prstDash val="solid"/>
          </a:ln>
        </p:spPr>
      </p:sp>
      <p:sp>
        <p:nvSpPr>
          <p:cNvPr id="272" name="Shape 270"/>
          <p:cNvSpPr/>
          <p:nvPr/>
        </p:nvSpPr>
        <p:spPr>
          <a:xfrm>
            <a:off x="1133856" y="4974336"/>
            <a:ext cx="105156" cy="105156"/>
          </a:xfrm>
          <a:prstGeom prst="rect">
            <a:avLst/>
          </a:prstGeom>
          <a:solidFill>
            <a:srgbClr val="17436B"/>
          </a:solidFill>
          <a:ln w="12700">
            <a:solidFill>
              <a:srgbClr val="17436B"/>
            </a:solidFill>
            <a:prstDash val="solid"/>
          </a:ln>
        </p:spPr>
      </p:sp>
      <p:sp>
        <p:nvSpPr>
          <p:cNvPr id="273" name="Shape 271"/>
          <p:cNvSpPr/>
          <p:nvPr/>
        </p:nvSpPr>
        <p:spPr>
          <a:xfrm>
            <a:off x="1280160" y="4974336"/>
            <a:ext cx="105156" cy="105156"/>
          </a:xfrm>
          <a:prstGeom prst="rect">
            <a:avLst/>
          </a:prstGeom>
          <a:solidFill>
            <a:srgbClr val="17436B"/>
          </a:solidFill>
          <a:ln w="12700">
            <a:solidFill>
              <a:srgbClr val="17436B"/>
            </a:solidFill>
            <a:prstDash val="solid"/>
          </a:ln>
        </p:spPr>
      </p:sp>
      <p:sp>
        <p:nvSpPr>
          <p:cNvPr id="274" name="Shape 272"/>
          <p:cNvSpPr/>
          <p:nvPr/>
        </p:nvSpPr>
        <p:spPr>
          <a:xfrm>
            <a:off x="1426464" y="4974336"/>
            <a:ext cx="105156" cy="105156"/>
          </a:xfrm>
          <a:prstGeom prst="rect">
            <a:avLst/>
          </a:prstGeom>
          <a:solidFill>
            <a:srgbClr val="17436B"/>
          </a:solidFill>
          <a:ln w="12700">
            <a:solidFill>
              <a:srgbClr val="17436B"/>
            </a:solidFill>
            <a:prstDash val="solid"/>
          </a:ln>
        </p:spPr>
      </p:sp>
      <p:sp>
        <p:nvSpPr>
          <p:cNvPr id="275" name="Shape 273"/>
          <p:cNvSpPr/>
          <p:nvPr/>
        </p:nvSpPr>
        <p:spPr>
          <a:xfrm>
            <a:off x="1572768" y="4974336"/>
            <a:ext cx="105156" cy="105156"/>
          </a:xfrm>
          <a:prstGeom prst="rect">
            <a:avLst/>
          </a:prstGeom>
          <a:solidFill>
            <a:srgbClr val="17436B"/>
          </a:solidFill>
          <a:ln w="12700">
            <a:solidFill>
              <a:srgbClr val="17436B"/>
            </a:solidFill>
            <a:prstDash val="solid"/>
          </a:ln>
        </p:spPr>
      </p:sp>
      <p:sp>
        <p:nvSpPr>
          <p:cNvPr id="276" name="Shape 274"/>
          <p:cNvSpPr/>
          <p:nvPr/>
        </p:nvSpPr>
        <p:spPr>
          <a:xfrm>
            <a:off x="1719072" y="4974336"/>
            <a:ext cx="105156" cy="105156"/>
          </a:xfrm>
          <a:prstGeom prst="rect">
            <a:avLst/>
          </a:prstGeom>
          <a:solidFill>
            <a:srgbClr val="17436B"/>
          </a:solidFill>
          <a:ln w="12700">
            <a:solidFill>
              <a:srgbClr val="17436B"/>
            </a:solidFill>
            <a:prstDash val="solid"/>
          </a:ln>
        </p:spPr>
      </p:sp>
      <p:sp>
        <p:nvSpPr>
          <p:cNvPr id="277" name="Shape 275"/>
          <p:cNvSpPr/>
          <p:nvPr/>
        </p:nvSpPr>
        <p:spPr>
          <a:xfrm>
            <a:off x="1865376" y="4974336"/>
            <a:ext cx="105156" cy="105156"/>
          </a:xfrm>
          <a:prstGeom prst="rect">
            <a:avLst/>
          </a:prstGeom>
          <a:solidFill>
            <a:srgbClr val="17436B"/>
          </a:solidFill>
          <a:ln w="12700">
            <a:solidFill>
              <a:srgbClr val="17436B"/>
            </a:solidFill>
            <a:prstDash val="solid"/>
          </a:ln>
        </p:spPr>
      </p:sp>
      <p:sp>
        <p:nvSpPr>
          <p:cNvPr id="278" name="Shape 276"/>
          <p:cNvSpPr/>
          <p:nvPr/>
        </p:nvSpPr>
        <p:spPr>
          <a:xfrm>
            <a:off x="2011680" y="4974336"/>
            <a:ext cx="105156" cy="105156"/>
          </a:xfrm>
          <a:prstGeom prst="rect">
            <a:avLst/>
          </a:prstGeom>
          <a:solidFill>
            <a:srgbClr val="17436B"/>
          </a:solidFill>
          <a:ln w="12700">
            <a:solidFill>
              <a:srgbClr val="17436B"/>
            </a:solidFill>
            <a:prstDash val="solid"/>
          </a:ln>
        </p:spPr>
      </p:sp>
      <p:sp>
        <p:nvSpPr>
          <p:cNvPr id="279" name="Shape 277"/>
          <p:cNvSpPr/>
          <p:nvPr/>
        </p:nvSpPr>
        <p:spPr>
          <a:xfrm>
            <a:off x="2157984" y="4974336"/>
            <a:ext cx="105156" cy="105156"/>
          </a:xfrm>
          <a:prstGeom prst="rect">
            <a:avLst/>
          </a:prstGeom>
          <a:solidFill>
            <a:srgbClr val="17436B"/>
          </a:solidFill>
          <a:ln w="12700">
            <a:solidFill>
              <a:srgbClr val="17436B"/>
            </a:solidFill>
            <a:prstDash val="solid"/>
          </a:ln>
        </p:spPr>
      </p:sp>
      <p:sp>
        <p:nvSpPr>
          <p:cNvPr id="280" name="Shape 278"/>
          <p:cNvSpPr/>
          <p:nvPr/>
        </p:nvSpPr>
        <p:spPr>
          <a:xfrm>
            <a:off x="2304288" y="4974336"/>
            <a:ext cx="105156" cy="105156"/>
          </a:xfrm>
          <a:prstGeom prst="rect">
            <a:avLst/>
          </a:prstGeom>
          <a:solidFill>
            <a:srgbClr val="17436B"/>
          </a:solidFill>
          <a:ln w="12700">
            <a:solidFill>
              <a:srgbClr val="17436B"/>
            </a:solidFill>
            <a:prstDash val="solid"/>
          </a:ln>
        </p:spPr>
      </p:sp>
      <p:sp>
        <p:nvSpPr>
          <p:cNvPr id="281" name="Shape 279"/>
          <p:cNvSpPr/>
          <p:nvPr/>
        </p:nvSpPr>
        <p:spPr>
          <a:xfrm>
            <a:off x="2450592" y="4974336"/>
            <a:ext cx="105156" cy="105156"/>
          </a:xfrm>
          <a:prstGeom prst="rect">
            <a:avLst/>
          </a:prstGeom>
          <a:solidFill>
            <a:srgbClr val="17436B"/>
          </a:solidFill>
          <a:ln w="12700">
            <a:solidFill>
              <a:srgbClr val="17436B"/>
            </a:solidFill>
            <a:prstDash val="solid"/>
          </a:ln>
        </p:spPr>
      </p:sp>
      <p:sp>
        <p:nvSpPr>
          <p:cNvPr id="282" name="Shape 280"/>
          <p:cNvSpPr/>
          <p:nvPr/>
        </p:nvSpPr>
        <p:spPr>
          <a:xfrm>
            <a:off x="2596896" y="4974336"/>
            <a:ext cx="105156" cy="105156"/>
          </a:xfrm>
          <a:prstGeom prst="rect">
            <a:avLst/>
          </a:prstGeom>
          <a:solidFill>
            <a:srgbClr val="17436B"/>
          </a:solidFill>
          <a:ln w="12700">
            <a:solidFill>
              <a:srgbClr val="17436B"/>
            </a:solidFill>
            <a:prstDash val="solid"/>
          </a:ln>
        </p:spPr>
      </p:sp>
      <p:sp>
        <p:nvSpPr>
          <p:cNvPr id="283" name="Shape 281"/>
          <p:cNvSpPr/>
          <p:nvPr/>
        </p:nvSpPr>
        <p:spPr>
          <a:xfrm>
            <a:off x="2743200" y="4974336"/>
            <a:ext cx="105156" cy="105156"/>
          </a:xfrm>
          <a:prstGeom prst="rect">
            <a:avLst/>
          </a:prstGeom>
          <a:solidFill>
            <a:srgbClr val="17436B"/>
          </a:solidFill>
          <a:ln w="12700">
            <a:solidFill>
              <a:srgbClr val="17436B"/>
            </a:solidFill>
            <a:prstDash val="solid"/>
          </a:ln>
        </p:spPr>
      </p:sp>
      <p:sp>
        <p:nvSpPr>
          <p:cNvPr id="284" name="Shape 282"/>
          <p:cNvSpPr/>
          <p:nvPr/>
        </p:nvSpPr>
        <p:spPr>
          <a:xfrm>
            <a:off x="2889504" y="4974336"/>
            <a:ext cx="105156" cy="105156"/>
          </a:xfrm>
          <a:prstGeom prst="rect">
            <a:avLst/>
          </a:prstGeom>
          <a:solidFill>
            <a:srgbClr val="17436B"/>
          </a:solidFill>
          <a:ln w="12700">
            <a:solidFill>
              <a:srgbClr val="17436B"/>
            </a:solidFill>
            <a:prstDash val="solid"/>
          </a:ln>
        </p:spPr>
      </p:sp>
      <p:sp>
        <p:nvSpPr>
          <p:cNvPr id="285" name="Shape 283"/>
          <p:cNvSpPr/>
          <p:nvPr/>
        </p:nvSpPr>
        <p:spPr>
          <a:xfrm>
            <a:off x="3035808" y="4974336"/>
            <a:ext cx="105156" cy="105156"/>
          </a:xfrm>
          <a:prstGeom prst="rect">
            <a:avLst/>
          </a:prstGeom>
          <a:solidFill>
            <a:srgbClr val="17436B"/>
          </a:solidFill>
          <a:ln w="12700">
            <a:solidFill>
              <a:srgbClr val="17436B"/>
            </a:solidFill>
            <a:prstDash val="solid"/>
          </a:ln>
        </p:spPr>
      </p:sp>
      <p:sp>
        <p:nvSpPr>
          <p:cNvPr id="286" name="Shape 284"/>
          <p:cNvSpPr/>
          <p:nvPr/>
        </p:nvSpPr>
        <p:spPr>
          <a:xfrm>
            <a:off x="3182112" y="4974336"/>
            <a:ext cx="105156" cy="105156"/>
          </a:xfrm>
          <a:prstGeom prst="rect">
            <a:avLst/>
          </a:prstGeom>
          <a:solidFill>
            <a:srgbClr val="FDC700"/>
          </a:solidFill>
          <a:ln w="12700">
            <a:solidFill>
              <a:srgbClr val="FDC700"/>
            </a:solidFill>
            <a:prstDash val="solid"/>
          </a:ln>
        </p:spPr>
      </p:sp>
      <p:sp>
        <p:nvSpPr>
          <p:cNvPr id="287" name="Shape 285"/>
          <p:cNvSpPr/>
          <p:nvPr/>
        </p:nvSpPr>
        <p:spPr>
          <a:xfrm>
            <a:off x="3328416" y="4974336"/>
            <a:ext cx="105156" cy="105156"/>
          </a:xfrm>
          <a:prstGeom prst="rect">
            <a:avLst/>
          </a:prstGeom>
          <a:solidFill>
            <a:srgbClr val="17436B"/>
          </a:solidFill>
          <a:ln w="12700">
            <a:solidFill>
              <a:srgbClr val="17436B"/>
            </a:solidFill>
            <a:prstDash val="solid"/>
          </a:ln>
        </p:spPr>
      </p:sp>
      <p:sp>
        <p:nvSpPr>
          <p:cNvPr id="288" name="Shape 286"/>
          <p:cNvSpPr/>
          <p:nvPr/>
        </p:nvSpPr>
        <p:spPr>
          <a:xfrm>
            <a:off x="3474720" y="4974336"/>
            <a:ext cx="105156" cy="105156"/>
          </a:xfrm>
          <a:prstGeom prst="rect">
            <a:avLst/>
          </a:prstGeom>
          <a:solidFill>
            <a:srgbClr val="17436B"/>
          </a:solidFill>
          <a:ln w="12700">
            <a:solidFill>
              <a:srgbClr val="17436B"/>
            </a:solidFill>
            <a:prstDash val="solid"/>
          </a:ln>
        </p:spPr>
      </p:sp>
      <p:sp>
        <p:nvSpPr>
          <p:cNvPr id="289" name="Shape 287"/>
          <p:cNvSpPr/>
          <p:nvPr/>
        </p:nvSpPr>
        <p:spPr>
          <a:xfrm>
            <a:off x="3621024" y="4974336"/>
            <a:ext cx="105156" cy="105156"/>
          </a:xfrm>
          <a:prstGeom prst="rect">
            <a:avLst/>
          </a:prstGeom>
          <a:solidFill>
            <a:srgbClr val="17436B"/>
          </a:solidFill>
          <a:ln w="12700">
            <a:solidFill>
              <a:srgbClr val="17436B"/>
            </a:solidFill>
            <a:prstDash val="solid"/>
          </a:ln>
        </p:spPr>
      </p:sp>
      <p:sp>
        <p:nvSpPr>
          <p:cNvPr id="290" name="Shape 288"/>
          <p:cNvSpPr/>
          <p:nvPr/>
        </p:nvSpPr>
        <p:spPr>
          <a:xfrm>
            <a:off x="3767328" y="4974336"/>
            <a:ext cx="105156" cy="105156"/>
          </a:xfrm>
          <a:prstGeom prst="rect">
            <a:avLst/>
          </a:prstGeom>
          <a:solidFill>
            <a:srgbClr val="17436B"/>
          </a:solidFill>
          <a:ln w="12700">
            <a:solidFill>
              <a:srgbClr val="17436B"/>
            </a:solidFill>
            <a:prstDash val="solid"/>
          </a:ln>
        </p:spPr>
      </p:sp>
      <p:sp>
        <p:nvSpPr>
          <p:cNvPr id="291" name="Shape 289"/>
          <p:cNvSpPr/>
          <p:nvPr/>
        </p:nvSpPr>
        <p:spPr>
          <a:xfrm>
            <a:off x="3913632" y="4974336"/>
            <a:ext cx="105156" cy="105156"/>
          </a:xfrm>
          <a:prstGeom prst="rect">
            <a:avLst/>
          </a:prstGeom>
          <a:solidFill>
            <a:srgbClr val="17436B"/>
          </a:solidFill>
          <a:ln w="12700">
            <a:solidFill>
              <a:srgbClr val="17436B"/>
            </a:solidFill>
            <a:prstDash val="solid"/>
          </a:ln>
        </p:spPr>
      </p:sp>
      <p:sp>
        <p:nvSpPr>
          <p:cNvPr id="292" name="Shape 290"/>
          <p:cNvSpPr/>
          <p:nvPr/>
        </p:nvSpPr>
        <p:spPr>
          <a:xfrm>
            <a:off x="4059936" y="4974336"/>
            <a:ext cx="105156" cy="105156"/>
          </a:xfrm>
          <a:prstGeom prst="rect">
            <a:avLst/>
          </a:prstGeom>
          <a:solidFill>
            <a:srgbClr val="17436B"/>
          </a:solidFill>
          <a:ln w="12700">
            <a:solidFill>
              <a:srgbClr val="17436B"/>
            </a:solidFill>
            <a:prstDash val="solid"/>
          </a:ln>
        </p:spPr>
      </p:sp>
      <p:sp>
        <p:nvSpPr>
          <p:cNvPr id="293" name="Shape 291"/>
          <p:cNvSpPr/>
          <p:nvPr/>
        </p:nvSpPr>
        <p:spPr>
          <a:xfrm>
            <a:off x="4206240" y="4974336"/>
            <a:ext cx="105156" cy="105156"/>
          </a:xfrm>
          <a:prstGeom prst="rect">
            <a:avLst/>
          </a:prstGeom>
          <a:solidFill>
            <a:srgbClr val="17436B"/>
          </a:solidFill>
          <a:ln w="12700">
            <a:solidFill>
              <a:srgbClr val="17436B"/>
            </a:solidFill>
            <a:prstDash val="solid"/>
          </a:ln>
        </p:spPr>
      </p:sp>
      <p:sp>
        <p:nvSpPr>
          <p:cNvPr id="294" name="Shape 292"/>
          <p:cNvSpPr/>
          <p:nvPr/>
        </p:nvSpPr>
        <p:spPr>
          <a:xfrm>
            <a:off x="4352544" y="4974336"/>
            <a:ext cx="105156" cy="105156"/>
          </a:xfrm>
          <a:prstGeom prst="rect">
            <a:avLst/>
          </a:prstGeom>
          <a:solidFill>
            <a:srgbClr val="17436B"/>
          </a:solidFill>
          <a:ln w="12700">
            <a:solidFill>
              <a:srgbClr val="17436B"/>
            </a:solidFill>
            <a:prstDash val="solid"/>
          </a:ln>
        </p:spPr>
      </p:sp>
      <p:sp>
        <p:nvSpPr>
          <p:cNvPr id="295" name="Shape 293"/>
          <p:cNvSpPr/>
          <p:nvPr/>
        </p:nvSpPr>
        <p:spPr>
          <a:xfrm>
            <a:off x="4498848" y="4974336"/>
            <a:ext cx="105156" cy="105156"/>
          </a:xfrm>
          <a:prstGeom prst="rect">
            <a:avLst/>
          </a:prstGeom>
          <a:solidFill>
            <a:srgbClr val="17436B"/>
          </a:solidFill>
          <a:ln w="12700">
            <a:solidFill>
              <a:srgbClr val="17436B"/>
            </a:solidFill>
            <a:prstDash val="solid"/>
          </a:ln>
        </p:spPr>
      </p:sp>
      <p:sp>
        <p:nvSpPr>
          <p:cNvPr id="296" name="Shape 294"/>
          <p:cNvSpPr/>
          <p:nvPr/>
        </p:nvSpPr>
        <p:spPr>
          <a:xfrm>
            <a:off x="4645152" y="4974336"/>
            <a:ext cx="105156" cy="105156"/>
          </a:xfrm>
          <a:prstGeom prst="rect">
            <a:avLst/>
          </a:prstGeom>
          <a:solidFill>
            <a:srgbClr val="17436B"/>
          </a:solidFill>
          <a:ln w="12700">
            <a:solidFill>
              <a:srgbClr val="17436B"/>
            </a:solidFill>
            <a:prstDash val="solid"/>
          </a:ln>
        </p:spPr>
      </p:sp>
      <p:sp>
        <p:nvSpPr>
          <p:cNvPr id="297" name="Shape 295"/>
          <p:cNvSpPr/>
          <p:nvPr/>
        </p:nvSpPr>
        <p:spPr>
          <a:xfrm>
            <a:off x="548640" y="5120640"/>
            <a:ext cx="105156" cy="105156"/>
          </a:xfrm>
          <a:prstGeom prst="rect">
            <a:avLst/>
          </a:prstGeom>
          <a:solidFill>
            <a:srgbClr val="17436B"/>
          </a:solidFill>
          <a:ln w="12700">
            <a:solidFill>
              <a:srgbClr val="17436B"/>
            </a:solidFill>
            <a:prstDash val="solid"/>
          </a:ln>
        </p:spPr>
      </p:sp>
      <p:sp>
        <p:nvSpPr>
          <p:cNvPr id="298" name="Shape 296"/>
          <p:cNvSpPr/>
          <p:nvPr/>
        </p:nvSpPr>
        <p:spPr>
          <a:xfrm>
            <a:off x="694944" y="5120640"/>
            <a:ext cx="105156" cy="105156"/>
          </a:xfrm>
          <a:prstGeom prst="rect">
            <a:avLst/>
          </a:prstGeom>
          <a:solidFill>
            <a:srgbClr val="17436B"/>
          </a:solidFill>
          <a:ln w="12700">
            <a:solidFill>
              <a:srgbClr val="17436B"/>
            </a:solidFill>
            <a:prstDash val="solid"/>
          </a:ln>
        </p:spPr>
      </p:sp>
      <p:sp>
        <p:nvSpPr>
          <p:cNvPr id="299" name="Shape 297"/>
          <p:cNvSpPr/>
          <p:nvPr/>
        </p:nvSpPr>
        <p:spPr>
          <a:xfrm>
            <a:off x="841248" y="5120640"/>
            <a:ext cx="105156" cy="105156"/>
          </a:xfrm>
          <a:prstGeom prst="rect">
            <a:avLst/>
          </a:prstGeom>
          <a:solidFill>
            <a:srgbClr val="17436B"/>
          </a:solidFill>
          <a:ln w="12700">
            <a:solidFill>
              <a:srgbClr val="17436B"/>
            </a:solidFill>
            <a:prstDash val="solid"/>
          </a:ln>
        </p:spPr>
      </p:sp>
      <p:sp>
        <p:nvSpPr>
          <p:cNvPr id="300" name="Shape 298"/>
          <p:cNvSpPr/>
          <p:nvPr/>
        </p:nvSpPr>
        <p:spPr>
          <a:xfrm>
            <a:off x="987552" y="5120640"/>
            <a:ext cx="105156" cy="105156"/>
          </a:xfrm>
          <a:prstGeom prst="rect">
            <a:avLst/>
          </a:prstGeom>
          <a:solidFill>
            <a:srgbClr val="17436B"/>
          </a:solidFill>
          <a:ln w="12700">
            <a:solidFill>
              <a:srgbClr val="17436B"/>
            </a:solidFill>
            <a:prstDash val="solid"/>
          </a:ln>
        </p:spPr>
      </p:sp>
      <p:sp>
        <p:nvSpPr>
          <p:cNvPr id="301" name="Shape 299"/>
          <p:cNvSpPr/>
          <p:nvPr/>
        </p:nvSpPr>
        <p:spPr>
          <a:xfrm>
            <a:off x="1133856" y="5120640"/>
            <a:ext cx="105156" cy="105156"/>
          </a:xfrm>
          <a:prstGeom prst="rect">
            <a:avLst/>
          </a:prstGeom>
          <a:solidFill>
            <a:srgbClr val="17436B"/>
          </a:solidFill>
          <a:ln w="12700">
            <a:solidFill>
              <a:srgbClr val="17436B"/>
            </a:solidFill>
            <a:prstDash val="solid"/>
          </a:ln>
        </p:spPr>
      </p:sp>
      <p:sp>
        <p:nvSpPr>
          <p:cNvPr id="302" name="Shape 300"/>
          <p:cNvSpPr/>
          <p:nvPr/>
        </p:nvSpPr>
        <p:spPr>
          <a:xfrm>
            <a:off x="1280160" y="5120640"/>
            <a:ext cx="105156" cy="105156"/>
          </a:xfrm>
          <a:prstGeom prst="rect">
            <a:avLst/>
          </a:prstGeom>
          <a:solidFill>
            <a:srgbClr val="17436B"/>
          </a:solidFill>
          <a:ln w="12700">
            <a:solidFill>
              <a:srgbClr val="17436B"/>
            </a:solidFill>
            <a:prstDash val="solid"/>
          </a:ln>
        </p:spPr>
      </p:sp>
      <p:sp>
        <p:nvSpPr>
          <p:cNvPr id="303" name="Shape 301"/>
          <p:cNvSpPr/>
          <p:nvPr/>
        </p:nvSpPr>
        <p:spPr>
          <a:xfrm>
            <a:off x="1426464" y="5120640"/>
            <a:ext cx="105156" cy="105156"/>
          </a:xfrm>
          <a:prstGeom prst="rect">
            <a:avLst/>
          </a:prstGeom>
          <a:solidFill>
            <a:srgbClr val="17436B"/>
          </a:solidFill>
          <a:ln w="12700">
            <a:solidFill>
              <a:srgbClr val="17436B"/>
            </a:solidFill>
            <a:prstDash val="solid"/>
          </a:ln>
        </p:spPr>
      </p:sp>
      <p:sp>
        <p:nvSpPr>
          <p:cNvPr id="304" name="Shape 302"/>
          <p:cNvSpPr/>
          <p:nvPr/>
        </p:nvSpPr>
        <p:spPr>
          <a:xfrm>
            <a:off x="1572768" y="5120640"/>
            <a:ext cx="105156" cy="105156"/>
          </a:xfrm>
          <a:prstGeom prst="rect">
            <a:avLst/>
          </a:prstGeom>
          <a:solidFill>
            <a:srgbClr val="17436B"/>
          </a:solidFill>
          <a:ln w="12700">
            <a:solidFill>
              <a:srgbClr val="17436B"/>
            </a:solidFill>
            <a:prstDash val="solid"/>
          </a:ln>
        </p:spPr>
      </p:sp>
      <p:sp>
        <p:nvSpPr>
          <p:cNvPr id="305" name="Shape 303"/>
          <p:cNvSpPr/>
          <p:nvPr/>
        </p:nvSpPr>
        <p:spPr>
          <a:xfrm>
            <a:off x="1719072" y="5120640"/>
            <a:ext cx="105156" cy="105156"/>
          </a:xfrm>
          <a:prstGeom prst="rect">
            <a:avLst/>
          </a:prstGeom>
          <a:solidFill>
            <a:srgbClr val="17436B"/>
          </a:solidFill>
          <a:ln w="12700">
            <a:solidFill>
              <a:srgbClr val="17436B"/>
            </a:solidFill>
            <a:prstDash val="solid"/>
          </a:ln>
        </p:spPr>
      </p:sp>
      <p:sp>
        <p:nvSpPr>
          <p:cNvPr id="306" name="Shape 304"/>
          <p:cNvSpPr/>
          <p:nvPr/>
        </p:nvSpPr>
        <p:spPr>
          <a:xfrm>
            <a:off x="1865376" y="5120640"/>
            <a:ext cx="105156" cy="105156"/>
          </a:xfrm>
          <a:prstGeom prst="rect">
            <a:avLst/>
          </a:prstGeom>
          <a:solidFill>
            <a:srgbClr val="17436B"/>
          </a:solidFill>
          <a:ln w="12700">
            <a:solidFill>
              <a:srgbClr val="17436B"/>
            </a:solidFill>
            <a:prstDash val="solid"/>
          </a:ln>
        </p:spPr>
      </p:sp>
      <p:sp>
        <p:nvSpPr>
          <p:cNvPr id="307" name="Shape 305"/>
          <p:cNvSpPr/>
          <p:nvPr/>
        </p:nvSpPr>
        <p:spPr>
          <a:xfrm>
            <a:off x="2011680" y="5120640"/>
            <a:ext cx="105156" cy="105156"/>
          </a:xfrm>
          <a:prstGeom prst="rect">
            <a:avLst/>
          </a:prstGeom>
          <a:solidFill>
            <a:srgbClr val="17436B"/>
          </a:solidFill>
          <a:ln w="12700">
            <a:solidFill>
              <a:srgbClr val="17436B"/>
            </a:solidFill>
            <a:prstDash val="solid"/>
          </a:ln>
        </p:spPr>
      </p:sp>
      <p:sp>
        <p:nvSpPr>
          <p:cNvPr id="308" name="Shape 306"/>
          <p:cNvSpPr/>
          <p:nvPr/>
        </p:nvSpPr>
        <p:spPr>
          <a:xfrm>
            <a:off x="2157984" y="5120640"/>
            <a:ext cx="105156" cy="105156"/>
          </a:xfrm>
          <a:prstGeom prst="rect">
            <a:avLst/>
          </a:prstGeom>
          <a:solidFill>
            <a:srgbClr val="17436B"/>
          </a:solidFill>
          <a:ln w="12700">
            <a:solidFill>
              <a:srgbClr val="17436B"/>
            </a:solidFill>
            <a:prstDash val="solid"/>
          </a:ln>
        </p:spPr>
      </p:sp>
      <p:sp>
        <p:nvSpPr>
          <p:cNvPr id="309" name="Shape 307"/>
          <p:cNvSpPr/>
          <p:nvPr/>
        </p:nvSpPr>
        <p:spPr>
          <a:xfrm>
            <a:off x="2304288" y="5120640"/>
            <a:ext cx="105156" cy="105156"/>
          </a:xfrm>
          <a:prstGeom prst="rect">
            <a:avLst/>
          </a:prstGeom>
          <a:solidFill>
            <a:srgbClr val="17436B"/>
          </a:solidFill>
          <a:ln w="12700">
            <a:solidFill>
              <a:srgbClr val="17436B"/>
            </a:solidFill>
            <a:prstDash val="solid"/>
          </a:ln>
        </p:spPr>
      </p:sp>
      <p:sp>
        <p:nvSpPr>
          <p:cNvPr id="310" name="Shape 308"/>
          <p:cNvSpPr/>
          <p:nvPr/>
        </p:nvSpPr>
        <p:spPr>
          <a:xfrm>
            <a:off x="2450592" y="5120640"/>
            <a:ext cx="105156" cy="105156"/>
          </a:xfrm>
          <a:prstGeom prst="rect">
            <a:avLst/>
          </a:prstGeom>
          <a:solidFill>
            <a:srgbClr val="17436B"/>
          </a:solidFill>
          <a:ln w="12700">
            <a:solidFill>
              <a:srgbClr val="17436B"/>
            </a:solidFill>
            <a:prstDash val="solid"/>
          </a:ln>
        </p:spPr>
      </p:sp>
      <p:sp>
        <p:nvSpPr>
          <p:cNvPr id="311" name="Shape 309"/>
          <p:cNvSpPr/>
          <p:nvPr/>
        </p:nvSpPr>
        <p:spPr>
          <a:xfrm>
            <a:off x="2596896" y="5120640"/>
            <a:ext cx="105156" cy="105156"/>
          </a:xfrm>
          <a:prstGeom prst="rect">
            <a:avLst/>
          </a:prstGeom>
          <a:solidFill>
            <a:srgbClr val="17436B"/>
          </a:solidFill>
          <a:ln w="12700">
            <a:solidFill>
              <a:srgbClr val="17436B"/>
            </a:solidFill>
            <a:prstDash val="solid"/>
          </a:ln>
        </p:spPr>
      </p:sp>
      <p:sp>
        <p:nvSpPr>
          <p:cNvPr id="312" name="Shape 310"/>
          <p:cNvSpPr/>
          <p:nvPr/>
        </p:nvSpPr>
        <p:spPr>
          <a:xfrm>
            <a:off x="2743200" y="5120640"/>
            <a:ext cx="105156" cy="105156"/>
          </a:xfrm>
          <a:prstGeom prst="rect">
            <a:avLst/>
          </a:prstGeom>
          <a:solidFill>
            <a:srgbClr val="17436B"/>
          </a:solidFill>
          <a:ln w="12700">
            <a:solidFill>
              <a:srgbClr val="17436B"/>
            </a:solidFill>
            <a:prstDash val="solid"/>
          </a:ln>
        </p:spPr>
      </p:sp>
      <p:sp>
        <p:nvSpPr>
          <p:cNvPr id="313" name="Shape 311"/>
          <p:cNvSpPr/>
          <p:nvPr/>
        </p:nvSpPr>
        <p:spPr>
          <a:xfrm>
            <a:off x="2889504" y="5120640"/>
            <a:ext cx="105156" cy="105156"/>
          </a:xfrm>
          <a:prstGeom prst="rect">
            <a:avLst/>
          </a:prstGeom>
          <a:solidFill>
            <a:srgbClr val="17436B"/>
          </a:solidFill>
          <a:ln w="12700">
            <a:solidFill>
              <a:srgbClr val="17436B"/>
            </a:solidFill>
            <a:prstDash val="solid"/>
          </a:ln>
        </p:spPr>
      </p:sp>
      <p:sp>
        <p:nvSpPr>
          <p:cNvPr id="314" name="Shape 312"/>
          <p:cNvSpPr/>
          <p:nvPr/>
        </p:nvSpPr>
        <p:spPr>
          <a:xfrm>
            <a:off x="3035808" y="5120640"/>
            <a:ext cx="105156" cy="105156"/>
          </a:xfrm>
          <a:prstGeom prst="rect">
            <a:avLst/>
          </a:prstGeom>
          <a:solidFill>
            <a:srgbClr val="17436B"/>
          </a:solidFill>
          <a:ln w="12700">
            <a:solidFill>
              <a:srgbClr val="17436B"/>
            </a:solidFill>
            <a:prstDash val="solid"/>
          </a:ln>
        </p:spPr>
      </p:sp>
      <p:sp>
        <p:nvSpPr>
          <p:cNvPr id="315" name="Shape 313"/>
          <p:cNvSpPr/>
          <p:nvPr/>
        </p:nvSpPr>
        <p:spPr>
          <a:xfrm>
            <a:off x="3182112" y="5120640"/>
            <a:ext cx="105156" cy="105156"/>
          </a:xfrm>
          <a:prstGeom prst="rect">
            <a:avLst/>
          </a:prstGeom>
          <a:solidFill>
            <a:srgbClr val="17436B"/>
          </a:solidFill>
          <a:ln w="12700">
            <a:solidFill>
              <a:srgbClr val="17436B"/>
            </a:solidFill>
            <a:prstDash val="solid"/>
          </a:ln>
        </p:spPr>
      </p:sp>
      <p:sp>
        <p:nvSpPr>
          <p:cNvPr id="316" name="Shape 314"/>
          <p:cNvSpPr/>
          <p:nvPr/>
        </p:nvSpPr>
        <p:spPr>
          <a:xfrm>
            <a:off x="3328416" y="5120640"/>
            <a:ext cx="105156" cy="105156"/>
          </a:xfrm>
          <a:prstGeom prst="rect">
            <a:avLst/>
          </a:prstGeom>
          <a:solidFill>
            <a:srgbClr val="17436B"/>
          </a:solidFill>
          <a:ln w="12700">
            <a:solidFill>
              <a:srgbClr val="17436B"/>
            </a:solidFill>
            <a:prstDash val="solid"/>
          </a:ln>
        </p:spPr>
      </p:sp>
      <p:sp>
        <p:nvSpPr>
          <p:cNvPr id="317" name="Shape 315"/>
          <p:cNvSpPr/>
          <p:nvPr/>
        </p:nvSpPr>
        <p:spPr>
          <a:xfrm>
            <a:off x="3474720" y="5120640"/>
            <a:ext cx="105156" cy="105156"/>
          </a:xfrm>
          <a:prstGeom prst="rect">
            <a:avLst/>
          </a:prstGeom>
          <a:solidFill>
            <a:srgbClr val="17436B"/>
          </a:solidFill>
          <a:ln w="12700">
            <a:solidFill>
              <a:srgbClr val="17436B"/>
            </a:solidFill>
            <a:prstDash val="solid"/>
          </a:ln>
        </p:spPr>
      </p:sp>
      <p:sp>
        <p:nvSpPr>
          <p:cNvPr id="318" name="Shape 316"/>
          <p:cNvSpPr/>
          <p:nvPr/>
        </p:nvSpPr>
        <p:spPr>
          <a:xfrm>
            <a:off x="3621024" y="5120640"/>
            <a:ext cx="105156" cy="105156"/>
          </a:xfrm>
          <a:prstGeom prst="rect">
            <a:avLst/>
          </a:prstGeom>
          <a:solidFill>
            <a:srgbClr val="17436B"/>
          </a:solidFill>
          <a:ln w="12700">
            <a:solidFill>
              <a:srgbClr val="17436B"/>
            </a:solidFill>
            <a:prstDash val="solid"/>
          </a:ln>
        </p:spPr>
      </p:sp>
      <p:sp>
        <p:nvSpPr>
          <p:cNvPr id="319" name="Shape 317"/>
          <p:cNvSpPr/>
          <p:nvPr/>
        </p:nvSpPr>
        <p:spPr>
          <a:xfrm>
            <a:off x="3767328" y="5120640"/>
            <a:ext cx="105156" cy="105156"/>
          </a:xfrm>
          <a:prstGeom prst="rect">
            <a:avLst/>
          </a:prstGeom>
          <a:solidFill>
            <a:srgbClr val="17436B"/>
          </a:solidFill>
          <a:ln w="12700">
            <a:solidFill>
              <a:srgbClr val="17436B"/>
            </a:solidFill>
            <a:prstDash val="solid"/>
          </a:ln>
        </p:spPr>
      </p:sp>
      <p:sp>
        <p:nvSpPr>
          <p:cNvPr id="320" name="Shape 318"/>
          <p:cNvSpPr/>
          <p:nvPr/>
        </p:nvSpPr>
        <p:spPr>
          <a:xfrm>
            <a:off x="3913632" y="5120640"/>
            <a:ext cx="105156" cy="105156"/>
          </a:xfrm>
          <a:prstGeom prst="rect">
            <a:avLst/>
          </a:prstGeom>
          <a:solidFill>
            <a:srgbClr val="17436B"/>
          </a:solidFill>
          <a:ln w="12700">
            <a:solidFill>
              <a:srgbClr val="17436B"/>
            </a:solidFill>
            <a:prstDash val="solid"/>
          </a:ln>
        </p:spPr>
      </p:sp>
      <p:sp>
        <p:nvSpPr>
          <p:cNvPr id="321" name="Shape 319"/>
          <p:cNvSpPr/>
          <p:nvPr/>
        </p:nvSpPr>
        <p:spPr>
          <a:xfrm>
            <a:off x="4059936" y="5120640"/>
            <a:ext cx="105156" cy="105156"/>
          </a:xfrm>
          <a:prstGeom prst="rect">
            <a:avLst/>
          </a:prstGeom>
          <a:solidFill>
            <a:srgbClr val="17436B"/>
          </a:solidFill>
          <a:ln w="12700">
            <a:solidFill>
              <a:srgbClr val="17436B"/>
            </a:solidFill>
            <a:prstDash val="solid"/>
          </a:ln>
        </p:spPr>
      </p:sp>
      <p:sp>
        <p:nvSpPr>
          <p:cNvPr id="322" name="Shape 320"/>
          <p:cNvSpPr/>
          <p:nvPr/>
        </p:nvSpPr>
        <p:spPr>
          <a:xfrm>
            <a:off x="4206240" y="5120640"/>
            <a:ext cx="105156" cy="105156"/>
          </a:xfrm>
          <a:prstGeom prst="rect">
            <a:avLst/>
          </a:prstGeom>
          <a:solidFill>
            <a:srgbClr val="17436B"/>
          </a:solidFill>
          <a:ln w="12700">
            <a:solidFill>
              <a:srgbClr val="17436B"/>
            </a:solidFill>
            <a:prstDash val="solid"/>
          </a:ln>
        </p:spPr>
      </p:sp>
      <p:sp>
        <p:nvSpPr>
          <p:cNvPr id="323" name="Shape 321"/>
          <p:cNvSpPr/>
          <p:nvPr/>
        </p:nvSpPr>
        <p:spPr>
          <a:xfrm>
            <a:off x="4352544" y="5120640"/>
            <a:ext cx="105156" cy="105156"/>
          </a:xfrm>
          <a:prstGeom prst="rect">
            <a:avLst/>
          </a:prstGeom>
          <a:solidFill>
            <a:srgbClr val="17436B"/>
          </a:solidFill>
          <a:ln w="12700">
            <a:solidFill>
              <a:srgbClr val="17436B"/>
            </a:solidFill>
            <a:prstDash val="solid"/>
          </a:ln>
        </p:spPr>
      </p:sp>
      <p:sp>
        <p:nvSpPr>
          <p:cNvPr id="324" name="Shape 322"/>
          <p:cNvSpPr/>
          <p:nvPr/>
        </p:nvSpPr>
        <p:spPr>
          <a:xfrm>
            <a:off x="4498848" y="5120640"/>
            <a:ext cx="105156" cy="105156"/>
          </a:xfrm>
          <a:prstGeom prst="rect">
            <a:avLst/>
          </a:prstGeom>
          <a:solidFill>
            <a:srgbClr val="17436B"/>
          </a:solidFill>
          <a:ln w="12700">
            <a:solidFill>
              <a:srgbClr val="17436B"/>
            </a:solidFill>
            <a:prstDash val="solid"/>
          </a:ln>
        </p:spPr>
      </p:sp>
      <p:sp>
        <p:nvSpPr>
          <p:cNvPr id="325" name="Shape 323"/>
          <p:cNvSpPr/>
          <p:nvPr/>
        </p:nvSpPr>
        <p:spPr>
          <a:xfrm>
            <a:off x="4645152" y="5120640"/>
            <a:ext cx="105156" cy="105156"/>
          </a:xfrm>
          <a:prstGeom prst="rect">
            <a:avLst/>
          </a:prstGeom>
          <a:solidFill>
            <a:srgbClr val="17436B"/>
          </a:solidFill>
          <a:ln w="12700">
            <a:solidFill>
              <a:srgbClr val="17436B"/>
            </a:solidFill>
            <a:prstDash val="solid"/>
          </a:ln>
        </p:spPr>
      </p:sp>
      <p:sp>
        <p:nvSpPr>
          <p:cNvPr id="326" name="Shape 324"/>
          <p:cNvSpPr/>
          <p:nvPr/>
        </p:nvSpPr>
        <p:spPr>
          <a:xfrm>
            <a:off x="548640" y="5266944"/>
            <a:ext cx="105156" cy="105156"/>
          </a:xfrm>
          <a:prstGeom prst="rect">
            <a:avLst/>
          </a:prstGeom>
          <a:solidFill>
            <a:srgbClr val="17436B"/>
          </a:solidFill>
          <a:ln w="12700">
            <a:solidFill>
              <a:srgbClr val="17436B"/>
            </a:solidFill>
            <a:prstDash val="solid"/>
          </a:ln>
        </p:spPr>
      </p:sp>
      <p:sp>
        <p:nvSpPr>
          <p:cNvPr id="327" name="Shape 325"/>
          <p:cNvSpPr/>
          <p:nvPr/>
        </p:nvSpPr>
        <p:spPr>
          <a:xfrm>
            <a:off x="694944" y="5266944"/>
            <a:ext cx="105156" cy="105156"/>
          </a:xfrm>
          <a:prstGeom prst="rect">
            <a:avLst/>
          </a:prstGeom>
          <a:solidFill>
            <a:srgbClr val="17436B"/>
          </a:solidFill>
          <a:ln w="12700">
            <a:solidFill>
              <a:srgbClr val="17436B"/>
            </a:solidFill>
            <a:prstDash val="solid"/>
          </a:ln>
        </p:spPr>
      </p:sp>
      <p:sp>
        <p:nvSpPr>
          <p:cNvPr id="328" name="Shape 326"/>
          <p:cNvSpPr/>
          <p:nvPr/>
        </p:nvSpPr>
        <p:spPr>
          <a:xfrm>
            <a:off x="841248" y="5266944"/>
            <a:ext cx="105156" cy="105156"/>
          </a:xfrm>
          <a:prstGeom prst="rect">
            <a:avLst/>
          </a:prstGeom>
          <a:solidFill>
            <a:srgbClr val="17436B"/>
          </a:solidFill>
          <a:ln w="12700">
            <a:solidFill>
              <a:srgbClr val="17436B"/>
            </a:solidFill>
            <a:prstDash val="solid"/>
          </a:ln>
        </p:spPr>
      </p:sp>
      <p:sp>
        <p:nvSpPr>
          <p:cNvPr id="329" name="Shape 327"/>
          <p:cNvSpPr/>
          <p:nvPr/>
        </p:nvSpPr>
        <p:spPr>
          <a:xfrm>
            <a:off x="987552" y="5266944"/>
            <a:ext cx="105156" cy="105156"/>
          </a:xfrm>
          <a:prstGeom prst="rect">
            <a:avLst/>
          </a:prstGeom>
          <a:solidFill>
            <a:srgbClr val="17436B"/>
          </a:solidFill>
          <a:ln w="12700">
            <a:solidFill>
              <a:srgbClr val="17436B"/>
            </a:solidFill>
            <a:prstDash val="solid"/>
          </a:ln>
        </p:spPr>
      </p:sp>
      <p:sp>
        <p:nvSpPr>
          <p:cNvPr id="330" name="Shape 328"/>
          <p:cNvSpPr/>
          <p:nvPr/>
        </p:nvSpPr>
        <p:spPr>
          <a:xfrm>
            <a:off x="1133856" y="5266944"/>
            <a:ext cx="105156" cy="105156"/>
          </a:xfrm>
          <a:prstGeom prst="rect">
            <a:avLst/>
          </a:prstGeom>
          <a:solidFill>
            <a:srgbClr val="17436B"/>
          </a:solidFill>
          <a:ln w="12700">
            <a:solidFill>
              <a:srgbClr val="17436B"/>
            </a:solidFill>
            <a:prstDash val="solid"/>
          </a:ln>
        </p:spPr>
      </p:sp>
      <p:sp>
        <p:nvSpPr>
          <p:cNvPr id="331" name="Shape 329"/>
          <p:cNvSpPr/>
          <p:nvPr/>
        </p:nvSpPr>
        <p:spPr>
          <a:xfrm>
            <a:off x="1280160" y="5266944"/>
            <a:ext cx="105156" cy="105156"/>
          </a:xfrm>
          <a:prstGeom prst="rect">
            <a:avLst/>
          </a:prstGeom>
          <a:solidFill>
            <a:srgbClr val="17436B"/>
          </a:solidFill>
          <a:ln w="12700">
            <a:solidFill>
              <a:srgbClr val="17436B"/>
            </a:solidFill>
            <a:prstDash val="solid"/>
          </a:ln>
        </p:spPr>
      </p:sp>
      <p:sp>
        <p:nvSpPr>
          <p:cNvPr id="332" name="Shape 330"/>
          <p:cNvSpPr/>
          <p:nvPr/>
        </p:nvSpPr>
        <p:spPr>
          <a:xfrm>
            <a:off x="1426464" y="5266944"/>
            <a:ext cx="105156" cy="105156"/>
          </a:xfrm>
          <a:prstGeom prst="rect">
            <a:avLst/>
          </a:prstGeom>
          <a:solidFill>
            <a:srgbClr val="17436B"/>
          </a:solidFill>
          <a:ln w="12700">
            <a:solidFill>
              <a:srgbClr val="17436B"/>
            </a:solidFill>
            <a:prstDash val="solid"/>
          </a:ln>
        </p:spPr>
      </p:sp>
      <p:sp>
        <p:nvSpPr>
          <p:cNvPr id="333" name="Shape 331"/>
          <p:cNvSpPr/>
          <p:nvPr/>
        </p:nvSpPr>
        <p:spPr>
          <a:xfrm>
            <a:off x="1572768" y="5266944"/>
            <a:ext cx="105156" cy="105156"/>
          </a:xfrm>
          <a:prstGeom prst="rect">
            <a:avLst/>
          </a:prstGeom>
          <a:solidFill>
            <a:srgbClr val="17436B"/>
          </a:solidFill>
          <a:ln w="12700">
            <a:solidFill>
              <a:srgbClr val="17436B"/>
            </a:solidFill>
            <a:prstDash val="solid"/>
          </a:ln>
        </p:spPr>
      </p:sp>
      <p:sp>
        <p:nvSpPr>
          <p:cNvPr id="334" name="Shape 332"/>
          <p:cNvSpPr/>
          <p:nvPr/>
        </p:nvSpPr>
        <p:spPr>
          <a:xfrm>
            <a:off x="1719072" y="5266944"/>
            <a:ext cx="105156" cy="105156"/>
          </a:xfrm>
          <a:prstGeom prst="rect">
            <a:avLst/>
          </a:prstGeom>
          <a:solidFill>
            <a:srgbClr val="17436B"/>
          </a:solidFill>
          <a:ln w="12700">
            <a:solidFill>
              <a:srgbClr val="17436B"/>
            </a:solidFill>
            <a:prstDash val="solid"/>
          </a:ln>
        </p:spPr>
      </p:sp>
      <p:sp>
        <p:nvSpPr>
          <p:cNvPr id="335" name="Shape 333"/>
          <p:cNvSpPr/>
          <p:nvPr/>
        </p:nvSpPr>
        <p:spPr>
          <a:xfrm>
            <a:off x="1865376" y="5266944"/>
            <a:ext cx="105156" cy="105156"/>
          </a:xfrm>
          <a:prstGeom prst="rect">
            <a:avLst/>
          </a:prstGeom>
          <a:solidFill>
            <a:srgbClr val="17436B"/>
          </a:solidFill>
          <a:ln w="12700">
            <a:solidFill>
              <a:srgbClr val="17436B"/>
            </a:solidFill>
            <a:prstDash val="solid"/>
          </a:ln>
        </p:spPr>
      </p:sp>
      <p:sp>
        <p:nvSpPr>
          <p:cNvPr id="336" name="Shape 334"/>
          <p:cNvSpPr/>
          <p:nvPr/>
        </p:nvSpPr>
        <p:spPr>
          <a:xfrm>
            <a:off x="2011680" y="5266944"/>
            <a:ext cx="105156" cy="105156"/>
          </a:xfrm>
          <a:prstGeom prst="rect">
            <a:avLst/>
          </a:prstGeom>
          <a:solidFill>
            <a:srgbClr val="17436B"/>
          </a:solidFill>
          <a:ln w="12700">
            <a:solidFill>
              <a:srgbClr val="17436B"/>
            </a:solidFill>
            <a:prstDash val="solid"/>
          </a:ln>
        </p:spPr>
      </p:sp>
      <p:sp>
        <p:nvSpPr>
          <p:cNvPr id="337" name="Shape 335"/>
          <p:cNvSpPr/>
          <p:nvPr/>
        </p:nvSpPr>
        <p:spPr>
          <a:xfrm>
            <a:off x="2157984" y="5266944"/>
            <a:ext cx="105156" cy="105156"/>
          </a:xfrm>
          <a:prstGeom prst="rect">
            <a:avLst/>
          </a:prstGeom>
          <a:solidFill>
            <a:srgbClr val="17436B"/>
          </a:solidFill>
          <a:ln w="12700">
            <a:solidFill>
              <a:srgbClr val="17436B"/>
            </a:solidFill>
            <a:prstDash val="solid"/>
          </a:ln>
        </p:spPr>
      </p:sp>
      <p:sp>
        <p:nvSpPr>
          <p:cNvPr id="338" name="Shape 336"/>
          <p:cNvSpPr/>
          <p:nvPr/>
        </p:nvSpPr>
        <p:spPr>
          <a:xfrm>
            <a:off x="2304288" y="5266944"/>
            <a:ext cx="105156" cy="105156"/>
          </a:xfrm>
          <a:prstGeom prst="rect">
            <a:avLst/>
          </a:prstGeom>
          <a:solidFill>
            <a:srgbClr val="17436B"/>
          </a:solidFill>
          <a:ln w="12700">
            <a:solidFill>
              <a:srgbClr val="17436B"/>
            </a:solidFill>
            <a:prstDash val="solid"/>
          </a:ln>
        </p:spPr>
      </p:sp>
      <p:sp>
        <p:nvSpPr>
          <p:cNvPr id="339" name="Shape 337"/>
          <p:cNvSpPr/>
          <p:nvPr/>
        </p:nvSpPr>
        <p:spPr>
          <a:xfrm>
            <a:off x="2450592" y="5266944"/>
            <a:ext cx="105156" cy="105156"/>
          </a:xfrm>
          <a:prstGeom prst="rect">
            <a:avLst/>
          </a:prstGeom>
          <a:solidFill>
            <a:srgbClr val="17436B"/>
          </a:solidFill>
          <a:ln w="12700">
            <a:solidFill>
              <a:srgbClr val="17436B"/>
            </a:solidFill>
            <a:prstDash val="solid"/>
          </a:ln>
        </p:spPr>
      </p:sp>
      <p:sp>
        <p:nvSpPr>
          <p:cNvPr id="340" name="Shape 338"/>
          <p:cNvSpPr/>
          <p:nvPr/>
        </p:nvSpPr>
        <p:spPr>
          <a:xfrm>
            <a:off x="2596896" y="5266944"/>
            <a:ext cx="105156" cy="105156"/>
          </a:xfrm>
          <a:prstGeom prst="rect">
            <a:avLst/>
          </a:prstGeom>
          <a:solidFill>
            <a:srgbClr val="17436B"/>
          </a:solidFill>
          <a:ln w="12700">
            <a:solidFill>
              <a:srgbClr val="17436B"/>
            </a:solidFill>
            <a:prstDash val="solid"/>
          </a:ln>
        </p:spPr>
      </p:sp>
      <p:sp>
        <p:nvSpPr>
          <p:cNvPr id="341" name="Shape 339"/>
          <p:cNvSpPr/>
          <p:nvPr/>
        </p:nvSpPr>
        <p:spPr>
          <a:xfrm>
            <a:off x="2743200" y="5266944"/>
            <a:ext cx="105156" cy="105156"/>
          </a:xfrm>
          <a:prstGeom prst="rect">
            <a:avLst/>
          </a:prstGeom>
          <a:solidFill>
            <a:srgbClr val="17436B"/>
          </a:solidFill>
          <a:ln w="12700">
            <a:solidFill>
              <a:srgbClr val="17436B"/>
            </a:solidFill>
            <a:prstDash val="solid"/>
          </a:ln>
        </p:spPr>
      </p:sp>
      <p:sp>
        <p:nvSpPr>
          <p:cNvPr id="342" name="Shape 340"/>
          <p:cNvSpPr/>
          <p:nvPr/>
        </p:nvSpPr>
        <p:spPr>
          <a:xfrm>
            <a:off x="2889504" y="5266944"/>
            <a:ext cx="105156" cy="105156"/>
          </a:xfrm>
          <a:prstGeom prst="rect">
            <a:avLst/>
          </a:prstGeom>
          <a:solidFill>
            <a:srgbClr val="17436B"/>
          </a:solidFill>
          <a:ln w="12700">
            <a:solidFill>
              <a:srgbClr val="17436B"/>
            </a:solidFill>
            <a:prstDash val="solid"/>
          </a:ln>
        </p:spPr>
      </p:sp>
      <p:sp>
        <p:nvSpPr>
          <p:cNvPr id="343" name="Shape 341"/>
          <p:cNvSpPr/>
          <p:nvPr/>
        </p:nvSpPr>
        <p:spPr>
          <a:xfrm>
            <a:off x="3035808" y="5266944"/>
            <a:ext cx="105156" cy="105156"/>
          </a:xfrm>
          <a:prstGeom prst="rect">
            <a:avLst/>
          </a:prstGeom>
          <a:solidFill>
            <a:srgbClr val="17436B"/>
          </a:solidFill>
          <a:ln w="12700">
            <a:solidFill>
              <a:srgbClr val="17436B"/>
            </a:solidFill>
            <a:prstDash val="solid"/>
          </a:ln>
        </p:spPr>
      </p:sp>
      <p:sp>
        <p:nvSpPr>
          <p:cNvPr id="344" name="Shape 342"/>
          <p:cNvSpPr/>
          <p:nvPr/>
        </p:nvSpPr>
        <p:spPr>
          <a:xfrm>
            <a:off x="3182112" y="5266944"/>
            <a:ext cx="105156" cy="105156"/>
          </a:xfrm>
          <a:prstGeom prst="rect">
            <a:avLst/>
          </a:prstGeom>
          <a:solidFill>
            <a:srgbClr val="17436B"/>
          </a:solidFill>
          <a:ln w="12700">
            <a:solidFill>
              <a:srgbClr val="17436B"/>
            </a:solidFill>
            <a:prstDash val="solid"/>
          </a:ln>
        </p:spPr>
      </p:sp>
      <p:sp>
        <p:nvSpPr>
          <p:cNvPr id="345" name="Shape 343"/>
          <p:cNvSpPr/>
          <p:nvPr/>
        </p:nvSpPr>
        <p:spPr>
          <a:xfrm>
            <a:off x="3328416" y="5266944"/>
            <a:ext cx="105156" cy="105156"/>
          </a:xfrm>
          <a:prstGeom prst="rect">
            <a:avLst/>
          </a:prstGeom>
          <a:solidFill>
            <a:srgbClr val="17436B"/>
          </a:solidFill>
          <a:ln w="12700">
            <a:solidFill>
              <a:srgbClr val="17436B"/>
            </a:solidFill>
            <a:prstDash val="solid"/>
          </a:ln>
        </p:spPr>
      </p:sp>
      <p:sp>
        <p:nvSpPr>
          <p:cNvPr id="346" name="Shape 344"/>
          <p:cNvSpPr/>
          <p:nvPr/>
        </p:nvSpPr>
        <p:spPr>
          <a:xfrm>
            <a:off x="3474720" y="5266944"/>
            <a:ext cx="105156" cy="105156"/>
          </a:xfrm>
          <a:prstGeom prst="rect">
            <a:avLst/>
          </a:prstGeom>
          <a:solidFill>
            <a:srgbClr val="17436B"/>
          </a:solidFill>
          <a:ln w="12700">
            <a:solidFill>
              <a:srgbClr val="17436B"/>
            </a:solidFill>
            <a:prstDash val="solid"/>
          </a:ln>
        </p:spPr>
      </p:sp>
      <p:sp>
        <p:nvSpPr>
          <p:cNvPr id="347" name="Shape 345"/>
          <p:cNvSpPr/>
          <p:nvPr/>
        </p:nvSpPr>
        <p:spPr>
          <a:xfrm>
            <a:off x="3621024" y="5266944"/>
            <a:ext cx="105156" cy="105156"/>
          </a:xfrm>
          <a:prstGeom prst="rect">
            <a:avLst/>
          </a:prstGeom>
          <a:solidFill>
            <a:srgbClr val="17436B"/>
          </a:solidFill>
          <a:ln w="12700">
            <a:solidFill>
              <a:srgbClr val="17436B"/>
            </a:solidFill>
            <a:prstDash val="solid"/>
          </a:ln>
        </p:spPr>
      </p:sp>
      <p:sp>
        <p:nvSpPr>
          <p:cNvPr id="348" name="Shape 346"/>
          <p:cNvSpPr/>
          <p:nvPr/>
        </p:nvSpPr>
        <p:spPr>
          <a:xfrm>
            <a:off x="3767328" y="5266944"/>
            <a:ext cx="105156" cy="105156"/>
          </a:xfrm>
          <a:prstGeom prst="rect">
            <a:avLst/>
          </a:prstGeom>
          <a:solidFill>
            <a:srgbClr val="17436B"/>
          </a:solidFill>
          <a:ln w="12700">
            <a:solidFill>
              <a:srgbClr val="17436B"/>
            </a:solidFill>
            <a:prstDash val="solid"/>
          </a:ln>
        </p:spPr>
      </p:sp>
      <p:sp>
        <p:nvSpPr>
          <p:cNvPr id="349" name="Shape 347"/>
          <p:cNvSpPr/>
          <p:nvPr/>
        </p:nvSpPr>
        <p:spPr>
          <a:xfrm>
            <a:off x="3913632" y="5266944"/>
            <a:ext cx="105156" cy="105156"/>
          </a:xfrm>
          <a:prstGeom prst="rect">
            <a:avLst/>
          </a:prstGeom>
          <a:solidFill>
            <a:srgbClr val="17436B"/>
          </a:solidFill>
          <a:ln w="12700">
            <a:solidFill>
              <a:srgbClr val="17436B"/>
            </a:solidFill>
            <a:prstDash val="solid"/>
          </a:ln>
        </p:spPr>
      </p:sp>
      <p:sp>
        <p:nvSpPr>
          <p:cNvPr id="350" name="Shape 348"/>
          <p:cNvSpPr/>
          <p:nvPr/>
        </p:nvSpPr>
        <p:spPr>
          <a:xfrm>
            <a:off x="4059936" y="5266944"/>
            <a:ext cx="105156" cy="105156"/>
          </a:xfrm>
          <a:prstGeom prst="rect">
            <a:avLst/>
          </a:prstGeom>
          <a:solidFill>
            <a:srgbClr val="17436B"/>
          </a:solidFill>
          <a:ln w="12700">
            <a:solidFill>
              <a:srgbClr val="17436B"/>
            </a:solidFill>
            <a:prstDash val="solid"/>
          </a:ln>
        </p:spPr>
      </p:sp>
      <p:sp>
        <p:nvSpPr>
          <p:cNvPr id="351" name="Shape 349"/>
          <p:cNvSpPr/>
          <p:nvPr/>
        </p:nvSpPr>
        <p:spPr>
          <a:xfrm>
            <a:off x="4206240" y="5266944"/>
            <a:ext cx="105156" cy="105156"/>
          </a:xfrm>
          <a:prstGeom prst="rect">
            <a:avLst/>
          </a:prstGeom>
          <a:solidFill>
            <a:srgbClr val="17436B"/>
          </a:solidFill>
          <a:ln w="12700">
            <a:solidFill>
              <a:srgbClr val="17436B"/>
            </a:solidFill>
            <a:prstDash val="solid"/>
          </a:ln>
        </p:spPr>
      </p:sp>
      <p:sp>
        <p:nvSpPr>
          <p:cNvPr id="352" name="Shape 350"/>
          <p:cNvSpPr/>
          <p:nvPr/>
        </p:nvSpPr>
        <p:spPr>
          <a:xfrm>
            <a:off x="4352544" y="5266944"/>
            <a:ext cx="105156" cy="105156"/>
          </a:xfrm>
          <a:prstGeom prst="rect">
            <a:avLst/>
          </a:prstGeom>
          <a:solidFill>
            <a:srgbClr val="17436B"/>
          </a:solidFill>
          <a:ln w="12700">
            <a:solidFill>
              <a:srgbClr val="17436B"/>
            </a:solidFill>
            <a:prstDash val="solid"/>
          </a:ln>
        </p:spPr>
      </p:sp>
      <p:sp>
        <p:nvSpPr>
          <p:cNvPr id="353" name="Shape 351"/>
          <p:cNvSpPr/>
          <p:nvPr/>
        </p:nvSpPr>
        <p:spPr>
          <a:xfrm>
            <a:off x="4498848" y="5266944"/>
            <a:ext cx="105156" cy="105156"/>
          </a:xfrm>
          <a:prstGeom prst="rect">
            <a:avLst/>
          </a:prstGeom>
          <a:solidFill>
            <a:srgbClr val="17436B"/>
          </a:solidFill>
          <a:ln w="12700">
            <a:solidFill>
              <a:srgbClr val="17436B"/>
            </a:solidFill>
            <a:prstDash val="solid"/>
          </a:ln>
        </p:spPr>
      </p:sp>
      <p:sp>
        <p:nvSpPr>
          <p:cNvPr id="354" name="Shape 352"/>
          <p:cNvSpPr/>
          <p:nvPr/>
        </p:nvSpPr>
        <p:spPr>
          <a:xfrm>
            <a:off x="4645152" y="5266944"/>
            <a:ext cx="105156" cy="105156"/>
          </a:xfrm>
          <a:prstGeom prst="rect">
            <a:avLst/>
          </a:prstGeom>
          <a:solidFill>
            <a:srgbClr val="17436B"/>
          </a:solidFill>
          <a:ln w="12700">
            <a:solidFill>
              <a:srgbClr val="17436B"/>
            </a:solidFill>
            <a:prstDash val="solid"/>
          </a:ln>
        </p:spPr>
      </p:sp>
      <p:sp>
        <p:nvSpPr>
          <p:cNvPr id="355" name="Shape 353"/>
          <p:cNvSpPr/>
          <p:nvPr/>
        </p:nvSpPr>
        <p:spPr>
          <a:xfrm>
            <a:off x="548640" y="5413248"/>
            <a:ext cx="105156" cy="105156"/>
          </a:xfrm>
          <a:prstGeom prst="rect">
            <a:avLst/>
          </a:prstGeom>
          <a:solidFill>
            <a:srgbClr val="17436B"/>
          </a:solidFill>
          <a:ln w="12700">
            <a:solidFill>
              <a:srgbClr val="17436B"/>
            </a:solidFill>
            <a:prstDash val="solid"/>
          </a:ln>
        </p:spPr>
      </p:sp>
      <p:sp>
        <p:nvSpPr>
          <p:cNvPr id="356" name="Shape 354"/>
          <p:cNvSpPr/>
          <p:nvPr/>
        </p:nvSpPr>
        <p:spPr>
          <a:xfrm>
            <a:off x="694944" y="5413248"/>
            <a:ext cx="105156" cy="105156"/>
          </a:xfrm>
          <a:prstGeom prst="rect">
            <a:avLst/>
          </a:prstGeom>
          <a:solidFill>
            <a:srgbClr val="17436B"/>
          </a:solidFill>
          <a:ln w="12700">
            <a:solidFill>
              <a:srgbClr val="17436B"/>
            </a:solidFill>
            <a:prstDash val="solid"/>
          </a:ln>
        </p:spPr>
      </p:sp>
      <p:sp>
        <p:nvSpPr>
          <p:cNvPr id="357" name="Shape 355"/>
          <p:cNvSpPr/>
          <p:nvPr/>
        </p:nvSpPr>
        <p:spPr>
          <a:xfrm>
            <a:off x="841248" y="5413248"/>
            <a:ext cx="105156" cy="105156"/>
          </a:xfrm>
          <a:prstGeom prst="rect">
            <a:avLst/>
          </a:prstGeom>
          <a:solidFill>
            <a:srgbClr val="17436B"/>
          </a:solidFill>
          <a:ln w="12700">
            <a:solidFill>
              <a:srgbClr val="17436B"/>
            </a:solidFill>
            <a:prstDash val="solid"/>
          </a:ln>
        </p:spPr>
      </p:sp>
      <p:sp>
        <p:nvSpPr>
          <p:cNvPr id="358" name="Shape 356"/>
          <p:cNvSpPr/>
          <p:nvPr/>
        </p:nvSpPr>
        <p:spPr>
          <a:xfrm>
            <a:off x="987552" y="5413248"/>
            <a:ext cx="105156" cy="105156"/>
          </a:xfrm>
          <a:prstGeom prst="rect">
            <a:avLst/>
          </a:prstGeom>
          <a:solidFill>
            <a:srgbClr val="17436B"/>
          </a:solidFill>
          <a:ln w="12700">
            <a:solidFill>
              <a:srgbClr val="17436B"/>
            </a:solidFill>
            <a:prstDash val="solid"/>
          </a:ln>
        </p:spPr>
      </p:sp>
      <p:sp>
        <p:nvSpPr>
          <p:cNvPr id="359" name="Shape 357"/>
          <p:cNvSpPr/>
          <p:nvPr/>
        </p:nvSpPr>
        <p:spPr>
          <a:xfrm>
            <a:off x="1133856" y="5413248"/>
            <a:ext cx="105156" cy="105156"/>
          </a:xfrm>
          <a:prstGeom prst="rect">
            <a:avLst/>
          </a:prstGeom>
          <a:solidFill>
            <a:srgbClr val="17436B"/>
          </a:solidFill>
          <a:ln w="12700">
            <a:solidFill>
              <a:srgbClr val="17436B"/>
            </a:solidFill>
            <a:prstDash val="solid"/>
          </a:ln>
        </p:spPr>
      </p:sp>
      <p:sp>
        <p:nvSpPr>
          <p:cNvPr id="360" name="Shape 358"/>
          <p:cNvSpPr/>
          <p:nvPr/>
        </p:nvSpPr>
        <p:spPr>
          <a:xfrm>
            <a:off x="1280160" y="5413248"/>
            <a:ext cx="105156" cy="105156"/>
          </a:xfrm>
          <a:prstGeom prst="rect">
            <a:avLst/>
          </a:prstGeom>
          <a:solidFill>
            <a:srgbClr val="17436B"/>
          </a:solidFill>
          <a:ln w="12700">
            <a:solidFill>
              <a:srgbClr val="17436B"/>
            </a:solidFill>
            <a:prstDash val="solid"/>
          </a:ln>
        </p:spPr>
      </p:sp>
      <p:sp>
        <p:nvSpPr>
          <p:cNvPr id="361" name="Shape 359"/>
          <p:cNvSpPr/>
          <p:nvPr/>
        </p:nvSpPr>
        <p:spPr>
          <a:xfrm>
            <a:off x="1426464" y="5413248"/>
            <a:ext cx="105156" cy="105156"/>
          </a:xfrm>
          <a:prstGeom prst="rect">
            <a:avLst/>
          </a:prstGeom>
          <a:solidFill>
            <a:srgbClr val="17436B"/>
          </a:solidFill>
          <a:ln w="12700">
            <a:solidFill>
              <a:srgbClr val="17436B"/>
            </a:solidFill>
            <a:prstDash val="solid"/>
          </a:ln>
        </p:spPr>
      </p:sp>
      <p:sp>
        <p:nvSpPr>
          <p:cNvPr id="362" name="Shape 360"/>
          <p:cNvSpPr/>
          <p:nvPr/>
        </p:nvSpPr>
        <p:spPr>
          <a:xfrm>
            <a:off x="1572768" y="5413248"/>
            <a:ext cx="105156" cy="105156"/>
          </a:xfrm>
          <a:prstGeom prst="rect">
            <a:avLst/>
          </a:prstGeom>
          <a:solidFill>
            <a:srgbClr val="17436B"/>
          </a:solidFill>
          <a:ln w="12700">
            <a:solidFill>
              <a:srgbClr val="17436B"/>
            </a:solidFill>
            <a:prstDash val="solid"/>
          </a:ln>
        </p:spPr>
      </p:sp>
      <p:sp>
        <p:nvSpPr>
          <p:cNvPr id="363" name="Shape 361"/>
          <p:cNvSpPr/>
          <p:nvPr/>
        </p:nvSpPr>
        <p:spPr>
          <a:xfrm>
            <a:off x="1719072" y="5413248"/>
            <a:ext cx="105156" cy="105156"/>
          </a:xfrm>
          <a:prstGeom prst="rect">
            <a:avLst/>
          </a:prstGeom>
          <a:solidFill>
            <a:srgbClr val="17436B"/>
          </a:solidFill>
          <a:ln w="12700">
            <a:solidFill>
              <a:srgbClr val="17436B"/>
            </a:solidFill>
            <a:prstDash val="solid"/>
          </a:ln>
        </p:spPr>
      </p:sp>
      <p:sp>
        <p:nvSpPr>
          <p:cNvPr id="364" name="Shape 362"/>
          <p:cNvSpPr/>
          <p:nvPr/>
        </p:nvSpPr>
        <p:spPr>
          <a:xfrm>
            <a:off x="1865376" y="5413248"/>
            <a:ext cx="105156" cy="105156"/>
          </a:xfrm>
          <a:prstGeom prst="rect">
            <a:avLst/>
          </a:prstGeom>
          <a:solidFill>
            <a:srgbClr val="17436B"/>
          </a:solidFill>
          <a:ln w="12700">
            <a:solidFill>
              <a:srgbClr val="17436B"/>
            </a:solidFill>
            <a:prstDash val="solid"/>
          </a:ln>
        </p:spPr>
      </p:sp>
      <p:sp>
        <p:nvSpPr>
          <p:cNvPr id="365" name="Shape 363"/>
          <p:cNvSpPr/>
          <p:nvPr/>
        </p:nvSpPr>
        <p:spPr>
          <a:xfrm>
            <a:off x="2011680" y="5413248"/>
            <a:ext cx="105156" cy="105156"/>
          </a:xfrm>
          <a:prstGeom prst="rect">
            <a:avLst/>
          </a:prstGeom>
          <a:solidFill>
            <a:srgbClr val="17436B"/>
          </a:solidFill>
          <a:ln w="12700">
            <a:solidFill>
              <a:srgbClr val="17436B"/>
            </a:solidFill>
            <a:prstDash val="solid"/>
          </a:ln>
        </p:spPr>
      </p:sp>
      <p:sp>
        <p:nvSpPr>
          <p:cNvPr id="366" name="Shape 364"/>
          <p:cNvSpPr/>
          <p:nvPr/>
        </p:nvSpPr>
        <p:spPr>
          <a:xfrm>
            <a:off x="2157984" y="5413248"/>
            <a:ext cx="105156" cy="105156"/>
          </a:xfrm>
          <a:prstGeom prst="rect">
            <a:avLst/>
          </a:prstGeom>
          <a:solidFill>
            <a:srgbClr val="17436B"/>
          </a:solidFill>
          <a:ln w="12700">
            <a:solidFill>
              <a:srgbClr val="17436B"/>
            </a:solidFill>
            <a:prstDash val="solid"/>
          </a:ln>
        </p:spPr>
      </p:sp>
      <p:sp>
        <p:nvSpPr>
          <p:cNvPr id="367" name="Shape 365"/>
          <p:cNvSpPr/>
          <p:nvPr/>
        </p:nvSpPr>
        <p:spPr>
          <a:xfrm>
            <a:off x="2304288" y="5413248"/>
            <a:ext cx="105156" cy="105156"/>
          </a:xfrm>
          <a:prstGeom prst="rect">
            <a:avLst/>
          </a:prstGeom>
          <a:solidFill>
            <a:srgbClr val="17436B"/>
          </a:solidFill>
          <a:ln w="12700">
            <a:solidFill>
              <a:srgbClr val="17436B"/>
            </a:solidFill>
            <a:prstDash val="solid"/>
          </a:ln>
        </p:spPr>
      </p:sp>
      <p:sp>
        <p:nvSpPr>
          <p:cNvPr id="368" name="Shape 366"/>
          <p:cNvSpPr/>
          <p:nvPr/>
        </p:nvSpPr>
        <p:spPr>
          <a:xfrm>
            <a:off x="2450592" y="5413248"/>
            <a:ext cx="105156" cy="105156"/>
          </a:xfrm>
          <a:prstGeom prst="rect">
            <a:avLst/>
          </a:prstGeom>
          <a:solidFill>
            <a:srgbClr val="17436B"/>
          </a:solidFill>
          <a:ln w="12700">
            <a:solidFill>
              <a:srgbClr val="17436B"/>
            </a:solidFill>
            <a:prstDash val="solid"/>
          </a:ln>
        </p:spPr>
      </p:sp>
      <p:sp>
        <p:nvSpPr>
          <p:cNvPr id="369" name="Shape 367"/>
          <p:cNvSpPr/>
          <p:nvPr/>
        </p:nvSpPr>
        <p:spPr>
          <a:xfrm>
            <a:off x="2596896" y="5413248"/>
            <a:ext cx="105156" cy="105156"/>
          </a:xfrm>
          <a:prstGeom prst="rect">
            <a:avLst/>
          </a:prstGeom>
          <a:solidFill>
            <a:srgbClr val="17436B"/>
          </a:solidFill>
          <a:ln w="12700">
            <a:solidFill>
              <a:srgbClr val="17436B"/>
            </a:solidFill>
            <a:prstDash val="solid"/>
          </a:ln>
        </p:spPr>
      </p:sp>
      <p:sp>
        <p:nvSpPr>
          <p:cNvPr id="370" name="Shape 368"/>
          <p:cNvSpPr/>
          <p:nvPr/>
        </p:nvSpPr>
        <p:spPr>
          <a:xfrm>
            <a:off x="2743200" y="5413248"/>
            <a:ext cx="105156" cy="105156"/>
          </a:xfrm>
          <a:prstGeom prst="rect">
            <a:avLst/>
          </a:prstGeom>
          <a:solidFill>
            <a:srgbClr val="17436B"/>
          </a:solidFill>
          <a:ln w="12700">
            <a:solidFill>
              <a:srgbClr val="17436B"/>
            </a:solidFill>
            <a:prstDash val="solid"/>
          </a:ln>
        </p:spPr>
      </p:sp>
      <p:sp>
        <p:nvSpPr>
          <p:cNvPr id="371" name="Shape 369"/>
          <p:cNvSpPr/>
          <p:nvPr/>
        </p:nvSpPr>
        <p:spPr>
          <a:xfrm>
            <a:off x="2889504" y="5413248"/>
            <a:ext cx="105156" cy="105156"/>
          </a:xfrm>
          <a:prstGeom prst="rect">
            <a:avLst/>
          </a:prstGeom>
          <a:solidFill>
            <a:srgbClr val="17436B"/>
          </a:solidFill>
          <a:ln w="12700">
            <a:solidFill>
              <a:srgbClr val="17436B"/>
            </a:solidFill>
            <a:prstDash val="solid"/>
          </a:ln>
        </p:spPr>
      </p:sp>
      <p:sp>
        <p:nvSpPr>
          <p:cNvPr id="372" name="Shape 370"/>
          <p:cNvSpPr/>
          <p:nvPr/>
        </p:nvSpPr>
        <p:spPr>
          <a:xfrm>
            <a:off x="3035808" y="5413248"/>
            <a:ext cx="105156" cy="105156"/>
          </a:xfrm>
          <a:prstGeom prst="rect">
            <a:avLst/>
          </a:prstGeom>
          <a:solidFill>
            <a:srgbClr val="17436B"/>
          </a:solidFill>
          <a:ln w="12700">
            <a:solidFill>
              <a:srgbClr val="17436B"/>
            </a:solidFill>
            <a:prstDash val="solid"/>
          </a:ln>
        </p:spPr>
      </p:sp>
      <p:sp>
        <p:nvSpPr>
          <p:cNvPr id="373" name="Shape 371"/>
          <p:cNvSpPr/>
          <p:nvPr/>
        </p:nvSpPr>
        <p:spPr>
          <a:xfrm>
            <a:off x="3182112" y="5413248"/>
            <a:ext cx="105156" cy="105156"/>
          </a:xfrm>
          <a:prstGeom prst="rect">
            <a:avLst/>
          </a:prstGeom>
          <a:solidFill>
            <a:srgbClr val="17436B"/>
          </a:solidFill>
          <a:ln w="12700">
            <a:solidFill>
              <a:srgbClr val="17436B"/>
            </a:solidFill>
            <a:prstDash val="solid"/>
          </a:ln>
        </p:spPr>
      </p:sp>
      <p:sp>
        <p:nvSpPr>
          <p:cNvPr id="374" name="Shape 372"/>
          <p:cNvSpPr/>
          <p:nvPr/>
        </p:nvSpPr>
        <p:spPr>
          <a:xfrm>
            <a:off x="3328416" y="5413248"/>
            <a:ext cx="105156" cy="105156"/>
          </a:xfrm>
          <a:prstGeom prst="rect">
            <a:avLst/>
          </a:prstGeom>
          <a:solidFill>
            <a:srgbClr val="17436B"/>
          </a:solidFill>
          <a:ln w="12700">
            <a:solidFill>
              <a:srgbClr val="17436B"/>
            </a:solidFill>
            <a:prstDash val="solid"/>
          </a:ln>
        </p:spPr>
      </p:sp>
      <p:sp>
        <p:nvSpPr>
          <p:cNvPr id="375" name="Shape 373"/>
          <p:cNvSpPr/>
          <p:nvPr/>
        </p:nvSpPr>
        <p:spPr>
          <a:xfrm>
            <a:off x="3474720" y="5413248"/>
            <a:ext cx="105156" cy="105156"/>
          </a:xfrm>
          <a:prstGeom prst="rect">
            <a:avLst/>
          </a:prstGeom>
          <a:solidFill>
            <a:srgbClr val="17436B"/>
          </a:solidFill>
          <a:ln w="12700">
            <a:solidFill>
              <a:srgbClr val="17436B"/>
            </a:solidFill>
            <a:prstDash val="solid"/>
          </a:ln>
        </p:spPr>
      </p:sp>
      <p:sp>
        <p:nvSpPr>
          <p:cNvPr id="376" name="Shape 374"/>
          <p:cNvSpPr/>
          <p:nvPr/>
        </p:nvSpPr>
        <p:spPr>
          <a:xfrm>
            <a:off x="3621024" y="5413248"/>
            <a:ext cx="105156" cy="105156"/>
          </a:xfrm>
          <a:prstGeom prst="rect">
            <a:avLst/>
          </a:prstGeom>
          <a:solidFill>
            <a:srgbClr val="17436B"/>
          </a:solidFill>
          <a:ln w="12700">
            <a:solidFill>
              <a:srgbClr val="17436B"/>
            </a:solidFill>
            <a:prstDash val="solid"/>
          </a:ln>
        </p:spPr>
      </p:sp>
      <p:sp>
        <p:nvSpPr>
          <p:cNvPr id="377" name="Shape 375"/>
          <p:cNvSpPr/>
          <p:nvPr/>
        </p:nvSpPr>
        <p:spPr>
          <a:xfrm>
            <a:off x="3767328" y="5413248"/>
            <a:ext cx="105156" cy="105156"/>
          </a:xfrm>
          <a:prstGeom prst="rect">
            <a:avLst/>
          </a:prstGeom>
          <a:solidFill>
            <a:srgbClr val="17436B"/>
          </a:solidFill>
          <a:ln w="12700">
            <a:solidFill>
              <a:srgbClr val="17436B"/>
            </a:solidFill>
            <a:prstDash val="solid"/>
          </a:ln>
        </p:spPr>
      </p:sp>
      <p:sp>
        <p:nvSpPr>
          <p:cNvPr id="378" name="Shape 376"/>
          <p:cNvSpPr/>
          <p:nvPr/>
        </p:nvSpPr>
        <p:spPr>
          <a:xfrm>
            <a:off x="3913632" y="5413248"/>
            <a:ext cx="105156" cy="105156"/>
          </a:xfrm>
          <a:prstGeom prst="rect">
            <a:avLst/>
          </a:prstGeom>
          <a:solidFill>
            <a:srgbClr val="17436B"/>
          </a:solidFill>
          <a:ln w="12700">
            <a:solidFill>
              <a:srgbClr val="17436B"/>
            </a:solidFill>
            <a:prstDash val="solid"/>
          </a:ln>
        </p:spPr>
      </p:sp>
      <p:sp>
        <p:nvSpPr>
          <p:cNvPr id="379" name="Shape 377"/>
          <p:cNvSpPr/>
          <p:nvPr/>
        </p:nvSpPr>
        <p:spPr>
          <a:xfrm>
            <a:off x="4059936" y="5413248"/>
            <a:ext cx="105156" cy="105156"/>
          </a:xfrm>
          <a:prstGeom prst="rect">
            <a:avLst/>
          </a:prstGeom>
          <a:solidFill>
            <a:srgbClr val="17436B"/>
          </a:solidFill>
          <a:ln w="12700">
            <a:solidFill>
              <a:srgbClr val="17436B"/>
            </a:solidFill>
            <a:prstDash val="solid"/>
          </a:ln>
        </p:spPr>
      </p:sp>
      <p:sp>
        <p:nvSpPr>
          <p:cNvPr id="380" name="Shape 378"/>
          <p:cNvSpPr/>
          <p:nvPr/>
        </p:nvSpPr>
        <p:spPr>
          <a:xfrm>
            <a:off x="4206240" y="5413248"/>
            <a:ext cx="105156" cy="105156"/>
          </a:xfrm>
          <a:prstGeom prst="rect">
            <a:avLst/>
          </a:prstGeom>
          <a:solidFill>
            <a:srgbClr val="17436B"/>
          </a:solidFill>
          <a:ln w="12700">
            <a:solidFill>
              <a:srgbClr val="17436B"/>
            </a:solidFill>
            <a:prstDash val="solid"/>
          </a:ln>
        </p:spPr>
      </p:sp>
      <p:sp>
        <p:nvSpPr>
          <p:cNvPr id="381" name="Shape 379"/>
          <p:cNvSpPr/>
          <p:nvPr/>
        </p:nvSpPr>
        <p:spPr>
          <a:xfrm>
            <a:off x="4352544" y="5413248"/>
            <a:ext cx="105156" cy="105156"/>
          </a:xfrm>
          <a:prstGeom prst="rect">
            <a:avLst/>
          </a:prstGeom>
          <a:solidFill>
            <a:srgbClr val="17436B"/>
          </a:solidFill>
          <a:ln w="12700">
            <a:solidFill>
              <a:srgbClr val="17436B"/>
            </a:solidFill>
            <a:prstDash val="solid"/>
          </a:ln>
        </p:spPr>
      </p:sp>
      <p:sp>
        <p:nvSpPr>
          <p:cNvPr id="382" name="Shape 380"/>
          <p:cNvSpPr/>
          <p:nvPr/>
        </p:nvSpPr>
        <p:spPr>
          <a:xfrm>
            <a:off x="4498848" y="5413248"/>
            <a:ext cx="105156" cy="105156"/>
          </a:xfrm>
          <a:prstGeom prst="rect">
            <a:avLst/>
          </a:prstGeom>
          <a:solidFill>
            <a:srgbClr val="17436B"/>
          </a:solidFill>
          <a:ln w="12700">
            <a:solidFill>
              <a:srgbClr val="17436B"/>
            </a:solidFill>
            <a:prstDash val="solid"/>
          </a:ln>
        </p:spPr>
      </p:sp>
      <p:sp>
        <p:nvSpPr>
          <p:cNvPr id="383" name="Shape 381"/>
          <p:cNvSpPr/>
          <p:nvPr/>
        </p:nvSpPr>
        <p:spPr>
          <a:xfrm>
            <a:off x="4645152" y="5413248"/>
            <a:ext cx="105156" cy="105156"/>
          </a:xfrm>
          <a:prstGeom prst="rect">
            <a:avLst/>
          </a:prstGeom>
          <a:solidFill>
            <a:srgbClr val="17436B"/>
          </a:solidFill>
          <a:ln w="12700">
            <a:solidFill>
              <a:srgbClr val="17436B"/>
            </a:solidFill>
            <a:prstDash val="solid"/>
          </a:ln>
        </p:spPr>
      </p:sp>
      <p:sp>
        <p:nvSpPr>
          <p:cNvPr id="384" name="Shape 382"/>
          <p:cNvSpPr/>
          <p:nvPr/>
        </p:nvSpPr>
        <p:spPr>
          <a:xfrm>
            <a:off x="548640" y="5559552"/>
            <a:ext cx="105156" cy="105156"/>
          </a:xfrm>
          <a:prstGeom prst="rect">
            <a:avLst/>
          </a:prstGeom>
          <a:solidFill>
            <a:srgbClr val="17436B"/>
          </a:solidFill>
          <a:ln w="12700">
            <a:solidFill>
              <a:srgbClr val="17436B"/>
            </a:solidFill>
            <a:prstDash val="solid"/>
          </a:ln>
        </p:spPr>
      </p:sp>
      <p:sp>
        <p:nvSpPr>
          <p:cNvPr id="385" name="Shape 383"/>
          <p:cNvSpPr/>
          <p:nvPr/>
        </p:nvSpPr>
        <p:spPr>
          <a:xfrm>
            <a:off x="694944" y="5559552"/>
            <a:ext cx="105156" cy="105156"/>
          </a:xfrm>
          <a:prstGeom prst="rect">
            <a:avLst/>
          </a:prstGeom>
          <a:solidFill>
            <a:srgbClr val="17436B"/>
          </a:solidFill>
          <a:ln w="12700">
            <a:solidFill>
              <a:srgbClr val="17436B"/>
            </a:solidFill>
            <a:prstDash val="solid"/>
          </a:ln>
        </p:spPr>
      </p:sp>
      <p:sp>
        <p:nvSpPr>
          <p:cNvPr id="386" name="Shape 384"/>
          <p:cNvSpPr/>
          <p:nvPr/>
        </p:nvSpPr>
        <p:spPr>
          <a:xfrm>
            <a:off x="841248" y="5559552"/>
            <a:ext cx="105156" cy="105156"/>
          </a:xfrm>
          <a:prstGeom prst="rect">
            <a:avLst/>
          </a:prstGeom>
          <a:solidFill>
            <a:srgbClr val="17436B"/>
          </a:solidFill>
          <a:ln w="12700">
            <a:solidFill>
              <a:srgbClr val="17436B"/>
            </a:solidFill>
            <a:prstDash val="solid"/>
          </a:ln>
        </p:spPr>
      </p:sp>
      <p:sp>
        <p:nvSpPr>
          <p:cNvPr id="387" name="Shape 385"/>
          <p:cNvSpPr/>
          <p:nvPr/>
        </p:nvSpPr>
        <p:spPr>
          <a:xfrm>
            <a:off x="987552" y="5559552"/>
            <a:ext cx="105156" cy="105156"/>
          </a:xfrm>
          <a:prstGeom prst="rect">
            <a:avLst/>
          </a:prstGeom>
          <a:solidFill>
            <a:srgbClr val="17436B"/>
          </a:solidFill>
          <a:ln w="12700">
            <a:solidFill>
              <a:srgbClr val="17436B"/>
            </a:solidFill>
            <a:prstDash val="solid"/>
          </a:ln>
        </p:spPr>
      </p:sp>
      <p:sp>
        <p:nvSpPr>
          <p:cNvPr id="388" name="Shape 386"/>
          <p:cNvSpPr/>
          <p:nvPr/>
        </p:nvSpPr>
        <p:spPr>
          <a:xfrm>
            <a:off x="1133856" y="5559552"/>
            <a:ext cx="105156" cy="105156"/>
          </a:xfrm>
          <a:prstGeom prst="rect">
            <a:avLst/>
          </a:prstGeom>
          <a:solidFill>
            <a:srgbClr val="17436B"/>
          </a:solidFill>
          <a:ln w="12700">
            <a:solidFill>
              <a:srgbClr val="17436B"/>
            </a:solidFill>
            <a:prstDash val="solid"/>
          </a:ln>
        </p:spPr>
      </p:sp>
      <p:sp>
        <p:nvSpPr>
          <p:cNvPr id="389" name="Shape 387"/>
          <p:cNvSpPr/>
          <p:nvPr/>
        </p:nvSpPr>
        <p:spPr>
          <a:xfrm>
            <a:off x="1280160" y="5559552"/>
            <a:ext cx="105156" cy="105156"/>
          </a:xfrm>
          <a:prstGeom prst="rect">
            <a:avLst/>
          </a:prstGeom>
          <a:solidFill>
            <a:srgbClr val="17436B"/>
          </a:solidFill>
          <a:ln w="12700">
            <a:solidFill>
              <a:srgbClr val="17436B"/>
            </a:solidFill>
            <a:prstDash val="solid"/>
          </a:ln>
        </p:spPr>
      </p:sp>
      <p:sp>
        <p:nvSpPr>
          <p:cNvPr id="390" name="Shape 388"/>
          <p:cNvSpPr/>
          <p:nvPr/>
        </p:nvSpPr>
        <p:spPr>
          <a:xfrm>
            <a:off x="1426464" y="5559552"/>
            <a:ext cx="105156" cy="105156"/>
          </a:xfrm>
          <a:prstGeom prst="rect">
            <a:avLst/>
          </a:prstGeom>
          <a:solidFill>
            <a:srgbClr val="17436B"/>
          </a:solidFill>
          <a:ln w="12700">
            <a:solidFill>
              <a:srgbClr val="17436B"/>
            </a:solidFill>
            <a:prstDash val="solid"/>
          </a:ln>
        </p:spPr>
      </p:sp>
      <p:sp>
        <p:nvSpPr>
          <p:cNvPr id="391" name="Shape 389"/>
          <p:cNvSpPr/>
          <p:nvPr/>
        </p:nvSpPr>
        <p:spPr>
          <a:xfrm>
            <a:off x="1572768" y="5559552"/>
            <a:ext cx="105156" cy="105156"/>
          </a:xfrm>
          <a:prstGeom prst="rect">
            <a:avLst/>
          </a:prstGeom>
          <a:solidFill>
            <a:srgbClr val="17436B"/>
          </a:solidFill>
          <a:ln w="12700">
            <a:solidFill>
              <a:srgbClr val="17436B"/>
            </a:solidFill>
            <a:prstDash val="solid"/>
          </a:ln>
        </p:spPr>
      </p:sp>
      <p:sp>
        <p:nvSpPr>
          <p:cNvPr id="392" name="Shape 390"/>
          <p:cNvSpPr/>
          <p:nvPr/>
        </p:nvSpPr>
        <p:spPr>
          <a:xfrm>
            <a:off x="1719072" y="5559552"/>
            <a:ext cx="105156" cy="105156"/>
          </a:xfrm>
          <a:prstGeom prst="rect">
            <a:avLst/>
          </a:prstGeom>
          <a:solidFill>
            <a:srgbClr val="17436B"/>
          </a:solidFill>
          <a:ln w="12700">
            <a:solidFill>
              <a:srgbClr val="17436B"/>
            </a:solidFill>
            <a:prstDash val="solid"/>
          </a:ln>
        </p:spPr>
      </p:sp>
      <p:sp>
        <p:nvSpPr>
          <p:cNvPr id="393" name="Shape 391"/>
          <p:cNvSpPr/>
          <p:nvPr/>
        </p:nvSpPr>
        <p:spPr>
          <a:xfrm>
            <a:off x="1865376" y="5559552"/>
            <a:ext cx="105156" cy="105156"/>
          </a:xfrm>
          <a:prstGeom prst="rect">
            <a:avLst/>
          </a:prstGeom>
          <a:solidFill>
            <a:srgbClr val="17436B"/>
          </a:solidFill>
          <a:ln w="12700">
            <a:solidFill>
              <a:srgbClr val="17436B"/>
            </a:solidFill>
            <a:prstDash val="solid"/>
          </a:ln>
        </p:spPr>
      </p:sp>
      <p:sp>
        <p:nvSpPr>
          <p:cNvPr id="394" name="Shape 392"/>
          <p:cNvSpPr/>
          <p:nvPr/>
        </p:nvSpPr>
        <p:spPr>
          <a:xfrm>
            <a:off x="2011680" y="5559552"/>
            <a:ext cx="105156" cy="105156"/>
          </a:xfrm>
          <a:prstGeom prst="rect">
            <a:avLst/>
          </a:prstGeom>
          <a:solidFill>
            <a:srgbClr val="17436B"/>
          </a:solidFill>
          <a:ln w="12700">
            <a:solidFill>
              <a:srgbClr val="17436B"/>
            </a:solidFill>
            <a:prstDash val="solid"/>
          </a:ln>
        </p:spPr>
      </p:sp>
      <p:sp>
        <p:nvSpPr>
          <p:cNvPr id="395" name="Shape 393"/>
          <p:cNvSpPr/>
          <p:nvPr/>
        </p:nvSpPr>
        <p:spPr>
          <a:xfrm>
            <a:off x="2157984" y="5559552"/>
            <a:ext cx="105156" cy="105156"/>
          </a:xfrm>
          <a:prstGeom prst="rect">
            <a:avLst/>
          </a:prstGeom>
          <a:solidFill>
            <a:srgbClr val="17436B"/>
          </a:solidFill>
          <a:ln w="12700">
            <a:solidFill>
              <a:srgbClr val="17436B"/>
            </a:solidFill>
            <a:prstDash val="solid"/>
          </a:ln>
        </p:spPr>
      </p:sp>
      <p:sp>
        <p:nvSpPr>
          <p:cNvPr id="396" name="Shape 394"/>
          <p:cNvSpPr/>
          <p:nvPr/>
        </p:nvSpPr>
        <p:spPr>
          <a:xfrm>
            <a:off x="2304288" y="5559552"/>
            <a:ext cx="105156" cy="105156"/>
          </a:xfrm>
          <a:prstGeom prst="rect">
            <a:avLst/>
          </a:prstGeom>
          <a:solidFill>
            <a:srgbClr val="17436B"/>
          </a:solidFill>
          <a:ln w="12700">
            <a:solidFill>
              <a:srgbClr val="17436B"/>
            </a:solidFill>
            <a:prstDash val="solid"/>
          </a:ln>
        </p:spPr>
      </p:sp>
      <p:sp>
        <p:nvSpPr>
          <p:cNvPr id="397" name="Shape 395"/>
          <p:cNvSpPr/>
          <p:nvPr/>
        </p:nvSpPr>
        <p:spPr>
          <a:xfrm>
            <a:off x="2450592" y="5559552"/>
            <a:ext cx="105156" cy="105156"/>
          </a:xfrm>
          <a:prstGeom prst="rect">
            <a:avLst/>
          </a:prstGeom>
          <a:solidFill>
            <a:srgbClr val="17436B"/>
          </a:solidFill>
          <a:ln w="12700">
            <a:solidFill>
              <a:srgbClr val="17436B"/>
            </a:solidFill>
            <a:prstDash val="solid"/>
          </a:ln>
        </p:spPr>
      </p:sp>
      <p:sp>
        <p:nvSpPr>
          <p:cNvPr id="398" name="Shape 396"/>
          <p:cNvSpPr/>
          <p:nvPr/>
        </p:nvSpPr>
        <p:spPr>
          <a:xfrm>
            <a:off x="2596896" y="5559552"/>
            <a:ext cx="105156" cy="105156"/>
          </a:xfrm>
          <a:prstGeom prst="rect">
            <a:avLst/>
          </a:prstGeom>
          <a:solidFill>
            <a:srgbClr val="17436B"/>
          </a:solidFill>
          <a:ln w="12700">
            <a:solidFill>
              <a:srgbClr val="17436B"/>
            </a:solidFill>
            <a:prstDash val="solid"/>
          </a:ln>
        </p:spPr>
      </p:sp>
      <p:sp>
        <p:nvSpPr>
          <p:cNvPr id="399" name="Shape 397"/>
          <p:cNvSpPr/>
          <p:nvPr/>
        </p:nvSpPr>
        <p:spPr>
          <a:xfrm>
            <a:off x="2743200" y="5559552"/>
            <a:ext cx="105156" cy="105156"/>
          </a:xfrm>
          <a:prstGeom prst="rect">
            <a:avLst/>
          </a:prstGeom>
          <a:solidFill>
            <a:srgbClr val="17436B"/>
          </a:solidFill>
          <a:ln w="12700">
            <a:solidFill>
              <a:srgbClr val="17436B"/>
            </a:solidFill>
            <a:prstDash val="solid"/>
          </a:ln>
        </p:spPr>
      </p:sp>
      <p:sp>
        <p:nvSpPr>
          <p:cNvPr id="400" name="Shape 398"/>
          <p:cNvSpPr/>
          <p:nvPr/>
        </p:nvSpPr>
        <p:spPr>
          <a:xfrm>
            <a:off x="2889504" y="5559552"/>
            <a:ext cx="105156" cy="105156"/>
          </a:xfrm>
          <a:prstGeom prst="rect">
            <a:avLst/>
          </a:prstGeom>
          <a:solidFill>
            <a:srgbClr val="17436B"/>
          </a:solidFill>
          <a:ln w="12700">
            <a:solidFill>
              <a:srgbClr val="17436B"/>
            </a:solidFill>
            <a:prstDash val="solid"/>
          </a:ln>
        </p:spPr>
      </p:sp>
      <p:sp>
        <p:nvSpPr>
          <p:cNvPr id="401" name="Shape 399"/>
          <p:cNvSpPr/>
          <p:nvPr/>
        </p:nvSpPr>
        <p:spPr>
          <a:xfrm>
            <a:off x="3035808" y="5559552"/>
            <a:ext cx="105156" cy="105156"/>
          </a:xfrm>
          <a:prstGeom prst="rect">
            <a:avLst/>
          </a:prstGeom>
          <a:solidFill>
            <a:srgbClr val="17436B"/>
          </a:solidFill>
          <a:ln w="12700">
            <a:solidFill>
              <a:srgbClr val="17436B"/>
            </a:solidFill>
            <a:prstDash val="solid"/>
          </a:ln>
        </p:spPr>
      </p:sp>
      <p:sp>
        <p:nvSpPr>
          <p:cNvPr id="402" name="Shape 400"/>
          <p:cNvSpPr/>
          <p:nvPr/>
        </p:nvSpPr>
        <p:spPr>
          <a:xfrm>
            <a:off x="3182112" y="5559552"/>
            <a:ext cx="105156" cy="105156"/>
          </a:xfrm>
          <a:prstGeom prst="rect">
            <a:avLst/>
          </a:prstGeom>
          <a:solidFill>
            <a:srgbClr val="17436B"/>
          </a:solidFill>
          <a:ln w="12700">
            <a:solidFill>
              <a:srgbClr val="17436B"/>
            </a:solidFill>
            <a:prstDash val="solid"/>
          </a:ln>
        </p:spPr>
      </p:sp>
      <p:sp>
        <p:nvSpPr>
          <p:cNvPr id="403" name="Shape 401"/>
          <p:cNvSpPr/>
          <p:nvPr/>
        </p:nvSpPr>
        <p:spPr>
          <a:xfrm>
            <a:off x="3328416" y="5559552"/>
            <a:ext cx="105156" cy="105156"/>
          </a:xfrm>
          <a:prstGeom prst="rect">
            <a:avLst/>
          </a:prstGeom>
          <a:solidFill>
            <a:srgbClr val="17436B"/>
          </a:solidFill>
          <a:ln w="12700">
            <a:solidFill>
              <a:srgbClr val="17436B"/>
            </a:solidFill>
            <a:prstDash val="solid"/>
          </a:ln>
        </p:spPr>
      </p:sp>
      <p:sp>
        <p:nvSpPr>
          <p:cNvPr id="404" name="Shape 402"/>
          <p:cNvSpPr/>
          <p:nvPr/>
        </p:nvSpPr>
        <p:spPr>
          <a:xfrm>
            <a:off x="3474720" y="5559552"/>
            <a:ext cx="105156" cy="105156"/>
          </a:xfrm>
          <a:prstGeom prst="rect">
            <a:avLst/>
          </a:prstGeom>
          <a:solidFill>
            <a:srgbClr val="17436B"/>
          </a:solidFill>
          <a:ln w="12700">
            <a:solidFill>
              <a:srgbClr val="17436B"/>
            </a:solidFill>
            <a:prstDash val="solid"/>
          </a:ln>
        </p:spPr>
      </p:sp>
      <p:sp>
        <p:nvSpPr>
          <p:cNvPr id="405" name="Shape 403"/>
          <p:cNvSpPr/>
          <p:nvPr/>
        </p:nvSpPr>
        <p:spPr>
          <a:xfrm>
            <a:off x="3621024" y="5559552"/>
            <a:ext cx="105156" cy="105156"/>
          </a:xfrm>
          <a:prstGeom prst="rect">
            <a:avLst/>
          </a:prstGeom>
          <a:solidFill>
            <a:srgbClr val="17436B"/>
          </a:solidFill>
          <a:ln w="12700">
            <a:solidFill>
              <a:srgbClr val="17436B"/>
            </a:solidFill>
            <a:prstDash val="solid"/>
          </a:ln>
        </p:spPr>
      </p:sp>
      <p:sp>
        <p:nvSpPr>
          <p:cNvPr id="406" name="Shape 404"/>
          <p:cNvSpPr/>
          <p:nvPr/>
        </p:nvSpPr>
        <p:spPr>
          <a:xfrm>
            <a:off x="3767328" y="5559552"/>
            <a:ext cx="105156" cy="105156"/>
          </a:xfrm>
          <a:prstGeom prst="rect">
            <a:avLst/>
          </a:prstGeom>
          <a:solidFill>
            <a:srgbClr val="17436B"/>
          </a:solidFill>
          <a:ln w="12700">
            <a:solidFill>
              <a:srgbClr val="17436B"/>
            </a:solidFill>
            <a:prstDash val="solid"/>
          </a:ln>
        </p:spPr>
      </p:sp>
      <p:sp>
        <p:nvSpPr>
          <p:cNvPr id="407" name="Shape 405"/>
          <p:cNvSpPr/>
          <p:nvPr/>
        </p:nvSpPr>
        <p:spPr>
          <a:xfrm>
            <a:off x="3913632" y="5559552"/>
            <a:ext cx="105156" cy="105156"/>
          </a:xfrm>
          <a:prstGeom prst="rect">
            <a:avLst/>
          </a:prstGeom>
          <a:solidFill>
            <a:srgbClr val="17436B"/>
          </a:solidFill>
          <a:ln w="12700">
            <a:solidFill>
              <a:srgbClr val="17436B"/>
            </a:solidFill>
            <a:prstDash val="solid"/>
          </a:ln>
        </p:spPr>
      </p:sp>
      <p:sp>
        <p:nvSpPr>
          <p:cNvPr id="408" name="Shape 406"/>
          <p:cNvSpPr/>
          <p:nvPr/>
        </p:nvSpPr>
        <p:spPr>
          <a:xfrm>
            <a:off x="4059936" y="5559552"/>
            <a:ext cx="105156" cy="105156"/>
          </a:xfrm>
          <a:prstGeom prst="rect">
            <a:avLst/>
          </a:prstGeom>
          <a:solidFill>
            <a:srgbClr val="17436B"/>
          </a:solidFill>
          <a:ln w="12700">
            <a:solidFill>
              <a:srgbClr val="17436B"/>
            </a:solidFill>
            <a:prstDash val="solid"/>
          </a:ln>
        </p:spPr>
      </p:sp>
      <p:sp>
        <p:nvSpPr>
          <p:cNvPr id="409" name="Shape 407"/>
          <p:cNvSpPr/>
          <p:nvPr/>
        </p:nvSpPr>
        <p:spPr>
          <a:xfrm>
            <a:off x="4206240" y="5559552"/>
            <a:ext cx="105156" cy="105156"/>
          </a:xfrm>
          <a:prstGeom prst="rect">
            <a:avLst/>
          </a:prstGeom>
          <a:solidFill>
            <a:srgbClr val="17436B"/>
          </a:solidFill>
          <a:ln w="12700">
            <a:solidFill>
              <a:srgbClr val="17436B"/>
            </a:solidFill>
            <a:prstDash val="solid"/>
          </a:ln>
        </p:spPr>
      </p:sp>
      <p:sp>
        <p:nvSpPr>
          <p:cNvPr id="410" name="Shape 408"/>
          <p:cNvSpPr/>
          <p:nvPr/>
        </p:nvSpPr>
        <p:spPr>
          <a:xfrm>
            <a:off x="4352544" y="5559552"/>
            <a:ext cx="105156" cy="105156"/>
          </a:xfrm>
          <a:prstGeom prst="rect">
            <a:avLst/>
          </a:prstGeom>
          <a:solidFill>
            <a:srgbClr val="17436B"/>
          </a:solidFill>
          <a:ln w="12700">
            <a:solidFill>
              <a:srgbClr val="17436B"/>
            </a:solidFill>
            <a:prstDash val="solid"/>
          </a:ln>
        </p:spPr>
      </p:sp>
      <p:sp>
        <p:nvSpPr>
          <p:cNvPr id="411" name="Shape 409"/>
          <p:cNvSpPr/>
          <p:nvPr/>
        </p:nvSpPr>
        <p:spPr>
          <a:xfrm>
            <a:off x="4498848" y="5559552"/>
            <a:ext cx="105156" cy="105156"/>
          </a:xfrm>
          <a:prstGeom prst="rect">
            <a:avLst/>
          </a:prstGeom>
          <a:solidFill>
            <a:srgbClr val="17436B"/>
          </a:solidFill>
          <a:ln w="12700">
            <a:solidFill>
              <a:srgbClr val="17436B"/>
            </a:solidFill>
            <a:prstDash val="solid"/>
          </a:ln>
        </p:spPr>
      </p:sp>
      <p:sp>
        <p:nvSpPr>
          <p:cNvPr id="412" name="Shape 410"/>
          <p:cNvSpPr/>
          <p:nvPr/>
        </p:nvSpPr>
        <p:spPr>
          <a:xfrm>
            <a:off x="4645152" y="5559552"/>
            <a:ext cx="105156" cy="105156"/>
          </a:xfrm>
          <a:prstGeom prst="rect">
            <a:avLst/>
          </a:prstGeom>
          <a:solidFill>
            <a:srgbClr val="17436B"/>
          </a:solidFill>
          <a:ln w="12700">
            <a:solidFill>
              <a:srgbClr val="17436B"/>
            </a:solidFill>
            <a:prstDash val="solid"/>
          </a:ln>
        </p:spPr>
      </p:sp>
      <p:sp>
        <p:nvSpPr>
          <p:cNvPr id="413" name="Shape 411"/>
          <p:cNvSpPr/>
          <p:nvPr/>
        </p:nvSpPr>
        <p:spPr>
          <a:xfrm>
            <a:off x="548640" y="5705856"/>
            <a:ext cx="105156" cy="105156"/>
          </a:xfrm>
          <a:prstGeom prst="rect">
            <a:avLst/>
          </a:prstGeom>
          <a:solidFill>
            <a:srgbClr val="17436B"/>
          </a:solidFill>
          <a:ln w="12700">
            <a:solidFill>
              <a:srgbClr val="17436B"/>
            </a:solidFill>
            <a:prstDash val="solid"/>
          </a:ln>
        </p:spPr>
      </p:sp>
      <p:sp>
        <p:nvSpPr>
          <p:cNvPr id="414" name="Shape 412"/>
          <p:cNvSpPr/>
          <p:nvPr/>
        </p:nvSpPr>
        <p:spPr>
          <a:xfrm>
            <a:off x="694944" y="5705856"/>
            <a:ext cx="105156" cy="105156"/>
          </a:xfrm>
          <a:prstGeom prst="rect">
            <a:avLst/>
          </a:prstGeom>
          <a:solidFill>
            <a:srgbClr val="17436B"/>
          </a:solidFill>
          <a:ln w="12700">
            <a:solidFill>
              <a:srgbClr val="17436B"/>
            </a:solidFill>
            <a:prstDash val="solid"/>
          </a:ln>
        </p:spPr>
      </p:sp>
      <p:sp>
        <p:nvSpPr>
          <p:cNvPr id="415" name="Shape 413"/>
          <p:cNvSpPr/>
          <p:nvPr/>
        </p:nvSpPr>
        <p:spPr>
          <a:xfrm>
            <a:off x="841248" y="5705856"/>
            <a:ext cx="105156" cy="105156"/>
          </a:xfrm>
          <a:prstGeom prst="rect">
            <a:avLst/>
          </a:prstGeom>
          <a:solidFill>
            <a:srgbClr val="17436B"/>
          </a:solidFill>
          <a:ln w="12700">
            <a:solidFill>
              <a:srgbClr val="17436B"/>
            </a:solidFill>
            <a:prstDash val="solid"/>
          </a:ln>
        </p:spPr>
      </p:sp>
      <p:sp>
        <p:nvSpPr>
          <p:cNvPr id="416" name="Shape 414"/>
          <p:cNvSpPr/>
          <p:nvPr/>
        </p:nvSpPr>
        <p:spPr>
          <a:xfrm>
            <a:off x="987552" y="5705856"/>
            <a:ext cx="105156" cy="105156"/>
          </a:xfrm>
          <a:prstGeom prst="rect">
            <a:avLst/>
          </a:prstGeom>
          <a:solidFill>
            <a:srgbClr val="17436B"/>
          </a:solidFill>
          <a:ln w="12700">
            <a:solidFill>
              <a:srgbClr val="17436B"/>
            </a:solidFill>
            <a:prstDash val="solid"/>
          </a:ln>
        </p:spPr>
      </p:sp>
      <p:sp>
        <p:nvSpPr>
          <p:cNvPr id="417" name="Shape 415"/>
          <p:cNvSpPr/>
          <p:nvPr/>
        </p:nvSpPr>
        <p:spPr>
          <a:xfrm>
            <a:off x="1133856" y="5705856"/>
            <a:ext cx="105156" cy="105156"/>
          </a:xfrm>
          <a:prstGeom prst="rect">
            <a:avLst/>
          </a:prstGeom>
          <a:solidFill>
            <a:srgbClr val="17436B"/>
          </a:solidFill>
          <a:ln w="12700">
            <a:solidFill>
              <a:srgbClr val="17436B"/>
            </a:solidFill>
            <a:prstDash val="solid"/>
          </a:ln>
        </p:spPr>
      </p:sp>
      <p:sp>
        <p:nvSpPr>
          <p:cNvPr id="418" name="Shape 416"/>
          <p:cNvSpPr/>
          <p:nvPr/>
        </p:nvSpPr>
        <p:spPr>
          <a:xfrm>
            <a:off x="1280160" y="5705856"/>
            <a:ext cx="105156" cy="105156"/>
          </a:xfrm>
          <a:prstGeom prst="rect">
            <a:avLst/>
          </a:prstGeom>
          <a:solidFill>
            <a:srgbClr val="17436B"/>
          </a:solidFill>
          <a:ln w="12700">
            <a:solidFill>
              <a:srgbClr val="17436B"/>
            </a:solidFill>
            <a:prstDash val="solid"/>
          </a:ln>
        </p:spPr>
      </p:sp>
      <p:sp>
        <p:nvSpPr>
          <p:cNvPr id="419" name="Shape 417"/>
          <p:cNvSpPr/>
          <p:nvPr/>
        </p:nvSpPr>
        <p:spPr>
          <a:xfrm>
            <a:off x="1426464" y="5705856"/>
            <a:ext cx="105156" cy="105156"/>
          </a:xfrm>
          <a:prstGeom prst="rect">
            <a:avLst/>
          </a:prstGeom>
          <a:solidFill>
            <a:srgbClr val="17436B"/>
          </a:solidFill>
          <a:ln w="12700">
            <a:solidFill>
              <a:srgbClr val="17436B"/>
            </a:solidFill>
            <a:prstDash val="solid"/>
          </a:ln>
        </p:spPr>
      </p:sp>
      <p:sp>
        <p:nvSpPr>
          <p:cNvPr id="420" name="Shape 418"/>
          <p:cNvSpPr/>
          <p:nvPr/>
        </p:nvSpPr>
        <p:spPr>
          <a:xfrm>
            <a:off x="1572768" y="5705856"/>
            <a:ext cx="105156" cy="105156"/>
          </a:xfrm>
          <a:prstGeom prst="rect">
            <a:avLst/>
          </a:prstGeom>
          <a:solidFill>
            <a:srgbClr val="17436B"/>
          </a:solidFill>
          <a:ln w="12700">
            <a:solidFill>
              <a:srgbClr val="17436B"/>
            </a:solidFill>
            <a:prstDash val="solid"/>
          </a:ln>
        </p:spPr>
      </p:sp>
      <p:sp>
        <p:nvSpPr>
          <p:cNvPr id="421" name="Shape 419"/>
          <p:cNvSpPr/>
          <p:nvPr/>
        </p:nvSpPr>
        <p:spPr>
          <a:xfrm>
            <a:off x="1719072" y="5705856"/>
            <a:ext cx="105156" cy="105156"/>
          </a:xfrm>
          <a:prstGeom prst="rect">
            <a:avLst/>
          </a:prstGeom>
          <a:solidFill>
            <a:srgbClr val="17436B"/>
          </a:solidFill>
          <a:ln w="12700">
            <a:solidFill>
              <a:srgbClr val="17436B"/>
            </a:solidFill>
            <a:prstDash val="solid"/>
          </a:ln>
        </p:spPr>
      </p:sp>
      <p:sp>
        <p:nvSpPr>
          <p:cNvPr id="422" name="Shape 420"/>
          <p:cNvSpPr/>
          <p:nvPr/>
        </p:nvSpPr>
        <p:spPr>
          <a:xfrm>
            <a:off x="1865376" y="5705856"/>
            <a:ext cx="105156" cy="105156"/>
          </a:xfrm>
          <a:prstGeom prst="rect">
            <a:avLst/>
          </a:prstGeom>
          <a:solidFill>
            <a:srgbClr val="17436B"/>
          </a:solidFill>
          <a:ln w="12700">
            <a:solidFill>
              <a:srgbClr val="17436B"/>
            </a:solidFill>
            <a:prstDash val="solid"/>
          </a:ln>
        </p:spPr>
      </p:sp>
      <p:sp>
        <p:nvSpPr>
          <p:cNvPr id="423" name="Shape 421"/>
          <p:cNvSpPr/>
          <p:nvPr/>
        </p:nvSpPr>
        <p:spPr>
          <a:xfrm>
            <a:off x="2011680" y="5705856"/>
            <a:ext cx="105156" cy="105156"/>
          </a:xfrm>
          <a:prstGeom prst="rect">
            <a:avLst/>
          </a:prstGeom>
          <a:solidFill>
            <a:srgbClr val="17436B"/>
          </a:solidFill>
          <a:ln w="12700">
            <a:solidFill>
              <a:srgbClr val="17436B"/>
            </a:solidFill>
            <a:prstDash val="solid"/>
          </a:ln>
        </p:spPr>
      </p:sp>
      <p:sp>
        <p:nvSpPr>
          <p:cNvPr id="424" name="Shape 422"/>
          <p:cNvSpPr/>
          <p:nvPr/>
        </p:nvSpPr>
        <p:spPr>
          <a:xfrm>
            <a:off x="2157984" y="5705856"/>
            <a:ext cx="105156" cy="105156"/>
          </a:xfrm>
          <a:prstGeom prst="rect">
            <a:avLst/>
          </a:prstGeom>
          <a:solidFill>
            <a:srgbClr val="17436B"/>
          </a:solidFill>
          <a:ln w="12700">
            <a:solidFill>
              <a:srgbClr val="17436B"/>
            </a:solidFill>
            <a:prstDash val="solid"/>
          </a:ln>
        </p:spPr>
      </p:sp>
      <p:sp>
        <p:nvSpPr>
          <p:cNvPr id="425" name="Shape 423"/>
          <p:cNvSpPr/>
          <p:nvPr/>
        </p:nvSpPr>
        <p:spPr>
          <a:xfrm>
            <a:off x="2304288" y="5705856"/>
            <a:ext cx="105156" cy="105156"/>
          </a:xfrm>
          <a:prstGeom prst="rect">
            <a:avLst/>
          </a:prstGeom>
          <a:solidFill>
            <a:srgbClr val="17436B"/>
          </a:solidFill>
          <a:ln w="12700">
            <a:solidFill>
              <a:srgbClr val="17436B"/>
            </a:solidFill>
            <a:prstDash val="solid"/>
          </a:ln>
        </p:spPr>
      </p:sp>
      <p:sp>
        <p:nvSpPr>
          <p:cNvPr id="426" name="Shape 424"/>
          <p:cNvSpPr/>
          <p:nvPr/>
        </p:nvSpPr>
        <p:spPr>
          <a:xfrm>
            <a:off x="2450592" y="5705856"/>
            <a:ext cx="105156" cy="105156"/>
          </a:xfrm>
          <a:prstGeom prst="rect">
            <a:avLst/>
          </a:prstGeom>
          <a:solidFill>
            <a:srgbClr val="17436B"/>
          </a:solidFill>
          <a:ln w="12700">
            <a:solidFill>
              <a:srgbClr val="17436B"/>
            </a:solidFill>
            <a:prstDash val="solid"/>
          </a:ln>
        </p:spPr>
      </p:sp>
      <p:sp>
        <p:nvSpPr>
          <p:cNvPr id="427" name="Shape 425"/>
          <p:cNvSpPr/>
          <p:nvPr/>
        </p:nvSpPr>
        <p:spPr>
          <a:xfrm>
            <a:off x="2596896" y="5705856"/>
            <a:ext cx="105156" cy="105156"/>
          </a:xfrm>
          <a:prstGeom prst="rect">
            <a:avLst/>
          </a:prstGeom>
          <a:solidFill>
            <a:srgbClr val="17436B"/>
          </a:solidFill>
          <a:ln w="12700">
            <a:solidFill>
              <a:srgbClr val="17436B"/>
            </a:solidFill>
            <a:prstDash val="solid"/>
          </a:ln>
        </p:spPr>
      </p:sp>
      <p:sp>
        <p:nvSpPr>
          <p:cNvPr id="428" name="Shape 426"/>
          <p:cNvSpPr/>
          <p:nvPr/>
        </p:nvSpPr>
        <p:spPr>
          <a:xfrm>
            <a:off x="2743200" y="5705856"/>
            <a:ext cx="105156" cy="105156"/>
          </a:xfrm>
          <a:prstGeom prst="rect">
            <a:avLst/>
          </a:prstGeom>
          <a:solidFill>
            <a:srgbClr val="17436B"/>
          </a:solidFill>
          <a:ln w="12700">
            <a:solidFill>
              <a:srgbClr val="17436B"/>
            </a:solidFill>
            <a:prstDash val="solid"/>
          </a:ln>
        </p:spPr>
      </p:sp>
      <p:sp>
        <p:nvSpPr>
          <p:cNvPr id="429" name="Shape 427"/>
          <p:cNvSpPr/>
          <p:nvPr/>
        </p:nvSpPr>
        <p:spPr>
          <a:xfrm>
            <a:off x="2889504" y="5705856"/>
            <a:ext cx="105156" cy="105156"/>
          </a:xfrm>
          <a:prstGeom prst="rect">
            <a:avLst/>
          </a:prstGeom>
          <a:solidFill>
            <a:srgbClr val="17436B"/>
          </a:solidFill>
          <a:ln w="12700">
            <a:solidFill>
              <a:srgbClr val="17436B"/>
            </a:solidFill>
            <a:prstDash val="solid"/>
          </a:ln>
        </p:spPr>
      </p:sp>
      <p:sp>
        <p:nvSpPr>
          <p:cNvPr id="430" name="Shape 428"/>
          <p:cNvSpPr/>
          <p:nvPr/>
        </p:nvSpPr>
        <p:spPr>
          <a:xfrm>
            <a:off x="3035808" y="5705856"/>
            <a:ext cx="105156" cy="105156"/>
          </a:xfrm>
          <a:prstGeom prst="rect">
            <a:avLst/>
          </a:prstGeom>
          <a:solidFill>
            <a:srgbClr val="17436B"/>
          </a:solidFill>
          <a:ln w="12700">
            <a:solidFill>
              <a:srgbClr val="17436B"/>
            </a:solidFill>
            <a:prstDash val="solid"/>
          </a:ln>
        </p:spPr>
      </p:sp>
      <p:sp>
        <p:nvSpPr>
          <p:cNvPr id="431" name="Shape 429"/>
          <p:cNvSpPr/>
          <p:nvPr/>
        </p:nvSpPr>
        <p:spPr>
          <a:xfrm>
            <a:off x="3182112" y="5705856"/>
            <a:ext cx="105156" cy="105156"/>
          </a:xfrm>
          <a:prstGeom prst="rect">
            <a:avLst/>
          </a:prstGeom>
          <a:solidFill>
            <a:srgbClr val="17436B"/>
          </a:solidFill>
          <a:ln w="12700">
            <a:solidFill>
              <a:srgbClr val="17436B"/>
            </a:solidFill>
            <a:prstDash val="solid"/>
          </a:ln>
        </p:spPr>
      </p:sp>
      <p:sp>
        <p:nvSpPr>
          <p:cNvPr id="432" name="Shape 430"/>
          <p:cNvSpPr/>
          <p:nvPr/>
        </p:nvSpPr>
        <p:spPr>
          <a:xfrm>
            <a:off x="3328416" y="5705856"/>
            <a:ext cx="105156" cy="105156"/>
          </a:xfrm>
          <a:prstGeom prst="rect">
            <a:avLst/>
          </a:prstGeom>
          <a:solidFill>
            <a:srgbClr val="17436B"/>
          </a:solidFill>
          <a:ln w="12700">
            <a:solidFill>
              <a:srgbClr val="17436B"/>
            </a:solidFill>
            <a:prstDash val="solid"/>
          </a:ln>
        </p:spPr>
      </p:sp>
      <p:sp>
        <p:nvSpPr>
          <p:cNvPr id="433" name="Shape 431"/>
          <p:cNvSpPr/>
          <p:nvPr/>
        </p:nvSpPr>
        <p:spPr>
          <a:xfrm>
            <a:off x="3474720" y="5705856"/>
            <a:ext cx="105156" cy="105156"/>
          </a:xfrm>
          <a:prstGeom prst="rect">
            <a:avLst/>
          </a:prstGeom>
          <a:solidFill>
            <a:srgbClr val="17436B"/>
          </a:solidFill>
          <a:ln w="12700">
            <a:solidFill>
              <a:srgbClr val="17436B"/>
            </a:solidFill>
            <a:prstDash val="solid"/>
          </a:ln>
        </p:spPr>
      </p:sp>
      <p:sp>
        <p:nvSpPr>
          <p:cNvPr id="434" name="Shape 432"/>
          <p:cNvSpPr/>
          <p:nvPr/>
        </p:nvSpPr>
        <p:spPr>
          <a:xfrm>
            <a:off x="3621024" y="5705856"/>
            <a:ext cx="105156" cy="105156"/>
          </a:xfrm>
          <a:prstGeom prst="rect">
            <a:avLst/>
          </a:prstGeom>
          <a:solidFill>
            <a:srgbClr val="17436B"/>
          </a:solidFill>
          <a:ln w="12700">
            <a:solidFill>
              <a:srgbClr val="17436B"/>
            </a:solidFill>
            <a:prstDash val="solid"/>
          </a:ln>
        </p:spPr>
      </p:sp>
      <p:sp>
        <p:nvSpPr>
          <p:cNvPr id="435" name="Shape 433"/>
          <p:cNvSpPr/>
          <p:nvPr/>
        </p:nvSpPr>
        <p:spPr>
          <a:xfrm>
            <a:off x="3767328" y="5705856"/>
            <a:ext cx="105156" cy="105156"/>
          </a:xfrm>
          <a:prstGeom prst="rect">
            <a:avLst/>
          </a:prstGeom>
          <a:solidFill>
            <a:srgbClr val="17436B"/>
          </a:solidFill>
          <a:ln w="12700">
            <a:solidFill>
              <a:srgbClr val="17436B"/>
            </a:solidFill>
            <a:prstDash val="solid"/>
          </a:ln>
        </p:spPr>
      </p:sp>
      <p:sp>
        <p:nvSpPr>
          <p:cNvPr id="436" name="Shape 434"/>
          <p:cNvSpPr/>
          <p:nvPr/>
        </p:nvSpPr>
        <p:spPr>
          <a:xfrm>
            <a:off x="3913632" y="5705856"/>
            <a:ext cx="105156" cy="105156"/>
          </a:xfrm>
          <a:prstGeom prst="rect">
            <a:avLst/>
          </a:prstGeom>
          <a:solidFill>
            <a:srgbClr val="17436B"/>
          </a:solidFill>
          <a:ln w="12700">
            <a:solidFill>
              <a:srgbClr val="17436B"/>
            </a:solidFill>
            <a:prstDash val="solid"/>
          </a:ln>
        </p:spPr>
      </p:sp>
      <p:sp>
        <p:nvSpPr>
          <p:cNvPr id="437" name="Shape 435"/>
          <p:cNvSpPr/>
          <p:nvPr/>
        </p:nvSpPr>
        <p:spPr>
          <a:xfrm>
            <a:off x="4059936" y="5705856"/>
            <a:ext cx="105156" cy="105156"/>
          </a:xfrm>
          <a:prstGeom prst="rect">
            <a:avLst/>
          </a:prstGeom>
          <a:solidFill>
            <a:srgbClr val="17436B"/>
          </a:solidFill>
          <a:ln w="12700">
            <a:solidFill>
              <a:srgbClr val="17436B"/>
            </a:solidFill>
            <a:prstDash val="solid"/>
          </a:ln>
        </p:spPr>
      </p:sp>
      <p:sp>
        <p:nvSpPr>
          <p:cNvPr id="438" name="Shape 436"/>
          <p:cNvSpPr/>
          <p:nvPr/>
        </p:nvSpPr>
        <p:spPr>
          <a:xfrm>
            <a:off x="4206240" y="5705856"/>
            <a:ext cx="105156" cy="105156"/>
          </a:xfrm>
          <a:prstGeom prst="rect">
            <a:avLst/>
          </a:prstGeom>
          <a:solidFill>
            <a:srgbClr val="17436B"/>
          </a:solidFill>
          <a:ln w="12700">
            <a:solidFill>
              <a:srgbClr val="17436B"/>
            </a:solidFill>
            <a:prstDash val="solid"/>
          </a:ln>
        </p:spPr>
      </p:sp>
      <p:sp>
        <p:nvSpPr>
          <p:cNvPr id="439" name="Shape 437"/>
          <p:cNvSpPr/>
          <p:nvPr/>
        </p:nvSpPr>
        <p:spPr>
          <a:xfrm>
            <a:off x="4352544" y="5705856"/>
            <a:ext cx="105156" cy="105156"/>
          </a:xfrm>
          <a:prstGeom prst="rect">
            <a:avLst/>
          </a:prstGeom>
          <a:solidFill>
            <a:srgbClr val="17436B"/>
          </a:solidFill>
          <a:ln w="12700">
            <a:solidFill>
              <a:srgbClr val="17436B"/>
            </a:solidFill>
            <a:prstDash val="solid"/>
          </a:ln>
        </p:spPr>
      </p:sp>
      <p:sp>
        <p:nvSpPr>
          <p:cNvPr id="440" name="Shape 438"/>
          <p:cNvSpPr/>
          <p:nvPr/>
        </p:nvSpPr>
        <p:spPr>
          <a:xfrm>
            <a:off x="4498848" y="5705856"/>
            <a:ext cx="105156" cy="105156"/>
          </a:xfrm>
          <a:prstGeom prst="rect">
            <a:avLst/>
          </a:prstGeom>
          <a:solidFill>
            <a:srgbClr val="17436B"/>
          </a:solidFill>
          <a:ln w="12700">
            <a:solidFill>
              <a:srgbClr val="17436B"/>
            </a:solidFill>
            <a:prstDash val="solid"/>
          </a:ln>
        </p:spPr>
      </p:sp>
      <p:sp>
        <p:nvSpPr>
          <p:cNvPr id="441" name="Shape 439"/>
          <p:cNvSpPr/>
          <p:nvPr/>
        </p:nvSpPr>
        <p:spPr>
          <a:xfrm>
            <a:off x="4645152" y="5705856"/>
            <a:ext cx="105156" cy="105156"/>
          </a:xfrm>
          <a:prstGeom prst="rect">
            <a:avLst/>
          </a:prstGeom>
          <a:solidFill>
            <a:srgbClr val="17436B"/>
          </a:solidFill>
          <a:ln w="12700">
            <a:solidFill>
              <a:srgbClr val="17436B"/>
            </a:solidFill>
            <a:prstDash val="solid"/>
          </a:ln>
        </p:spPr>
      </p:sp>
      <p:sp>
        <p:nvSpPr>
          <p:cNvPr id="442" name="Shape 440"/>
          <p:cNvSpPr/>
          <p:nvPr/>
        </p:nvSpPr>
        <p:spPr>
          <a:xfrm>
            <a:off x="548640" y="5852160"/>
            <a:ext cx="105156" cy="105156"/>
          </a:xfrm>
          <a:prstGeom prst="rect">
            <a:avLst/>
          </a:prstGeom>
          <a:solidFill>
            <a:srgbClr val="17436B"/>
          </a:solidFill>
          <a:ln w="12700">
            <a:solidFill>
              <a:srgbClr val="17436B"/>
            </a:solidFill>
            <a:prstDash val="solid"/>
          </a:ln>
        </p:spPr>
      </p:sp>
      <p:sp>
        <p:nvSpPr>
          <p:cNvPr id="443" name="Shape 441"/>
          <p:cNvSpPr/>
          <p:nvPr/>
        </p:nvSpPr>
        <p:spPr>
          <a:xfrm>
            <a:off x="694944" y="5852160"/>
            <a:ext cx="105156" cy="105156"/>
          </a:xfrm>
          <a:prstGeom prst="rect">
            <a:avLst/>
          </a:prstGeom>
          <a:solidFill>
            <a:srgbClr val="17436B"/>
          </a:solidFill>
          <a:ln w="12700">
            <a:solidFill>
              <a:srgbClr val="17436B"/>
            </a:solidFill>
            <a:prstDash val="solid"/>
          </a:ln>
        </p:spPr>
      </p:sp>
      <p:sp>
        <p:nvSpPr>
          <p:cNvPr id="444" name="Shape 442"/>
          <p:cNvSpPr/>
          <p:nvPr/>
        </p:nvSpPr>
        <p:spPr>
          <a:xfrm>
            <a:off x="841248" y="5852160"/>
            <a:ext cx="105156" cy="105156"/>
          </a:xfrm>
          <a:prstGeom prst="rect">
            <a:avLst/>
          </a:prstGeom>
          <a:solidFill>
            <a:srgbClr val="17436B"/>
          </a:solidFill>
          <a:ln w="12700">
            <a:solidFill>
              <a:srgbClr val="17436B"/>
            </a:solidFill>
            <a:prstDash val="solid"/>
          </a:ln>
        </p:spPr>
      </p:sp>
      <p:sp>
        <p:nvSpPr>
          <p:cNvPr id="445" name="Shape 443"/>
          <p:cNvSpPr/>
          <p:nvPr/>
        </p:nvSpPr>
        <p:spPr>
          <a:xfrm>
            <a:off x="987552" y="5852160"/>
            <a:ext cx="105156" cy="105156"/>
          </a:xfrm>
          <a:prstGeom prst="rect">
            <a:avLst/>
          </a:prstGeom>
          <a:solidFill>
            <a:srgbClr val="17436B"/>
          </a:solidFill>
          <a:ln w="12700">
            <a:solidFill>
              <a:srgbClr val="17436B"/>
            </a:solidFill>
            <a:prstDash val="solid"/>
          </a:ln>
        </p:spPr>
      </p:sp>
      <p:sp>
        <p:nvSpPr>
          <p:cNvPr id="446" name="Shape 444"/>
          <p:cNvSpPr/>
          <p:nvPr/>
        </p:nvSpPr>
        <p:spPr>
          <a:xfrm>
            <a:off x="1133856" y="5852160"/>
            <a:ext cx="105156" cy="105156"/>
          </a:xfrm>
          <a:prstGeom prst="rect">
            <a:avLst/>
          </a:prstGeom>
          <a:solidFill>
            <a:srgbClr val="17436B"/>
          </a:solidFill>
          <a:ln w="12700">
            <a:solidFill>
              <a:srgbClr val="17436B"/>
            </a:solidFill>
            <a:prstDash val="solid"/>
          </a:ln>
        </p:spPr>
      </p:sp>
      <p:sp>
        <p:nvSpPr>
          <p:cNvPr id="447" name="Shape 445"/>
          <p:cNvSpPr/>
          <p:nvPr/>
        </p:nvSpPr>
        <p:spPr>
          <a:xfrm>
            <a:off x="1280160" y="5852160"/>
            <a:ext cx="105156" cy="105156"/>
          </a:xfrm>
          <a:prstGeom prst="rect">
            <a:avLst/>
          </a:prstGeom>
          <a:solidFill>
            <a:srgbClr val="17436B"/>
          </a:solidFill>
          <a:ln w="12700">
            <a:solidFill>
              <a:srgbClr val="17436B"/>
            </a:solidFill>
            <a:prstDash val="solid"/>
          </a:ln>
        </p:spPr>
      </p:sp>
      <p:sp>
        <p:nvSpPr>
          <p:cNvPr id="448" name="Shape 446"/>
          <p:cNvSpPr/>
          <p:nvPr/>
        </p:nvSpPr>
        <p:spPr>
          <a:xfrm>
            <a:off x="1426464" y="5852160"/>
            <a:ext cx="105156" cy="105156"/>
          </a:xfrm>
          <a:prstGeom prst="rect">
            <a:avLst/>
          </a:prstGeom>
          <a:solidFill>
            <a:srgbClr val="17436B"/>
          </a:solidFill>
          <a:ln w="12700">
            <a:solidFill>
              <a:srgbClr val="17436B"/>
            </a:solidFill>
            <a:prstDash val="solid"/>
          </a:ln>
        </p:spPr>
      </p:sp>
      <p:sp>
        <p:nvSpPr>
          <p:cNvPr id="449" name="Shape 447"/>
          <p:cNvSpPr/>
          <p:nvPr/>
        </p:nvSpPr>
        <p:spPr>
          <a:xfrm>
            <a:off x="1572768" y="5852160"/>
            <a:ext cx="105156" cy="105156"/>
          </a:xfrm>
          <a:prstGeom prst="rect">
            <a:avLst/>
          </a:prstGeom>
          <a:solidFill>
            <a:srgbClr val="17436B"/>
          </a:solidFill>
          <a:ln w="12700">
            <a:solidFill>
              <a:srgbClr val="17436B"/>
            </a:solidFill>
            <a:prstDash val="solid"/>
          </a:ln>
        </p:spPr>
      </p:sp>
      <p:sp>
        <p:nvSpPr>
          <p:cNvPr id="450" name="Shape 448"/>
          <p:cNvSpPr/>
          <p:nvPr/>
        </p:nvSpPr>
        <p:spPr>
          <a:xfrm>
            <a:off x="1719072" y="5852160"/>
            <a:ext cx="105156" cy="105156"/>
          </a:xfrm>
          <a:prstGeom prst="rect">
            <a:avLst/>
          </a:prstGeom>
          <a:solidFill>
            <a:srgbClr val="17436B"/>
          </a:solidFill>
          <a:ln w="12700">
            <a:solidFill>
              <a:srgbClr val="17436B"/>
            </a:solidFill>
            <a:prstDash val="solid"/>
          </a:ln>
        </p:spPr>
      </p:sp>
      <p:sp>
        <p:nvSpPr>
          <p:cNvPr id="451" name="Shape 449"/>
          <p:cNvSpPr/>
          <p:nvPr/>
        </p:nvSpPr>
        <p:spPr>
          <a:xfrm>
            <a:off x="1865376" y="5852160"/>
            <a:ext cx="105156" cy="105156"/>
          </a:xfrm>
          <a:prstGeom prst="rect">
            <a:avLst/>
          </a:prstGeom>
          <a:solidFill>
            <a:srgbClr val="17436B"/>
          </a:solidFill>
          <a:ln w="12700">
            <a:solidFill>
              <a:srgbClr val="17436B"/>
            </a:solidFill>
            <a:prstDash val="solid"/>
          </a:ln>
        </p:spPr>
      </p:sp>
      <p:sp>
        <p:nvSpPr>
          <p:cNvPr id="452" name="Shape 450"/>
          <p:cNvSpPr/>
          <p:nvPr/>
        </p:nvSpPr>
        <p:spPr>
          <a:xfrm>
            <a:off x="2011680" y="5852160"/>
            <a:ext cx="105156" cy="105156"/>
          </a:xfrm>
          <a:prstGeom prst="rect">
            <a:avLst/>
          </a:prstGeom>
          <a:solidFill>
            <a:srgbClr val="17436B"/>
          </a:solidFill>
          <a:ln w="12700">
            <a:solidFill>
              <a:srgbClr val="17436B"/>
            </a:solidFill>
            <a:prstDash val="solid"/>
          </a:ln>
        </p:spPr>
      </p:sp>
      <p:sp>
        <p:nvSpPr>
          <p:cNvPr id="453" name="Shape 451"/>
          <p:cNvSpPr/>
          <p:nvPr/>
        </p:nvSpPr>
        <p:spPr>
          <a:xfrm>
            <a:off x="2157984" y="5852160"/>
            <a:ext cx="105156" cy="105156"/>
          </a:xfrm>
          <a:prstGeom prst="rect">
            <a:avLst/>
          </a:prstGeom>
          <a:solidFill>
            <a:srgbClr val="17436B"/>
          </a:solidFill>
          <a:ln w="12700">
            <a:solidFill>
              <a:srgbClr val="17436B"/>
            </a:solidFill>
            <a:prstDash val="solid"/>
          </a:ln>
        </p:spPr>
      </p:sp>
      <p:sp>
        <p:nvSpPr>
          <p:cNvPr id="454" name="Shape 452"/>
          <p:cNvSpPr/>
          <p:nvPr/>
        </p:nvSpPr>
        <p:spPr>
          <a:xfrm>
            <a:off x="2304288" y="5852160"/>
            <a:ext cx="105156" cy="105156"/>
          </a:xfrm>
          <a:prstGeom prst="rect">
            <a:avLst/>
          </a:prstGeom>
          <a:solidFill>
            <a:srgbClr val="17436B"/>
          </a:solidFill>
          <a:ln w="12700">
            <a:solidFill>
              <a:srgbClr val="17436B"/>
            </a:solidFill>
            <a:prstDash val="solid"/>
          </a:ln>
        </p:spPr>
      </p:sp>
      <p:sp>
        <p:nvSpPr>
          <p:cNvPr id="455" name="Shape 453"/>
          <p:cNvSpPr/>
          <p:nvPr/>
        </p:nvSpPr>
        <p:spPr>
          <a:xfrm>
            <a:off x="2450592" y="5852160"/>
            <a:ext cx="105156" cy="105156"/>
          </a:xfrm>
          <a:prstGeom prst="rect">
            <a:avLst/>
          </a:prstGeom>
          <a:solidFill>
            <a:srgbClr val="17436B"/>
          </a:solidFill>
          <a:ln w="12700">
            <a:solidFill>
              <a:srgbClr val="17436B"/>
            </a:solidFill>
            <a:prstDash val="solid"/>
          </a:ln>
        </p:spPr>
      </p:sp>
      <p:sp>
        <p:nvSpPr>
          <p:cNvPr id="456" name="Shape 454"/>
          <p:cNvSpPr/>
          <p:nvPr/>
        </p:nvSpPr>
        <p:spPr>
          <a:xfrm>
            <a:off x="2596896" y="5852160"/>
            <a:ext cx="105156" cy="105156"/>
          </a:xfrm>
          <a:prstGeom prst="rect">
            <a:avLst/>
          </a:prstGeom>
          <a:solidFill>
            <a:srgbClr val="17436B"/>
          </a:solidFill>
          <a:ln w="12700">
            <a:solidFill>
              <a:srgbClr val="17436B"/>
            </a:solidFill>
            <a:prstDash val="solid"/>
          </a:ln>
        </p:spPr>
      </p:sp>
      <p:sp>
        <p:nvSpPr>
          <p:cNvPr id="457" name="Shape 455"/>
          <p:cNvSpPr/>
          <p:nvPr/>
        </p:nvSpPr>
        <p:spPr>
          <a:xfrm>
            <a:off x="2743200" y="5852160"/>
            <a:ext cx="105156" cy="105156"/>
          </a:xfrm>
          <a:prstGeom prst="rect">
            <a:avLst/>
          </a:prstGeom>
          <a:solidFill>
            <a:srgbClr val="17436B"/>
          </a:solidFill>
          <a:ln w="12700">
            <a:solidFill>
              <a:srgbClr val="17436B"/>
            </a:solidFill>
            <a:prstDash val="solid"/>
          </a:ln>
        </p:spPr>
      </p:sp>
      <p:sp>
        <p:nvSpPr>
          <p:cNvPr id="458" name="Shape 456"/>
          <p:cNvSpPr/>
          <p:nvPr/>
        </p:nvSpPr>
        <p:spPr>
          <a:xfrm>
            <a:off x="2889504" y="5852160"/>
            <a:ext cx="105156" cy="105156"/>
          </a:xfrm>
          <a:prstGeom prst="rect">
            <a:avLst/>
          </a:prstGeom>
          <a:solidFill>
            <a:srgbClr val="17436B"/>
          </a:solidFill>
          <a:ln w="12700">
            <a:solidFill>
              <a:srgbClr val="17436B"/>
            </a:solidFill>
            <a:prstDash val="solid"/>
          </a:ln>
        </p:spPr>
      </p:sp>
      <p:sp>
        <p:nvSpPr>
          <p:cNvPr id="459" name="Shape 457"/>
          <p:cNvSpPr/>
          <p:nvPr/>
        </p:nvSpPr>
        <p:spPr>
          <a:xfrm>
            <a:off x="3035808" y="5852160"/>
            <a:ext cx="105156" cy="105156"/>
          </a:xfrm>
          <a:prstGeom prst="rect">
            <a:avLst/>
          </a:prstGeom>
          <a:solidFill>
            <a:srgbClr val="17436B"/>
          </a:solidFill>
          <a:ln w="12700">
            <a:solidFill>
              <a:srgbClr val="17436B"/>
            </a:solidFill>
            <a:prstDash val="solid"/>
          </a:ln>
        </p:spPr>
      </p:sp>
      <p:sp>
        <p:nvSpPr>
          <p:cNvPr id="460" name="Shape 458"/>
          <p:cNvSpPr/>
          <p:nvPr/>
        </p:nvSpPr>
        <p:spPr>
          <a:xfrm>
            <a:off x="3182112" y="5852160"/>
            <a:ext cx="105156" cy="105156"/>
          </a:xfrm>
          <a:prstGeom prst="rect">
            <a:avLst/>
          </a:prstGeom>
          <a:solidFill>
            <a:srgbClr val="17436B"/>
          </a:solidFill>
          <a:ln w="12700">
            <a:solidFill>
              <a:srgbClr val="17436B"/>
            </a:solidFill>
            <a:prstDash val="solid"/>
          </a:ln>
        </p:spPr>
      </p:sp>
      <p:sp>
        <p:nvSpPr>
          <p:cNvPr id="461" name="Shape 459"/>
          <p:cNvSpPr/>
          <p:nvPr/>
        </p:nvSpPr>
        <p:spPr>
          <a:xfrm>
            <a:off x="3328416" y="5852160"/>
            <a:ext cx="105156" cy="105156"/>
          </a:xfrm>
          <a:prstGeom prst="rect">
            <a:avLst/>
          </a:prstGeom>
          <a:solidFill>
            <a:srgbClr val="17436B"/>
          </a:solidFill>
          <a:ln w="12700">
            <a:solidFill>
              <a:srgbClr val="17436B"/>
            </a:solidFill>
            <a:prstDash val="solid"/>
          </a:ln>
        </p:spPr>
      </p:sp>
      <p:sp>
        <p:nvSpPr>
          <p:cNvPr id="462" name="Shape 460"/>
          <p:cNvSpPr/>
          <p:nvPr/>
        </p:nvSpPr>
        <p:spPr>
          <a:xfrm>
            <a:off x="3474720" y="5852160"/>
            <a:ext cx="105156" cy="105156"/>
          </a:xfrm>
          <a:prstGeom prst="rect">
            <a:avLst/>
          </a:prstGeom>
          <a:solidFill>
            <a:srgbClr val="17436B"/>
          </a:solidFill>
          <a:ln w="12700">
            <a:solidFill>
              <a:srgbClr val="17436B"/>
            </a:solidFill>
            <a:prstDash val="solid"/>
          </a:ln>
        </p:spPr>
      </p:sp>
      <p:sp>
        <p:nvSpPr>
          <p:cNvPr id="463" name="Shape 461"/>
          <p:cNvSpPr/>
          <p:nvPr/>
        </p:nvSpPr>
        <p:spPr>
          <a:xfrm>
            <a:off x="3621024" y="5852160"/>
            <a:ext cx="105156" cy="105156"/>
          </a:xfrm>
          <a:prstGeom prst="rect">
            <a:avLst/>
          </a:prstGeom>
          <a:solidFill>
            <a:srgbClr val="17436B"/>
          </a:solidFill>
          <a:ln w="12700">
            <a:solidFill>
              <a:srgbClr val="17436B"/>
            </a:solidFill>
            <a:prstDash val="solid"/>
          </a:ln>
        </p:spPr>
      </p:sp>
      <p:sp>
        <p:nvSpPr>
          <p:cNvPr id="464" name="Shape 462"/>
          <p:cNvSpPr/>
          <p:nvPr/>
        </p:nvSpPr>
        <p:spPr>
          <a:xfrm>
            <a:off x="3767328" y="5852160"/>
            <a:ext cx="105156" cy="105156"/>
          </a:xfrm>
          <a:prstGeom prst="rect">
            <a:avLst/>
          </a:prstGeom>
          <a:solidFill>
            <a:srgbClr val="17436B"/>
          </a:solidFill>
          <a:ln w="12700">
            <a:solidFill>
              <a:srgbClr val="17436B"/>
            </a:solidFill>
            <a:prstDash val="solid"/>
          </a:ln>
        </p:spPr>
      </p:sp>
      <p:sp>
        <p:nvSpPr>
          <p:cNvPr id="465" name="Shape 463"/>
          <p:cNvSpPr/>
          <p:nvPr/>
        </p:nvSpPr>
        <p:spPr>
          <a:xfrm>
            <a:off x="3913632" y="5852160"/>
            <a:ext cx="105156" cy="105156"/>
          </a:xfrm>
          <a:prstGeom prst="rect">
            <a:avLst/>
          </a:prstGeom>
          <a:solidFill>
            <a:srgbClr val="17436B"/>
          </a:solidFill>
          <a:ln w="12700">
            <a:solidFill>
              <a:srgbClr val="17436B"/>
            </a:solidFill>
            <a:prstDash val="solid"/>
          </a:ln>
        </p:spPr>
      </p:sp>
      <p:sp>
        <p:nvSpPr>
          <p:cNvPr id="466" name="Shape 464"/>
          <p:cNvSpPr/>
          <p:nvPr/>
        </p:nvSpPr>
        <p:spPr>
          <a:xfrm>
            <a:off x="4059936" y="5852160"/>
            <a:ext cx="105156" cy="105156"/>
          </a:xfrm>
          <a:prstGeom prst="rect">
            <a:avLst/>
          </a:prstGeom>
          <a:solidFill>
            <a:srgbClr val="17436B"/>
          </a:solidFill>
          <a:ln w="12700">
            <a:solidFill>
              <a:srgbClr val="17436B"/>
            </a:solidFill>
            <a:prstDash val="solid"/>
          </a:ln>
        </p:spPr>
      </p:sp>
      <p:sp>
        <p:nvSpPr>
          <p:cNvPr id="467" name="Shape 465"/>
          <p:cNvSpPr/>
          <p:nvPr/>
        </p:nvSpPr>
        <p:spPr>
          <a:xfrm>
            <a:off x="4206240" y="5852160"/>
            <a:ext cx="105156" cy="105156"/>
          </a:xfrm>
          <a:prstGeom prst="rect">
            <a:avLst/>
          </a:prstGeom>
          <a:solidFill>
            <a:srgbClr val="17436B"/>
          </a:solidFill>
          <a:ln w="12700">
            <a:solidFill>
              <a:srgbClr val="17436B"/>
            </a:solidFill>
            <a:prstDash val="solid"/>
          </a:ln>
        </p:spPr>
      </p:sp>
      <p:sp>
        <p:nvSpPr>
          <p:cNvPr id="468" name="Shape 466"/>
          <p:cNvSpPr/>
          <p:nvPr/>
        </p:nvSpPr>
        <p:spPr>
          <a:xfrm>
            <a:off x="4352544" y="5852160"/>
            <a:ext cx="105156" cy="105156"/>
          </a:xfrm>
          <a:prstGeom prst="rect">
            <a:avLst/>
          </a:prstGeom>
          <a:solidFill>
            <a:srgbClr val="17436B"/>
          </a:solidFill>
          <a:ln w="12700">
            <a:solidFill>
              <a:srgbClr val="17436B"/>
            </a:solidFill>
            <a:prstDash val="solid"/>
          </a:ln>
        </p:spPr>
      </p:sp>
      <p:sp>
        <p:nvSpPr>
          <p:cNvPr id="469" name="Shape 467"/>
          <p:cNvSpPr/>
          <p:nvPr/>
        </p:nvSpPr>
        <p:spPr>
          <a:xfrm>
            <a:off x="4498848" y="5852160"/>
            <a:ext cx="105156" cy="105156"/>
          </a:xfrm>
          <a:prstGeom prst="rect">
            <a:avLst/>
          </a:prstGeom>
          <a:solidFill>
            <a:srgbClr val="17436B"/>
          </a:solidFill>
          <a:ln w="12700">
            <a:solidFill>
              <a:srgbClr val="17436B"/>
            </a:solidFill>
            <a:prstDash val="solid"/>
          </a:ln>
        </p:spPr>
      </p:sp>
      <p:sp>
        <p:nvSpPr>
          <p:cNvPr id="470" name="Shape 468"/>
          <p:cNvSpPr/>
          <p:nvPr/>
        </p:nvSpPr>
        <p:spPr>
          <a:xfrm>
            <a:off x="4645152" y="5852160"/>
            <a:ext cx="105156" cy="105156"/>
          </a:xfrm>
          <a:prstGeom prst="rect">
            <a:avLst/>
          </a:prstGeom>
          <a:solidFill>
            <a:srgbClr val="17436B"/>
          </a:solidFill>
          <a:ln w="12700">
            <a:solidFill>
              <a:srgbClr val="17436B"/>
            </a:solidFill>
            <a:prstDash val="solid"/>
          </a:ln>
        </p:spPr>
      </p:sp>
      <p:sp>
        <p:nvSpPr>
          <p:cNvPr id="471" name="Text 469"/>
          <p:cNvSpPr txBox="1"/>
          <p:nvPr/>
        </p:nvSpPr>
        <p:spPr>
          <a:xfrm>
            <a:off x="548640" y="6126480"/>
            <a:ext cx="5394960" cy="457200"/>
          </a:xfrm>
          <a:prstGeom prst="rect">
            <a:avLst/>
          </a:prstGeom>
          <a:noFill/>
          <a:ln/>
        </p:spPr>
        <p:txBody>
          <a:bodyPr wrap="square" lIns="0" tIns="0" rIns="0" bIns="0" rtlCol="0" anchor="t"/>
          <a:lstStyle/>
          <a:p>
            <a:pPr indent="0" marL="0">
              <a:buNone/>
            </a:pPr>
            <a:r>
              <a:rPr lang="en-US" sz="1500" dirty="0">
                <a:solidFill>
                  <a:srgbClr val="C6D3DF"/>
                </a:solidFill>
                <a:latin typeface="Calibri" pitchFamily="34" charset="0"/>
                <a:ea typeface="Calibri" pitchFamily="34" charset="-122"/>
                <a:cs typeface="Calibri" pitchFamily="34" charset="-120"/>
              </a:rPr>
              <a:t>464 coordinate systems, two of which hold almost everything we know</a:t>
            </a:r>
            <a:endParaRPr lang="en-US" sz="1500" dirty="0"/>
          </a:p>
        </p:txBody>
      </p:sp>
      <p:sp>
        <p:nvSpPr>
          <p:cNvPr id="472" name="Text 470"/>
          <p:cNvSpPr txBox="1"/>
          <p:nvPr/>
        </p:nvSpPr>
        <p:spPr>
          <a:xfrm>
            <a:off x="6400800" y="3749040"/>
            <a:ext cx="5212080" cy="1280160"/>
          </a:xfrm>
          <a:prstGeom prst="rect">
            <a:avLst/>
          </a:prstGeom>
          <a:noFill/>
          <a:ln/>
        </p:spPr>
        <p:txBody>
          <a:bodyPr wrap="square" lIns="0" tIns="0" rIns="0" bIns="0" rtlCol="0" anchor="t"/>
          <a:lstStyle/>
          <a:p>
            <a:pPr indent="0" marL="0">
              <a:buNone/>
            </a:pPr>
            <a:r>
              <a:rPr lang="en-US" sz="2200" dirty="0">
                <a:solidFill>
                  <a:srgbClr val="FFFFFF"/>
                </a:solidFill>
                <a:latin typeface="Calibri" pitchFamily="34" charset="0"/>
                <a:ea typeface="Calibri" pitchFamily="34" charset="-122"/>
                <a:cs typeface="Calibri" pitchFamily="34" charset="-120"/>
              </a:rPr>
              <a:t>Almost everything we know about the human genome is written in hg38 or CHM13.</a:t>
            </a:r>
            <a:endParaRPr lang="en-US" sz="2200" dirty="0"/>
          </a:p>
        </p:txBody>
      </p:sp>
      <p:sp>
        <p:nvSpPr>
          <p:cNvPr id="473" name="Text 471"/>
          <p:cNvSpPr txBox="1"/>
          <p:nvPr/>
        </p:nvSpPr>
        <p:spPr>
          <a:xfrm>
            <a:off x="6400800" y="5120640"/>
            <a:ext cx="5212080" cy="914400"/>
          </a:xfrm>
          <a:prstGeom prst="rect">
            <a:avLst/>
          </a:prstGeom>
          <a:noFill/>
          <a:ln/>
        </p:spPr>
        <p:txBody>
          <a:bodyPr wrap="square" lIns="0" tIns="0" rIns="0" bIns="0" rtlCol="0" anchor="t"/>
          <a:lstStyle/>
          <a:p>
            <a:pPr indent="0" marL="0">
              <a:buNone/>
            </a:pPr>
            <a:r>
              <a:rPr lang="en-US" sz="2200" i="1" dirty="0">
                <a:solidFill>
                  <a:srgbClr val="FDC700"/>
                </a:solidFill>
                <a:latin typeface="Calibri" pitchFamily="34" charset="0"/>
                <a:ea typeface="Calibri" pitchFamily="34" charset="-122"/>
                <a:cs typeface="Calibri" pitchFamily="34" charset="-120"/>
              </a:rPr>
              <a:t>You can look at the other 462. You can't ask them anything.</a:t>
            </a:r>
            <a:endParaRPr lang="en-US" sz="2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Two old tools. Both are single-pair.</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3</a:t>
            </a:r>
            <a:endParaRPr lang="en-US" sz="1000" dirty="0"/>
          </a:p>
        </p:txBody>
      </p:sp>
      <p:sp>
        <p:nvSpPr>
          <p:cNvPr id="4" name="Shape 2"/>
          <p:cNvSpPr/>
          <p:nvPr/>
        </p:nvSpPr>
        <p:spPr>
          <a:xfrm>
            <a:off x="548640" y="1325880"/>
            <a:ext cx="5364328" cy="4160520"/>
          </a:xfrm>
          <a:prstGeom prst="roundRect">
            <a:avLst>
              <a:gd name="adj" fmla="val 2637"/>
            </a:avLst>
          </a:prstGeom>
          <a:solidFill>
            <a:srgbClr val="EDF1F6"/>
          </a:solidFill>
          <a:ln w="12700">
            <a:solidFill>
              <a:srgbClr val="DCE3EB"/>
            </a:solidFill>
            <a:prstDash val="solid"/>
          </a:ln>
        </p:spPr>
      </p:sp>
      <p:sp>
        <p:nvSpPr>
          <p:cNvPr id="5" name="Shape 3"/>
          <p:cNvSpPr/>
          <p:nvPr/>
        </p:nvSpPr>
        <p:spPr>
          <a:xfrm>
            <a:off x="868680" y="1645920"/>
            <a:ext cx="640080" cy="640080"/>
          </a:xfrm>
          <a:prstGeom prst="ellipse">
            <a:avLst/>
          </a:prstGeom>
          <a:solidFill>
            <a:srgbClr val="003C6C"/>
          </a:solidFill>
          <a:ln w="12700">
            <a:solidFill>
              <a:srgbClr val="003C6C"/>
            </a:solidFill>
            <a:prstDash val="solid"/>
          </a:ln>
        </p:spPr>
      </p:sp>
      <p:pic>
        <p:nvPicPr>
          <p:cNvPr id="6" name="Image 0" descr="preencoded.png">    </p:cNvPr>
          <p:cNvPicPr>
            <a:picLocks noChangeAspect="1"/>
          </p:cNvPicPr>
          <p:nvPr/>
        </p:nvPicPr>
        <p:blipFill>
          <a:blip r:embed="rId1"/>
          <a:stretch>
            <a:fillRect/>
          </a:stretch>
        </p:blipFill>
        <p:spPr>
          <a:xfrm>
            <a:off x="1035101" y="1812341"/>
            <a:ext cx="307238" cy="307238"/>
          </a:xfrm>
          <a:prstGeom prst="rect">
            <a:avLst/>
          </a:prstGeom>
        </p:spPr>
      </p:pic>
      <p:sp>
        <p:nvSpPr>
          <p:cNvPr id="7" name="Text 4"/>
          <p:cNvSpPr txBox="1"/>
          <p:nvPr/>
        </p:nvSpPr>
        <p:spPr>
          <a:xfrm>
            <a:off x="1691640" y="1709928"/>
            <a:ext cx="3901288" cy="502920"/>
          </a:xfrm>
          <a:prstGeom prst="rect">
            <a:avLst/>
          </a:prstGeom>
          <a:noFill/>
          <a:ln/>
        </p:spPr>
        <p:txBody>
          <a:bodyPr wrap="square" lIns="0" tIns="0" rIns="0" bIns="0" rtlCol="0" anchor="t"/>
          <a:lstStyle/>
          <a:p>
            <a:pPr indent="0" marL="0">
              <a:buNone/>
            </a:pPr>
            <a:r>
              <a:rPr lang="en-US" sz="2200" b="1" dirty="0">
                <a:solidFill>
                  <a:srgbClr val="003C6C"/>
                </a:solidFill>
                <a:latin typeface="Calibri" pitchFamily="34" charset="0"/>
                <a:ea typeface="Calibri" pitchFamily="34" charset="-122"/>
                <a:cs typeface="Calibri" pitchFamily="34" charset="-120"/>
              </a:rPr>
              <a:t>Alignment (BLAT)</a:t>
            </a:r>
            <a:endParaRPr lang="en-US" sz="2200" dirty="0"/>
          </a:p>
        </p:txBody>
      </p:sp>
      <p:sp>
        <p:nvSpPr>
          <p:cNvPr id="8" name="Text 5"/>
          <p:cNvSpPr txBox="1"/>
          <p:nvPr/>
        </p:nvSpPr>
        <p:spPr>
          <a:xfrm>
            <a:off x="868680" y="2560320"/>
            <a:ext cx="4724248" cy="2743200"/>
          </a:xfrm>
          <a:prstGeom prst="rect">
            <a:avLst/>
          </a:prstGeom>
          <a:noFill/>
          <a:ln/>
        </p:spPr>
        <p:txBody>
          <a:bodyPr wrap="square" lIns="0" tIns="0" rIns="0" bIns="0" rtlCol="0" anchor="t"/>
          <a:lstStyle/>
          <a:p>
            <a:pPr marL="203200" indent="-203200">
              <a:spcAft>
                <a:spcPts val="900"/>
              </a:spcAft>
              <a:buSzPct val="100000"/>
              <a:buChar char="•"/>
            </a:pPr>
            <a:r>
              <a:rPr lang="en-US" sz="1800" dirty="0">
                <a:solidFill>
                  <a:srgbClr val="18293B"/>
                </a:solidFill>
                <a:latin typeface="Calibri" pitchFamily="34" charset="0"/>
                <a:ea typeface="Calibri" pitchFamily="34" charset="-122"/>
                <a:cs typeface="Calibri" pitchFamily="34" charset="-120"/>
              </a:rPr>
              <a:t>One assembly at a time. There are 464 now.</a:t>
            </a:r>
            <a:endParaRPr lang="en-US" sz="1800" dirty="0"/>
          </a:p>
          <a:p>
            <a:pPr marL="203200" indent="-203200">
              <a:spcAft>
                <a:spcPts val="900"/>
              </a:spcAft>
              <a:buSzPct val="100000"/>
              <a:buChar char="•"/>
            </a:pPr>
            <a:r>
              <a:rPr lang="en-US" sz="1800" dirty="0">
                <a:solidFill>
                  <a:srgbClr val="18293B"/>
                </a:solidFill>
                <a:latin typeface="Calibri" pitchFamily="34" charset="0"/>
                <a:ea typeface="Calibri" pitchFamily="34" charset="-122"/>
                <a:cs typeface="Calibri" pitchFamily="34" charset="-120"/>
              </a:rPr>
              <a:t>The graph itself can be queried, from a shell: vg giraffe, the r-index, odgi.</a:t>
            </a:r>
            <a:endParaRPr lang="en-US" sz="1800" dirty="0"/>
          </a:p>
          <a:p>
            <a:pPr marL="203200" indent="-203200">
              <a:spcAft>
                <a:spcPts val="900"/>
              </a:spcAft>
              <a:buSzPct val="100000"/>
              <a:buChar char="•"/>
            </a:pPr>
            <a:r>
              <a:rPr lang="en-US" sz="1800" dirty="0">
                <a:solidFill>
                  <a:srgbClr val="18293B"/>
                </a:solidFill>
                <a:latin typeface="Calibri" pitchFamily="34" charset="0"/>
                <a:ea typeface="Calibri" pitchFamily="34" charset="-122"/>
                <a:cs typeface="Calibri" pitchFamily="34" charset="-120"/>
              </a:rPr>
              <a:t>Nothing answers "who carries this?" from a browser search box.</a:t>
            </a:r>
            <a:endParaRPr lang="en-US" sz="1800" dirty="0"/>
          </a:p>
        </p:txBody>
      </p:sp>
      <p:sp>
        <p:nvSpPr>
          <p:cNvPr id="9" name="Shape 6"/>
          <p:cNvSpPr/>
          <p:nvPr/>
        </p:nvSpPr>
        <p:spPr>
          <a:xfrm>
            <a:off x="6278728" y="1325880"/>
            <a:ext cx="5364328" cy="4160520"/>
          </a:xfrm>
          <a:prstGeom prst="roundRect">
            <a:avLst>
              <a:gd name="adj" fmla="val 2637"/>
            </a:avLst>
          </a:prstGeom>
          <a:solidFill>
            <a:srgbClr val="EDF1F6"/>
          </a:solidFill>
          <a:ln w="12700">
            <a:solidFill>
              <a:srgbClr val="DCE3EB"/>
            </a:solidFill>
            <a:prstDash val="solid"/>
          </a:ln>
        </p:spPr>
      </p:sp>
      <p:sp>
        <p:nvSpPr>
          <p:cNvPr id="10" name="Shape 7"/>
          <p:cNvSpPr/>
          <p:nvPr/>
        </p:nvSpPr>
        <p:spPr>
          <a:xfrm>
            <a:off x="6598768" y="1645920"/>
            <a:ext cx="640080" cy="640080"/>
          </a:xfrm>
          <a:prstGeom prst="ellipse">
            <a:avLst/>
          </a:prstGeom>
          <a:solidFill>
            <a:srgbClr val="003C6C"/>
          </a:solidFill>
          <a:ln w="12700">
            <a:solidFill>
              <a:srgbClr val="003C6C"/>
            </a:solidFill>
            <a:prstDash val="solid"/>
          </a:ln>
        </p:spPr>
      </p:sp>
      <p:pic>
        <p:nvPicPr>
          <p:cNvPr id="11" name="Image 1" descr="preencoded.png">    </p:cNvPr>
          <p:cNvPicPr>
            <a:picLocks noChangeAspect="1"/>
          </p:cNvPicPr>
          <p:nvPr/>
        </p:nvPicPr>
        <p:blipFill>
          <a:blip r:embed="rId2"/>
          <a:stretch>
            <a:fillRect/>
          </a:stretch>
        </p:blipFill>
        <p:spPr>
          <a:xfrm>
            <a:off x="6765188" y="1812341"/>
            <a:ext cx="307238" cy="307238"/>
          </a:xfrm>
          <a:prstGeom prst="rect">
            <a:avLst/>
          </a:prstGeom>
        </p:spPr>
      </p:pic>
      <p:sp>
        <p:nvSpPr>
          <p:cNvPr id="12" name="Text 8"/>
          <p:cNvSpPr txBox="1"/>
          <p:nvPr/>
        </p:nvSpPr>
        <p:spPr>
          <a:xfrm>
            <a:off x="7421728" y="1709928"/>
            <a:ext cx="3901288" cy="502920"/>
          </a:xfrm>
          <a:prstGeom prst="rect">
            <a:avLst/>
          </a:prstGeom>
          <a:noFill/>
          <a:ln/>
        </p:spPr>
        <p:txBody>
          <a:bodyPr wrap="square" lIns="0" tIns="0" rIns="0" bIns="0" rtlCol="0" anchor="t"/>
          <a:lstStyle/>
          <a:p>
            <a:pPr indent="0" marL="0">
              <a:buNone/>
            </a:pPr>
            <a:r>
              <a:rPr lang="en-US" sz="2200" b="1" dirty="0">
                <a:solidFill>
                  <a:srgbClr val="003C6C"/>
                </a:solidFill>
                <a:latin typeface="Calibri" pitchFamily="34" charset="0"/>
                <a:ea typeface="Calibri" pitchFamily="34" charset="-122"/>
                <a:cs typeface="Calibri" pitchFamily="34" charset="-120"/>
              </a:rPr>
              <a:t>Lift-over (chain files)</a:t>
            </a:r>
            <a:endParaRPr lang="en-US" sz="2200" dirty="0"/>
          </a:p>
        </p:txBody>
      </p:sp>
      <p:sp>
        <p:nvSpPr>
          <p:cNvPr id="13" name="Text 9"/>
          <p:cNvSpPr txBox="1"/>
          <p:nvPr/>
        </p:nvSpPr>
        <p:spPr>
          <a:xfrm>
            <a:off x="6598768" y="2560320"/>
            <a:ext cx="4724248" cy="2743200"/>
          </a:xfrm>
          <a:prstGeom prst="rect">
            <a:avLst/>
          </a:prstGeom>
          <a:noFill/>
          <a:ln/>
        </p:spPr>
        <p:txBody>
          <a:bodyPr wrap="square" lIns="0" tIns="0" rIns="0" bIns="0" rtlCol="0" anchor="t"/>
          <a:lstStyle/>
          <a:p>
            <a:pPr marL="203200" indent="-203200">
              <a:spcAft>
                <a:spcPts val="900"/>
              </a:spcAft>
              <a:buSzPct val="100000"/>
              <a:buChar char="•"/>
            </a:pPr>
            <a:r>
              <a:rPr lang="en-US" sz="1800" dirty="0">
                <a:solidFill>
                  <a:srgbClr val="18293B"/>
                </a:solidFill>
                <a:latin typeface="Calibri" pitchFamily="34" charset="0"/>
                <a:ea typeface="Calibri" pitchFamily="34" charset="-122"/>
                <a:cs typeface="Calibri" pitchFamily="34" charset="-120"/>
              </a:rPr>
              <a:t>A chain covers one ordered pair. 464 assemblies is more than 200,000 pairs.</a:t>
            </a:r>
            <a:endParaRPr lang="en-US" sz="1800" dirty="0"/>
          </a:p>
          <a:p>
            <a:pPr marL="203200" indent="-203200">
              <a:spcAft>
                <a:spcPts val="900"/>
              </a:spcAft>
              <a:buSzPct val="100000"/>
              <a:buChar char="•"/>
            </a:pPr>
            <a:r>
              <a:rPr lang="en-US" sz="1800" dirty="0">
                <a:solidFill>
                  <a:srgbClr val="18293B"/>
                </a:solidFill>
                <a:latin typeface="Calibri" pitchFamily="34" charset="0"/>
                <a:ea typeface="Calibri" pitchFamily="34" charset="-122"/>
                <a:cs typeface="Calibri" pitchFamily="34" charset="-120"/>
              </a:rPr>
              <a:t>Chains in the browser database today: 56.</a:t>
            </a:r>
            <a:endParaRPr lang="en-US" sz="1800" dirty="0"/>
          </a:p>
          <a:p>
            <a:pPr marL="203200" indent="-203200">
              <a:spcAft>
                <a:spcPts val="900"/>
              </a:spcAft>
              <a:buSzPct val="100000"/>
              <a:buChar char="•"/>
            </a:pPr>
            <a:r>
              <a:rPr lang="en-US" sz="1800" dirty="0">
                <a:solidFill>
                  <a:srgbClr val="18293B"/>
                </a:solidFill>
                <a:latin typeface="Calibri" pitchFamily="34" charset="0"/>
                <a:ea typeface="Calibri" pitchFamily="34" charset="-122"/>
                <a:cs typeface="Calibri" pitchFamily="34" charset="-120"/>
              </a:rPr>
              <a:t>halLiftover on the Cactus alignment does any pair, offline, at file scale.</a:t>
            </a:r>
            <a:endParaRPr lang="en-US" sz="1800" dirty="0"/>
          </a:p>
        </p:txBody>
      </p:sp>
      <p:sp>
        <p:nvSpPr>
          <p:cNvPr id="14" name="Text 10"/>
          <p:cNvSpPr txBox="1"/>
          <p:nvPr/>
        </p:nvSpPr>
        <p:spPr>
          <a:xfrm>
            <a:off x="548640" y="5852160"/>
            <a:ext cx="11094415" cy="548640"/>
          </a:xfrm>
          <a:prstGeom prst="rect">
            <a:avLst/>
          </a:prstGeom>
          <a:noFill/>
          <a:ln/>
        </p:spPr>
        <p:txBody>
          <a:bodyPr wrap="square" lIns="0" tIns="0" rIns="0" bIns="0" rtlCol="0" anchor="ctr"/>
          <a:lstStyle/>
          <a:p>
            <a:pPr algn="ctr" indent="0" marL="0">
              <a:buNone/>
            </a:pPr>
            <a:r>
              <a:rPr lang="en-US" sz="2000" i="1" dirty="0">
                <a:solidFill>
                  <a:srgbClr val="003C6C"/>
                </a:solidFill>
                <a:latin typeface="Calibri" pitchFamily="34" charset="0"/>
                <a:ea typeface="Calibri" pitchFamily="34" charset="-122"/>
                <a:cs typeface="Calibri" pitchFamily="34" charset="-120"/>
              </a:rPr>
              <a:t>What hasn't existed: any pair, at web latency, inside the tool everyone already uses.</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Three questions the browser can't answer today</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4</a:t>
            </a:r>
            <a:endParaRPr lang="en-US" sz="1000" dirty="0"/>
          </a:p>
        </p:txBody>
      </p:sp>
      <p:sp>
        <p:nvSpPr>
          <p:cNvPr id="4" name="Shape 2"/>
          <p:cNvSpPr/>
          <p:nvPr/>
        </p:nvSpPr>
        <p:spPr>
          <a:xfrm>
            <a:off x="548640" y="1325880"/>
            <a:ext cx="3454298" cy="4114800"/>
          </a:xfrm>
          <a:prstGeom prst="roundRect">
            <a:avLst>
              <a:gd name="adj" fmla="val 3177"/>
            </a:avLst>
          </a:prstGeom>
          <a:solidFill>
            <a:srgbClr val="EDF1F6"/>
          </a:solidFill>
          <a:ln w="12700">
            <a:solidFill>
              <a:srgbClr val="DCE3EB"/>
            </a:solidFill>
            <a:prstDash val="solid"/>
          </a:ln>
        </p:spPr>
      </p:sp>
      <p:sp>
        <p:nvSpPr>
          <p:cNvPr id="5" name="Shape 3"/>
          <p:cNvSpPr/>
          <p:nvPr/>
        </p:nvSpPr>
        <p:spPr>
          <a:xfrm>
            <a:off x="868680" y="1691640"/>
            <a:ext cx="777240" cy="777240"/>
          </a:xfrm>
          <a:prstGeom prst="ellipse">
            <a:avLst/>
          </a:prstGeom>
          <a:solidFill>
            <a:srgbClr val="003C6C"/>
          </a:solidFill>
          <a:ln w="12700">
            <a:solidFill>
              <a:srgbClr val="003C6C"/>
            </a:solidFill>
            <a:prstDash val="solid"/>
          </a:ln>
        </p:spPr>
      </p:sp>
      <p:pic>
        <p:nvPicPr>
          <p:cNvPr id="6" name="Image 0" descr="preencoded.png">    </p:cNvPr>
          <p:cNvPicPr>
            <a:picLocks noChangeAspect="1"/>
          </p:cNvPicPr>
          <p:nvPr/>
        </p:nvPicPr>
        <p:blipFill>
          <a:blip r:embed="rId1"/>
          <a:stretch>
            <a:fillRect/>
          </a:stretch>
        </p:blipFill>
        <p:spPr>
          <a:xfrm>
            <a:off x="1070762" y="1893722"/>
            <a:ext cx="373075" cy="373075"/>
          </a:xfrm>
          <a:prstGeom prst="rect">
            <a:avLst/>
          </a:prstGeom>
        </p:spPr>
      </p:pic>
      <p:sp>
        <p:nvSpPr>
          <p:cNvPr id="7" name="Text 4"/>
          <p:cNvSpPr txBox="1"/>
          <p:nvPr/>
        </p:nvSpPr>
        <p:spPr>
          <a:xfrm>
            <a:off x="868680" y="2697480"/>
            <a:ext cx="2814218" cy="457200"/>
          </a:xfrm>
          <a:prstGeom prst="rect">
            <a:avLst/>
          </a:prstGeom>
          <a:noFill/>
          <a:ln/>
        </p:spPr>
        <p:txBody>
          <a:bodyPr wrap="square" lIns="0" tIns="0" rIns="0" bIns="0" rtlCol="0" anchor="t"/>
          <a:lstStyle/>
          <a:p>
            <a:pPr indent="0" marL="0">
              <a:buNone/>
            </a:pPr>
            <a:r>
              <a:rPr lang="en-US" sz="2000" b="1" dirty="0">
                <a:solidFill>
                  <a:srgbClr val="003C6C"/>
                </a:solidFill>
                <a:latin typeface="Calibri" pitchFamily="34" charset="0"/>
                <a:ea typeface="Calibri" pitchFamily="34" charset="-122"/>
                <a:cs typeface="Calibri" pitchFamily="34" charset="-120"/>
              </a:rPr>
              <a:t>I have a sequence.</a:t>
            </a:r>
            <a:endParaRPr lang="en-US" sz="2000" dirty="0"/>
          </a:p>
        </p:txBody>
      </p:sp>
      <p:sp>
        <p:nvSpPr>
          <p:cNvPr id="8" name="Text 5"/>
          <p:cNvSpPr txBox="1"/>
          <p:nvPr/>
        </p:nvSpPr>
        <p:spPr>
          <a:xfrm>
            <a:off x="868680" y="3200400"/>
            <a:ext cx="2814218" cy="914400"/>
          </a:xfrm>
          <a:prstGeom prst="rect">
            <a:avLst/>
          </a:prstGeom>
          <a:noFill/>
          <a:ln/>
        </p:spPr>
        <p:txBody>
          <a:bodyPr wrap="square" lIns="0" tIns="0" rIns="0" bIns="0" rtlCol="0" anchor="t"/>
          <a:lstStyle/>
          <a:p>
            <a:pPr indent="0" marL="0">
              <a:buNone/>
            </a:pPr>
            <a:r>
              <a:rPr lang="en-US" sz="2000" dirty="0">
                <a:solidFill>
                  <a:srgbClr val="18293B"/>
                </a:solidFill>
                <a:latin typeface="Calibri" pitchFamily="34" charset="0"/>
                <a:ea typeface="Calibri" pitchFamily="34" charset="-122"/>
                <a:cs typeface="Calibri" pitchFamily="34" charset="-120"/>
              </a:rPr>
              <a:t>Which haplotypes carry it, and where?</a:t>
            </a:r>
            <a:endParaRPr lang="en-US" sz="2000" dirty="0"/>
          </a:p>
        </p:txBody>
      </p:sp>
      <p:sp>
        <p:nvSpPr>
          <p:cNvPr id="9" name="Text 6"/>
          <p:cNvSpPr txBox="1"/>
          <p:nvPr/>
        </p:nvSpPr>
        <p:spPr>
          <a:xfrm>
            <a:off x="868680" y="4251960"/>
            <a:ext cx="2814218" cy="320040"/>
          </a:xfrm>
          <a:prstGeom prst="rect">
            <a:avLst/>
          </a:prstGeom>
          <a:noFill/>
          <a:ln/>
        </p:spPr>
        <p:txBody>
          <a:bodyPr wrap="square" lIns="0" tIns="0" rIns="0" bIns="0" rtlCol="0" anchor="t"/>
          <a:lstStyle/>
          <a:p>
            <a:pPr indent="0" marL="0">
              <a:buNone/>
            </a:pPr>
            <a:r>
              <a:rPr lang="en-US" sz="1600" dirty="0">
                <a:solidFill>
                  <a:srgbClr val="5B6B7C"/>
                </a:solidFill>
                <a:latin typeface="Calibri" pitchFamily="34" charset="0"/>
                <a:ea typeface="Calibri" pitchFamily="34" charset="-122"/>
                <a:cs typeface="Calibri" pitchFamily="34" charset="-120"/>
              </a:rPr>
              <a:t>today</a:t>
            </a:r>
            <a:endParaRPr lang="en-US" sz="1600" dirty="0"/>
          </a:p>
        </p:txBody>
      </p:sp>
      <p:sp>
        <p:nvSpPr>
          <p:cNvPr id="10" name="Text 7"/>
          <p:cNvSpPr txBox="1"/>
          <p:nvPr/>
        </p:nvSpPr>
        <p:spPr>
          <a:xfrm>
            <a:off x="868680" y="4572000"/>
            <a:ext cx="2814218" cy="640080"/>
          </a:xfrm>
          <a:prstGeom prst="rect">
            <a:avLst/>
          </a:prstGeom>
          <a:noFill/>
          <a:ln/>
        </p:spPr>
        <p:txBody>
          <a:bodyPr wrap="square" lIns="0" tIns="0" rIns="0" bIns="0" rtlCol="0" anchor="ctr"/>
          <a:lstStyle/>
          <a:p>
            <a:pPr indent="0" marL="0">
              <a:buNone/>
            </a:pPr>
            <a:r>
              <a:rPr lang="en-US" sz="2600" b="1" dirty="0">
                <a:solidFill>
                  <a:srgbClr val="E4572E"/>
                </a:solidFill>
                <a:latin typeface="Calibri" pitchFamily="34" charset="0"/>
                <a:ea typeface="Calibri" pitchFamily="34" charset="-122"/>
                <a:cs typeface="Calibri" pitchFamily="34" charset="-120"/>
              </a:rPr>
              <a:t>from a shell only</a:t>
            </a:r>
            <a:endParaRPr lang="en-US" sz="2600" dirty="0"/>
          </a:p>
        </p:txBody>
      </p:sp>
      <p:sp>
        <p:nvSpPr>
          <p:cNvPr id="11" name="Shape 8"/>
          <p:cNvSpPr/>
          <p:nvPr/>
        </p:nvSpPr>
        <p:spPr>
          <a:xfrm>
            <a:off x="4368698" y="1325880"/>
            <a:ext cx="3454298" cy="4114800"/>
          </a:xfrm>
          <a:prstGeom prst="roundRect">
            <a:avLst>
              <a:gd name="adj" fmla="val 3177"/>
            </a:avLst>
          </a:prstGeom>
          <a:solidFill>
            <a:srgbClr val="EDF1F6"/>
          </a:solidFill>
          <a:ln w="12700">
            <a:solidFill>
              <a:srgbClr val="DCE3EB"/>
            </a:solidFill>
            <a:prstDash val="solid"/>
          </a:ln>
        </p:spPr>
      </p:sp>
      <p:sp>
        <p:nvSpPr>
          <p:cNvPr id="12" name="Shape 9"/>
          <p:cNvSpPr/>
          <p:nvPr/>
        </p:nvSpPr>
        <p:spPr>
          <a:xfrm>
            <a:off x="4688738" y="1691640"/>
            <a:ext cx="777240" cy="777240"/>
          </a:xfrm>
          <a:prstGeom prst="ellipse">
            <a:avLst/>
          </a:prstGeom>
          <a:solidFill>
            <a:srgbClr val="003C6C"/>
          </a:solidFill>
          <a:ln w="12700">
            <a:solidFill>
              <a:srgbClr val="003C6C"/>
            </a:solidFill>
            <a:prstDash val="solid"/>
          </a:ln>
        </p:spPr>
      </p:sp>
      <p:pic>
        <p:nvPicPr>
          <p:cNvPr id="13" name="Image 1" descr="preencoded.png">    </p:cNvPr>
          <p:cNvPicPr>
            <a:picLocks noChangeAspect="1"/>
          </p:cNvPicPr>
          <p:nvPr/>
        </p:nvPicPr>
        <p:blipFill>
          <a:blip r:embed="rId2"/>
          <a:stretch>
            <a:fillRect/>
          </a:stretch>
        </p:blipFill>
        <p:spPr>
          <a:xfrm>
            <a:off x="4890821" y="1893722"/>
            <a:ext cx="373075" cy="373075"/>
          </a:xfrm>
          <a:prstGeom prst="rect">
            <a:avLst/>
          </a:prstGeom>
        </p:spPr>
      </p:pic>
      <p:sp>
        <p:nvSpPr>
          <p:cNvPr id="14" name="Text 10"/>
          <p:cNvSpPr txBox="1"/>
          <p:nvPr/>
        </p:nvSpPr>
        <p:spPr>
          <a:xfrm>
            <a:off x="4688738" y="2697480"/>
            <a:ext cx="2814218" cy="457200"/>
          </a:xfrm>
          <a:prstGeom prst="rect">
            <a:avLst/>
          </a:prstGeom>
          <a:noFill/>
          <a:ln/>
        </p:spPr>
        <p:txBody>
          <a:bodyPr wrap="square" lIns="0" tIns="0" rIns="0" bIns="0" rtlCol="0" anchor="t"/>
          <a:lstStyle/>
          <a:p>
            <a:pPr indent="0" marL="0">
              <a:buNone/>
            </a:pPr>
            <a:r>
              <a:rPr lang="en-US" sz="2000" b="1" dirty="0">
                <a:solidFill>
                  <a:srgbClr val="003C6C"/>
                </a:solidFill>
                <a:latin typeface="Calibri" pitchFamily="34" charset="0"/>
                <a:ea typeface="Calibri" pitchFamily="34" charset="-122"/>
                <a:cs typeface="Calibri" pitchFamily="34" charset="-120"/>
              </a:rPr>
              <a:t>I have a CHM13 region.</a:t>
            </a:r>
            <a:endParaRPr lang="en-US" sz="2000" dirty="0"/>
          </a:p>
        </p:txBody>
      </p:sp>
      <p:sp>
        <p:nvSpPr>
          <p:cNvPr id="15" name="Text 11"/>
          <p:cNvSpPr txBox="1"/>
          <p:nvPr/>
        </p:nvSpPr>
        <p:spPr>
          <a:xfrm>
            <a:off x="4688738" y="3200400"/>
            <a:ext cx="2814218" cy="914400"/>
          </a:xfrm>
          <a:prstGeom prst="rect">
            <a:avLst/>
          </a:prstGeom>
          <a:noFill/>
          <a:ln/>
        </p:spPr>
        <p:txBody>
          <a:bodyPr wrap="square" lIns="0" tIns="0" rIns="0" bIns="0" rtlCol="0" anchor="t"/>
          <a:lstStyle/>
          <a:p>
            <a:pPr indent="0" marL="0">
              <a:buNone/>
            </a:pPr>
            <a:r>
              <a:rPr lang="en-US" sz="2000" dirty="0">
                <a:solidFill>
                  <a:srgbClr val="18293B"/>
                </a:solidFill>
                <a:latin typeface="Calibri" pitchFamily="34" charset="0"/>
                <a:ea typeface="Calibri" pitchFamily="34" charset="-122"/>
                <a:cs typeface="Calibri" pitchFamily="34" charset="-120"/>
              </a:rPr>
              <a:t>Where is it on HG02015?</a:t>
            </a:r>
            <a:endParaRPr lang="en-US" sz="2000" dirty="0"/>
          </a:p>
        </p:txBody>
      </p:sp>
      <p:sp>
        <p:nvSpPr>
          <p:cNvPr id="16" name="Text 12"/>
          <p:cNvSpPr txBox="1"/>
          <p:nvPr/>
        </p:nvSpPr>
        <p:spPr>
          <a:xfrm>
            <a:off x="4688738" y="4251960"/>
            <a:ext cx="2814218" cy="320040"/>
          </a:xfrm>
          <a:prstGeom prst="rect">
            <a:avLst/>
          </a:prstGeom>
          <a:noFill/>
          <a:ln/>
        </p:spPr>
        <p:txBody>
          <a:bodyPr wrap="square" lIns="0" tIns="0" rIns="0" bIns="0" rtlCol="0" anchor="t"/>
          <a:lstStyle/>
          <a:p>
            <a:pPr indent="0" marL="0">
              <a:buNone/>
            </a:pPr>
            <a:r>
              <a:rPr lang="en-US" sz="1600" dirty="0">
                <a:solidFill>
                  <a:srgbClr val="5B6B7C"/>
                </a:solidFill>
                <a:latin typeface="Calibri" pitchFamily="34" charset="0"/>
                <a:ea typeface="Calibri" pitchFamily="34" charset="-122"/>
                <a:cs typeface="Calibri" pitchFamily="34" charset="-120"/>
              </a:rPr>
              <a:t>today</a:t>
            </a:r>
            <a:endParaRPr lang="en-US" sz="1600" dirty="0"/>
          </a:p>
        </p:txBody>
      </p:sp>
      <p:sp>
        <p:nvSpPr>
          <p:cNvPr id="17" name="Text 13"/>
          <p:cNvSpPr txBox="1"/>
          <p:nvPr/>
        </p:nvSpPr>
        <p:spPr>
          <a:xfrm>
            <a:off x="4688738" y="4572000"/>
            <a:ext cx="2814218" cy="640080"/>
          </a:xfrm>
          <a:prstGeom prst="rect">
            <a:avLst/>
          </a:prstGeom>
          <a:noFill/>
          <a:ln/>
        </p:spPr>
        <p:txBody>
          <a:bodyPr wrap="square" lIns="0" tIns="0" rIns="0" bIns="0" rtlCol="0" anchor="ctr"/>
          <a:lstStyle/>
          <a:p>
            <a:pPr indent="0" marL="0">
              <a:buNone/>
            </a:pPr>
            <a:r>
              <a:rPr lang="en-US" sz="2600" b="1" dirty="0">
                <a:solidFill>
                  <a:srgbClr val="E4572E"/>
                </a:solidFill>
                <a:latin typeface="Calibri" pitchFamily="34" charset="0"/>
                <a:ea typeface="Calibri" pitchFamily="34" charset="-122"/>
                <a:cs typeface="Calibri" pitchFamily="34" charset="-120"/>
              </a:rPr>
              <a:t>56 pairs have chains</a:t>
            </a:r>
            <a:endParaRPr lang="en-US" sz="2600" dirty="0"/>
          </a:p>
        </p:txBody>
      </p:sp>
      <p:sp>
        <p:nvSpPr>
          <p:cNvPr id="18" name="Shape 14"/>
          <p:cNvSpPr/>
          <p:nvPr/>
        </p:nvSpPr>
        <p:spPr>
          <a:xfrm>
            <a:off x="8188757" y="1325880"/>
            <a:ext cx="3454298" cy="4114800"/>
          </a:xfrm>
          <a:prstGeom prst="roundRect">
            <a:avLst>
              <a:gd name="adj" fmla="val 3177"/>
            </a:avLst>
          </a:prstGeom>
          <a:solidFill>
            <a:srgbClr val="EDF1F6"/>
          </a:solidFill>
          <a:ln w="12700">
            <a:solidFill>
              <a:srgbClr val="DCE3EB"/>
            </a:solidFill>
            <a:prstDash val="solid"/>
          </a:ln>
        </p:spPr>
      </p:sp>
      <p:sp>
        <p:nvSpPr>
          <p:cNvPr id="19" name="Shape 15"/>
          <p:cNvSpPr/>
          <p:nvPr/>
        </p:nvSpPr>
        <p:spPr>
          <a:xfrm>
            <a:off x="8508797" y="1691640"/>
            <a:ext cx="777240" cy="777240"/>
          </a:xfrm>
          <a:prstGeom prst="ellipse">
            <a:avLst/>
          </a:prstGeom>
          <a:solidFill>
            <a:srgbClr val="003C6C"/>
          </a:solidFill>
          <a:ln w="12700">
            <a:solidFill>
              <a:srgbClr val="003C6C"/>
            </a:solidFill>
            <a:prstDash val="solid"/>
          </a:ln>
        </p:spPr>
      </p:sp>
      <p:pic>
        <p:nvPicPr>
          <p:cNvPr id="20" name="Image 2" descr="preencoded.png">    </p:cNvPr>
          <p:cNvPicPr>
            <a:picLocks noChangeAspect="1"/>
          </p:cNvPicPr>
          <p:nvPr/>
        </p:nvPicPr>
        <p:blipFill>
          <a:blip r:embed="rId3"/>
          <a:stretch>
            <a:fillRect/>
          </a:stretch>
        </p:blipFill>
        <p:spPr>
          <a:xfrm>
            <a:off x="8710879" y="1893722"/>
            <a:ext cx="373075" cy="373075"/>
          </a:xfrm>
          <a:prstGeom prst="rect">
            <a:avLst/>
          </a:prstGeom>
        </p:spPr>
      </p:pic>
      <p:sp>
        <p:nvSpPr>
          <p:cNvPr id="21" name="Text 16"/>
          <p:cNvSpPr txBox="1"/>
          <p:nvPr/>
        </p:nvSpPr>
        <p:spPr>
          <a:xfrm>
            <a:off x="8508797" y="2697480"/>
            <a:ext cx="2814218" cy="457200"/>
          </a:xfrm>
          <a:prstGeom prst="rect">
            <a:avLst/>
          </a:prstGeom>
          <a:noFill/>
          <a:ln/>
        </p:spPr>
        <p:txBody>
          <a:bodyPr wrap="square" lIns="0" tIns="0" rIns="0" bIns="0" rtlCol="0" anchor="t"/>
          <a:lstStyle/>
          <a:p>
            <a:pPr indent="0" marL="0">
              <a:buNone/>
            </a:pPr>
            <a:r>
              <a:rPr lang="en-US" sz="2000" b="1" dirty="0">
                <a:solidFill>
                  <a:srgbClr val="003C6C"/>
                </a:solidFill>
                <a:latin typeface="Calibri" pitchFamily="34" charset="0"/>
                <a:ea typeface="Calibri" pitchFamily="34" charset="-122"/>
                <a:cs typeface="Calibri" pitchFamily="34" charset="-120"/>
              </a:rPr>
              <a:t>When I get there,</a:t>
            </a:r>
            <a:endParaRPr lang="en-US" sz="2000" dirty="0"/>
          </a:p>
        </p:txBody>
      </p:sp>
      <p:sp>
        <p:nvSpPr>
          <p:cNvPr id="22" name="Text 17"/>
          <p:cNvSpPr txBox="1"/>
          <p:nvPr/>
        </p:nvSpPr>
        <p:spPr>
          <a:xfrm>
            <a:off x="8508797" y="3200400"/>
            <a:ext cx="2814218" cy="914400"/>
          </a:xfrm>
          <a:prstGeom prst="rect">
            <a:avLst/>
          </a:prstGeom>
          <a:noFill/>
          <a:ln/>
        </p:spPr>
        <p:txBody>
          <a:bodyPr wrap="square" lIns="0" tIns="0" rIns="0" bIns="0" rtlCol="0" anchor="t"/>
          <a:lstStyle/>
          <a:p>
            <a:pPr indent="0" marL="0">
              <a:buNone/>
            </a:pPr>
            <a:r>
              <a:rPr lang="en-US" sz="2000" dirty="0">
                <a:solidFill>
                  <a:srgbClr val="18293B"/>
                </a:solidFill>
                <a:latin typeface="Calibri" pitchFamily="34" charset="0"/>
                <a:ea typeface="Calibri" pitchFamily="34" charset="-122"/>
                <a:cs typeface="Calibri" pitchFamily="34" charset="-120"/>
              </a:rPr>
              <a:t>can I see the genes?</a:t>
            </a:r>
            <a:endParaRPr lang="en-US" sz="2000" dirty="0"/>
          </a:p>
        </p:txBody>
      </p:sp>
      <p:sp>
        <p:nvSpPr>
          <p:cNvPr id="23" name="Text 18"/>
          <p:cNvSpPr txBox="1"/>
          <p:nvPr/>
        </p:nvSpPr>
        <p:spPr>
          <a:xfrm>
            <a:off x="8508797" y="4251960"/>
            <a:ext cx="2814218" cy="320040"/>
          </a:xfrm>
          <a:prstGeom prst="rect">
            <a:avLst/>
          </a:prstGeom>
          <a:noFill/>
          <a:ln/>
        </p:spPr>
        <p:txBody>
          <a:bodyPr wrap="square" lIns="0" tIns="0" rIns="0" bIns="0" rtlCol="0" anchor="t"/>
          <a:lstStyle/>
          <a:p>
            <a:pPr indent="0" marL="0">
              <a:buNone/>
            </a:pPr>
            <a:r>
              <a:rPr lang="en-US" sz="1600" dirty="0">
                <a:solidFill>
                  <a:srgbClr val="5B6B7C"/>
                </a:solidFill>
                <a:latin typeface="Calibri" pitchFamily="34" charset="0"/>
                <a:ea typeface="Calibri" pitchFamily="34" charset="-122"/>
                <a:cs typeface="Calibri" pitchFamily="34" charset="-120"/>
              </a:rPr>
              <a:t>today</a:t>
            </a:r>
            <a:endParaRPr lang="en-US" sz="1600" dirty="0"/>
          </a:p>
        </p:txBody>
      </p:sp>
      <p:sp>
        <p:nvSpPr>
          <p:cNvPr id="24" name="Text 19"/>
          <p:cNvSpPr txBox="1"/>
          <p:nvPr/>
        </p:nvSpPr>
        <p:spPr>
          <a:xfrm>
            <a:off x="8508797" y="4572000"/>
            <a:ext cx="2814218" cy="640080"/>
          </a:xfrm>
          <a:prstGeom prst="rect">
            <a:avLst/>
          </a:prstGeom>
          <a:noFill/>
          <a:ln/>
        </p:spPr>
        <p:txBody>
          <a:bodyPr wrap="square" lIns="0" tIns="0" rIns="0" bIns="0" rtlCol="0" anchor="ctr"/>
          <a:lstStyle/>
          <a:p>
            <a:pPr indent="0" marL="0">
              <a:buNone/>
            </a:pPr>
            <a:r>
              <a:rPr lang="en-US" sz="2600" b="1" dirty="0">
                <a:solidFill>
                  <a:srgbClr val="E4572E"/>
                </a:solidFill>
                <a:latin typeface="Calibri" pitchFamily="34" charset="0"/>
                <a:ea typeface="Calibri" pitchFamily="34" charset="-122"/>
                <a:cs typeface="Calibri" pitchFamily="34" charset="-120"/>
              </a:rPr>
              <a:t>only its own tracks</a:t>
            </a:r>
            <a:endParaRPr lang="en-US" sz="2600" dirty="0"/>
          </a:p>
        </p:txBody>
      </p:sp>
      <p:sp>
        <p:nvSpPr>
          <p:cNvPr id="25" name="Text 20"/>
          <p:cNvSpPr txBox="1"/>
          <p:nvPr/>
        </p:nvSpPr>
        <p:spPr>
          <a:xfrm>
            <a:off x="548640" y="5852160"/>
            <a:ext cx="11094415" cy="548640"/>
          </a:xfrm>
          <a:prstGeom prst="rect">
            <a:avLst/>
          </a:prstGeom>
          <a:noFill/>
          <a:ln/>
        </p:spPr>
        <p:txBody>
          <a:bodyPr wrap="square" lIns="0" tIns="0" rIns="0" bIns="0" rtlCol="0" anchor="ctr"/>
          <a:lstStyle/>
          <a:p>
            <a:pPr algn="ctr" indent="0" marL="0">
              <a:buNone/>
            </a:pPr>
            <a:r>
              <a:rPr lang="en-US" sz="2000" i="1" dirty="0">
                <a:solidFill>
                  <a:srgbClr val="003C6C"/>
                </a:solidFill>
                <a:latin typeface="Calibri" pitchFamily="34" charset="0"/>
                <a:ea typeface="Calibri" pitchFamily="34" charset="-122"/>
                <a:cs typeface="Calibri" pitchFamily="34" charset="-120"/>
              </a:rPr>
              <a:t>By the end of this talk: all three, in the browser, in seconds.</a:t>
            </a:r>
            <a:endParaRPr lang="en-US" sz="2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One service, two engines, three pages</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5</a:t>
            </a:r>
            <a:endParaRPr lang="en-US" sz="1000" dirty="0"/>
          </a:p>
        </p:txBody>
      </p:sp>
      <p:sp>
        <p:nvSpPr>
          <p:cNvPr id="4" name="Shape 2"/>
          <p:cNvSpPr/>
          <p:nvPr/>
        </p:nvSpPr>
        <p:spPr>
          <a:xfrm>
            <a:off x="548640" y="1325880"/>
            <a:ext cx="7223760" cy="1234440"/>
          </a:xfrm>
          <a:prstGeom prst="roundRect">
            <a:avLst>
              <a:gd name="adj" fmla="val 8889"/>
            </a:avLst>
          </a:prstGeom>
          <a:solidFill>
            <a:srgbClr val="EDF1F6"/>
          </a:solidFill>
          <a:ln w="12700">
            <a:solidFill>
              <a:srgbClr val="DCE3EB"/>
            </a:solidFill>
            <a:prstDash val="solid"/>
          </a:ln>
        </p:spPr>
      </p:sp>
      <p:sp>
        <p:nvSpPr>
          <p:cNvPr id="5" name="Text 3"/>
          <p:cNvSpPr txBox="1"/>
          <p:nvPr/>
        </p:nvSpPr>
        <p:spPr>
          <a:xfrm>
            <a:off x="822960" y="1435608"/>
            <a:ext cx="4572000" cy="365760"/>
          </a:xfrm>
          <a:prstGeom prst="rect">
            <a:avLst/>
          </a:prstGeom>
          <a:noFill/>
          <a:ln/>
        </p:spPr>
        <p:txBody>
          <a:bodyPr wrap="square" lIns="0" tIns="0" rIns="0" bIns="0" rtlCol="0" anchor="t"/>
          <a:lstStyle/>
          <a:p>
            <a:pPr indent="0" marL="0">
              <a:buNone/>
            </a:pPr>
            <a:r>
              <a:rPr lang="en-US" sz="1800" b="1" dirty="0">
                <a:solidFill>
                  <a:srgbClr val="003C6C"/>
                </a:solidFill>
                <a:latin typeface="Calibri" pitchFamily="34" charset="0"/>
                <a:ea typeface="Calibri" pitchFamily="34" charset="-122"/>
                <a:cs typeface="Calibri" pitchFamily="34" charset="-120"/>
              </a:rPr>
              <a:t>UCSC Genome Browser</a:t>
            </a:r>
            <a:endParaRPr lang="en-US" sz="1800" dirty="0"/>
          </a:p>
        </p:txBody>
      </p:sp>
      <p:sp>
        <p:nvSpPr>
          <p:cNvPr id="6" name="Shape 4"/>
          <p:cNvSpPr/>
          <p:nvPr/>
        </p:nvSpPr>
        <p:spPr>
          <a:xfrm>
            <a:off x="822960" y="1892808"/>
            <a:ext cx="2103120" cy="502920"/>
          </a:xfrm>
          <a:prstGeom prst="roundRect">
            <a:avLst>
              <a:gd name="adj" fmla="val 14545"/>
            </a:avLst>
          </a:prstGeom>
          <a:solidFill>
            <a:srgbClr val="FFFFFF"/>
          </a:solidFill>
          <a:ln w="12700">
            <a:solidFill>
              <a:srgbClr val="DCE3EB"/>
            </a:solidFill>
            <a:prstDash val="solid"/>
          </a:ln>
        </p:spPr>
      </p:sp>
      <p:sp>
        <p:nvSpPr>
          <p:cNvPr id="7" name="Text 5"/>
          <p:cNvSpPr txBox="1"/>
          <p:nvPr/>
        </p:nvSpPr>
        <p:spPr>
          <a:xfrm>
            <a:off x="822960" y="1892808"/>
            <a:ext cx="2103120" cy="502920"/>
          </a:xfrm>
          <a:prstGeom prst="rect">
            <a:avLst/>
          </a:prstGeom>
          <a:noFill/>
          <a:ln/>
        </p:spPr>
        <p:txBody>
          <a:bodyPr wrap="square" lIns="0" tIns="0" rIns="0" bIns="0" rtlCol="0" anchor="ctr"/>
          <a:lstStyle/>
          <a:p>
            <a:pPr algn="ctr" indent="0" marL="0">
              <a:buNone/>
            </a:pPr>
            <a:r>
              <a:rPr lang="en-US" sz="1600" dirty="0">
                <a:solidFill>
                  <a:srgbClr val="18293B"/>
                </a:solidFill>
                <a:latin typeface="Calibri" pitchFamily="34" charset="0"/>
                <a:ea typeface="Calibri" pitchFamily="34" charset="-122"/>
                <a:cs typeface="Calibri" pitchFamily="34" charset="-120"/>
              </a:rPr>
              <a:t>Pangenome Mapping</a:t>
            </a:r>
            <a:endParaRPr lang="en-US" sz="1600" dirty="0"/>
          </a:p>
        </p:txBody>
      </p:sp>
      <p:sp>
        <p:nvSpPr>
          <p:cNvPr id="8" name="Shape 6"/>
          <p:cNvSpPr/>
          <p:nvPr/>
        </p:nvSpPr>
        <p:spPr>
          <a:xfrm>
            <a:off x="3063240" y="1892808"/>
            <a:ext cx="2103120" cy="502920"/>
          </a:xfrm>
          <a:prstGeom prst="roundRect">
            <a:avLst>
              <a:gd name="adj" fmla="val 14545"/>
            </a:avLst>
          </a:prstGeom>
          <a:solidFill>
            <a:srgbClr val="FFFFFF"/>
          </a:solidFill>
          <a:ln w="12700">
            <a:solidFill>
              <a:srgbClr val="DCE3EB"/>
            </a:solidFill>
            <a:prstDash val="solid"/>
          </a:ln>
        </p:spPr>
      </p:sp>
      <p:sp>
        <p:nvSpPr>
          <p:cNvPr id="9" name="Text 7"/>
          <p:cNvSpPr txBox="1"/>
          <p:nvPr/>
        </p:nvSpPr>
        <p:spPr>
          <a:xfrm>
            <a:off x="3063240" y="1892808"/>
            <a:ext cx="2103120" cy="502920"/>
          </a:xfrm>
          <a:prstGeom prst="rect">
            <a:avLst/>
          </a:prstGeom>
          <a:noFill/>
          <a:ln/>
        </p:spPr>
        <p:txBody>
          <a:bodyPr wrap="square" lIns="0" tIns="0" rIns="0" bIns="0" rtlCol="0" anchor="ctr"/>
          <a:lstStyle/>
          <a:p>
            <a:pPr algn="ctr" indent="0" marL="0">
              <a:buNone/>
            </a:pPr>
            <a:r>
              <a:rPr lang="en-US" sz="1600" dirty="0">
                <a:solidFill>
                  <a:srgbClr val="18293B"/>
                </a:solidFill>
                <a:latin typeface="Calibri" pitchFamily="34" charset="0"/>
                <a:ea typeface="Calibri" pitchFamily="34" charset="-122"/>
                <a:cs typeface="Calibri" pitchFamily="34" charset="-120"/>
              </a:rPr>
              <a:t>Convert Coordinates</a:t>
            </a:r>
            <a:endParaRPr lang="en-US" sz="1600" dirty="0"/>
          </a:p>
        </p:txBody>
      </p:sp>
      <p:sp>
        <p:nvSpPr>
          <p:cNvPr id="10" name="Shape 8"/>
          <p:cNvSpPr/>
          <p:nvPr/>
        </p:nvSpPr>
        <p:spPr>
          <a:xfrm>
            <a:off x="5303520" y="1892808"/>
            <a:ext cx="2103120" cy="502920"/>
          </a:xfrm>
          <a:prstGeom prst="roundRect">
            <a:avLst>
              <a:gd name="adj" fmla="val 14545"/>
            </a:avLst>
          </a:prstGeom>
          <a:solidFill>
            <a:srgbClr val="FFFFFF"/>
          </a:solidFill>
          <a:ln w="12700">
            <a:solidFill>
              <a:srgbClr val="DCE3EB"/>
            </a:solidFill>
            <a:prstDash val="solid"/>
          </a:ln>
        </p:spPr>
      </p:sp>
      <p:sp>
        <p:nvSpPr>
          <p:cNvPr id="11" name="Text 9"/>
          <p:cNvSpPr txBox="1"/>
          <p:nvPr/>
        </p:nvSpPr>
        <p:spPr>
          <a:xfrm>
            <a:off x="5303520" y="1892808"/>
            <a:ext cx="2103120" cy="502920"/>
          </a:xfrm>
          <a:prstGeom prst="rect">
            <a:avLst/>
          </a:prstGeom>
          <a:noFill/>
          <a:ln/>
        </p:spPr>
        <p:txBody>
          <a:bodyPr wrap="square" lIns="0" tIns="0" rIns="0" bIns="0" rtlCol="0" anchor="ctr"/>
          <a:lstStyle/>
          <a:p>
            <a:pPr algn="ctr" indent="0" marL="0">
              <a:buNone/>
            </a:pPr>
            <a:r>
              <a:rPr lang="en-US" sz="1600" dirty="0">
                <a:solidFill>
                  <a:srgbClr val="18293B"/>
                </a:solidFill>
                <a:latin typeface="Calibri" pitchFamily="34" charset="0"/>
                <a:ea typeface="Calibri" pitchFamily="34" charset="-122"/>
                <a:cs typeface="Calibri" pitchFamily="34" charset="-120"/>
              </a:rPr>
              <a:t>hgConvert</a:t>
            </a:r>
            <a:endParaRPr lang="en-US" sz="1600" dirty="0"/>
          </a:p>
        </p:txBody>
      </p:sp>
      <p:sp>
        <p:nvSpPr>
          <p:cNvPr id="12" name="Shape 10"/>
          <p:cNvSpPr/>
          <p:nvPr/>
        </p:nvSpPr>
        <p:spPr>
          <a:xfrm>
            <a:off x="4160520" y="2560320"/>
            <a:ext cx="0" cy="457200"/>
          </a:xfrm>
          <a:prstGeom prst="line">
            <a:avLst/>
          </a:prstGeom>
          <a:noFill/>
          <a:ln w="25400">
            <a:solidFill>
              <a:srgbClr val="003C6C"/>
            </a:solidFill>
            <a:prstDash val="solid"/>
            <a:tailEnd type="triangle"/>
          </a:ln>
        </p:spPr>
      </p:sp>
      <p:sp>
        <p:nvSpPr>
          <p:cNvPr id="13" name="Text 11"/>
          <p:cNvSpPr txBox="1"/>
          <p:nvPr/>
        </p:nvSpPr>
        <p:spPr>
          <a:xfrm>
            <a:off x="4297680" y="2624328"/>
            <a:ext cx="2743200" cy="365760"/>
          </a:xfrm>
          <a:prstGeom prst="rect">
            <a:avLst/>
          </a:prstGeom>
          <a:noFill/>
          <a:ln/>
        </p:spPr>
        <p:txBody>
          <a:bodyPr wrap="square" lIns="0" tIns="0" rIns="0" bIns="0" rtlCol="0" anchor="t"/>
          <a:lstStyle/>
          <a:p>
            <a:pPr indent="0" marL="0">
              <a:buNone/>
            </a:pPr>
            <a:r>
              <a:rPr lang="en-US" sz="1600" dirty="0">
                <a:solidFill>
                  <a:srgbClr val="5B6B7C"/>
                </a:solidFill>
                <a:latin typeface="Calibri" pitchFamily="34" charset="0"/>
                <a:ea typeface="Calibri" pitchFamily="34" charset="-122"/>
                <a:cs typeface="Calibri" pitchFamily="34" charset="-120"/>
              </a:rPr>
              <a:t>JSON over HTTP</a:t>
            </a:r>
            <a:endParaRPr lang="en-US" sz="1600" dirty="0"/>
          </a:p>
        </p:txBody>
      </p:sp>
      <p:sp>
        <p:nvSpPr>
          <p:cNvPr id="14" name="Shape 12"/>
          <p:cNvSpPr/>
          <p:nvPr/>
        </p:nvSpPr>
        <p:spPr>
          <a:xfrm>
            <a:off x="548640" y="3017520"/>
            <a:ext cx="7223760" cy="685800"/>
          </a:xfrm>
          <a:prstGeom prst="roundRect">
            <a:avLst>
              <a:gd name="adj" fmla="val 16000"/>
            </a:avLst>
          </a:prstGeom>
          <a:solidFill>
            <a:srgbClr val="EDF1F6"/>
          </a:solidFill>
          <a:ln w="12700">
            <a:solidFill>
              <a:srgbClr val="DCE3EB"/>
            </a:solidFill>
            <a:prstDash val="solid"/>
          </a:ln>
        </p:spPr>
      </p:sp>
      <p:sp>
        <p:nvSpPr>
          <p:cNvPr id="15" name="Text 13"/>
          <p:cNvSpPr txBox="1"/>
          <p:nvPr/>
        </p:nvSpPr>
        <p:spPr>
          <a:xfrm>
            <a:off x="548640" y="3017520"/>
            <a:ext cx="7223760" cy="685800"/>
          </a:xfrm>
          <a:prstGeom prst="rect">
            <a:avLst/>
          </a:prstGeom>
          <a:noFill/>
          <a:ln/>
        </p:spPr>
        <p:txBody>
          <a:bodyPr wrap="square" lIns="0" tIns="0" rIns="0" bIns="0" rtlCol="0" anchor="ctr"/>
          <a:lstStyle/>
          <a:p>
            <a:pPr algn="ctr" indent="0" marL="0">
              <a:buNone/>
            </a:pPr>
            <a:r>
              <a:rPr lang="en-US" sz="1800" b="1" dirty="0">
                <a:solidFill>
                  <a:srgbClr val="003C6C"/>
                </a:solidFill>
                <a:latin typeface="Calibri" pitchFamily="34" charset="0"/>
                <a:ea typeface="Calibri" pitchFamily="34" charset="-122"/>
                <a:cs typeface="Calibri" pitchFamily="34" charset="-120"/>
              </a:rPr>
              <a:t>pangenome service</a:t>
            </a:r>
            <a:endParaRPr lang="en-US" sz="1800" dirty="0"/>
          </a:p>
        </p:txBody>
      </p:sp>
      <p:sp>
        <p:nvSpPr>
          <p:cNvPr id="16" name="Shape 14"/>
          <p:cNvSpPr/>
          <p:nvPr/>
        </p:nvSpPr>
        <p:spPr>
          <a:xfrm>
            <a:off x="2331720" y="3703320"/>
            <a:ext cx="0" cy="411480"/>
          </a:xfrm>
          <a:prstGeom prst="line">
            <a:avLst/>
          </a:prstGeom>
          <a:noFill/>
          <a:ln w="25400">
            <a:solidFill>
              <a:srgbClr val="003C6C"/>
            </a:solidFill>
            <a:prstDash val="solid"/>
            <a:tailEnd type="triangle"/>
          </a:ln>
        </p:spPr>
      </p:sp>
      <p:sp>
        <p:nvSpPr>
          <p:cNvPr id="17" name="Shape 15"/>
          <p:cNvSpPr/>
          <p:nvPr/>
        </p:nvSpPr>
        <p:spPr>
          <a:xfrm>
            <a:off x="5989320" y="3703320"/>
            <a:ext cx="0" cy="411480"/>
          </a:xfrm>
          <a:prstGeom prst="line">
            <a:avLst/>
          </a:prstGeom>
          <a:noFill/>
          <a:ln w="25400">
            <a:solidFill>
              <a:srgbClr val="003C6C"/>
            </a:solidFill>
            <a:prstDash val="solid"/>
            <a:tailEnd type="triangle"/>
          </a:ln>
        </p:spPr>
      </p:sp>
      <p:sp>
        <p:nvSpPr>
          <p:cNvPr id="18" name="Shape 16"/>
          <p:cNvSpPr/>
          <p:nvPr/>
        </p:nvSpPr>
        <p:spPr>
          <a:xfrm>
            <a:off x="548640" y="4114800"/>
            <a:ext cx="3474720" cy="1097280"/>
          </a:xfrm>
          <a:prstGeom prst="roundRect">
            <a:avLst>
              <a:gd name="adj" fmla="val 10000"/>
            </a:avLst>
          </a:prstGeom>
          <a:solidFill>
            <a:srgbClr val="EDF1F6"/>
          </a:solidFill>
          <a:ln w="12700">
            <a:solidFill>
              <a:srgbClr val="DCE3EB"/>
            </a:solidFill>
            <a:prstDash val="solid"/>
          </a:ln>
        </p:spPr>
      </p:sp>
      <p:sp>
        <p:nvSpPr>
          <p:cNvPr id="19" name="Shape 17"/>
          <p:cNvSpPr/>
          <p:nvPr/>
        </p:nvSpPr>
        <p:spPr>
          <a:xfrm>
            <a:off x="4297680" y="4114800"/>
            <a:ext cx="3474720" cy="1097280"/>
          </a:xfrm>
          <a:prstGeom prst="roundRect">
            <a:avLst>
              <a:gd name="adj" fmla="val 10000"/>
            </a:avLst>
          </a:prstGeom>
          <a:solidFill>
            <a:srgbClr val="EDF1F6"/>
          </a:solidFill>
          <a:ln w="12700">
            <a:solidFill>
              <a:srgbClr val="DCE3EB"/>
            </a:solidFill>
            <a:prstDash val="solid"/>
          </a:ln>
        </p:spPr>
      </p:sp>
      <p:sp>
        <p:nvSpPr>
          <p:cNvPr id="20" name="Text 18"/>
          <p:cNvSpPr txBox="1"/>
          <p:nvPr/>
        </p:nvSpPr>
        <p:spPr>
          <a:xfrm>
            <a:off x="822960" y="4206240"/>
            <a:ext cx="3017520" cy="365760"/>
          </a:xfrm>
          <a:prstGeom prst="rect">
            <a:avLst/>
          </a:prstGeom>
          <a:noFill/>
          <a:ln/>
        </p:spPr>
        <p:txBody>
          <a:bodyPr wrap="square" lIns="0" tIns="0" rIns="0" bIns="0" rtlCol="0" anchor="t"/>
          <a:lstStyle/>
          <a:p>
            <a:pPr indent="0" marL="0">
              <a:buNone/>
            </a:pPr>
            <a:r>
              <a:rPr lang="en-US" sz="1800" b="1" dirty="0">
                <a:solidFill>
                  <a:srgbClr val="003C6C"/>
                </a:solidFill>
                <a:latin typeface="Calibri" pitchFamily="34" charset="0"/>
                <a:ea typeface="Calibri" pitchFamily="34" charset="-122"/>
                <a:cs typeface="Calibri" pitchFamily="34" charset="-120"/>
              </a:rPr>
              <a:t>vg giraffe</a:t>
            </a:r>
            <a:endParaRPr lang="en-US" sz="1800" dirty="0"/>
          </a:p>
        </p:txBody>
      </p:sp>
      <p:sp>
        <p:nvSpPr>
          <p:cNvPr id="21" name="Text 19"/>
          <p:cNvSpPr txBox="1"/>
          <p:nvPr/>
        </p:nvSpPr>
        <p:spPr>
          <a:xfrm>
            <a:off x="822960" y="4590288"/>
            <a:ext cx="3017520" cy="548640"/>
          </a:xfrm>
          <a:prstGeom prst="rect">
            <a:avLst/>
          </a:prstGeom>
          <a:noFill/>
          <a:ln/>
        </p:spPr>
        <p:txBody>
          <a:bodyPr wrap="square" lIns="0" tIns="0" rIns="0" bIns="0" rtlCol="0" anchor="t"/>
          <a:lstStyle/>
          <a:p>
            <a:pPr indent="0" marL="0">
              <a:buNone/>
            </a:pPr>
            <a:r>
              <a:rPr lang="en-US" sz="1600" dirty="0">
                <a:solidFill>
                  <a:srgbClr val="5B6B7C"/>
                </a:solidFill>
                <a:latin typeface="Calibri" pitchFamily="34" charset="0"/>
                <a:ea typeface="Calibri" pitchFamily="34" charset="-122"/>
                <a:cs typeface="Calibri" pitchFamily="34" charset="-120"/>
              </a:rPr>
              <a:t>maps a sequence to the whole graph</a:t>
            </a:r>
            <a:endParaRPr lang="en-US" sz="1600" dirty="0"/>
          </a:p>
        </p:txBody>
      </p:sp>
      <p:sp>
        <p:nvSpPr>
          <p:cNvPr id="22" name="Text 20"/>
          <p:cNvSpPr txBox="1"/>
          <p:nvPr/>
        </p:nvSpPr>
        <p:spPr>
          <a:xfrm>
            <a:off x="4572000" y="4206240"/>
            <a:ext cx="3017520" cy="365760"/>
          </a:xfrm>
          <a:prstGeom prst="rect">
            <a:avLst/>
          </a:prstGeom>
          <a:noFill/>
          <a:ln/>
        </p:spPr>
        <p:txBody>
          <a:bodyPr wrap="square" lIns="0" tIns="0" rIns="0" bIns="0" rtlCol="0" anchor="t"/>
          <a:lstStyle/>
          <a:p>
            <a:pPr indent="0" marL="0">
              <a:buNone/>
            </a:pPr>
            <a:r>
              <a:rPr lang="en-US" sz="1800" b="1" dirty="0">
                <a:solidFill>
                  <a:srgbClr val="003C6C"/>
                </a:solidFill>
                <a:latin typeface="Calibri" pitchFamily="34" charset="0"/>
                <a:ea typeface="Calibri" pitchFamily="34" charset="-122"/>
                <a:cs typeface="Calibri" pitchFamily="34" charset="-120"/>
              </a:rPr>
              <a:t>pangenome-index</a:t>
            </a:r>
            <a:endParaRPr lang="en-US" sz="1800" dirty="0"/>
          </a:p>
        </p:txBody>
      </p:sp>
      <p:sp>
        <p:nvSpPr>
          <p:cNvPr id="23" name="Text 21"/>
          <p:cNvSpPr txBox="1"/>
          <p:nvPr/>
        </p:nvSpPr>
        <p:spPr>
          <a:xfrm>
            <a:off x="4572000" y="4590288"/>
            <a:ext cx="3017520" cy="548640"/>
          </a:xfrm>
          <a:prstGeom prst="rect">
            <a:avLst/>
          </a:prstGeom>
          <a:noFill/>
          <a:ln/>
        </p:spPr>
        <p:txBody>
          <a:bodyPr wrap="square" lIns="0" tIns="0" rIns="0" bIns="0" rtlCol="0" anchor="t"/>
          <a:lstStyle/>
          <a:p>
            <a:pPr indent="0" marL="0">
              <a:buNone/>
            </a:pPr>
            <a:r>
              <a:rPr lang="en-US" sz="1600" dirty="0">
                <a:solidFill>
                  <a:srgbClr val="5B6B7C"/>
                </a:solidFill>
                <a:latin typeface="Calibri" pitchFamily="34" charset="0"/>
                <a:ea typeface="Calibri" pitchFamily="34" charset="-122"/>
                <a:cs typeface="Calibri" pitchFamily="34" charset="-120"/>
              </a:rPr>
              <a:t>tag arrays: any-to-any translation</a:t>
            </a:r>
            <a:endParaRPr lang="en-US" sz="1600" dirty="0"/>
          </a:p>
        </p:txBody>
      </p:sp>
      <p:sp>
        <p:nvSpPr>
          <p:cNvPr id="24" name="Shape 22"/>
          <p:cNvSpPr/>
          <p:nvPr/>
        </p:nvSpPr>
        <p:spPr>
          <a:xfrm>
            <a:off x="548640" y="5486400"/>
            <a:ext cx="7223760" cy="731520"/>
          </a:xfrm>
          <a:prstGeom prst="roundRect">
            <a:avLst>
              <a:gd name="adj" fmla="val 15000"/>
            </a:avLst>
          </a:prstGeom>
          <a:solidFill>
            <a:srgbClr val="003C6C"/>
          </a:solidFill>
          <a:ln w="12700">
            <a:solidFill>
              <a:srgbClr val="003C6C"/>
            </a:solidFill>
            <a:prstDash val="solid"/>
          </a:ln>
        </p:spPr>
      </p:sp>
      <p:sp>
        <p:nvSpPr>
          <p:cNvPr id="25" name="Text 23"/>
          <p:cNvSpPr txBox="1"/>
          <p:nvPr/>
        </p:nvSpPr>
        <p:spPr>
          <a:xfrm>
            <a:off x="548640" y="5486400"/>
            <a:ext cx="7223760" cy="731520"/>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HPRC v2.0 Minigraph-Cactus graph  •  464 haplotypes, CHM13 and GRCh38 included  •  148M nodes</a:t>
            </a:r>
            <a:endParaRPr lang="en-US" sz="1600" dirty="0"/>
          </a:p>
        </p:txBody>
      </p:sp>
      <p:sp>
        <p:nvSpPr>
          <p:cNvPr id="26" name="Shape 24"/>
          <p:cNvSpPr/>
          <p:nvPr/>
        </p:nvSpPr>
        <p:spPr>
          <a:xfrm>
            <a:off x="8321040" y="1508760"/>
            <a:ext cx="777240" cy="777240"/>
          </a:xfrm>
          <a:prstGeom prst="ellipse">
            <a:avLst/>
          </a:prstGeom>
          <a:solidFill>
            <a:srgbClr val="003C6C"/>
          </a:solidFill>
          <a:ln w="12700">
            <a:solidFill>
              <a:srgbClr val="003C6C"/>
            </a:solidFill>
            <a:prstDash val="solid"/>
          </a:ln>
        </p:spPr>
      </p:sp>
      <p:pic>
        <p:nvPicPr>
          <p:cNvPr id="27" name="Image 0" descr="preencoded.png">    </p:cNvPr>
          <p:cNvPicPr>
            <a:picLocks noChangeAspect="1"/>
          </p:cNvPicPr>
          <p:nvPr/>
        </p:nvPicPr>
        <p:blipFill>
          <a:blip r:embed="rId1"/>
          <a:stretch>
            <a:fillRect/>
          </a:stretch>
        </p:blipFill>
        <p:spPr>
          <a:xfrm>
            <a:off x="8523122" y="1710842"/>
            <a:ext cx="373075" cy="373075"/>
          </a:xfrm>
          <a:prstGeom prst="rect">
            <a:avLst/>
          </a:prstGeom>
        </p:spPr>
      </p:pic>
      <p:sp>
        <p:nvSpPr>
          <p:cNvPr id="28" name="Text 25"/>
          <p:cNvSpPr txBox="1"/>
          <p:nvPr/>
        </p:nvSpPr>
        <p:spPr>
          <a:xfrm>
            <a:off x="9326880" y="1508760"/>
            <a:ext cx="2316175" cy="777240"/>
          </a:xfrm>
          <a:prstGeom prst="rect">
            <a:avLst/>
          </a:prstGeom>
          <a:noFill/>
          <a:ln/>
        </p:spPr>
        <p:txBody>
          <a:bodyPr wrap="square" lIns="0" tIns="0" rIns="0" bIns="0" rtlCol="0" anchor="ctr"/>
          <a:lstStyle/>
          <a:p>
            <a:pPr indent="0" marL="0">
              <a:buNone/>
            </a:pPr>
            <a:r>
              <a:rPr lang="en-US" sz="2200" b="1" dirty="0">
                <a:solidFill>
                  <a:srgbClr val="003C6C"/>
                </a:solidFill>
                <a:latin typeface="Calibri" pitchFamily="34" charset="0"/>
                <a:ea typeface="Calibri" pitchFamily="34" charset="-122"/>
                <a:cs typeface="Calibri" pitchFamily="34" charset="-120"/>
              </a:rPr>
              <a:t>Search</a:t>
            </a:r>
            <a:endParaRPr lang="en-US" sz="2200" dirty="0"/>
          </a:p>
        </p:txBody>
      </p:sp>
      <p:sp>
        <p:nvSpPr>
          <p:cNvPr id="29" name="Shape 26"/>
          <p:cNvSpPr/>
          <p:nvPr/>
        </p:nvSpPr>
        <p:spPr>
          <a:xfrm>
            <a:off x="8321040" y="2926080"/>
            <a:ext cx="777240" cy="777240"/>
          </a:xfrm>
          <a:prstGeom prst="ellipse">
            <a:avLst/>
          </a:prstGeom>
          <a:solidFill>
            <a:srgbClr val="003C6C"/>
          </a:solidFill>
          <a:ln w="12700">
            <a:solidFill>
              <a:srgbClr val="003C6C"/>
            </a:solidFill>
            <a:prstDash val="solid"/>
          </a:ln>
        </p:spPr>
      </p:sp>
      <p:pic>
        <p:nvPicPr>
          <p:cNvPr id="30" name="Image 1" descr="preencoded.png">    </p:cNvPr>
          <p:cNvPicPr>
            <a:picLocks noChangeAspect="1"/>
          </p:cNvPicPr>
          <p:nvPr/>
        </p:nvPicPr>
        <p:blipFill>
          <a:blip r:embed="rId2"/>
          <a:stretch>
            <a:fillRect/>
          </a:stretch>
        </p:blipFill>
        <p:spPr>
          <a:xfrm>
            <a:off x="8523122" y="3128162"/>
            <a:ext cx="373075" cy="373075"/>
          </a:xfrm>
          <a:prstGeom prst="rect">
            <a:avLst/>
          </a:prstGeom>
        </p:spPr>
      </p:pic>
      <p:sp>
        <p:nvSpPr>
          <p:cNvPr id="31" name="Text 27"/>
          <p:cNvSpPr txBox="1"/>
          <p:nvPr/>
        </p:nvSpPr>
        <p:spPr>
          <a:xfrm>
            <a:off x="9326880" y="2926080"/>
            <a:ext cx="2316175" cy="777240"/>
          </a:xfrm>
          <a:prstGeom prst="rect">
            <a:avLst/>
          </a:prstGeom>
          <a:noFill/>
          <a:ln/>
        </p:spPr>
        <p:txBody>
          <a:bodyPr wrap="square" lIns="0" tIns="0" rIns="0" bIns="0" rtlCol="0" anchor="ctr"/>
          <a:lstStyle/>
          <a:p>
            <a:pPr indent="0" marL="0">
              <a:buNone/>
            </a:pPr>
            <a:r>
              <a:rPr lang="en-US" sz="2200" b="1" dirty="0">
                <a:solidFill>
                  <a:srgbClr val="003C6C"/>
                </a:solidFill>
                <a:latin typeface="Calibri" pitchFamily="34" charset="0"/>
                <a:ea typeface="Calibri" pitchFamily="34" charset="-122"/>
                <a:cs typeface="Calibri" pitchFamily="34" charset="-120"/>
              </a:rPr>
              <a:t>Translate</a:t>
            </a:r>
            <a:endParaRPr lang="en-US" sz="2200" dirty="0"/>
          </a:p>
        </p:txBody>
      </p:sp>
      <p:sp>
        <p:nvSpPr>
          <p:cNvPr id="32" name="Shape 28"/>
          <p:cNvSpPr/>
          <p:nvPr/>
        </p:nvSpPr>
        <p:spPr>
          <a:xfrm>
            <a:off x="8321040" y="4343400"/>
            <a:ext cx="777240" cy="777240"/>
          </a:xfrm>
          <a:prstGeom prst="ellipse">
            <a:avLst/>
          </a:prstGeom>
          <a:solidFill>
            <a:srgbClr val="003C6C"/>
          </a:solidFill>
          <a:ln w="12700">
            <a:solidFill>
              <a:srgbClr val="003C6C"/>
            </a:solidFill>
            <a:prstDash val="solid"/>
          </a:ln>
        </p:spPr>
      </p:sp>
      <p:pic>
        <p:nvPicPr>
          <p:cNvPr id="33" name="Image 2" descr="preencoded.png">    </p:cNvPr>
          <p:cNvPicPr>
            <a:picLocks noChangeAspect="1"/>
          </p:cNvPicPr>
          <p:nvPr/>
        </p:nvPicPr>
        <p:blipFill>
          <a:blip r:embed="rId3"/>
          <a:stretch>
            <a:fillRect/>
          </a:stretch>
        </p:blipFill>
        <p:spPr>
          <a:xfrm>
            <a:off x="8523122" y="4545482"/>
            <a:ext cx="373075" cy="373075"/>
          </a:xfrm>
          <a:prstGeom prst="rect">
            <a:avLst/>
          </a:prstGeom>
        </p:spPr>
      </p:pic>
      <p:sp>
        <p:nvSpPr>
          <p:cNvPr id="34" name="Text 29"/>
          <p:cNvSpPr txBox="1"/>
          <p:nvPr/>
        </p:nvSpPr>
        <p:spPr>
          <a:xfrm>
            <a:off x="9326880" y="4343400"/>
            <a:ext cx="2316175" cy="777240"/>
          </a:xfrm>
          <a:prstGeom prst="rect">
            <a:avLst/>
          </a:prstGeom>
          <a:noFill/>
          <a:ln/>
        </p:spPr>
        <p:txBody>
          <a:bodyPr wrap="square" lIns="0" tIns="0" rIns="0" bIns="0" rtlCol="0" anchor="ctr"/>
          <a:lstStyle/>
          <a:p>
            <a:pPr indent="0" marL="0">
              <a:buNone/>
            </a:pPr>
            <a:r>
              <a:rPr lang="en-US" sz="2200" b="1" dirty="0">
                <a:solidFill>
                  <a:srgbClr val="003C6C"/>
                </a:solidFill>
                <a:latin typeface="Calibri" pitchFamily="34" charset="0"/>
                <a:ea typeface="Calibri" pitchFamily="34" charset="-122"/>
                <a:cs typeface="Calibri" pitchFamily="34" charset="-120"/>
              </a:rPr>
              <a:t>Lift annotations</a:t>
            </a:r>
            <a:endParaRPr lang="en-US" sz="2200" dirty="0"/>
          </a:p>
        </p:txBody>
      </p:sp>
      <p:sp>
        <p:nvSpPr>
          <p:cNvPr id="35" name="Text 30"/>
          <p:cNvSpPr txBox="1"/>
          <p:nvPr/>
        </p:nvSpPr>
        <p:spPr>
          <a:xfrm>
            <a:off x="8321040" y="5760720"/>
            <a:ext cx="3322015" cy="457200"/>
          </a:xfrm>
          <a:prstGeom prst="rect">
            <a:avLst/>
          </a:prstGeom>
          <a:noFill/>
          <a:ln/>
        </p:spPr>
        <p:txBody>
          <a:bodyPr wrap="square" lIns="0" tIns="0" rIns="0" bIns="0" rtlCol="0" anchor="t"/>
          <a:lstStyle/>
          <a:p>
            <a:pPr indent="0" marL="0">
              <a:buNone/>
            </a:pPr>
            <a:r>
              <a:rPr lang="en-US" sz="1600" i="1" dirty="0">
                <a:solidFill>
                  <a:srgbClr val="5B6B7C"/>
                </a:solidFill>
                <a:latin typeface="Calibri" pitchFamily="34" charset="0"/>
                <a:ea typeface="Calibri" pitchFamily="34" charset="-122"/>
                <a:cs typeface="Calibri" pitchFamily="34" charset="-120"/>
              </a:rPr>
              <a:t>Core browser changes: 3 files, 15 lines.</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Every base knows every haplotype that carries it</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6</a:t>
            </a:r>
            <a:endParaRPr lang="en-US" sz="1000" dirty="0"/>
          </a:p>
        </p:txBody>
      </p:sp>
      <p:pic>
        <p:nvPicPr>
          <p:cNvPr id="4" name="Image 0" descr="/Users/seeskand/Documents/HPRC/2026/hprc_2026_poster/talk/figures/tagarray.png">    </p:cNvPr>
          <p:cNvPicPr>
            <a:picLocks noChangeAspect="1"/>
          </p:cNvPicPr>
          <p:nvPr/>
        </p:nvPicPr>
        <p:blipFill>
          <a:blip r:embed="rId1"/>
          <a:stretch>
            <a:fillRect/>
          </a:stretch>
        </p:blipFill>
        <p:spPr>
          <a:xfrm>
            <a:off x="548640" y="1554480"/>
            <a:ext cx="7772400" cy="4090115"/>
          </a:xfrm>
          <a:prstGeom prst="rect">
            <a:avLst/>
          </a:prstGeom>
        </p:spPr>
      </p:pic>
      <p:sp>
        <p:nvSpPr>
          <p:cNvPr id="5" name="Text 2"/>
          <p:cNvSpPr txBox="1"/>
          <p:nvPr/>
        </p:nvSpPr>
        <p:spPr>
          <a:xfrm>
            <a:off x="8732520" y="1508760"/>
            <a:ext cx="2910535" cy="365760"/>
          </a:xfrm>
          <a:prstGeom prst="rect">
            <a:avLst/>
          </a:prstGeom>
          <a:noFill/>
          <a:ln/>
        </p:spPr>
        <p:txBody>
          <a:bodyPr wrap="square" lIns="0" tIns="0" rIns="0" bIns="0" rtlCol="0" anchor="t"/>
          <a:lstStyle/>
          <a:p>
            <a:pPr indent="0" marL="0">
              <a:buNone/>
            </a:pPr>
            <a:r>
              <a:rPr lang="en-US" sz="1800" b="1" dirty="0">
                <a:solidFill>
                  <a:srgbClr val="003C6C"/>
                </a:solidFill>
                <a:latin typeface="Calibri" pitchFamily="34" charset="0"/>
                <a:ea typeface="Calibri" pitchFamily="34" charset="-122"/>
                <a:cs typeface="Calibri" pitchFamily="34" charset="-120"/>
              </a:rPr>
              <a:t>r-index</a:t>
            </a:r>
            <a:endParaRPr lang="en-US" sz="1800" dirty="0"/>
          </a:p>
        </p:txBody>
      </p:sp>
      <p:sp>
        <p:nvSpPr>
          <p:cNvPr id="6" name="Text 3"/>
          <p:cNvSpPr txBox="1"/>
          <p:nvPr/>
        </p:nvSpPr>
        <p:spPr>
          <a:xfrm>
            <a:off x="8732520" y="1892808"/>
            <a:ext cx="2910535" cy="914400"/>
          </a:xfrm>
          <a:prstGeom prst="rect">
            <a:avLst/>
          </a:prstGeom>
          <a:noFill/>
          <a:ln/>
        </p:spPr>
        <p:txBody>
          <a:bodyPr wrap="square" lIns="0" tIns="0" rIns="0" bIns="0" rtlCol="0" anchor="t"/>
          <a:lstStyle/>
          <a:p>
            <a:pPr indent="0" marL="0">
              <a:buNone/>
            </a:pPr>
            <a:r>
              <a:rPr lang="en-US" sz="1600" dirty="0">
                <a:solidFill>
                  <a:srgbClr val="18293B"/>
                </a:solidFill>
                <a:latin typeface="Calibri" pitchFamily="34" charset="0"/>
                <a:ea typeface="Calibri" pitchFamily="34" charset="-122"/>
                <a:cs typeface="Calibri" pitchFamily="34" charset="-120"/>
              </a:rPr>
              <a:t>where does this string occur, across all 464 haplotypes?</a:t>
            </a:r>
            <a:endParaRPr lang="en-US" sz="1600" dirty="0"/>
          </a:p>
        </p:txBody>
      </p:sp>
      <p:sp>
        <p:nvSpPr>
          <p:cNvPr id="7" name="Text 4"/>
          <p:cNvSpPr txBox="1"/>
          <p:nvPr/>
        </p:nvSpPr>
        <p:spPr>
          <a:xfrm>
            <a:off x="8732520" y="2834640"/>
            <a:ext cx="2910535" cy="365760"/>
          </a:xfrm>
          <a:prstGeom prst="rect">
            <a:avLst/>
          </a:prstGeom>
          <a:noFill/>
          <a:ln/>
        </p:spPr>
        <p:txBody>
          <a:bodyPr wrap="square" lIns="0" tIns="0" rIns="0" bIns="0" rtlCol="0" anchor="t"/>
          <a:lstStyle/>
          <a:p>
            <a:pPr indent="0" marL="0">
              <a:buNone/>
            </a:pPr>
            <a:r>
              <a:rPr lang="en-US" sz="1800" b="1" dirty="0">
                <a:solidFill>
                  <a:srgbClr val="003C6C"/>
                </a:solidFill>
                <a:latin typeface="Calibri" pitchFamily="34" charset="0"/>
                <a:ea typeface="Calibri" pitchFamily="34" charset="-122"/>
                <a:cs typeface="Calibri" pitchFamily="34" charset="-120"/>
              </a:rPr>
              <a:t>tag arrays</a:t>
            </a:r>
            <a:endParaRPr lang="en-US" sz="1800" dirty="0"/>
          </a:p>
        </p:txBody>
      </p:sp>
      <p:sp>
        <p:nvSpPr>
          <p:cNvPr id="8" name="Text 5"/>
          <p:cNvSpPr txBox="1"/>
          <p:nvPr/>
        </p:nvSpPr>
        <p:spPr>
          <a:xfrm>
            <a:off x="8732520" y="3218688"/>
            <a:ext cx="2910535" cy="914400"/>
          </a:xfrm>
          <a:prstGeom prst="rect">
            <a:avLst/>
          </a:prstGeom>
          <a:noFill/>
          <a:ln/>
        </p:spPr>
        <p:txBody>
          <a:bodyPr wrap="square" lIns="0" tIns="0" rIns="0" bIns="0" rtlCol="0" anchor="t"/>
          <a:lstStyle/>
          <a:p>
            <a:pPr indent="0" marL="0">
              <a:buNone/>
            </a:pPr>
            <a:r>
              <a:rPr lang="en-US" sz="1600" dirty="0">
                <a:solidFill>
                  <a:srgbClr val="18293B"/>
                </a:solidFill>
                <a:latin typeface="Calibri" pitchFamily="34" charset="0"/>
                <a:ea typeface="Calibri" pitchFamily="34" charset="-122"/>
                <a:cs typeface="Calibri" pitchFamily="34" charset="-120"/>
              </a:rPr>
              <a:t>which graph node is that occurrence on? One tag per BWT run, so it fits in memory.</a:t>
            </a:r>
            <a:endParaRPr lang="en-US" sz="1600" dirty="0"/>
          </a:p>
        </p:txBody>
      </p:sp>
      <p:sp>
        <p:nvSpPr>
          <p:cNvPr id="9" name="Text 6"/>
          <p:cNvSpPr txBox="1"/>
          <p:nvPr/>
        </p:nvSpPr>
        <p:spPr>
          <a:xfrm>
            <a:off x="8732520" y="4160520"/>
            <a:ext cx="2910535" cy="365760"/>
          </a:xfrm>
          <a:prstGeom prst="rect">
            <a:avLst/>
          </a:prstGeom>
          <a:noFill/>
          <a:ln/>
        </p:spPr>
        <p:txBody>
          <a:bodyPr wrap="square" lIns="0" tIns="0" rIns="0" bIns="0" rtlCol="0" anchor="t"/>
          <a:lstStyle/>
          <a:p>
            <a:pPr indent="0" marL="0">
              <a:buNone/>
            </a:pPr>
            <a:r>
              <a:rPr lang="en-US" sz="1800" b="1" dirty="0">
                <a:solidFill>
                  <a:srgbClr val="003C6C"/>
                </a:solidFill>
                <a:latin typeface="Calibri" pitchFamily="34" charset="0"/>
                <a:ea typeface="Calibri" pitchFamily="34" charset="-122"/>
                <a:cs typeface="Calibri" pitchFamily="34" charset="-120"/>
              </a:rPr>
              <a:t>GBWT / FastLocate</a:t>
            </a:r>
            <a:endParaRPr lang="en-US" sz="1800" dirty="0"/>
          </a:p>
        </p:txBody>
      </p:sp>
      <p:sp>
        <p:nvSpPr>
          <p:cNvPr id="10" name="Text 7"/>
          <p:cNvSpPr txBox="1"/>
          <p:nvPr/>
        </p:nvSpPr>
        <p:spPr>
          <a:xfrm>
            <a:off x="8732520" y="4544568"/>
            <a:ext cx="2910535" cy="914400"/>
          </a:xfrm>
          <a:prstGeom prst="rect">
            <a:avLst/>
          </a:prstGeom>
          <a:noFill/>
          <a:ln/>
        </p:spPr>
        <p:txBody>
          <a:bodyPr wrap="square" lIns="0" tIns="0" rIns="0" bIns="0" rtlCol="0" anchor="t"/>
          <a:lstStyle/>
          <a:p>
            <a:pPr indent="0" marL="0">
              <a:buNone/>
            </a:pPr>
            <a:r>
              <a:rPr lang="en-US" sz="1600" dirty="0">
                <a:solidFill>
                  <a:srgbClr val="18293B"/>
                </a:solidFill>
                <a:latin typeface="Calibri" pitchFamily="34" charset="0"/>
                <a:ea typeface="Calibri" pitchFamily="34" charset="-122"/>
                <a:cs typeface="Calibri" pitchFamily="34" charset="-120"/>
              </a:rPr>
              <a:t>who else stands on this node, and at what offset?</a:t>
            </a:r>
            <a:endParaRPr lang="en-US" sz="1600" dirty="0"/>
          </a:p>
        </p:txBody>
      </p:sp>
      <p:sp>
        <p:nvSpPr>
          <p:cNvPr id="11" name="Shape 8"/>
          <p:cNvSpPr/>
          <p:nvPr/>
        </p:nvSpPr>
        <p:spPr>
          <a:xfrm>
            <a:off x="8732520" y="5532120"/>
            <a:ext cx="2910535" cy="640080"/>
          </a:xfrm>
          <a:prstGeom prst="roundRect">
            <a:avLst>
              <a:gd name="adj" fmla="val 17143"/>
            </a:avLst>
          </a:prstGeom>
          <a:solidFill>
            <a:srgbClr val="EDF1F6"/>
          </a:solidFill>
          <a:ln w="12700">
            <a:solidFill>
              <a:srgbClr val="DCE3EB"/>
            </a:solidFill>
            <a:prstDash val="solid"/>
          </a:ln>
        </p:spPr>
      </p:sp>
      <p:sp>
        <p:nvSpPr>
          <p:cNvPr id="12" name="Text 9"/>
          <p:cNvSpPr txBox="1"/>
          <p:nvPr/>
        </p:nvSpPr>
        <p:spPr>
          <a:xfrm>
            <a:off x="8732520" y="5532120"/>
            <a:ext cx="2910535" cy="640080"/>
          </a:xfrm>
          <a:prstGeom prst="rect">
            <a:avLst/>
          </a:prstGeom>
          <a:noFill/>
          <a:ln/>
        </p:spPr>
        <p:txBody>
          <a:bodyPr wrap="square" lIns="0" tIns="0" rIns="0" bIns="0" rtlCol="0" anchor="ctr"/>
          <a:lstStyle/>
          <a:p>
            <a:pPr algn="ctr" indent="0" marL="0">
              <a:buNone/>
            </a:pPr>
            <a:r>
              <a:rPr lang="en-US" sz="1700" b="1" dirty="0">
                <a:solidFill>
                  <a:srgbClr val="003C6C"/>
                </a:solidFill>
                <a:latin typeface="Calibri" pitchFamily="34" charset="0"/>
                <a:ea typeface="Calibri" pitchFamily="34" charset="-122"/>
                <a:cs typeface="Calibri" pitchFamily="34" charset="-120"/>
              </a:rPr>
              <a:t>No pairwise index anywhere.</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Translating a region is a walk, not a lookup</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7</a:t>
            </a:r>
            <a:endParaRPr lang="en-US" sz="1000" dirty="0"/>
          </a:p>
        </p:txBody>
      </p:sp>
      <p:pic>
        <p:nvPicPr>
          <p:cNvPr id="4" name="Image 0" descr="/Users/seeskand/Documents/HPRC/2026/hprc_2026_poster/talk/figures/translation.png">    </p:cNvPr>
          <p:cNvPicPr>
            <a:picLocks noChangeAspect="1"/>
          </p:cNvPicPr>
          <p:nvPr/>
        </p:nvPicPr>
        <p:blipFill>
          <a:blip r:embed="rId1"/>
          <a:stretch>
            <a:fillRect/>
          </a:stretch>
        </p:blipFill>
        <p:spPr>
          <a:xfrm>
            <a:off x="548640" y="1417320"/>
            <a:ext cx="6949440" cy="4428944"/>
          </a:xfrm>
          <a:prstGeom prst="rect">
            <a:avLst/>
          </a:prstGeom>
        </p:spPr>
      </p:pic>
      <p:sp>
        <p:nvSpPr>
          <p:cNvPr id="5" name="Shape 2"/>
          <p:cNvSpPr/>
          <p:nvPr/>
        </p:nvSpPr>
        <p:spPr>
          <a:xfrm>
            <a:off x="7863840" y="1463040"/>
            <a:ext cx="420624" cy="420624"/>
          </a:xfrm>
          <a:prstGeom prst="roundRect">
            <a:avLst>
              <a:gd name="adj" fmla="val 19565"/>
            </a:avLst>
          </a:prstGeom>
          <a:solidFill>
            <a:srgbClr val="FDC700"/>
          </a:solidFill>
          <a:ln w="12700">
            <a:solidFill>
              <a:srgbClr val="FDC700"/>
            </a:solidFill>
            <a:prstDash val="solid"/>
          </a:ln>
        </p:spPr>
      </p:sp>
      <p:sp>
        <p:nvSpPr>
          <p:cNvPr id="6" name="Text 3"/>
          <p:cNvSpPr txBox="1"/>
          <p:nvPr/>
        </p:nvSpPr>
        <p:spPr>
          <a:xfrm>
            <a:off x="7863840" y="1463040"/>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1</a:t>
            </a:r>
            <a:endParaRPr lang="en-US" sz="1800" dirty="0"/>
          </a:p>
        </p:txBody>
      </p:sp>
      <p:sp>
        <p:nvSpPr>
          <p:cNvPr id="7" name="Text 4"/>
          <p:cNvSpPr txBox="1"/>
          <p:nvPr/>
        </p:nvSpPr>
        <p:spPr>
          <a:xfrm>
            <a:off x="8458200" y="1444752"/>
            <a:ext cx="3184855" cy="1005840"/>
          </a:xfrm>
          <a:prstGeom prst="rect">
            <a:avLst/>
          </a:prstGeom>
          <a:noFill/>
          <a:ln/>
        </p:spPr>
        <p:txBody>
          <a:bodyPr wrap="square" lIns="0" tIns="0" rIns="0" bIns="0" rtlCol="0" anchor="t"/>
          <a:lstStyle/>
          <a:p>
            <a:pPr indent="0" marL="0">
              <a:buNone/>
            </a:pPr>
            <a:r>
              <a:rPr lang="en-US" sz="1700" dirty="0">
                <a:solidFill>
                  <a:srgbClr val="18293B"/>
                </a:solidFill>
                <a:latin typeface="Calibri" pitchFamily="34" charset="0"/>
                <a:ea typeface="Calibri" pitchFamily="34" charset="-122"/>
                <a:cs typeface="Calibri" pitchFamily="34" charset="-120"/>
              </a:rPr>
              <a:t>Find the query's nodes on the source path.</a:t>
            </a:r>
            <a:endParaRPr lang="en-US" sz="1700" dirty="0"/>
          </a:p>
        </p:txBody>
      </p:sp>
      <p:sp>
        <p:nvSpPr>
          <p:cNvPr id="8" name="Shape 5"/>
          <p:cNvSpPr/>
          <p:nvPr/>
        </p:nvSpPr>
        <p:spPr>
          <a:xfrm>
            <a:off x="7863840" y="2560320"/>
            <a:ext cx="420624" cy="420624"/>
          </a:xfrm>
          <a:prstGeom prst="roundRect">
            <a:avLst>
              <a:gd name="adj" fmla="val 19565"/>
            </a:avLst>
          </a:prstGeom>
          <a:solidFill>
            <a:srgbClr val="FDC700"/>
          </a:solidFill>
          <a:ln w="12700">
            <a:solidFill>
              <a:srgbClr val="FDC700"/>
            </a:solidFill>
            <a:prstDash val="solid"/>
          </a:ln>
        </p:spPr>
      </p:sp>
      <p:sp>
        <p:nvSpPr>
          <p:cNvPr id="9" name="Text 6"/>
          <p:cNvSpPr txBox="1"/>
          <p:nvPr/>
        </p:nvSpPr>
        <p:spPr>
          <a:xfrm>
            <a:off x="7863840" y="2560320"/>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2</a:t>
            </a:r>
            <a:endParaRPr lang="en-US" sz="1800" dirty="0"/>
          </a:p>
        </p:txBody>
      </p:sp>
      <p:sp>
        <p:nvSpPr>
          <p:cNvPr id="10" name="Text 7"/>
          <p:cNvSpPr txBox="1"/>
          <p:nvPr/>
        </p:nvSpPr>
        <p:spPr>
          <a:xfrm>
            <a:off x="8458200" y="2542032"/>
            <a:ext cx="3184855" cy="1005840"/>
          </a:xfrm>
          <a:prstGeom prst="rect">
            <a:avLst/>
          </a:prstGeom>
          <a:noFill/>
          <a:ln/>
        </p:spPr>
        <p:txBody>
          <a:bodyPr wrap="square" lIns="0" tIns="0" rIns="0" bIns="0" rtlCol="0" anchor="t"/>
          <a:lstStyle/>
          <a:p>
            <a:pPr indent="0" marL="0">
              <a:buNone/>
            </a:pPr>
            <a:r>
              <a:rPr lang="en-US" sz="1700" dirty="0">
                <a:solidFill>
                  <a:srgbClr val="18293B"/>
                </a:solidFill>
                <a:latin typeface="Calibri" pitchFamily="34" charset="0"/>
                <a:ea typeface="Calibri" pitchFamily="34" charset="-122"/>
                <a:cs typeface="Calibri" pitchFamily="34" charset="-120"/>
              </a:rPr>
              <a:t>Ask the tag arrays who else is here.</a:t>
            </a:r>
            <a:endParaRPr lang="en-US" sz="1700" dirty="0"/>
          </a:p>
        </p:txBody>
      </p:sp>
      <p:sp>
        <p:nvSpPr>
          <p:cNvPr id="11" name="Shape 8"/>
          <p:cNvSpPr/>
          <p:nvPr/>
        </p:nvSpPr>
        <p:spPr>
          <a:xfrm>
            <a:off x="7863840" y="3657600"/>
            <a:ext cx="420624" cy="420624"/>
          </a:xfrm>
          <a:prstGeom prst="roundRect">
            <a:avLst>
              <a:gd name="adj" fmla="val 19565"/>
            </a:avLst>
          </a:prstGeom>
          <a:solidFill>
            <a:srgbClr val="FDC700"/>
          </a:solidFill>
          <a:ln w="12700">
            <a:solidFill>
              <a:srgbClr val="FDC700"/>
            </a:solidFill>
            <a:prstDash val="solid"/>
          </a:ln>
        </p:spPr>
      </p:sp>
      <p:sp>
        <p:nvSpPr>
          <p:cNvPr id="12" name="Text 9"/>
          <p:cNvSpPr txBox="1"/>
          <p:nvPr/>
        </p:nvSpPr>
        <p:spPr>
          <a:xfrm>
            <a:off x="7863840" y="3657600"/>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3</a:t>
            </a:r>
            <a:endParaRPr lang="en-US" sz="1800" dirty="0"/>
          </a:p>
        </p:txBody>
      </p:sp>
      <p:sp>
        <p:nvSpPr>
          <p:cNvPr id="13" name="Text 10"/>
          <p:cNvSpPr txBox="1"/>
          <p:nvPr/>
        </p:nvSpPr>
        <p:spPr>
          <a:xfrm>
            <a:off x="8458200" y="3639312"/>
            <a:ext cx="3184855" cy="1005840"/>
          </a:xfrm>
          <a:prstGeom prst="rect">
            <a:avLst/>
          </a:prstGeom>
          <a:noFill/>
          <a:ln/>
        </p:spPr>
        <p:txBody>
          <a:bodyPr wrap="square" lIns="0" tIns="0" rIns="0" bIns="0" rtlCol="0" anchor="t"/>
          <a:lstStyle/>
          <a:p>
            <a:pPr indent="0" marL="0">
              <a:buNone/>
            </a:pPr>
            <a:r>
              <a:rPr lang="en-US" sz="1700" dirty="0">
                <a:solidFill>
                  <a:srgbClr val="18293B"/>
                </a:solidFill>
                <a:latin typeface="Calibri" pitchFamily="34" charset="0"/>
                <a:ea typeface="Calibri" pitchFamily="34" charset="-122"/>
                <a:cs typeface="Calibri" pitchFamily="34" charset="-120"/>
              </a:rPr>
              <a:t>Nodes both visit exactly once: unambiguous anchors.</a:t>
            </a:r>
            <a:endParaRPr lang="en-US" sz="1700" dirty="0"/>
          </a:p>
        </p:txBody>
      </p:sp>
      <p:sp>
        <p:nvSpPr>
          <p:cNvPr id="14" name="Shape 11"/>
          <p:cNvSpPr/>
          <p:nvPr/>
        </p:nvSpPr>
        <p:spPr>
          <a:xfrm>
            <a:off x="7863840" y="4754880"/>
            <a:ext cx="420624" cy="420624"/>
          </a:xfrm>
          <a:prstGeom prst="roundRect">
            <a:avLst>
              <a:gd name="adj" fmla="val 19565"/>
            </a:avLst>
          </a:prstGeom>
          <a:solidFill>
            <a:srgbClr val="FDC700"/>
          </a:solidFill>
          <a:ln w="12700">
            <a:solidFill>
              <a:srgbClr val="FDC700"/>
            </a:solidFill>
            <a:prstDash val="solid"/>
          </a:ln>
        </p:spPr>
      </p:sp>
      <p:sp>
        <p:nvSpPr>
          <p:cNvPr id="15" name="Text 12"/>
          <p:cNvSpPr txBox="1"/>
          <p:nvPr/>
        </p:nvSpPr>
        <p:spPr>
          <a:xfrm>
            <a:off x="7863840" y="4754880"/>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4</a:t>
            </a:r>
            <a:endParaRPr lang="en-US" sz="1800" dirty="0"/>
          </a:p>
        </p:txBody>
      </p:sp>
      <p:sp>
        <p:nvSpPr>
          <p:cNvPr id="16" name="Text 13"/>
          <p:cNvSpPr txBox="1"/>
          <p:nvPr/>
        </p:nvSpPr>
        <p:spPr>
          <a:xfrm>
            <a:off x="8458200" y="4736592"/>
            <a:ext cx="3184855" cy="1005840"/>
          </a:xfrm>
          <a:prstGeom prst="rect">
            <a:avLst/>
          </a:prstGeom>
          <a:noFill/>
          <a:ln/>
        </p:spPr>
        <p:txBody>
          <a:bodyPr wrap="square" lIns="0" tIns="0" rIns="0" bIns="0" rtlCol="0" anchor="t"/>
          <a:lstStyle/>
          <a:p>
            <a:pPr indent="0" marL="0">
              <a:buNone/>
            </a:pPr>
            <a:r>
              <a:rPr lang="en-US" sz="1700" dirty="0">
                <a:solidFill>
                  <a:srgbClr val="18293B"/>
                </a:solidFill>
                <a:latin typeface="Calibri" pitchFamily="34" charset="0"/>
                <a:ea typeface="Calibri" pitchFamily="34" charset="-122"/>
                <a:cs typeface="Calibri" pitchFamily="34" charset="-120"/>
              </a:rPr>
              <a:t>Walk between anchors, base by base; group shared offsets into chain blocks.</a:t>
            </a:r>
            <a:endParaRPr lang="en-US" sz="1700" dirty="0"/>
          </a:p>
        </p:txBody>
      </p:sp>
      <p:sp>
        <p:nvSpPr>
          <p:cNvPr id="17" name="Text 14"/>
          <p:cNvSpPr txBox="1"/>
          <p:nvPr/>
        </p:nvSpPr>
        <p:spPr>
          <a:xfrm>
            <a:off x="548640" y="5852160"/>
            <a:ext cx="11094415" cy="548640"/>
          </a:xfrm>
          <a:prstGeom prst="rect">
            <a:avLst/>
          </a:prstGeom>
          <a:noFill/>
          <a:ln/>
        </p:spPr>
        <p:txBody>
          <a:bodyPr wrap="square" lIns="0" tIns="0" rIns="0" bIns="0" rtlCol="0" anchor="ctr"/>
          <a:lstStyle/>
          <a:p>
            <a:pPr algn="ctr" indent="0" marL="0">
              <a:buNone/>
            </a:pPr>
            <a:r>
              <a:rPr lang="en-US" sz="2000" i="1" dirty="0">
                <a:solidFill>
                  <a:srgbClr val="003C6C"/>
                </a:solidFill>
                <a:latin typeface="Calibri" pitchFamily="34" charset="0"/>
                <a:ea typeface="Calibri" pitchFamily="34" charset="-122"/>
                <a:cs typeface="Calibri" pitchFamily="34" charset="-120"/>
              </a:rPr>
              <a:t>The output is a chain. Orthology is the graph's. Missing positions are possible; a repeat cannot manufacture a wrong one.</a:t>
            </a:r>
            <a:endParaRPr lang="en-US" sz="2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One mapping returns every assembly that carries it</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8</a:t>
            </a:r>
            <a:endParaRPr lang="en-US" sz="1000" dirty="0"/>
          </a:p>
        </p:txBody>
      </p:sp>
      <p:sp>
        <p:nvSpPr>
          <p:cNvPr id="4" name="Text 2"/>
          <p:cNvSpPr txBox="1"/>
          <p:nvPr/>
        </p:nvSpPr>
        <p:spPr>
          <a:xfrm>
            <a:off x="9631375" y="384048"/>
            <a:ext cx="2011680" cy="713232"/>
          </a:xfrm>
          <a:prstGeom prst="rect">
            <a:avLst/>
          </a:prstGeom>
          <a:noFill/>
          <a:ln/>
        </p:spPr>
        <p:txBody>
          <a:bodyPr wrap="square" lIns="0" tIns="0" rIns="0" bIns="0" rtlCol="0" anchor="ctr"/>
          <a:lstStyle/>
          <a:p>
            <a:pPr algn="r" indent="0" marL="0">
              <a:buNone/>
            </a:pPr>
            <a:r>
              <a:rPr lang="en-US" sz="1600" b="1" dirty="0">
                <a:solidFill>
                  <a:srgbClr val="003C6C"/>
                </a:solidFill>
                <a:latin typeface="Calibri" pitchFamily="34" charset="0"/>
                <a:ea typeface="Calibri" pitchFamily="34" charset="-122"/>
                <a:cs typeface="Calibri" pitchFamily="34" charset="-120"/>
              </a:rPr>
              <a:t>Question 1</a:t>
            </a:r>
            <a:endParaRPr lang="en-US" sz="1600" dirty="0"/>
          </a:p>
        </p:txBody>
      </p:sp>
      <p:sp>
        <p:nvSpPr>
          <p:cNvPr id="5" name="Shape 3"/>
          <p:cNvSpPr/>
          <p:nvPr/>
        </p:nvSpPr>
        <p:spPr>
          <a:xfrm>
            <a:off x="548640" y="1325880"/>
            <a:ext cx="11094415" cy="3984021"/>
          </a:xfrm>
          <a:prstGeom prst="roundRect">
            <a:avLst>
              <a:gd name="adj" fmla="val 2754"/>
            </a:avLst>
          </a:prstGeom>
          <a:solidFill>
            <a:srgbClr val="EDF1F6"/>
          </a:solidFill>
          <a:ln w="12700">
            <a:solidFill>
              <a:srgbClr val="DCE3EB"/>
            </a:solidFill>
            <a:prstDash val="solid"/>
          </a:ln>
        </p:spPr>
      </p:sp>
      <p:sp>
        <p:nvSpPr>
          <p:cNvPr id="6" name="Shape 4"/>
          <p:cNvSpPr/>
          <p:nvPr/>
        </p:nvSpPr>
        <p:spPr>
          <a:xfrm>
            <a:off x="694944" y="1417320"/>
            <a:ext cx="100584" cy="100584"/>
          </a:xfrm>
          <a:prstGeom prst="ellipse">
            <a:avLst/>
          </a:prstGeom>
          <a:solidFill>
            <a:srgbClr val="CBD5E0"/>
          </a:solidFill>
          <a:ln w="12700">
            <a:solidFill>
              <a:srgbClr val="CBD5E0"/>
            </a:solidFill>
            <a:prstDash val="solid"/>
          </a:ln>
        </p:spPr>
      </p:sp>
      <p:sp>
        <p:nvSpPr>
          <p:cNvPr id="7" name="Shape 5"/>
          <p:cNvSpPr/>
          <p:nvPr/>
        </p:nvSpPr>
        <p:spPr>
          <a:xfrm>
            <a:off x="859536" y="1417320"/>
            <a:ext cx="100584" cy="100584"/>
          </a:xfrm>
          <a:prstGeom prst="ellipse">
            <a:avLst/>
          </a:prstGeom>
          <a:solidFill>
            <a:srgbClr val="CBD5E0"/>
          </a:solidFill>
          <a:ln w="12700">
            <a:solidFill>
              <a:srgbClr val="CBD5E0"/>
            </a:solidFill>
            <a:prstDash val="solid"/>
          </a:ln>
        </p:spPr>
      </p:sp>
      <p:sp>
        <p:nvSpPr>
          <p:cNvPr id="8" name="Shape 6"/>
          <p:cNvSpPr/>
          <p:nvPr/>
        </p:nvSpPr>
        <p:spPr>
          <a:xfrm>
            <a:off x="1024128" y="1417320"/>
            <a:ext cx="100584" cy="100584"/>
          </a:xfrm>
          <a:prstGeom prst="ellipse">
            <a:avLst/>
          </a:prstGeom>
          <a:solidFill>
            <a:srgbClr val="CBD5E0"/>
          </a:solidFill>
          <a:ln w="12700">
            <a:solidFill>
              <a:srgbClr val="CBD5E0"/>
            </a:solidFill>
            <a:prstDash val="solid"/>
          </a:ln>
        </p:spPr>
      </p:sp>
      <p:sp>
        <p:nvSpPr>
          <p:cNvPr id="9" name="Text 7"/>
          <p:cNvSpPr txBox="1"/>
          <p:nvPr/>
        </p:nvSpPr>
        <p:spPr>
          <a:xfrm>
            <a:off x="1325880" y="1353312"/>
            <a:ext cx="3657600" cy="237744"/>
          </a:xfrm>
          <a:prstGeom prst="rect">
            <a:avLst/>
          </a:prstGeom>
          <a:noFill/>
          <a:ln/>
        </p:spPr>
        <p:txBody>
          <a:bodyPr wrap="square" lIns="0" tIns="0" rIns="0" bIns="0" rtlCol="0" anchor="ctr"/>
          <a:lstStyle/>
          <a:p>
            <a:pPr indent="0" marL="0">
              <a:buNone/>
            </a:pPr>
            <a:r>
              <a:rPr lang="en-US" sz="900" dirty="0">
                <a:solidFill>
                  <a:srgbClr val="5B6B7C"/>
                </a:solidFill>
                <a:latin typeface="Courier New" pitchFamily="34" charset="0"/>
                <a:ea typeface="Courier New" pitchFamily="34" charset="-122"/>
                <a:cs typeface="Courier New" pitchFamily="34" charset="-120"/>
              </a:rPr>
              <a:t>genome.ucsc.edu</a:t>
            </a:r>
            <a:endParaRPr lang="en-US" sz="900" dirty="0"/>
          </a:p>
        </p:txBody>
      </p:sp>
      <p:pic>
        <p:nvPicPr>
          <p:cNvPr id="10" name="Image 0" descr="/Users/seeskand/Documents/HPRC/2026/hprc_2026_poster/talk/figures/crop_mapping_result.png">    </p:cNvPr>
          <p:cNvPicPr>
            <a:picLocks noChangeAspect="1"/>
          </p:cNvPicPr>
          <p:nvPr/>
        </p:nvPicPr>
        <p:blipFill>
          <a:blip r:embed="rId1"/>
          <a:stretch>
            <a:fillRect/>
          </a:stretch>
        </p:blipFill>
        <p:spPr>
          <a:xfrm>
            <a:off x="658368" y="1636776"/>
            <a:ext cx="10874959" cy="3563397"/>
          </a:xfrm>
          <a:prstGeom prst="rect">
            <a:avLst/>
          </a:prstGeom>
        </p:spPr>
      </p:pic>
      <p:sp>
        <p:nvSpPr>
          <p:cNvPr id="11" name="Shape 8"/>
          <p:cNvSpPr/>
          <p:nvPr/>
        </p:nvSpPr>
        <p:spPr>
          <a:xfrm>
            <a:off x="548640" y="5584221"/>
            <a:ext cx="420624" cy="420624"/>
          </a:xfrm>
          <a:prstGeom prst="roundRect">
            <a:avLst>
              <a:gd name="adj" fmla="val 19565"/>
            </a:avLst>
          </a:prstGeom>
          <a:solidFill>
            <a:srgbClr val="FDC700"/>
          </a:solidFill>
          <a:ln w="12700">
            <a:solidFill>
              <a:srgbClr val="FDC700"/>
            </a:solidFill>
            <a:prstDash val="solid"/>
          </a:ln>
        </p:spPr>
      </p:sp>
      <p:sp>
        <p:nvSpPr>
          <p:cNvPr id="12" name="Text 9"/>
          <p:cNvSpPr txBox="1"/>
          <p:nvPr/>
        </p:nvSpPr>
        <p:spPr>
          <a:xfrm>
            <a:off x="548640" y="5584221"/>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1</a:t>
            </a:r>
            <a:endParaRPr lang="en-US" sz="1800" dirty="0"/>
          </a:p>
        </p:txBody>
      </p:sp>
      <p:sp>
        <p:nvSpPr>
          <p:cNvPr id="13" name="Text 10"/>
          <p:cNvSpPr txBox="1"/>
          <p:nvPr/>
        </p:nvSpPr>
        <p:spPr>
          <a:xfrm>
            <a:off x="1143000" y="5565933"/>
            <a:ext cx="2859938" cy="822960"/>
          </a:xfrm>
          <a:prstGeom prst="rect">
            <a:avLst/>
          </a:prstGeom>
          <a:noFill/>
          <a:ln/>
        </p:spPr>
        <p:txBody>
          <a:bodyPr wrap="square" lIns="0" tIns="0" rIns="0" bIns="0" rtlCol="0" anchor="t"/>
          <a:lstStyle/>
          <a:p>
            <a:pPr indent="0" marL="0">
              <a:buNone/>
            </a:pPr>
            <a:r>
              <a:rPr lang="en-US" sz="1700" dirty="0">
                <a:solidFill>
                  <a:srgbClr val="18293B"/>
                </a:solidFill>
                <a:latin typeface="Calibri" pitchFamily="34" charset="0"/>
                <a:ea typeface="Calibri" pitchFamily="34" charset="-122"/>
                <a:cs typeface="Calibri" pitchFamily="34" charset="-120"/>
              </a:rPr>
              <a:t>Mapped once, to the whole graph, with vg giraffe.</a:t>
            </a:r>
            <a:endParaRPr lang="en-US" sz="1700" dirty="0"/>
          </a:p>
        </p:txBody>
      </p:sp>
      <p:sp>
        <p:nvSpPr>
          <p:cNvPr id="14" name="Shape 11"/>
          <p:cNvSpPr/>
          <p:nvPr/>
        </p:nvSpPr>
        <p:spPr>
          <a:xfrm>
            <a:off x="4368698" y="5584221"/>
            <a:ext cx="420624" cy="420624"/>
          </a:xfrm>
          <a:prstGeom prst="roundRect">
            <a:avLst>
              <a:gd name="adj" fmla="val 19565"/>
            </a:avLst>
          </a:prstGeom>
          <a:solidFill>
            <a:srgbClr val="FDC700"/>
          </a:solidFill>
          <a:ln w="12700">
            <a:solidFill>
              <a:srgbClr val="FDC700"/>
            </a:solidFill>
            <a:prstDash val="solid"/>
          </a:ln>
        </p:spPr>
      </p:sp>
      <p:sp>
        <p:nvSpPr>
          <p:cNvPr id="15" name="Text 12"/>
          <p:cNvSpPr txBox="1"/>
          <p:nvPr/>
        </p:nvSpPr>
        <p:spPr>
          <a:xfrm>
            <a:off x="4368698" y="5584221"/>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2</a:t>
            </a:r>
            <a:endParaRPr lang="en-US" sz="1800" dirty="0"/>
          </a:p>
        </p:txBody>
      </p:sp>
      <p:sp>
        <p:nvSpPr>
          <p:cNvPr id="16" name="Text 13"/>
          <p:cNvSpPr txBox="1"/>
          <p:nvPr/>
        </p:nvSpPr>
        <p:spPr>
          <a:xfrm>
            <a:off x="4963058" y="5565933"/>
            <a:ext cx="2859938" cy="822960"/>
          </a:xfrm>
          <a:prstGeom prst="rect">
            <a:avLst/>
          </a:prstGeom>
          <a:noFill/>
          <a:ln/>
        </p:spPr>
        <p:txBody>
          <a:bodyPr wrap="square" lIns="0" tIns="0" rIns="0" bIns="0" rtlCol="0" anchor="t"/>
          <a:lstStyle/>
          <a:p>
            <a:pPr indent="0" marL="0">
              <a:buNone/>
            </a:pPr>
            <a:r>
              <a:rPr lang="en-US" sz="1700" dirty="0">
                <a:solidFill>
                  <a:srgbClr val="18293B"/>
                </a:solidFill>
                <a:latin typeface="Calibri" pitchFamily="34" charset="0"/>
                <a:ea typeface="Calibri" pitchFamily="34" charset="-122"/>
                <a:cs typeface="Calibri" pitchFamily="34" charset="-120"/>
              </a:rPr>
              <a:t>Every assembly carrying it, ranked by identity.</a:t>
            </a:r>
            <a:endParaRPr lang="en-US" sz="1700" dirty="0"/>
          </a:p>
        </p:txBody>
      </p:sp>
      <p:sp>
        <p:nvSpPr>
          <p:cNvPr id="17" name="Shape 14"/>
          <p:cNvSpPr/>
          <p:nvPr/>
        </p:nvSpPr>
        <p:spPr>
          <a:xfrm>
            <a:off x="8188757" y="5584221"/>
            <a:ext cx="420624" cy="420624"/>
          </a:xfrm>
          <a:prstGeom prst="roundRect">
            <a:avLst>
              <a:gd name="adj" fmla="val 19565"/>
            </a:avLst>
          </a:prstGeom>
          <a:solidFill>
            <a:srgbClr val="FDC700"/>
          </a:solidFill>
          <a:ln w="12700">
            <a:solidFill>
              <a:srgbClr val="FDC700"/>
            </a:solidFill>
            <a:prstDash val="solid"/>
          </a:ln>
        </p:spPr>
      </p:sp>
      <p:sp>
        <p:nvSpPr>
          <p:cNvPr id="18" name="Text 15"/>
          <p:cNvSpPr txBox="1"/>
          <p:nvPr/>
        </p:nvSpPr>
        <p:spPr>
          <a:xfrm>
            <a:off x="8188757" y="5584221"/>
            <a:ext cx="420624" cy="420624"/>
          </a:xfrm>
          <a:prstGeom prst="rect">
            <a:avLst/>
          </a:prstGeom>
          <a:noFill/>
          <a:ln/>
        </p:spPr>
        <p:txBody>
          <a:bodyPr wrap="square" lIns="0" tIns="0" rIns="0" bIns="0" rtlCol="0" anchor="ctr"/>
          <a:lstStyle/>
          <a:p>
            <a:pPr algn="ctr" indent="0" marL="0">
              <a:buNone/>
            </a:pPr>
            <a:r>
              <a:rPr lang="en-US" sz="1800" b="1" dirty="0">
                <a:solidFill>
                  <a:srgbClr val="06294A"/>
                </a:solidFill>
                <a:latin typeface="Calibri" pitchFamily="34" charset="0"/>
                <a:ea typeface="Calibri" pitchFamily="34" charset="-122"/>
                <a:cs typeface="Calibri" pitchFamily="34" charset="-120"/>
              </a:rPr>
              <a:t>3</a:t>
            </a:r>
            <a:endParaRPr lang="en-US" sz="1800" dirty="0"/>
          </a:p>
        </p:txBody>
      </p:sp>
      <p:sp>
        <p:nvSpPr>
          <p:cNvPr id="19" name="Text 16"/>
          <p:cNvSpPr txBox="1"/>
          <p:nvPr/>
        </p:nvSpPr>
        <p:spPr>
          <a:xfrm>
            <a:off x="8783117" y="5565933"/>
            <a:ext cx="2859938" cy="822960"/>
          </a:xfrm>
          <a:prstGeom prst="rect">
            <a:avLst/>
          </a:prstGeom>
          <a:noFill/>
          <a:ln/>
        </p:spPr>
        <p:txBody>
          <a:bodyPr wrap="square" lIns="0" tIns="0" rIns="0" bIns="0" rtlCol="0" anchor="t"/>
          <a:lstStyle/>
          <a:p>
            <a:pPr indent="0" marL="0">
              <a:buNone/>
            </a:pPr>
            <a:r>
              <a:rPr lang="en-US" sz="1700" dirty="0">
                <a:solidFill>
                  <a:srgbClr val="18293B"/>
                </a:solidFill>
                <a:latin typeface="Calibri" pitchFamily="34" charset="0"/>
                <a:ea typeface="Calibri" pitchFamily="34" charset="-122"/>
                <a:cs typeface="Calibri" pitchFamily="34" charset="-120"/>
              </a:rPr>
              <a:t>Click a haplotype: re-surjected, not remapped.</a:t>
            </a:r>
            <a:endParaRPr lang="en-US" sz="1700" dirty="0"/>
          </a:p>
        </p:txBody>
      </p:sp>
      <p:sp>
        <p:nvSpPr>
          <p:cNvPr id="20" name="Text 17"/>
          <p:cNvSpPr txBox="1"/>
          <p:nvPr/>
        </p:nvSpPr>
        <p:spPr>
          <a:xfrm>
            <a:off x="548640" y="6172200"/>
            <a:ext cx="11094415" cy="411480"/>
          </a:xfrm>
          <a:prstGeom prst="rect">
            <a:avLst/>
          </a:prstGeom>
          <a:noFill/>
          <a:ln/>
        </p:spPr>
        <p:txBody>
          <a:bodyPr wrap="square" lIns="0" tIns="0" rIns="0" bIns="0" rtlCol="0" anchor="t"/>
          <a:lstStyle/>
          <a:p>
            <a:pPr algn="ctr" indent="0" marL="0">
              <a:buNone/>
            </a:pPr>
            <a:r>
              <a:rPr lang="en-US" sz="1500" dirty="0">
                <a:solidFill>
                  <a:srgbClr val="5B6B7C"/>
                </a:solidFill>
                <a:latin typeface="Calibri" pitchFamily="34" charset="0"/>
                <a:ea typeface="Calibri" pitchFamily="34" charset="-122"/>
                <a:cs typeface="Calibri" pitchFamily="34" charset="-120"/>
              </a:rPr>
              <a:t>MAPQ is 0 by design: every locus exists hundreds of times in this graph. Per-haplotype identity and coverage replace it.</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...and it lands as a native track</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9</a:t>
            </a:r>
            <a:endParaRPr lang="en-US" sz="1000" dirty="0"/>
          </a:p>
        </p:txBody>
      </p:sp>
      <p:sp>
        <p:nvSpPr>
          <p:cNvPr id="4" name="Shape 2"/>
          <p:cNvSpPr/>
          <p:nvPr/>
        </p:nvSpPr>
        <p:spPr>
          <a:xfrm>
            <a:off x="548640" y="1325880"/>
            <a:ext cx="11094415" cy="3254704"/>
          </a:xfrm>
          <a:prstGeom prst="roundRect">
            <a:avLst>
              <a:gd name="adj" fmla="val 3371"/>
            </a:avLst>
          </a:prstGeom>
          <a:solidFill>
            <a:srgbClr val="EDF1F6"/>
          </a:solidFill>
          <a:ln w="12700">
            <a:solidFill>
              <a:srgbClr val="DCE3EB"/>
            </a:solidFill>
            <a:prstDash val="solid"/>
          </a:ln>
        </p:spPr>
      </p:sp>
      <p:sp>
        <p:nvSpPr>
          <p:cNvPr id="5" name="Shape 3"/>
          <p:cNvSpPr/>
          <p:nvPr/>
        </p:nvSpPr>
        <p:spPr>
          <a:xfrm>
            <a:off x="694944" y="1417320"/>
            <a:ext cx="100584" cy="100584"/>
          </a:xfrm>
          <a:prstGeom prst="ellipse">
            <a:avLst/>
          </a:prstGeom>
          <a:solidFill>
            <a:srgbClr val="CBD5E0"/>
          </a:solidFill>
          <a:ln w="12700">
            <a:solidFill>
              <a:srgbClr val="CBD5E0"/>
            </a:solidFill>
            <a:prstDash val="solid"/>
          </a:ln>
        </p:spPr>
      </p:sp>
      <p:sp>
        <p:nvSpPr>
          <p:cNvPr id="6" name="Shape 4"/>
          <p:cNvSpPr/>
          <p:nvPr/>
        </p:nvSpPr>
        <p:spPr>
          <a:xfrm>
            <a:off x="859536" y="1417320"/>
            <a:ext cx="100584" cy="100584"/>
          </a:xfrm>
          <a:prstGeom prst="ellipse">
            <a:avLst/>
          </a:prstGeom>
          <a:solidFill>
            <a:srgbClr val="CBD5E0"/>
          </a:solidFill>
          <a:ln w="12700">
            <a:solidFill>
              <a:srgbClr val="CBD5E0"/>
            </a:solidFill>
            <a:prstDash val="solid"/>
          </a:ln>
        </p:spPr>
      </p:sp>
      <p:sp>
        <p:nvSpPr>
          <p:cNvPr id="7" name="Shape 5"/>
          <p:cNvSpPr/>
          <p:nvPr/>
        </p:nvSpPr>
        <p:spPr>
          <a:xfrm>
            <a:off x="1024128" y="1417320"/>
            <a:ext cx="100584" cy="100584"/>
          </a:xfrm>
          <a:prstGeom prst="ellipse">
            <a:avLst/>
          </a:prstGeom>
          <a:solidFill>
            <a:srgbClr val="CBD5E0"/>
          </a:solidFill>
          <a:ln w="12700">
            <a:solidFill>
              <a:srgbClr val="CBD5E0"/>
            </a:solidFill>
            <a:prstDash val="solid"/>
          </a:ln>
        </p:spPr>
      </p:sp>
      <p:sp>
        <p:nvSpPr>
          <p:cNvPr id="8" name="Text 6"/>
          <p:cNvSpPr txBox="1"/>
          <p:nvPr/>
        </p:nvSpPr>
        <p:spPr>
          <a:xfrm>
            <a:off x="1325880" y="1353312"/>
            <a:ext cx="3657600" cy="237744"/>
          </a:xfrm>
          <a:prstGeom prst="rect">
            <a:avLst/>
          </a:prstGeom>
          <a:noFill/>
          <a:ln/>
        </p:spPr>
        <p:txBody>
          <a:bodyPr wrap="square" lIns="0" tIns="0" rIns="0" bIns="0" rtlCol="0" anchor="ctr"/>
          <a:lstStyle/>
          <a:p>
            <a:pPr indent="0" marL="0">
              <a:buNone/>
            </a:pPr>
            <a:r>
              <a:rPr lang="en-US" sz="900" dirty="0">
                <a:solidFill>
                  <a:srgbClr val="5B6B7C"/>
                </a:solidFill>
                <a:latin typeface="Courier New" pitchFamily="34" charset="0"/>
                <a:ea typeface="Courier New" pitchFamily="34" charset="-122"/>
                <a:cs typeface="Courier New" pitchFamily="34" charset="-120"/>
              </a:rPr>
              <a:t>genome.ucsc.edu</a:t>
            </a:r>
            <a:endParaRPr lang="en-US" sz="900" dirty="0"/>
          </a:p>
        </p:txBody>
      </p:sp>
      <p:pic>
        <p:nvPicPr>
          <p:cNvPr id="9" name="Image 0" descr="/Users/seeskand/Documents/HPRC/2026/hprc_2026_poster/talk/figures/crop_seqtrack.png">    </p:cNvPr>
          <p:cNvPicPr>
            <a:picLocks noChangeAspect="1"/>
          </p:cNvPicPr>
          <p:nvPr/>
        </p:nvPicPr>
        <p:blipFill>
          <a:blip r:embed="rId1"/>
          <a:stretch>
            <a:fillRect/>
          </a:stretch>
        </p:blipFill>
        <p:spPr>
          <a:xfrm>
            <a:off x="658368" y="1636776"/>
            <a:ext cx="10874959" cy="2834080"/>
          </a:xfrm>
          <a:prstGeom prst="rect">
            <a:avLst/>
          </a:prstGeom>
        </p:spPr>
      </p:pic>
      <p:sp>
        <p:nvSpPr>
          <p:cNvPr id="10" name="Shape 7"/>
          <p:cNvSpPr/>
          <p:nvPr/>
        </p:nvSpPr>
        <p:spPr>
          <a:xfrm>
            <a:off x="658368" y="2642874"/>
            <a:ext cx="10874959" cy="212556"/>
          </a:xfrm>
          <a:prstGeom prst="roundRect">
            <a:avLst>
              <a:gd name="adj" fmla="val 21510"/>
            </a:avLst>
          </a:prstGeom>
          <a:solidFill>
            <a:srgbClr val="FDC700">
              <a:alpha val="0"/>
            </a:srgbClr>
          </a:solidFill>
          <a:ln w="31750">
            <a:solidFill>
              <a:srgbClr val="FDC700"/>
            </a:solidFill>
            <a:prstDash val="solid"/>
          </a:ln>
        </p:spPr>
      </p:sp>
      <p:sp>
        <p:nvSpPr>
          <p:cNvPr id="11" name="Text 8"/>
          <p:cNvSpPr txBox="1"/>
          <p:nvPr/>
        </p:nvSpPr>
        <p:spPr>
          <a:xfrm>
            <a:off x="548640" y="4900624"/>
            <a:ext cx="11094415" cy="548640"/>
          </a:xfrm>
          <a:prstGeom prst="rect">
            <a:avLst/>
          </a:prstGeom>
          <a:noFill/>
          <a:ln/>
        </p:spPr>
        <p:txBody>
          <a:bodyPr wrap="square" lIns="0" tIns="0" rIns="0" bIns="0" rtlCol="0" anchor="ctr"/>
          <a:lstStyle/>
          <a:p>
            <a:pPr algn="ctr" indent="0" marL="0">
              <a:buNone/>
            </a:pPr>
            <a:r>
              <a:rPr lang="en-US" sz="2000" i="1" dirty="0">
                <a:solidFill>
                  <a:srgbClr val="003C6C"/>
                </a:solidFill>
                <a:latin typeface="Calibri" pitchFamily="34" charset="0"/>
                <a:ea typeface="Calibri" pitchFamily="34" charset="-122"/>
                <a:cs typeface="Calibri" pitchFamily="34" charset="-120"/>
              </a:rPr>
              <a:t>The mapped sequence, drawn as a track on HG01167 hap1. Base-level differences, BLAT-style.</a:t>
            </a:r>
            <a:endParaRPr lang="en-US" sz="2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Any region, any of 464 haplotypes, in about 100 ms</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10</a:t>
            </a:r>
            <a:endParaRPr lang="en-US" sz="1000" dirty="0"/>
          </a:p>
        </p:txBody>
      </p:sp>
      <p:sp>
        <p:nvSpPr>
          <p:cNvPr id="4" name="Text 2"/>
          <p:cNvSpPr txBox="1"/>
          <p:nvPr/>
        </p:nvSpPr>
        <p:spPr>
          <a:xfrm>
            <a:off x="9631375" y="384048"/>
            <a:ext cx="2011680" cy="713232"/>
          </a:xfrm>
          <a:prstGeom prst="rect">
            <a:avLst/>
          </a:prstGeom>
          <a:noFill/>
          <a:ln/>
        </p:spPr>
        <p:txBody>
          <a:bodyPr wrap="square" lIns="0" tIns="0" rIns="0" bIns="0" rtlCol="0" anchor="ctr"/>
          <a:lstStyle/>
          <a:p>
            <a:pPr algn="r" indent="0" marL="0">
              <a:buNone/>
            </a:pPr>
            <a:r>
              <a:rPr lang="en-US" sz="1600" b="1" dirty="0">
                <a:solidFill>
                  <a:srgbClr val="003C6C"/>
                </a:solidFill>
                <a:latin typeface="Calibri" pitchFamily="34" charset="0"/>
                <a:ea typeface="Calibri" pitchFamily="34" charset="-122"/>
                <a:cs typeface="Calibri" pitchFamily="34" charset="-120"/>
              </a:rPr>
              <a:t>Question 2</a:t>
            </a:r>
            <a:endParaRPr lang="en-US" sz="1600" dirty="0"/>
          </a:p>
        </p:txBody>
      </p:sp>
      <p:sp>
        <p:nvSpPr>
          <p:cNvPr id="5" name="Shape 3"/>
          <p:cNvSpPr/>
          <p:nvPr/>
        </p:nvSpPr>
        <p:spPr>
          <a:xfrm>
            <a:off x="595774" y="1325880"/>
            <a:ext cx="6580852" cy="4983480"/>
          </a:xfrm>
          <a:prstGeom prst="roundRect">
            <a:avLst>
              <a:gd name="adj" fmla="val 2202"/>
            </a:avLst>
          </a:prstGeom>
          <a:solidFill>
            <a:srgbClr val="EDF1F6"/>
          </a:solidFill>
          <a:ln w="12700">
            <a:solidFill>
              <a:srgbClr val="DCE3EB"/>
            </a:solidFill>
            <a:prstDash val="solid"/>
          </a:ln>
        </p:spPr>
      </p:sp>
      <p:sp>
        <p:nvSpPr>
          <p:cNvPr id="6" name="Shape 4"/>
          <p:cNvSpPr/>
          <p:nvPr/>
        </p:nvSpPr>
        <p:spPr>
          <a:xfrm>
            <a:off x="742078" y="1417320"/>
            <a:ext cx="100584" cy="100584"/>
          </a:xfrm>
          <a:prstGeom prst="ellipse">
            <a:avLst/>
          </a:prstGeom>
          <a:solidFill>
            <a:srgbClr val="CBD5E0"/>
          </a:solidFill>
          <a:ln w="12700">
            <a:solidFill>
              <a:srgbClr val="CBD5E0"/>
            </a:solidFill>
            <a:prstDash val="solid"/>
          </a:ln>
        </p:spPr>
      </p:sp>
      <p:sp>
        <p:nvSpPr>
          <p:cNvPr id="7" name="Shape 5"/>
          <p:cNvSpPr/>
          <p:nvPr/>
        </p:nvSpPr>
        <p:spPr>
          <a:xfrm>
            <a:off x="906670" y="1417320"/>
            <a:ext cx="100584" cy="100584"/>
          </a:xfrm>
          <a:prstGeom prst="ellipse">
            <a:avLst/>
          </a:prstGeom>
          <a:solidFill>
            <a:srgbClr val="CBD5E0"/>
          </a:solidFill>
          <a:ln w="12700">
            <a:solidFill>
              <a:srgbClr val="CBD5E0"/>
            </a:solidFill>
            <a:prstDash val="solid"/>
          </a:ln>
        </p:spPr>
      </p:sp>
      <p:sp>
        <p:nvSpPr>
          <p:cNvPr id="8" name="Shape 6"/>
          <p:cNvSpPr/>
          <p:nvPr/>
        </p:nvSpPr>
        <p:spPr>
          <a:xfrm>
            <a:off x="1071262" y="1417320"/>
            <a:ext cx="100584" cy="100584"/>
          </a:xfrm>
          <a:prstGeom prst="ellipse">
            <a:avLst/>
          </a:prstGeom>
          <a:solidFill>
            <a:srgbClr val="CBD5E0"/>
          </a:solidFill>
          <a:ln w="12700">
            <a:solidFill>
              <a:srgbClr val="CBD5E0"/>
            </a:solidFill>
            <a:prstDash val="solid"/>
          </a:ln>
        </p:spPr>
      </p:sp>
      <p:sp>
        <p:nvSpPr>
          <p:cNvPr id="9" name="Text 7"/>
          <p:cNvSpPr txBox="1"/>
          <p:nvPr/>
        </p:nvSpPr>
        <p:spPr>
          <a:xfrm>
            <a:off x="1373014" y="1353312"/>
            <a:ext cx="3657600" cy="237744"/>
          </a:xfrm>
          <a:prstGeom prst="rect">
            <a:avLst/>
          </a:prstGeom>
          <a:noFill/>
          <a:ln/>
        </p:spPr>
        <p:txBody>
          <a:bodyPr wrap="square" lIns="0" tIns="0" rIns="0" bIns="0" rtlCol="0" anchor="ctr"/>
          <a:lstStyle/>
          <a:p>
            <a:pPr indent="0" marL="0">
              <a:buNone/>
            </a:pPr>
            <a:r>
              <a:rPr lang="en-US" sz="900" dirty="0">
                <a:solidFill>
                  <a:srgbClr val="5B6B7C"/>
                </a:solidFill>
                <a:latin typeface="Courier New" pitchFamily="34" charset="0"/>
                <a:ea typeface="Courier New" pitchFamily="34" charset="-122"/>
                <a:cs typeface="Courier New" pitchFamily="34" charset="-120"/>
              </a:rPr>
              <a:t>genome.ucsc.edu</a:t>
            </a:r>
            <a:endParaRPr lang="en-US" sz="900" dirty="0"/>
          </a:p>
        </p:txBody>
      </p:sp>
      <p:pic>
        <p:nvPicPr>
          <p:cNvPr id="10" name="Image 0" descr="/Users/seeskand/Documents/HPRC/2026/hprc_2026_poster/talk/figures/crop_convert.png">    </p:cNvPr>
          <p:cNvPicPr>
            <a:picLocks noChangeAspect="1"/>
          </p:cNvPicPr>
          <p:nvPr/>
        </p:nvPicPr>
        <p:blipFill>
          <a:blip r:embed="rId1"/>
          <a:stretch>
            <a:fillRect/>
          </a:stretch>
        </p:blipFill>
        <p:spPr>
          <a:xfrm>
            <a:off x="705502" y="1636776"/>
            <a:ext cx="6361396" cy="4562856"/>
          </a:xfrm>
          <a:prstGeom prst="rect">
            <a:avLst/>
          </a:prstGeom>
        </p:spPr>
      </p:pic>
      <p:sp>
        <p:nvSpPr>
          <p:cNvPr id="11" name="Text 8"/>
          <p:cNvSpPr txBox="1"/>
          <p:nvPr/>
        </p:nvSpPr>
        <p:spPr>
          <a:xfrm>
            <a:off x="7543800" y="1417320"/>
            <a:ext cx="4099255" cy="320040"/>
          </a:xfrm>
          <a:prstGeom prst="rect">
            <a:avLst/>
          </a:prstGeom>
          <a:noFill/>
          <a:ln/>
        </p:spPr>
        <p:txBody>
          <a:bodyPr wrap="square" lIns="0" tIns="0" rIns="0" bIns="0" rtlCol="0" anchor="t"/>
          <a:lstStyle/>
          <a:p>
            <a:pPr indent="0" marL="0">
              <a:buNone/>
            </a:pPr>
            <a:r>
              <a:rPr lang="en-US" sz="1600" b="1" dirty="0">
                <a:solidFill>
                  <a:srgbClr val="5B6B7C"/>
                </a:solidFill>
                <a:latin typeface="Calibri" pitchFamily="34" charset="0"/>
                <a:ea typeface="Calibri" pitchFamily="34" charset="-122"/>
                <a:cs typeface="Calibri" pitchFamily="34" charset="-120"/>
              </a:rPr>
              <a:t>CHM13</a:t>
            </a:r>
            <a:endParaRPr lang="en-US" sz="1600" dirty="0"/>
          </a:p>
        </p:txBody>
      </p:sp>
      <p:sp>
        <p:nvSpPr>
          <p:cNvPr id="12" name="Text 9"/>
          <p:cNvSpPr txBox="1"/>
          <p:nvPr/>
        </p:nvSpPr>
        <p:spPr>
          <a:xfrm>
            <a:off x="7543800" y="1737360"/>
            <a:ext cx="4099255" cy="411480"/>
          </a:xfrm>
          <a:prstGeom prst="rect">
            <a:avLst/>
          </a:prstGeom>
          <a:noFill/>
          <a:ln/>
        </p:spPr>
        <p:txBody>
          <a:bodyPr wrap="square" lIns="0" tIns="0" rIns="0" bIns="0" rtlCol="0" anchor="t"/>
          <a:lstStyle/>
          <a:p>
            <a:pPr indent="0" marL="0">
              <a:buNone/>
            </a:pPr>
            <a:r>
              <a:rPr lang="en-US" sz="1800" dirty="0">
                <a:solidFill>
                  <a:srgbClr val="18293B"/>
                </a:solidFill>
                <a:latin typeface="Courier New" pitchFamily="34" charset="0"/>
                <a:ea typeface="Courier New" pitchFamily="34" charset="-122"/>
                <a:cs typeface="Courier New" pitchFamily="34" charset="-120"/>
              </a:rPr>
              <a:t>chr6:32,768,058-32,778,749</a:t>
            </a:r>
            <a:endParaRPr lang="en-US" sz="1800" dirty="0"/>
          </a:p>
        </p:txBody>
      </p:sp>
      <p:sp>
        <p:nvSpPr>
          <p:cNvPr id="13" name="Shape 10"/>
          <p:cNvSpPr/>
          <p:nvPr/>
        </p:nvSpPr>
        <p:spPr>
          <a:xfrm>
            <a:off x="7635240" y="2240280"/>
            <a:ext cx="320040" cy="411480"/>
          </a:xfrm>
          <a:prstGeom prst="downArrow">
            <a:avLst/>
          </a:prstGeom>
          <a:solidFill>
            <a:srgbClr val="FDC700"/>
          </a:solidFill>
          <a:ln w="12700">
            <a:solidFill>
              <a:srgbClr val="FDC700"/>
            </a:solidFill>
            <a:prstDash val="solid"/>
          </a:ln>
        </p:spPr>
      </p:sp>
      <p:sp>
        <p:nvSpPr>
          <p:cNvPr id="14" name="Text 11"/>
          <p:cNvSpPr txBox="1"/>
          <p:nvPr/>
        </p:nvSpPr>
        <p:spPr>
          <a:xfrm>
            <a:off x="7543800" y="2743200"/>
            <a:ext cx="4099255" cy="320040"/>
          </a:xfrm>
          <a:prstGeom prst="rect">
            <a:avLst/>
          </a:prstGeom>
          <a:noFill/>
          <a:ln/>
        </p:spPr>
        <p:txBody>
          <a:bodyPr wrap="square" lIns="0" tIns="0" rIns="0" bIns="0" rtlCol="0" anchor="t"/>
          <a:lstStyle/>
          <a:p>
            <a:pPr indent="0" marL="0">
              <a:buNone/>
            </a:pPr>
            <a:r>
              <a:rPr lang="en-US" sz="1600" b="1" dirty="0">
                <a:solidFill>
                  <a:srgbClr val="5B6B7C"/>
                </a:solidFill>
                <a:latin typeface="Calibri" pitchFamily="34" charset="0"/>
                <a:ea typeface="Calibri" pitchFamily="34" charset="-122"/>
                <a:cs typeface="Calibri" pitchFamily="34" charset="-120"/>
              </a:rPr>
              <a:t>HG02015 paternal</a:t>
            </a:r>
            <a:endParaRPr lang="en-US" sz="1600" dirty="0"/>
          </a:p>
        </p:txBody>
      </p:sp>
      <p:sp>
        <p:nvSpPr>
          <p:cNvPr id="15" name="Text 12"/>
          <p:cNvSpPr txBox="1"/>
          <p:nvPr/>
        </p:nvSpPr>
        <p:spPr>
          <a:xfrm>
            <a:off x="7543800" y="3063240"/>
            <a:ext cx="4099255" cy="731520"/>
          </a:xfrm>
          <a:prstGeom prst="rect">
            <a:avLst/>
          </a:prstGeom>
          <a:noFill/>
          <a:ln/>
        </p:spPr>
        <p:txBody>
          <a:bodyPr wrap="square" lIns="0" tIns="0" rIns="0" bIns="0" rtlCol="0" anchor="t"/>
          <a:lstStyle/>
          <a:p>
            <a:pPr indent="0" marL="0">
              <a:buNone/>
            </a:pPr>
            <a:r>
              <a:rPr lang="en-US" sz="1800" dirty="0">
                <a:solidFill>
                  <a:srgbClr val="18293B"/>
                </a:solidFill>
                <a:latin typeface="Courier New" pitchFamily="34" charset="0"/>
                <a:ea typeface="Courier New" pitchFamily="34" charset="-122"/>
                <a:cs typeface="Courier New" pitchFamily="34" charset="-120"/>
              </a:rPr>
              <a:t>CM085893.1:32,953,289-32,963,978</a:t>
            </a:r>
            <a:endParaRPr lang="en-US" sz="1800" dirty="0"/>
          </a:p>
        </p:txBody>
      </p:sp>
      <p:sp>
        <p:nvSpPr>
          <p:cNvPr id="16" name="Shape 13"/>
          <p:cNvSpPr/>
          <p:nvPr/>
        </p:nvSpPr>
        <p:spPr>
          <a:xfrm>
            <a:off x="7543800" y="3931920"/>
            <a:ext cx="4099255" cy="868680"/>
          </a:xfrm>
          <a:prstGeom prst="roundRect">
            <a:avLst>
              <a:gd name="adj" fmla="val 12632"/>
            </a:avLst>
          </a:prstGeom>
          <a:solidFill>
            <a:srgbClr val="EDF1F6"/>
          </a:solidFill>
          <a:ln w="12700">
            <a:solidFill>
              <a:srgbClr val="DCE3EB"/>
            </a:solidFill>
            <a:prstDash val="solid"/>
          </a:ln>
        </p:spPr>
      </p:sp>
      <p:sp>
        <p:nvSpPr>
          <p:cNvPr id="17" name="Text 14"/>
          <p:cNvSpPr txBox="1"/>
          <p:nvPr/>
        </p:nvSpPr>
        <p:spPr>
          <a:xfrm>
            <a:off x="7543800" y="3931920"/>
            <a:ext cx="4099255" cy="868680"/>
          </a:xfrm>
          <a:prstGeom prst="rect">
            <a:avLst/>
          </a:prstGeom>
          <a:noFill/>
          <a:ln/>
        </p:spPr>
        <p:txBody>
          <a:bodyPr wrap="square" lIns="0" tIns="0" rIns="0" bIns="0" rtlCol="0" anchor="ctr"/>
          <a:lstStyle/>
          <a:p>
            <a:pPr algn="ctr" indent="0" marL="0">
              <a:buNone/>
            </a:pPr>
            <a:r>
              <a:rPr lang="en-US" sz="2200" b="1" dirty="0">
                <a:solidFill>
                  <a:srgbClr val="003C6C"/>
                </a:solidFill>
                <a:latin typeface="Calibri" pitchFamily="34" charset="0"/>
                <a:ea typeface="Calibri" pitchFamily="34" charset="-122"/>
                <a:cs typeface="Calibri" pitchFamily="34" charset="-120"/>
              </a:rPr>
              <a:t>100% of bases, 100% of span</a:t>
            </a:r>
            <a:endParaRPr lang="en-US" sz="2200" dirty="0"/>
          </a:p>
        </p:txBody>
      </p:sp>
      <p:sp>
        <p:nvSpPr>
          <p:cNvPr id="18" name="Text 15"/>
          <p:cNvSpPr txBox="1"/>
          <p:nvPr/>
        </p:nvSpPr>
        <p:spPr>
          <a:xfrm>
            <a:off x="7543800" y="4983480"/>
            <a:ext cx="4099255" cy="1280160"/>
          </a:xfrm>
          <a:prstGeom prst="rect">
            <a:avLst/>
          </a:prstGeom>
          <a:noFill/>
          <a:ln/>
        </p:spPr>
        <p:txBody>
          <a:bodyPr wrap="square" lIns="0" tIns="0" rIns="0" bIns="0" rtlCol="0" anchor="t"/>
          <a:lstStyle/>
          <a:p>
            <a:pPr indent="0" marL="0">
              <a:buNone/>
            </a:pPr>
            <a:r>
              <a:rPr lang="en-US" sz="1700" dirty="0">
                <a:solidFill>
                  <a:srgbClr val="18293B"/>
                </a:solidFill>
                <a:latin typeface="Calibri" pitchFamily="34" charset="0"/>
                <a:ea typeface="Calibri" pitchFamily="34" charset="-122"/>
                <a:cs typeface="Calibri" pitchFamily="34" charset="-120"/>
              </a:rPr>
              <a:t>About 115 ms for this 10.7 kb region. GRCh38 is a path in the graph too, so hg38 can be the source.</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No new habits: it lives inside hgConvert too</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11</a:t>
            </a:r>
            <a:endParaRPr lang="en-US" sz="1000" dirty="0"/>
          </a:p>
        </p:txBody>
      </p:sp>
      <p:sp>
        <p:nvSpPr>
          <p:cNvPr id="4" name="Shape 2"/>
          <p:cNvSpPr/>
          <p:nvPr/>
        </p:nvSpPr>
        <p:spPr>
          <a:xfrm>
            <a:off x="548640" y="1325880"/>
            <a:ext cx="7132320" cy="3685032"/>
          </a:xfrm>
          <a:prstGeom prst="roundRect">
            <a:avLst>
              <a:gd name="adj" fmla="val 2978"/>
            </a:avLst>
          </a:prstGeom>
          <a:solidFill>
            <a:srgbClr val="EDF1F6"/>
          </a:solidFill>
          <a:ln w="12700">
            <a:solidFill>
              <a:srgbClr val="DCE3EB"/>
            </a:solidFill>
            <a:prstDash val="solid"/>
          </a:ln>
        </p:spPr>
      </p:sp>
      <p:sp>
        <p:nvSpPr>
          <p:cNvPr id="5" name="Shape 3"/>
          <p:cNvSpPr/>
          <p:nvPr/>
        </p:nvSpPr>
        <p:spPr>
          <a:xfrm>
            <a:off x="694944" y="1417320"/>
            <a:ext cx="100584" cy="100584"/>
          </a:xfrm>
          <a:prstGeom prst="ellipse">
            <a:avLst/>
          </a:prstGeom>
          <a:solidFill>
            <a:srgbClr val="CBD5E0"/>
          </a:solidFill>
          <a:ln w="12700">
            <a:solidFill>
              <a:srgbClr val="CBD5E0"/>
            </a:solidFill>
            <a:prstDash val="solid"/>
          </a:ln>
        </p:spPr>
      </p:sp>
      <p:sp>
        <p:nvSpPr>
          <p:cNvPr id="6" name="Shape 4"/>
          <p:cNvSpPr/>
          <p:nvPr/>
        </p:nvSpPr>
        <p:spPr>
          <a:xfrm>
            <a:off x="859536" y="1417320"/>
            <a:ext cx="100584" cy="100584"/>
          </a:xfrm>
          <a:prstGeom prst="ellipse">
            <a:avLst/>
          </a:prstGeom>
          <a:solidFill>
            <a:srgbClr val="CBD5E0"/>
          </a:solidFill>
          <a:ln w="12700">
            <a:solidFill>
              <a:srgbClr val="CBD5E0"/>
            </a:solidFill>
            <a:prstDash val="solid"/>
          </a:ln>
        </p:spPr>
      </p:sp>
      <p:sp>
        <p:nvSpPr>
          <p:cNvPr id="7" name="Shape 5"/>
          <p:cNvSpPr/>
          <p:nvPr/>
        </p:nvSpPr>
        <p:spPr>
          <a:xfrm>
            <a:off x="1024128" y="1417320"/>
            <a:ext cx="100584" cy="100584"/>
          </a:xfrm>
          <a:prstGeom prst="ellipse">
            <a:avLst/>
          </a:prstGeom>
          <a:solidFill>
            <a:srgbClr val="CBD5E0"/>
          </a:solidFill>
          <a:ln w="12700">
            <a:solidFill>
              <a:srgbClr val="CBD5E0"/>
            </a:solidFill>
            <a:prstDash val="solid"/>
          </a:ln>
        </p:spPr>
      </p:sp>
      <p:sp>
        <p:nvSpPr>
          <p:cNvPr id="8" name="Text 6"/>
          <p:cNvSpPr txBox="1"/>
          <p:nvPr/>
        </p:nvSpPr>
        <p:spPr>
          <a:xfrm>
            <a:off x="1325880" y="1353312"/>
            <a:ext cx="3657600" cy="237744"/>
          </a:xfrm>
          <a:prstGeom prst="rect">
            <a:avLst/>
          </a:prstGeom>
          <a:noFill/>
          <a:ln/>
        </p:spPr>
        <p:txBody>
          <a:bodyPr wrap="square" lIns="0" tIns="0" rIns="0" bIns="0" rtlCol="0" anchor="ctr"/>
          <a:lstStyle/>
          <a:p>
            <a:pPr indent="0" marL="0">
              <a:buNone/>
            </a:pPr>
            <a:r>
              <a:rPr lang="en-US" sz="900" dirty="0">
                <a:solidFill>
                  <a:srgbClr val="5B6B7C"/>
                </a:solidFill>
                <a:latin typeface="Courier New" pitchFamily="34" charset="0"/>
                <a:ea typeface="Courier New" pitchFamily="34" charset="-122"/>
                <a:cs typeface="Courier New" pitchFamily="34" charset="-120"/>
              </a:rPr>
              <a:t>genome.ucsc.edu</a:t>
            </a:r>
            <a:endParaRPr lang="en-US" sz="900" dirty="0"/>
          </a:p>
        </p:txBody>
      </p:sp>
      <p:pic>
        <p:nvPicPr>
          <p:cNvPr id="9" name="Image 0" descr="/Users/seeskand/Documents/HPRC/2026/hprc_2026_poster/talk/figures/crop_dropdown.png">    </p:cNvPr>
          <p:cNvPicPr>
            <a:picLocks noChangeAspect="1"/>
          </p:cNvPicPr>
          <p:nvPr/>
        </p:nvPicPr>
        <p:blipFill>
          <a:blip r:embed="rId1"/>
          <a:stretch>
            <a:fillRect/>
          </a:stretch>
        </p:blipFill>
        <p:spPr>
          <a:xfrm>
            <a:off x="658368" y="1636776"/>
            <a:ext cx="6912864" cy="3264408"/>
          </a:xfrm>
          <a:prstGeom prst="rect">
            <a:avLst/>
          </a:prstGeom>
        </p:spPr>
      </p:pic>
      <p:sp>
        <p:nvSpPr>
          <p:cNvPr id="10" name="Text 7"/>
          <p:cNvSpPr txBox="1"/>
          <p:nvPr/>
        </p:nvSpPr>
        <p:spPr>
          <a:xfrm>
            <a:off x="8046720" y="1508760"/>
            <a:ext cx="3596335" cy="1005840"/>
          </a:xfrm>
          <a:prstGeom prst="rect">
            <a:avLst/>
          </a:prstGeom>
          <a:noFill/>
          <a:ln/>
        </p:spPr>
        <p:txBody>
          <a:bodyPr wrap="square" lIns="0" tIns="0" rIns="0" bIns="0" rtlCol="0" anchor="t"/>
          <a:lstStyle/>
          <a:p>
            <a:pPr indent="0" marL="0">
              <a:buNone/>
            </a:pPr>
            <a:r>
              <a:rPr lang="en-US" sz="1800" dirty="0">
                <a:solidFill>
                  <a:srgbClr val="18293B"/>
                </a:solidFill>
                <a:latin typeface="Calibri" pitchFamily="34" charset="0"/>
                <a:ea typeface="Calibri" pitchFamily="34" charset="-122"/>
                <a:cs typeface="Calibri" pitchFamily="34" charset="-120"/>
              </a:rPr>
              <a:t>Pangenome assemblies appear in the ordinary assembly menu.</a:t>
            </a:r>
            <a:endParaRPr lang="en-US" sz="1800" dirty="0"/>
          </a:p>
        </p:txBody>
      </p:sp>
      <p:sp>
        <p:nvSpPr>
          <p:cNvPr id="11" name="Text 8"/>
          <p:cNvSpPr txBox="1"/>
          <p:nvPr/>
        </p:nvSpPr>
        <p:spPr>
          <a:xfrm>
            <a:off x="8046720" y="2697480"/>
            <a:ext cx="3596335" cy="1188720"/>
          </a:xfrm>
          <a:prstGeom prst="rect">
            <a:avLst/>
          </a:prstGeom>
          <a:noFill/>
          <a:ln/>
        </p:spPr>
        <p:txBody>
          <a:bodyPr wrap="square" lIns="0" tIns="0" rIns="0" bIns="0" rtlCol="0" anchor="t"/>
          <a:lstStyle/>
          <a:p>
            <a:pPr indent="0" marL="0">
              <a:buNone/>
            </a:pPr>
            <a:r>
              <a:rPr lang="en-US" sz="1800" dirty="0">
                <a:solidFill>
                  <a:srgbClr val="18293B"/>
                </a:solidFill>
                <a:latin typeface="Calibri" pitchFamily="34" charset="0"/>
                <a:ea typeface="Calibri" pitchFamily="34" charset="-122"/>
                <a:cs typeface="Calibri" pitchFamily="34" charset="-120"/>
              </a:rPr>
              <a:t>Pick one, and the conversion goes through the graph instead of a chain file.</a:t>
            </a:r>
            <a:endParaRPr lang="en-US" sz="1800" dirty="0"/>
          </a:p>
        </p:txBody>
      </p:sp>
      <p:sp>
        <p:nvSpPr>
          <p:cNvPr id="12" name="Shape 9"/>
          <p:cNvSpPr/>
          <p:nvPr/>
        </p:nvSpPr>
        <p:spPr>
          <a:xfrm>
            <a:off x="8046720" y="4069080"/>
            <a:ext cx="3596335" cy="822960"/>
          </a:xfrm>
          <a:prstGeom prst="roundRect">
            <a:avLst>
              <a:gd name="adj" fmla="val 13333"/>
            </a:avLst>
          </a:prstGeom>
          <a:solidFill>
            <a:srgbClr val="EDF1F6"/>
          </a:solidFill>
          <a:ln w="12700">
            <a:solidFill>
              <a:srgbClr val="DCE3EB"/>
            </a:solidFill>
            <a:prstDash val="solid"/>
          </a:ln>
        </p:spPr>
      </p:sp>
      <p:sp>
        <p:nvSpPr>
          <p:cNvPr id="13" name="Text 10"/>
          <p:cNvSpPr txBox="1"/>
          <p:nvPr/>
        </p:nvSpPr>
        <p:spPr>
          <a:xfrm>
            <a:off x="8046720" y="4069080"/>
            <a:ext cx="3596335" cy="822960"/>
          </a:xfrm>
          <a:prstGeom prst="rect">
            <a:avLst/>
          </a:prstGeom>
          <a:noFill/>
          <a:ln/>
        </p:spPr>
        <p:txBody>
          <a:bodyPr wrap="square" lIns="0" tIns="0" rIns="0" bIns="0" rtlCol="0" anchor="ctr"/>
          <a:lstStyle/>
          <a:p>
            <a:pPr algn="ctr" indent="0" marL="0">
              <a:buNone/>
            </a:pPr>
            <a:r>
              <a:rPr lang="en-US" sz="1900" b="1" dirty="0">
                <a:solidFill>
                  <a:srgbClr val="003C6C"/>
                </a:solidFill>
                <a:latin typeface="Calibri" pitchFamily="34" charset="0"/>
                <a:ea typeface="Calibri" pitchFamily="34" charset="-122"/>
                <a:cs typeface="Calibri" pitchFamily="34" charset="-120"/>
              </a:rPr>
              <a:t>Same button. New capability.</a:t>
            </a:r>
            <a:endParaRPr lang="en-US" sz="1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Arrive with the annotations you left behind</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12</a:t>
            </a:r>
            <a:endParaRPr lang="en-US" sz="1000" dirty="0"/>
          </a:p>
        </p:txBody>
      </p:sp>
      <p:sp>
        <p:nvSpPr>
          <p:cNvPr id="4" name="Text 2"/>
          <p:cNvSpPr txBox="1"/>
          <p:nvPr/>
        </p:nvSpPr>
        <p:spPr>
          <a:xfrm>
            <a:off x="9631375" y="384048"/>
            <a:ext cx="2011680" cy="713232"/>
          </a:xfrm>
          <a:prstGeom prst="rect">
            <a:avLst/>
          </a:prstGeom>
          <a:noFill/>
          <a:ln/>
        </p:spPr>
        <p:txBody>
          <a:bodyPr wrap="square" lIns="0" tIns="0" rIns="0" bIns="0" rtlCol="0" anchor="ctr"/>
          <a:lstStyle/>
          <a:p>
            <a:pPr algn="r" indent="0" marL="0">
              <a:buNone/>
            </a:pPr>
            <a:r>
              <a:rPr lang="en-US" sz="1600" b="1" dirty="0">
                <a:solidFill>
                  <a:srgbClr val="003C6C"/>
                </a:solidFill>
                <a:latin typeface="Calibri" pitchFamily="34" charset="0"/>
                <a:ea typeface="Calibri" pitchFamily="34" charset="-122"/>
                <a:cs typeface="Calibri" pitchFamily="34" charset="-120"/>
              </a:rPr>
              <a:t>Question 3</a:t>
            </a:r>
            <a:endParaRPr lang="en-US" sz="1600" dirty="0"/>
          </a:p>
        </p:txBody>
      </p:sp>
      <p:sp>
        <p:nvSpPr>
          <p:cNvPr id="5" name="Shape 3"/>
          <p:cNvSpPr/>
          <p:nvPr/>
        </p:nvSpPr>
        <p:spPr>
          <a:xfrm>
            <a:off x="548640" y="1325880"/>
            <a:ext cx="11094415" cy="3819826"/>
          </a:xfrm>
          <a:prstGeom prst="roundRect">
            <a:avLst>
              <a:gd name="adj" fmla="val 2873"/>
            </a:avLst>
          </a:prstGeom>
          <a:solidFill>
            <a:srgbClr val="EDF1F6"/>
          </a:solidFill>
          <a:ln w="12700">
            <a:solidFill>
              <a:srgbClr val="DCE3EB"/>
            </a:solidFill>
            <a:prstDash val="solid"/>
          </a:ln>
        </p:spPr>
      </p:sp>
      <p:sp>
        <p:nvSpPr>
          <p:cNvPr id="6" name="Shape 4"/>
          <p:cNvSpPr/>
          <p:nvPr/>
        </p:nvSpPr>
        <p:spPr>
          <a:xfrm>
            <a:off x="694944" y="1417320"/>
            <a:ext cx="100584" cy="100584"/>
          </a:xfrm>
          <a:prstGeom prst="ellipse">
            <a:avLst/>
          </a:prstGeom>
          <a:solidFill>
            <a:srgbClr val="CBD5E0"/>
          </a:solidFill>
          <a:ln w="12700">
            <a:solidFill>
              <a:srgbClr val="CBD5E0"/>
            </a:solidFill>
            <a:prstDash val="solid"/>
          </a:ln>
        </p:spPr>
      </p:sp>
      <p:sp>
        <p:nvSpPr>
          <p:cNvPr id="7" name="Shape 5"/>
          <p:cNvSpPr/>
          <p:nvPr/>
        </p:nvSpPr>
        <p:spPr>
          <a:xfrm>
            <a:off x="859536" y="1417320"/>
            <a:ext cx="100584" cy="100584"/>
          </a:xfrm>
          <a:prstGeom prst="ellipse">
            <a:avLst/>
          </a:prstGeom>
          <a:solidFill>
            <a:srgbClr val="CBD5E0"/>
          </a:solidFill>
          <a:ln w="12700">
            <a:solidFill>
              <a:srgbClr val="CBD5E0"/>
            </a:solidFill>
            <a:prstDash val="solid"/>
          </a:ln>
        </p:spPr>
      </p:sp>
      <p:sp>
        <p:nvSpPr>
          <p:cNvPr id="8" name="Shape 6"/>
          <p:cNvSpPr/>
          <p:nvPr/>
        </p:nvSpPr>
        <p:spPr>
          <a:xfrm>
            <a:off x="1024128" y="1417320"/>
            <a:ext cx="100584" cy="100584"/>
          </a:xfrm>
          <a:prstGeom prst="ellipse">
            <a:avLst/>
          </a:prstGeom>
          <a:solidFill>
            <a:srgbClr val="CBD5E0"/>
          </a:solidFill>
          <a:ln w="12700">
            <a:solidFill>
              <a:srgbClr val="CBD5E0"/>
            </a:solidFill>
            <a:prstDash val="solid"/>
          </a:ln>
        </p:spPr>
      </p:sp>
      <p:sp>
        <p:nvSpPr>
          <p:cNvPr id="9" name="Text 7"/>
          <p:cNvSpPr txBox="1"/>
          <p:nvPr/>
        </p:nvSpPr>
        <p:spPr>
          <a:xfrm>
            <a:off x="1325880" y="1353312"/>
            <a:ext cx="3657600" cy="237744"/>
          </a:xfrm>
          <a:prstGeom prst="rect">
            <a:avLst/>
          </a:prstGeom>
          <a:noFill/>
          <a:ln/>
        </p:spPr>
        <p:txBody>
          <a:bodyPr wrap="square" lIns="0" tIns="0" rIns="0" bIns="0" rtlCol="0" anchor="ctr"/>
          <a:lstStyle/>
          <a:p>
            <a:pPr indent="0" marL="0">
              <a:buNone/>
            </a:pPr>
            <a:r>
              <a:rPr lang="en-US" sz="900" dirty="0">
                <a:solidFill>
                  <a:srgbClr val="5B6B7C"/>
                </a:solidFill>
                <a:latin typeface="Courier New" pitchFamily="34" charset="0"/>
                <a:ea typeface="Courier New" pitchFamily="34" charset="-122"/>
                <a:cs typeface="Courier New" pitchFamily="34" charset="-120"/>
              </a:rPr>
              <a:t>genome.ucsc.edu</a:t>
            </a:r>
            <a:endParaRPr lang="en-US" sz="900" dirty="0"/>
          </a:p>
        </p:txBody>
      </p:sp>
      <p:pic>
        <p:nvPicPr>
          <p:cNvPr id="10" name="Image 0" descr="/Users/seeskand/Documents/HPRC/2026/hprc_2026_poster/talk/figures/crop_lifted.png">    </p:cNvPr>
          <p:cNvPicPr>
            <a:picLocks noChangeAspect="1"/>
          </p:cNvPicPr>
          <p:nvPr/>
        </p:nvPicPr>
        <p:blipFill>
          <a:blip r:embed="rId1"/>
          <a:stretch>
            <a:fillRect/>
          </a:stretch>
        </p:blipFill>
        <p:spPr>
          <a:xfrm>
            <a:off x="658368" y="1636776"/>
            <a:ext cx="10874959" cy="3399202"/>
          </a:xfrm>
          <a:prstGeom prst="rect">
            <a:avLst/>
          </a:prstGeom>
        </p:spPr>
      </p:pic>
      <p:sp>
        <p:nvSpPr>
          <p:cNvPr id="11" name="Text 8"/>
          <p:cNvSpPr txBox="1"/>
          <p:nvPr/>
        </p:nvSpPr>
        <p:spPr>
          <a:xfrm>
            <a:off x="548640" y="5282866"/>
            <a:ext cx="11094415" cy="914400"/>
          </a:xfrm>
          <a:prstGeom prst="rect">
            <a:avLst/>
          </a:prstGeom>
          <a:noFill/>
          <a:ln/>
        </p:spPr>
        <p:txBody>
          <a:bodyPr wrap="square" lIns="0" tIns="0" rIns="0" bIns="0" rtlCol="0" anchor="t"/>
          <a:lstStyle/>
          <a:p>
            <a:pPr indent="0" marL="0">
              <a:buNone/>
            </a:pPr>
            <a:r>
              <a:rPr lang="en-US" sz="1600" dirty="0">
                <a:solidFill>
                  <a:srgbClr val="18293B"/>
                </a:solidFill>
                <a:latin typeface="Calibri" pitchFamily="34" charset="0"/>
                <a:ea typeface="Calibri" pitchFamily="34" charset="-122"/>
                <a:cs typeface="Calibri" pitchFamily="34" charset="-120"/>
              </a:rPr>
              <a:t>HG02015 paternal has its own CAT and Liftoff genes. What it will never have is everything that exists once, on one reference: ClinVar, GWAS, ENCODE, your lab's BED file. Here, CHM13's tracks on HG02015, over a chain built for this page view.</a:t>
            </a:r>
            <a:endParaRPr lang="en-US" sz="1600" dirty="0"/>
          </a:p>
        </p:txBody>
      </p:sp>
      <p:sp>
        <p:nvSpPr>
          <p:cNvPr id="12" name="Text 9"/>
          <p:cNvSpPr txBox="1"/>
          <p:nvPr/>
        </p:nvSpPr>
        <p:spPr>
          <a:xfrm>
            <a:off x="548640" y="6263640"/>
            <a:ext cx="11094415" cy="365760"/>
          </a:xfrm>
          <a:prstGeom prst="rect">
            <a:avLst/>
          </a:prstGeom>
          <a:noFill/>
          <a:ln/>
        </p:spPr>
        <p:txBody>
          <a:bodyPr wrap="square" lIns="0" tIns="0" rIns="0" bIns="0" rtlCol="0" anchor="t"/>
          <a:lstStyle/>
          <a:p>
            <a:pPr algn="ctr" indent="0" marL="0">
              <a:buNone/>
            </a:pPr>
            <a:r>
              <a:rPr lang="en-US" sz="1500" dirty="0">
                <a:solidFill>
                  <a:srgbClr val="5B6B7C"/>
                </a:solidFill>
                <a:latin typeface="Calibri" pitchFamily="34" charset="0"/>
                <a:ea typeface="Calibri" pitchFamily="34" charset="-122"/>
                <a:cs typeface="Calibri" pitchFamily="34" charset="-120"/>
              </a:rPr>
              <a:t>translation blocks  →  bigChain  →  QuickLift draws them   •   Alignment Differences marks insertions, deletions and mismatches</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What we have checked, and what we haven't</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13</a:t>
            </a:r>
            <a:endParaRPr lang="en-US" sz="1000" dirty="0"/>
          </a:p>
        </p:txBody>
      </p:sp>
      <p:sp>
        <p:nvSpPr>
          <p:cNvPr id="4" name="Shape 2"/>
          <p:cNvSpPr/>
          <p:nvPr/>
        </p:nvSpPr>
        <p:spPr>
          <a:xfrm>
            <a:off x="548640" y="1325880"/>
            <a:ext cx="5364328" cy="4251960"/>
          </a:xfrm>
          <a:prstGeom prst="roundRect">
            <a:avLst>
              <a:gd name="adj" fmla="val 2581"/>
            </a:avLst>
          </a:prstGeom>
          <a:solidFill>
            <a:srgbClr val="EDF1F6"/>
          </a:solidFill>
          <a:ln w="12700">
            <a:solidFill>
              <a:srgbClr val="DCE3EB"/>
            </a:solidFill>
            <a:prstDash val="solid"/>
          </a:ln>
        </p:spPr>
      </p:sp>
      <p:sp>
        <p:nvSpPr>
          <p:cNvPr id="5" name="Shape 3"/>
          <p:cNvSpPr/>
          <p:nvPr/>
        </p:nvSpPr>
        <p:spPr>
          <a:xfrm>
            <a:off x="868680" y="1645920"/>
            <a:ext cx="594360" cy="594360"/>
          </a:xfrm>
          <a:prstGeom prst="ellipse">
            <a:avLst/>
          </a:prstGeom>
          <a:solidFill>
            <a:srgbClr val="0E7C9C"/>
          </a:solidFill>
          <a:ln w="12700">
            <a:solidFill>
              <a:srgbClr val="0E7C9C"/>
            </a:solidFill>
            <a:prstDash val="solid"/>
          </a:ln>
        </p:spPr>
      </p:sp>
      <p:pic>
        <p:nvPicPr>
          <p:cNvPr id="6" name="Image 0" descr="preencoded.png">    </p:cNvPr>
          <p:cNvPicPr>
            <a:picLocks noChangeAspect="1"/>
          </p:cNvPicPr>
          <p:nvPr/>
        </p:nvPicPr>
        <p:blipFill>
          <a:blip r:embed="rId1"/>
          <a:stretch>
            <a:fillRect/>
          </a:stretch>
        </p:blipFill>
        <p:spPr>
          <a:xfrm>
            <a:off x="1023214" y="1800454"/>
            <a:ext cx="285293" cy="285293"/>
          </a:xfrm>
          <a:prstGeom prst="rect">
            <a:avLst/>
          </a:prstGeom>
        </p:spPr>
      </p:pic>
      <p:sp>
        <p:nvSpPr>
          <p:cNvPr id="7" name="Text 4"/>
          <p:cNvSpPr txBox="1"/>
          <p:nvPr/>
        </p:nvSpPr>
        <p:spPr>
          <a:xfrm>
            <a:off x="1645920" y="1691640"/>
            <a:ext cx="3992728" cy="502920"/>
          </a:xfrm>
          <a:prstGeom prst="rect">
            <a:avLst/>
          </a:prstGeom>
          <a:noFill/>
          <a:ln/>
        </p:spPr>
        <p:txBody>
          <a:bodyPr wrap="square" lIns="0" tIns="0" rIns="0" bIns="0" rtlCol="0" anchor="t"/>
          <a:lstStyle/>
          <a:p>
            <a:pPr indent="0" marL="0">
              <a:buNone/>
            </a:pPr>
            <a:r>
              <a:rPr lang="en-US" sz="2200" b="1" dirty="0">
                <a:solidFill>
                  <a:srgbClr val="003C6C"/>
                </a:solidFill>
                <a:latin typeface="Calibri" pitchFamily="34" charset="0"/>
                <a:ea typeface="Calibri" pitchFamily="34" charset="-122"/>
                <a:cs typeface="Calibri" pitchFamily="34" charset="-120"/>
              </a:rPr>
              <a:t>Checked</a:t>
            </a:r>
            <a:endParaRPr lang="en-US" sz="2200" dirty="0"/>
          </a:p>
        </p:txBody>
      </p:sp>
      <p:sp>
        <p:nvSpPr>
          <p:cNvPr id="8" name="Text 5"/>
          <p:cNvSpPr txBox="1"/>
          <p:nvPr/>
        </p:nvSpPr>
        <p:spPr>
          <a:xfrm>
            <a:off x="868680" y="2423160"/>
            <a:ext cx="4724248" cy="3108960"/>
          </a:xfrm>
          <a:prstGeom prst="rect">
            <a:avLst/>
          </a:prstGeom>
          <a:noFill/>
          <a:ln/>
        </p:spPr>
        <p:txBody>
          <a:bodyPr wrap="square" lIns="0" tIns="0" rIns="0" bIns="0" rtlCol="0" anchor="t"/>
          <a:lstStyle/>
          <a:p>
            <a:pPr marL="203200" indent="-203200">
              <a:spcAft>
                <a:spcPts val="900"/>
              </a:spcAft>
              <a:buSzPct val="100000"/>
              <a:buChar char="•"/>
            </a:pPr>
            <a:r>
              <a:rPr lang="en-US" sz="1600" dirty="0">
                <a:solidFill>
                  <a:srgbClr val="18293B"/>
                </a:solidFill>
                <a:latin typeface="Calibri" pitchFamily="34" charset="0"/>
                <a:ea typeface="Calibri" pitchFamily="34" charset="-122"/>
                <a:cs typeface="Calibri" pitchFamily="34" charset="-120"/>
              </a:rPr>
              <a:t>Alignment Differences, base by base: 22 kb of ABO, hs1 vs HG00597#1, exactly the 2 real mismatches.</a:t>
            </a:r>
            <a:endParaRPr lang="en-US" sz="1600" dirty="0"/>
          </a:p>
          <a:p>
            <a:pPr marL="203200" indent="-203200">
              <a:spcAft>
                <a:spcPts val="900"/>
              </a:spcAft>
              <a:buSzPct val="100000"/>
              <a:buChar char="•"/>
            </a:pPr>
            <a:r>
              <a:rPr lang="en-US" sz="1600" dirty="0">
                <a:solidFill>
                  <a:srgbClr val="18293B"/>
                </a:solidFill>
                <a:latin typeface="Calibri" pitchFamily="34" charset="0"/>
                <a:ea typeface="Calibri" pitchFamily="34" charset="-122"/>
                <a:cs typeface="Calibri" pitchFamily="34" charset="-120"/>
              </a:rPr>
              <a:t>Chains round-trip cleanly through bigChainToChain; blocks follow chain-file semantics.</a:t>
            </a:r>
            <a:endParaRPr lang="en-US" sz="1600" dirty="0"/>
          </a:p>
          <a:p>
            <a:pPr marL="203200" indent="-203200">
              <a:spcAft>
                <a:spcPts val="900"/>
              </a:spcAft>
              <a:buSzPct val="100000"/>
              <a:buChar char="•"/>
            </a:pPr>
            <a:r>
              <a:rPr lang="en-US" sz="1600" dirty="0">
                <a:solidFill>
                  <a:srgbClr val="18293B"/>
                </a:solidFill>
                <a:latin typeface="Calibri" pitchFamily="34" charset="0"/>
                <a:ea typeface="Calibri" pitchFamily="34" charset="-122"/>
                <a:cs typeface="Calibri" pitchFamily="34" charset="-120"/>
              </a:rPr>
              <a:t>Completeness by span: 99% up to 10 kb, 97% at 100 kb, 93% at 1 Mb.</a:t>
            </a:r>
            <a:endParaRPr lang="en-US" sz="1600" dirty="0"/>
          </a:p>
          <a:p>
            <a:pPr marL="203200" indent="-203200">
              <a:spcAft>
                <a:spcPts val="900"/>
              </a:spcAft>
              <a:buSzPct val="100000"/>
              <a:buChar char="•"/>
            </a:pPr>
            <a:r>
              <a:rPr lang="en-US" sz="1600" dirty="0">
                <a:solidFill>
                  <a:srgbClr val="18293B"/>
                </a:solidFill>
                <a:latin typeface="Calibri" pitchFamily="34" charset="0"/>
                <a:ea typeface="Calibri" pitchFamily="34" charset="-122"/>
                <a:cs typeface="Calibri" pitchFamily="34" charset="-120"/>
              </a:rPr>
              <a:t>Hard case: a 37 kb segdup-dense span on 1q21.1 recovers 46% of bases. Missing positions, not wrong ones: a repeat cannot manufacture an anchor.</a:t>
            </a:r>
            <a:endParaRPr lang="en-US" sz="1600" dirty="0"/>
          </a:p>
        </p:txBody>
      </p:sp>
      <p:sp>
        <p:nvSpPr>
          <p:cNvPr id="9" name="Shape 6"/>
          <p:cNvSpPr/>
          <p:nvPr/>
        </p:nvSpPr>
        <p:spPr>
          <a:xfrm>
            <a:off x="6278728" y="1325880"/>
            <a:ext cx="5364328" cy="4251960"/>
          </a:xfrm>
          <a:prstGeom prst="roundRect">
            <a:avLst>
              <a:gd name="adj" fmla="val 2581"/>
            </a:avLst>
          </a:prstGeom>
          <a:solidFill>
            <a:srgbClr val="EDF1F6"/>
          </a:solidFill>
          <a:ln w="12700">
            <a:solidFill>
              <a:srgbClr val="DCE3EB"/>
            </a:solidFill>
            <a:prstDash val="solid"/>
          </a:ln>
        </p:spPr>
      </p:sp>
      <p:sp>
        <p:nvSpPr>
          <p:cNvPr id="10" name="Shape 7"/>
          <p:cNvSpPr/>
          <p:nvPr/>
        </p:nvSpPr>
        <p:spPr>
          <a:xfrm>
            <a:off x="6598768" y="1645920"/>
            <a:ext cx="594360" cy="594360"/>
          </a:xfrm>
          <a:prstGeom prst="ellipse">
            <a:avLst/>
          </a:prstGeom>
          <a:solidFill>
            <a:srgbClr val="E4572E"/>
          </a:solidFill>
          <a:ln w="12700">
            <a:solidFill>
              <a:srgbClr val="E4572E"/>
            </a:solidFill>
            <a:prstDash val="solid"/>
          </a:ln>
        </p:spPr>
      </p:sp>
      <p:pic>
        <p:nvPicPr>
          <p:cNvPr id="11" name="Image 1" descr="preencoded.png">    </p:cNvPr>
          <p:cNvPicPr>
            <a:picLocks noChangeAspect="1"/>
          </p:cNvPicPr>
          <p:nvPr/>
        </p:nvPicPr>
        <p:blipFill>
          <a:blip r:embed="rId2"/>
          <a:stretch>
            <a:fillRect/>
          </a:stretch>
        </p:blipFill>
        <p:spPr>
          <a:xfrm>
            <a:off x="6753301" y="1800454"/>
            <a:ext cx="285293" cy="285293"/>
          </a:xfrm>
          <a:prstGeom prst="rect">
            <a:avLst/>
          </a:prstGeom>
        </p:spPr>
      </p:pic>
      <p:sp>
        <p:nvSpPr>
          <p:cNvPr id="12" name="Text 8"/>
          <p:cNvSpPr txBox="1"/>
          <p:nvPr/>
        </p:nvSpPr>
        <p:spPr>
          <a:xfrm>
            <a:off x="7376008" y="1691640"/>
            <a:ext cx="3992728" cy="502920"/>
          </a:xfrm>
          <a:prstGeom prst="rect">
            <a:avLst/>
          </a:prstGeom>
          <a:noFill/>
          <a:ln/>
        </p:spPr>
        <p:txBody>
          <a:bodyPr wrap="square" lIns="0" tIns="0" rIns="0" bIns="0" rtlCol="0" anchor="t"/>
          <a:lstStyle/>
          <a:p>
            <a:pPr indent="0" marL="0">
              <a:buNone/>
            </a:pPr>
            <a:r>
              <a:rPr lang="en-US" sz="2200" b="1" dirty="0">
                <a:solidFill>
                  <a:srgbClr val="003C6C"/>
                </a:solidFill>
                <a:latin typeface="Calibri" pitchFamily="34" charset="0"/>
                <a:ea typeface="Calibri" pitchFamily="34" charset="-122"/>
                <a:cs typeface="Calibri" pitchFamily="34" charset="-120"/>
              </a:rPr>
              <a:t>Not yet</a:t>
            </a:r>
            <a:endParaRPr lang="en-US" sz="2200" dirty="0"/>
          </a:p>
        </p:txBody>
      </p:sp>
      <p:sp>
        <p:nvSpPr>
          <p:cNvPr id="13" name="Text 9"/>
          <p:cNvSpPr txBox="1"/>
          <p:nvPr/>
        </p:nvSpPr>
        <p:spPr>
          <a:xfrm>
            <a:off x="6598768" y="2423160"/>
            <a:ext cx="4724248" cy="3108960"/>
          </a:xfrm>
          <a:prstGeom prst="rect">
            <a:avLst/>
          </a:prstGeom>
          <a:noFill/>
          <a:ln/>
        </p:spPr>
        <p:txBody>
          <a:bodyPr wrap="square" lIns="0" tIns="0" rIns="0" bIns="0" rtlCol="0" anchor="t"/>
          <a:lstStyle/>
          <a:p>
            <a:pPr marL="203200" indent="-203200">
              <a:spcAft>
                <a:spcPts val="900"/>
              </a:spcAft>
              <a:buSzPct val="100000"/>
              <a:buChar char="•"/>
            </a:pPr>
            <a:r>
              <a:rPr lang="en-US" sz="1600" dirty="0">
                <a:solidFill>
                  <a:srgbClr val="18293B"/>
                </a:solidFill>
                <a:latin typeface="Calibri" pitchFamily="34" charset="0"/>
                <a:ea typeface="Calibri" pitchFamily="34" charset="-122"/>
                <a:cs typeface="Calibri" pitchFamily="34" charset="-120"/>
              </a:rPr>
              <a:t>A systematic comparison with halLiftover on the same Cactus alignment.</a:t>
            </a:r>
            <a:endParaRPr lang="en-US" sz="1600" dirty="0"/>
          </a:p>
          <a:p>
            <a:pPr marL="203200" indent="-203200">
              <a:spcAft>
                <a:spcPts val="900"/>
              </a:spcAft>
              <a:buSzPct val="100000"/>
              <a:buChar char="•"/>
            </a:pPr>
            <a:r>
              <a:rPr lang="en-US" sz="1600" dirty="0">
                <a:solidFill>
                  <a:srgbClr val="18293B"/>
                </a:solidFill>
                <a:latin typeface="Calibri" pitchFamily="34" charset="0"/>
                <a:ea typeface="Calibri" pitchFamily="34" charset="-122"/>
                <a:cs typeface="Calibri" pitchFamily="34" charset="-120"/>
              </a:rPr>
              <a:t>Agreement with the 56 chains that already exist in the browser.</a:t>
            </a:r>
            <a:endParaRPr lang="en-US" sz="1600" dirty="0"/>
          </a:p>
          <a:p>
            <a:pPr marL="203200" indent="-203200">
              <a:spcAft>
                <a:spcPts val="900"/>
              </a:spcAft>
              <a:buSzPct val="100000"/>
              <a:buChar char="•"/>
            </a:pPr>
            <a:r>
              <a:rPr lang="en-US" sz="1600" dirty="0">
                <a:solidFill>
                  <a:srgbClr val="18293B"/>
                </a:solidFill>
                <a:latin typeface="Calibri" pitchFamily="34" charset="0"/>
                <a:ea typeface="Calibri" pitchFamily="34" charset="-122"/>
                <a:cs typeface="Calibri" pitchFamily="34" charset="-120"/>
              </a:rPr>
              <a:t>CHM13 CAT transcripts lifted onto a haplotype that has its own CAT annotation: do exon boundaries agree?</a:t>
            </a:r>
            <a:endParaRPr lang="en-US" sz="1600" dirty="0"/>
          </a:p>
        </p:txBody>
      </p:sp>
      <p:sp>
        <p:nvSpPr>
          <p:cNvPr id="14" name="Text 10"/>
          <p:cNvSpPr txBox="1"/>
          <p:nvPr/>
        </p:nvSpPr>
        <p:spPr>
          <a:xfrm>
            <a:off x="548640" y="5852160"/>
            <a:ext cx="11094415" cy="548640"/>
          </a:xfrm>
          <a:prstGeom prst="rect">
            <a:avLst/>
          </a:prstGeom>
          <a:noFill/>
          <a:ln/>
        </p:spPr>
        <p:txBody>
          <a:bodyPr wrap="square" lIns="0" tIns="0" rIns="0" bIns="0" rtlCol="0" anchor="ctr"/>
          <a:lstStyle/>
          <a:p>
            <a:pPr algn="ctr" indent="0" marL="0">
              <a:buNone/>
            </a:pPr>
            <a:r>
              <a:rPr lang="en-US" sz="2000" i="1" dirty="0">
                <a:solidFill>
                  <a:srgbClr val="003C6C"/>
                </a:solidFill>
                <a:latin typeface="Calibri" pitchFamily="34" charset="0"/>
                <a:ea typeface="Calibri" pitchFamily="34" charset="-122"/>
                <a:cs typeface="Calibri" pitchFamily="34" charset="-120"/>
              </a:rPr>
              <a:t>Those three numbers come before public release.</a:t>
            </a:r>
            <a:endParaRPr lang="en-US" sz="2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Fast enough to sit behind a web page</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14</a:t>
            </a:r>
            <a:endParaRPr lang="en-US" sz="1000" dirty="0"/>
          </a:p>
        </p:txBody>
      </p:sp>
      <p:sp>
        <p:nvSpPr>
          <p:cNvPr id="4" name="Text 2"/>
          <p:cNvSpPr txBox="1"/>
          <p:nvPr/>
        </p:nvSpPr>
        <p:spPr>
          <a:xfrm>
            <a:off x="548640" y="1325880"/>
            <a:ext cx="5486400" cy="365760"/>
          </a:xfrm>
          <a:prstGeom prst="rect">
            <a:avLst/>
          </a:prstGeom>
          <a:noFill/>
          <a:ln/>
        </p:spPr>
        <p:txBody>
          <a:bodyPr wrap="square" lIns="0" tIns="0" rIns="0" bIns="0" rtlCol="0" anchor="t"/>
          <a:lstStyle/>
          <a:p>
            <a:pPr indent="0" marL="0">
              <a:buNone/>
            </a:pPr>
            <a:r>
              <a:rPr lang="en-US" sz="1800" b="1" dirty="0">
                <a:solidFill>
                  <a:srgbClr val="003C6C"/>
                </a:solidFill>
                <a:latin typeface="Calibri" pitchFamily="34" charset="0"/>
                <a:ea typeface="Calibri" pitchFamily="34" charset="-122"/>
                <a:cs typeface="Calibri" pitchFamily="34" charset="-120"/>
              </a:rPr>
              <a:t>Translation latency, median (log scale)</a:t>
            </a:r>
            <a:endParaRPr lang="en-US" sz="1800" dirty="0"/>
          </a:p>
        </p:txBody>
      </p:sp>
      <p:sp>
        <p:nvSpPr>
          <p:cNvPr id="5" name="Shape 3"/>
          <p:cNvSpPr/>
          <p:nvPr/>
        </p:nvSpPr>
        <p:spPr>
          <a:xfrm>
            <a:off x="2148840" y="1965960"/>
            <a:ext cx="0" cy="2971800"/>
          </a:xfrm>
          <a:prstGeom prst="line">
            <a:avLst/>
          </a:prstGeom>
          <a:noFill/>
          <a:ln w="12700">
            <a:solidFill>
              <a:srgbClr val="D9E1E9"/>
            </a:solidFill>
            <a:prstDash val="dash"/>
          </a:ln>
        </p:spPr>
      </p:sp>
      <p:sp>
        <p:nvSpPr>
          <p:cNvPr id="6" name="Text 4"/>
          <p:cNvSpPr txBox="1"/>
          <p:nvPr/>
        </p:nvSpPr>
        <p:spPr>
          <a:xfrm>
            <a:off x="1691640" y="5029200"/>
            <a:ext cx="914400" cy="320040"/>
          </a:xfrm>
          <a:prstGeom prst="rect">
            <a:avLst/>
          </a:prstGeom>
          <a:noFill/>
          <a:ln/>
        </p:spPr>
        <p:txBody>
          <a:bodyPr wrap="square" lIns="0" tIns="0" rIns="0" bIns="0" rtlCol="0" anchor="t"/>
          <a:lstStyle/>
          <a:p>
            <a:pPr algn="ctr" indent="0" marL="0">
              <a:buNone/>
            </a:pPr>
            <a:r>
              <a:rPr lang="en-US" sz="1400" dirty="0">
                <a:solidFill>
                  <a:srgbClr val="5B6B7C"/>
                </a:solidFill>
                <a:latin typeface="Calibri" pitchFamily="34" charset="0"/>
                <a:ea typeface="Calibri" pitchFamily="34" charset="-122"/>
                <a:cs typeface="Calibri" pitchFamily="34" charset="-120"/>
              </a:rPr>
              <a:t>10 ms</a:t>
            </a:r>
            <a:endParaRPr lang="en-US" sz="1400" dirty="0"/>
          </a:p>
        </p:txBody>
      </p:sp>
      <p:sp>
        <p:nvSpPr>
          <p:cNvPr id="7" name="Shape 5"/>
          <p:cNvSpPr/>
          <p:nvPr/>
        </p:nvSpPr>
        <p:spPr>
          <a:xfrm>
            <a:off x="3276600" y="1965960"/>
            <a:ext cx="0" cy="2971800"/>
          </a:xfrm>
          <a:prstGeom prst="line">
            <a:avLst/>
          </a:prstGeom>
          <a:noFill/>
          <a:ln w="12700">
            <a:solidFill>
              <a:srgbClr val="D9E1E9"/>
            </a:solidFill>
            <a:prstDash val="dash"/>
          </a:ln>
        </p:spPr>
      </p:sp>
      <p:sp>
        <p:nvSpPr>
          <p:cNvPr id="8" name="Text 6"/>
          <p:cNvSpPr txBox="1"/>
          <p:nvPr/>
        </p:nvSpPr>
        <p:spPr>
          <a:xfrm>
            <a:off x="2819400" y="5029200"/>
            <a:ext cx="914400" cy="320040"/>
          </a:xfrm>
          <a:prstGeom prst="rect">
            <a:avLst/>
          </a:prstGeom>
          <a:noFill/>
          <a:ln/>
        </p:spPr>
        <p:txBody>
          <a:bodyPr wrap="square" lIns="0" tIns="0" rIns="0" bIns="0" rtlCol="0" anchor="t"/>
          <a:lstStyle/>
          <a:p>
            <a:pPr algn="ctr" indent="0" marL="0">
              <a:buNone/>
            </a:pPr>
            <a:r>
              <a:rPr lang="en-US" sz="1400" dirty="0">
                <a:solidFill>
                  <a:srgbClr val="5B6B7C"/>
                </a:solidFill>
                <a:latin typeface="Calibri" pitchFamily="34" charset="0"/>
                <a:ea typeface="Calibri" pitchFamily="34" charset="-122"/>
                <a:cs typeface="Calibri" pitchFamily="34" charset="-120"/>
              </a:rPr>
              <a:t>100 ms</a:t>
            </a:r>
            <a:endParaRPr lang="en-US" sz="1400" dirty="0"/>
          </a:p>
        </p:txBody>
      </p:sp>
      <p:sp>
        <p:nvSpPr>
          <p:cNvPr id="9" name="Shape 7"/>
          <p:cNvSpPr/>
          <p:nvPr/>
        </p:nvSpPr>
        <p:spPr>
          <a:xfrm>
            <a:off x="4404360" y="1965960"/>
            <a:ext cx="0" cy="2971800"/>
          </a:xfrm>
          <a:prstGeom prst="line">
            <a:avLst/>
          </a:prstGeom>
          <a:noFill/>
          <a:ln w="12700">
            <a:solidFill>
              <a:srgbClr val="D9E1E9"/>
            </a:solidFill>
            <a:prstDash val="dash"/>
          </a:ln>
        </p:spPr>
      </p:sp>
      <p:sp>
        <p:nvSpPr>
          <p:cNvPr id="10" name="Text 8"/>
          <p:cNvSpPr txBox="1"/>
          <p:nvPr/>
        </p:nvSpPr>
        <p:spPr>
          <a:xfrm>
            <a:off x="3947160" y="5029200"/>
            <a:ext cx="914400" cy="320040"/>
          </a:xfrm>
          <a:prstGeom prst="rect">
            <a:avLst/>
          </a:prstGeom>
          <a:noFill/>
          <a:ln/>
        </p:spPr>
        <p:txBody>
          <a:bodyPr wrap="square" lIns="0" tIns="0" rIns="0" bIns="0" rtlCol="0" anchor="t"/>
          <a:lstStyle/>
          <a:p>
            <a:pPr algn="ctr" indent="0" marL="0">
              <a:buNone/>
            </a:pPr>
            <a:r>
              <a:rPr lang="en-US" sz="1400" dirty="0">
                <a:solidFill>
                  <a:srgbClr val="5B6B7C"/>
                </a:solidFill>
                <a:latin typeface="Calibri" pitchFamily="34" charset="0"/>
                <a:ea typeface="Calibri" pitchFamily="34" charset="-122"/>
                <a:cs typeface="Calibri" pitchFamily="34" charset="-120"/>
              </a:rPr>
              <a:t>1 s</a:t>
            </a:r>
            <a:endParaRPr lang="en-US" sz="1400" dirty="0"/>
          </a:p>
        </p:txBody>
      </p:sp>
      <p:sp>
        <p:nvSpPr>
          <p:cNvPr id="11" name="Shape 9"/>
          <p:cNvSpPr/>
          <p:nvPr/>
        </p:nvSpPr>
        <p:spPr>
          <a:xfrm>
            <a:off x="5532120" y="1965960"/>
            <a:ext cx="0" cy="2971800"/>
          </a:xfrm>
          <a:prstGeom prst="line">
            <a:avLst/>
          </a:prstGeom>
          <a:noFill/>
          <a:ln w="12700">
            <a:solidFill>
              <a:srgbClr val="D9E1E9"/>
            </a:solidFill>
            <a:prstDash val="dash"/>
          </a:ln>
        </p:spPr>
      </p:sp>
      <p:sp>
        <p:nvSpPr>
          <p:cNvPr id="12" name="Text 10"/>
          <p:cNvSpPr txBox="1"/>
          <p:nvPr/>
        </p:nvSpPr>
        <p:spPr>
          <a:xfrm>
            <a:off x="5074920" y="5029200"/>
            <a:ext cx="914400" cy="320040"/>
          </a:xfrm>
          <a:prstGeom prst="rect">
            <a:avLst/>
          </a:prstGeom>
          <a:noFill/>
          <a:ln/>
        </p:spPr>
        <p:txBody>
          <a:bodyPr wrap="square" lIns="0" tIns="0" rIns="0" bIns="0" rtlCol="0" anchor="t"/>
          <a:lstStyle/>
          <a:p>
            <a:pPr algn="ctr" indent="0" marL="0">
              <a:buNone/>
            </a:pPr>
            <a:r>
              <a:rPr lang="en-US" sz="1400" dirty="0">
                <a:solidFill>
                  <a:srgbClr val="5B6B7C"/>
                </a:solidFill>
                <a:latin typeface="Calibri" pitchFamily="34" charset="0"/>
                <a:ea typeface="Calibri" pitchFamily="34" charset="-122"/>
                <a:cs typeface="Calibri" pitchFamily="34" charset="-120"/>
              </a:rPr>
              <a:t>10 s</a:t>
            </a:r>
            <a:endParaRPr lang="en-US" sz="1400" dirty="0"/>
          </a:p>
        </p:txBody>
      </p:sp>
      <p:sp>
        <p:nvSpPr>
          <p:cNvPr id="13" name="Text 11"/>
          <p:cNvSpPr txBox="1"/>
          <p:nvPr/>
        </p:nvSpPr>
        <p:spPr>
          <a:xfrm>
            <a:off x="548640" y="2103120"/>
            <a:ext cx="1417320" cy="365760"/>
          </a:xfrm>
          <a:prstGeom prst="rect">
            <a:avLst/>
          </a:prstGeom>
          <a:noFill/>
          <a:ln/>
        </p:spPr>
        <p:txBody>
          <a:bodyPr wrap="square" lIns="0" tIns="0" rIns="0" bIns="0" rtlCol="0" anchor="ctr"/>
          <a:lstStyle/>
          <a:p>
            <a:pPr algn="r" indent="0" marL="0">
              <a:buNone/>
            </a:pPr>
            <a:r>
              <a:rPr lang="en-US" sz="1600" dirty="0">
                <a:solidFill>
                  <a:srgbClr val="18293B"/>
                </a:solidFill>
                <a:latin typeface="Calibri" pitchFamily="34" charset="0"/>
                <a:ea typeface="Calibri" pitchFamily="34" charset="-122"/>
                <a:cs typeface="Calibri" pitchFamily="34" charset="-120"/>
              </a:rPr>
              <a:t>up to 1 kb</a:t>
            </a:r>
            <a:endParaRPr lang="en-US" sz="1600" dirty="0"/>
          </a:p>
        </p:txBody>
      </p:sp>
      <p:sp>
        <p:nvSpPr>
          <p:cNvPr id="14" name="Shape 12"/>
          <p:cNvSpPr/>
          <p:nvPr/>
        </p:nvSpPr>
        <p:spPr>
          <a:xfrm>
            <a:off x="2148840" y="2286000"/>
            <a:ext cx="363386" cy="0"/>
          </a:xfrm>
          <a:prstGeom prst="line">
            <a:avLst/>
          </a:prstGeom>
          <a:noFill/>
          <a:ln w="38100">
            <a:solidFill>
              <a:srgbClr val="B8C7D6"/>
            </a:solidFill>
            <a:prstDash val="solid"/>
          </a:ln>
        </p:spPr>
      </p:sp>
      <p:sp>
        <p:nvSpPr>
          <p:cNvPr id="15" name="Shape 13"/>
          <p:cNvSpPr/>
          <p:nvPr/>
        </p:nvSpPr>
        <p:spPr>
          <a:xfrm>
            <a:off x="2411642" y="2185416"/>
            <a:ext cx="201168" cy="201168"/>
          </a:xfrm>
          <a:prstGeom prst="ellipse">
            <a:avLst/>
          </a:prstGeom>
          <a:solidFill>
            <a:srgbClr val="003C6C"/>
          </a:solidFill>
          <a:ln w="12700">
            <a:solidFill>
              <a:srgbClr val="003C6C"/>
            </a:solidFill>
            <a:prstDash val="solid"/>
          </a:ln>
        </p:spPr>
      </p:sp>
      <p:sp>
        <p:nvSpPr>
          <p:cNvPr id="16" name="Text 14"/>
          <p:cNvSpPr txBox="1"/>
          <p:nvPr/>
        </p:nvSpPr>
        <p:spPr>
          <a:xfrm>
            <a:off x="2695106" y="2103120"/>
            <a:ext cx="1280160" cy="365760"/>
          </a:xfrm>
          <a:prstGeom prst="rect">
            <a:avLst/>
          </a:prstGeom>
          <a:noFill/>
          <a:ln/>
        </p:spPr>
        <p:txBody>
          <a:bodyPr wrap="square" lIns="0" tIns="0" rIns="0" bIns="0" rtlCol="0" anchor="ctr"/>
          <a:lstStyle/>
          <a:p>
            <a:pPr indent="0" marL="0">
              <a:buNone/>
            </a:pPr>
            <a:r>
              <a:rPr lang="en-US" sz="1800" b="1" dirty="0">
                <a:solidFill>
                  <a:srgbClr val="003C6C"/>
                </a:solidFill>
                <a:latin typeface="Calibri" pitchFamily="34" charset="0"/>
                <a:ea typeface="Calibri" pitchFamily="34" charset="-122"/>
                <a:cs typeface="Calibri" pitchFamily="34" charset="-120"/>
              </a:rPr>
              <a:t>~20 ms</a:t>
            </a:r>
            <a:endParaRPr lang="en-US" sz="1800" dirty="0"/>
          </a:p>
        </p:txBody>
      </p:sp>
      <p:sp>
        <p:nvSpPr>
          <p:cNvPr id="17" name="Text 15"/>
          <p:cNvSpPr txBox="1"/>
          <p:nvPr/>
        </p:nvSpPr>
        <p:spPr>
          <a:xfrm>
            <a:off x="548640" y="2880360"/>
            <a:ext cx="1417320" cy="365760"/>
          </a:xfrm>
          <a:prstGeom prst="rect">
            <a:avLst/>
          </a:prstGeom>
          <a:noFill/>
          <a:ln/>
        </p:spPr>
        <p:txBody>
          <a:bodyPr wrap="square" lIns="0" tIns="0" rIns="0" bIns="0" rtlCol="0" anchor="ctr"/>
          <a:lstStyle/>
          <a:p>
            <a:pPr algn="r" indent="0" marL="0">
              <a:buNone/>
            </a:pPr>
            <a:r>
              <a:rPr lang="en-US" sz="1600" dirty="0">
                <a:solidFill>
                  <a:srgbClr val="18293B"/>
                </a:solidFill>
                <a:latin typeface="Calibri" pitchFamily="34" charset="0"/>
                <a:ea typeface="Calibri" pitchFamily="34" charset="-122"/>
                <a:cs typeface="Calibri" pitchFamily="34" charset="-120"/>
              </a:rPr>
              <a:t>10 kb</a:t>
            </a:r>
            <a:endParaRPr lang="en-US" sz="1600" dirty="0"/>
          </a:p>
        </p:txBody>
      </p:sp>
      <p:sp>
        <p:nvSpPr>
          <p:cNvPr id="18" name="Shape 16"/>
          <p:cNvSpPr/>
          <p:nvPr/>
        </p:nvSpPr>
        <p:spPr>
          <a:xfrm>
            <a:off x="2148840" y="3063240"/>
            <a:ext cx="1196213" cy="0"/>
          </a:xfrm>
          <a:prstGeom prst="line">
            <a:avLst/>
          </a:prstGeom>
          <a:noFill/>
          <a:ln w="38100">
            <a:solidFill>
              <a:srgbClr val="B8C7D6"/>
            </a:solidFill>
            <a:prstDash val="solid"/>
          </a:ln>
        </p:spPr>
      </p:sp>
      <p:sp>
        <p:nvSpPr>
          <p:cNvPr id="19" name="Shape 17"/>
          <p:cNvSpPr/>
          <p:nvPr/>
        </p:nvSpPr>
        <p:spPr>
          <a:xfrm>
            <a:off x="3244469" y="2962656"/>
            <a:ext cx="201168" cy="201168"/>
          </a:xfrm>
          <a:prstGeom prst="ellipse">
            <a:avLst/>
          </a:prstGeom>
          <a:solidFill>
            <a:srgbClr val="003C6C"/>
          </a:solidFill>
          <a:ln w="12700">
            <a:solidFill>
              <a:srgbClr val="003C6C"/>
            </a:solidFill>
            <a:prstDash val="solid"/>
          </a:ln>
        </p:spPr>
      </p:sp>
      <p:sp>
        <p:nvSpPr>
          <p:cNvPr id="20" name="Text 18"/>
          <p:cNvSpPr txBox="1"/>
          <p:nvPr/>
        </p:nvSpPr>
        <p:spPr>
          <a:xfrm>
            <a:off x="3527933" y="2880360"/>
            <a:ext cx="1280160" cy="365760"/>
          </a:xfrm>
          <a:prstGeom prst="rect">
            <a:avLst/>
          </a:prstGeom>
          <a:noFill/>
          <a:ln/>
        </p:spPr>
        <p:txBody>
          <a:bodyPr wrap="square" lIns="0" tIns="0" rIns="0" bIns="0" rtlCol="0" anchor="ctr"/>
          <a:lstStyle/>
          <a:p>
            <a:pPr indent="0" marL="0">
              <a:buNone/>
            </a:pPr>
            <a:r>
              <a:rPr lang="en-US" sz="1800" b="1" dirty="0">
                <a:solidFill>
                  <a:srgbClr val="003C6C"/>
                </a:solidFill>
                <a:latin typeface="Calibri" pitchFamily="34" charset="0"/>
                <a:ea typeface="Calibri" pitchFamily="34" charset="-122"/>
                <a:cs typeface="Calibri" pitchFamily="34" charset="-120"/>
              </a:rPr>
              <a:t>115 ms</a:t>
            </a:r>
            <a:endParaRPr lang="en-US" sz="1800" dirty="0"/>
          </a:p>
        </p:txBody>
      </p:sp>
      <p:sp>
        <p:nvSpPr>
          <p:cNvPr id="21" name="Text 19"/>
          <p:cNvSpPr txBox="1"/>
          <p:nvPr/>
        </p:nvSpPr>
        <p:spPr>
          <a:xfrm>
            <a:off x="548640" y="3657600"/>
            <a:ext cx="1417320" cy="365760"/>
          </a:xfrm>
          <a:prstGeom prst="rect">
            <a:avLst/>
          </a:prstGeom>
          <a:noFill/>
          <a:ln/>
        </p:spPr>
        <p:txBody>
          <a:bodyPr wrap="square" lIns="0" tIns="0" rIns="0" bIns="0" rtlCol="0" anchor="ctr"/>
          <a:lstStyle/>
          <a:p>
            <a:pPr algn="r" indent="0" marL="0">
              <a:buNone/>
            </a:pPr>
            <a:r>
              <a:rPr lang="en-US" sz="1600" dirty="0">
                <a:solidFill>
                  <a:srgbClr val="18293B"/>
                </a:solidFill>
                <a:latin typeface="Calibri" pitchFamily="34" charset="0"/>
                <a:ea typeface="Calibri" pitchFamily="34" charset="-122"/>
                <a:cs typeface="Calibri" pitchFamily="34" charset="-120"/>
              </a:rPr>
              <a:t>100 kb</a:t>
            </a:r>
            <a:endParaRPr lang="en-US" sz="1600" dirty="0"/>
          </a:p>
        </p:txBody>
      </p:sp>
      <p:sp>
        <p:nvSpPr>
          <p:cNvPr id="22" name="Shape 20"/>
          <p:cNvSpPr/>
          <p:nvPr/>
        </p:nvSpPr>
        <p:spPr>
          <a:xfrm>
            <a:off x="2148840" y="3840480"/>
            <a:ext cx="2004511" cy="0"/>
          </a:xfrm>
          <a:prstGeom prst="line">
            <a:avLst/>
          </a:prstGeom>
          <a:noFill/>
          <a:ln w="38100">
            <a:solidFill>
              <a:srgbClr val="B8C7D6"/>
            </a:solidFill>
            <a:prstDash val="solid"/>
          </a:ln>
        </p:spPr>
      </p:sp>
      <p:sp>
        <p:nvSpPr>
          <p:cNvPr id="23" name="Shape 21"/>
          <p:cNvSpPr/>
          <p:nvPr/>
        </p:nvSpPr>
        <p:spPr>
          <a:xfrm>
            <a:off x="4052767" y="3739896"/>
            <a:ext cx="201168" cy="201168"/>
          </a:xfrm>
          <a:prstGeom prst="ellipse">
            <a:avLst/>
          </a:prstGeom>
          <a:solidFill>
            <a:srgbClr val="003C6C"/>
          </a:solidFill>
          <a:ln w="12700">
            <a:solidFill>
              <a:srgbClr val="003C6C"/>
            </a:solidFill>
            <a:prstDash val="solid"/>
          </a:ln>
        </p:spPr>
      </p:sp>
      <p:sp>
        <p:nvSpPr>
          <p:cNvPr id="24" name="Text 22"/>
          <p:cNvSpPr txBox="1"/>
          <p:nvPr/>
        </p:nvSpPr>
        <p:spPr>
          <a:xfrm>
            <a:off x="4336231" y="3657600"/>
            <a:ext cx="1280160" cy="365760"/>
          </a:xfrm>
          <a:prstGeom prst="rect">
            <a:avLst/>
          </a:prstGeom>
          <a:noFill/>
          <a:ln/>
        </p:spPr>
        <p:txBody>
          <a:bodyPr wrap="square" lIns="0" tIns="0" rIns="0" bIns="0" rtlCol="0" anchor="ctr"/>
          <a:lstStyle/>
          <a:p>
            <a:pPr indent="0" marL="0">
              <a:buNone/>
            </a:pPr>
            <a:r>
              <a:rPr lang="en-US" sz="1800" b="1" dirty="0">
                <a:solidFill>
                  <a:srgbClr val="003C6C"/>
                </a:solidFill>
                <a:latin typeface="Calibri" pitchFamily="34" charset="0"/>
                <a:ea typeface="Calibri" pitchFamily="34" charset="-122"/>
                <a:cs typeface="Calibri" pitchFamily="34" charset="-120"/>
              </a:rPr>
              <a:t>0.6 s</a:t>
            </a:r>
            <a:endParaRPr lang="en-US" sz="1800" dirty="0"/>
          </a:p>
        </p:txBody>
      </p:sp>
      <p:sp>
        <p:nvSpPr>
          <p:cNvPr id="25" name="Text 23"/>
          <p:cNvSpPr txBox="1"/>
          <p:nvPr/>
        </p:nvSpPr>
        <p:spPr>
          <a:xfrm>
            <a:off x="548640" y="4434840"/>
            <a:ext cx="1417320" cy="365760"/>
          </a:xfrm>
          <a:prstGeom prst="rect">
            <a:avLst/>
          </a:prstGeom>
          <a:noFill/>
          <a:ln/>
        </p:spPr>
        <p:txBody>
          <a:bodyPr wrap="square" lIns="0" tIns="0" rIns="0" bIns="0" rtlCol="0" anchor="ctr"/>
          <a:lstStyle/>
          <a:p>
            <a:pPr algn="r" indent="0" marL="0">
              <a:buNone/>
            </a:pPr>
            <a:r>
              <a:rPr lang="en-US" sz="1600" dirty="0">
                <a:solidFill>
                  <a:srgbClr val="18293B"/>
                </a:solidFill>
                <a:latin typeface="Calibri" pitchFamily="34" charset="0"/>
                <a:ea typeface="Calibri" pitchFamily="34" charset="-122"/>
                <a:cs typeface="Calibri" pitchFamily="34" charset="-120"/>
              </a:rPr>
              <a:t>1 Mb</a:t>
            </a:r>
            <a:endParaRPr lang="en-US" sz="1600" dirty="0"/>
          </a:p>
        </p:txBody>
      </p:sp>
      <p:sp>
        <p:nvSpPr>
          <p:cNvPr id="26" name="Shape 24"/>
          <p:cNvSpPr/>
          <p:nvPr/>
        </p:nvSpPr>
        <p:spPr>
          <a:xfrm>
            <a:off x="2148840" y="4617720"/>
            <a:ext cx="2969920" cy="0"/>
          </a:xfrm>
          <a:prstGeom prst="line">
            <a:avLst/>
          </a:prstGeom>
          <a:noFill/>
          <a:ln w="38100">
            <a:solidFill>
              <a:srgbClr val="B8C7D6"/>
            </a:solidFill>
            <a:prstDash val="solid"/>
          </a:ln>
        </p:spPr>
      </p:sp>
      <p:sp>
        <p:nvSpPr>
          <p:cNvPr id="27" name="Shape 25"/>
          <p:cNvSpPr/>
          <p:nvPr/>
        </p:nvSpPr>
        <p:spPr>
          <a:xfrm>
            <a:off x="5018176" y="4517136"/>
            <a:ext cx="201168" cy="201168"/>
          </a:xfrm>
          <a:prstGeom prst="ellipse">
            <a:avLst/>
          </a:prstGeom>
          <a:solidFill>
            <a:srgbClr val="003C6C"/>
          </a:solidFill>
          <a:ln w="12700">
            <a:solidFill>
              <a:srgbClr val="003C6C"/>
            </a:solidFill>
            <a:prstDash val="solid"/>
          </a:ln>
        </p:spPr>
      </p:sp>
      <p:sp>
        <p:nvSpPr>
          <p:cNvPr id="28" name="Text 26"/>
          <p:cNvSpPr txBox="1"/>
          <p:nvPr/>
        </p:nvSpPr>
        <p:spPr>
          <a:xfrm>
            <a:off x="5301640" y="4434840"/>
            <a:ext cx="1280160" cy="365760"/>
          </a:xfrm>
          <a:prstGeom prst="rect">
            <a:avLst/>
          </a:prstGeom>
          <a:noFill/>
          <a:ln/>
        </p:spPr>
        <p:txBody>
          <a:bodyPr wrap="square" lIns="0" tIns="0" rIns="0" bIns="0" rtlCol="0" anchor="ctr"/>
          <a:lstStyle/>
          <a:p>
            <a:pPr indent="0" marL="0">
              <a:buNone/>
            </a:pPr>
            <a:r>
              <a:rPr lang="en-US" sz="1800" b="1" dirty="0">
                <a:solidFill>
                  <a:srgbClr val="003C6C"/>
                </a:solidFill>
                <a:latin typeface="Calibri" pitchFamily="34" charset="0"/>
                <a:ea typeface="Calibri" pitchFamily="34" charset="-122"/>
                <a:cs typeface="Calibri" pitchFamily="34" charset="-120"/>
              </a:rPr>
              <a:t>4.3 s</a:t>
            </a:r>
            <a:endParaRPr lang="en-US" sz="1800" dirty="0"/>
          </a:p>
        </p:txBody>
      </p:sp>
      <p:graphicFrame>
        <p:nvGraphicFramePr>
          <p:cNvPr id="29" name="Chart 0" descr=""/>
          <p:cNvGraphicFramePr/>
          <p:nvPr/>
        </p:nvGraphicFramePr>
        <p:xfrm>
          <a:off x="6309360" y="1325880"/>
          <a:ext cx="5333695" cy="3977640"/>
        </p:xfrm>
        <a:graphic xmlns:a="http://schemas.openxmlformats.org/drawingml/2006/main">
          <a:graphicData uri="http://schemas.openxmlformats.org/drawingml/2006/chart">
            <c:chart xmlns:c="http://schemas.openxmlformats.org/drawingml/2006/chart" r:id="rId1"/>
          </a:graphicData>
        </a:graphic>
      </p:graphicFrame>
      <p:sp>
        <p:nvSpPr>
          <p:cNvPr id="30" name="Text 27"/>
          <p:cNvSpPr txBox="1"/>
          <p:nvPr/>
        </p:nvSpPr>
        <p:spPr>
          <a:xfrm>
            <a:off x="6309360" y="5349240"/>
            <a:ext cx="5333695" cy="365760"/>
          </a:xfrm>
          <a:prstGeom prst="rect">
            <a:avLst/>
          </a:prstGeom>
          <a:noFill/>
          <a:ln/>
        </p:spPr>
        <p:txBody>
          <a:bodyPr wrap="square" lIns="0" tIns="0" rIns="0" bIns="0" rtlCol="0" anchor="t"/>
          <a:lstStyle/>
          <a:p>
            <a:pPr algn="ctr" indent="0" marL="0">
              <a:buNone/>
            </a:pPr>
            <a:r>
              <a:rPr lang="en-US" sz="1400" dirty="0">
                <a:solidFill>
                  <a:srgbClr val="5B6B7C"/>
                </a:solidFill>
                <a:latin typeface="Calibri" pitchFamily="34" charset="0"/>
                <a:ea typeface="Calibri" pitchFamily="34" charset="-122"/>
                <a:cs typeface="Calibri" pitchFamily="34" charset="-120"/>
              </a:rPr>
              <a:t>Single-thread run was warm-up-limited; read the plateau: about 60 queries per second per server.</a:t>
            </a:r>
            <a:endParaRPr lang="en-US" sz="1400" dirty="0"/>
          </a:p>
        </p:txBody>
      </p:sp>
      <p:sp>
        <p:nvSpPr>
          <p:cNvPr id="31" name="Text 28"/>
          <p:cNvSpPr txBox="1"/>
          <p:nvPr/>
        </p:nvSpPr>
        <p:spPr>
          <a:xfrm>
            <a:off x="548640" y="5806440"/>
            <a:ext cx="11094415" cy="548640"/>
          </a:xfrm>
          <a:prstGeom prst="rect">
            <a:avLst/>
          </a:prstGeom>
          <a:noFill/>
          <a:ln/>
        </p:spPr>
        <p:txBody>
          <a:bodyPr wrap="square" lIns="0" tIns="0" rIns="0" bIns="0" rtlCol="0" anchor="ctr"/>
          <a:lstStyle/>
          <a:p>
            <a:pPr algn="ctr" indent="0" marL="0">
              <a:buNone/>
            </a:pPr>
            <a:r>
              <a:rPr lang="en-US" sz="2000" i="1" dirty="0">
                <a:solidFill>
                  <a:srgbClr val="003C6C"/>
                </a:solidFill>
                <a:latin typeface="Calibri" pitchFamily="34" charset="0"/>
                <a:ea typeface="Calibri" pitchFamily="34" charset="-122"/>
                <a:cs typeface="Calibri" pitchFamily="34" charset="-120"/>
              </a:rPr>
              <a:t>Exon-scale in 20 ms, a 10 kb gene in a tenth of a second, a megabase in four. One server sustains about 60 queries a second.</a:t>
            </a:r>
            <a:endParaRPr lang="en-US" sz="2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Real limits, and what's next</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15</a:t>
            </a:r>
            <a:endParaRPr lang="en-US" sz="1000" dirty="0"/>
          </a:p>
        </p:txBody>
      </p:sp>
      <p:sp>
        <p:nvSpPr>
          <p:cNvPr id="4" name="Shape 2"/>
          <p:cNvSpPr/>
          <p:nvPr/>
        </p:nvSpPr>
        <p:spPr>
          <a:xfrm>
            <a:off x="548640" y="1325880"/>
            <a:ext cx="5364328" cy="3246120"/>
          </a:xfrm>
          <a:prstGeom prst="roundRect">
            <a:avLst>
              <a:gd name="adj" fmla="val 3380"/>
            </a:avLst>
          </a:prstGeom>
          <a:solidFill>
            <a:srgbClr val="EDF1F6"/>
          </a:solidFill>
          <a:ln w="12700">
            <a:solidFill>
              <a:srgbClr val="DCE3EB"/>
            </a:solidFill>
            <a:prstDash val="solid"/>
          </a:ln>
        </p:spPr>
      </p:sp>
      <p:sp>
        <p:nvSpPr>
          <p:cNvPr id="5" name="Text 3"/>
          <p:cNvSpPr txBox="1"/>
          <p:nvPr/>
        </p:nvSpPr>
        <p:spPr>
          <a:xfrm>
            <a:off x="868680" y="1600200"/>
            <a:ext cx="4724248" cy="457200"/>
          </a:xfrm>
          <a:prstGeom prst="rect">
            <a:avLst/>
          </a:prstGeom>
          <a:noFill/>
          <a:ln/>
        </p:spPr>
        <p:txBody>
          <a:bodyPr wrap="square" lIns="0" tIns="0" rIns="0" bIns="0" rtlCol="0" anchor="t"/>
          <a:lstStyle/>
          <a:p>
            <a:pPr indent="0" marL="0">
              <a:buNone/>
            </a:pPr>
            <a:r>
              <a:rPr lang="en-US" sz="2200" b="1" dirty="0">
                <a:solidFill>
                  <a:srgbClr val="5B6B7C"/>
                </a:solidFill>
                <a:latin typeface="Calibri" pitchFamily="34" charset="0"/>
                <a:ea typeface="Calibri" pitchFamily="34" charset="-122"/>
                <a:cs typeface="Calibri" pitchFamily="34" charset="-120"/>
              </a:rPr>
              <a:t>Today</a:t>
            </a:r>
            <a:endParaRPr lang="en-US" sz="2200" dirty="0"/>
          </a:p>
        </p:txBody>
      </p:sp>
      <p:sp>
        <p:nvSpPr>
          <p:cNvPr id="6" name="Text 4"/>
          <p:cNvSpPr txBox="1"/>
          <p:nvPr/>
        </p:nvSpPr>
        <p:spPr>
          <a:xfrm>
            <a:off x="868680" y="2194560"/>
            <a:ext cx="4724248" cy="2286000"/>
          </a:xfrm>
          <a:prstGeom prst="rect">
            <a:avLst/>
          </a:prstGeom>
          <a:noFill/>
          <a:ln/>
        </p:spPr>
        <p:txBody>
          <a:bodyPr wrap="square" lIns="0" tIns="0" rIns="0" bIns="0" rtlCol="0" anchor="t"/>
          <a:lstStyle/>
          <a:p>
            <a:pPr marL="203200" indent="-203200">
              <a:spcAft>
                <a:spcPts val="900"/>
              </a:spcAft>
              <a:buSzPct val="100000"/>
              <a:buChar char="•"/>
            </a:pPr>
            <a:r>
              <a:rPr lang="en-US" sz="1700" dirty="0">
                <a:solidFill>
                  <a:srgbClr val="18293B"/>
                </a:solidFill>
                <a:latin typeface="Calibri" pitchFamily="34" charset="0"/>
                <a:ea typeface="Calibri" pitchFamily="34" charset="-122"/>
                <a:cs typeface="Calibri" pitchFamily="34" charset="-120"/>
              </a:rPr>
              <a:t>Chains are built per view. Pan far enough and another one is built.</a:t>
            </a:r>
            <a:endParaRPr lang="en-US" sz="1700" dirty="0"/>
          </a:p>
          <a:p>
            <a:pPr marL="203200" indent="-203200">
              <a:spcAft>
                <a:spcPts val="900"/>
              </a:spcAft>
              <a:buSzPct val="100000"/>
              <a:buChar char="•"/>
            </a:pPr>
            <a:r>
              <a:rPr lang="en-US" sz="1700" dirty="0">
                <a:solidFill>
                  <a:srgbClr val="18293B"/>
                </a:solidFill>
                <a:latin typeface="Calibri" pitchFamily="34" charset="0"/>
                <a:ea typeface="Calibri" pitchFamily="34" charset="-122"/>
                <a:cs typeface="Calibri" pitchFamily="34" charset="-120"/>
              </a:rPr>
              <a:t>Segdup-dense spans lose positions: 46% recovered on 1q21.1.</a:t>
            </a:r>
            <a:endParaRPr lang="en-US" sz="1700" dirty="0"/>
          </a:p>
          <a:p>
            <a:pPr marL="203200" indent="-203200">
              <a:spcAft>
                <a:spcPts val="900"/>
              </a:spcAft>
              <a:buSzPct val="100000"/>
              <a:buChar char="•"/>
            </a:pPr>
            <a:r>
              <a:rPr lang="en-US" sz="1700" dirty="0">
                <a:solidFill>
                  <a:srgbClr val="18293B"/>
                </a:solidFill>
                <a:latin typeface="Calibri" pitchFamily="34" charset="0"/>
                <a:ea typeface="Calibri" pitchFamily="34" charset="-122"/>
                <a:cs typeface="Calibri" pitchFamily="34" charset="-120"/>
              </a:rPr>
              <a:t>Development browser only. One service, about 250 GB of RAM. No public API yet.</a:t>
            </a:r>
            <a:endParaRPr lang="en-US" sz="1700" dirty="0"/>
          </a:p>
        </p:txBody>
      </p:sp>
      <p:sp>
        <p:nvSpPr>
          <p:cNvPr id="7" name="Shape 5"/>
          <p:cNvSpPr/>
          <p:nvPr/>
        </p:nvSpPr>
        <p:spPr>
          <a:xfrm>
            <a:off x="6278728" y="1325880"/>
            <a:ext cx="5364328" cy="3246120"/>
          </a:xfrm>
          <a:prstGeom prst="roundRect">
            <a:avLst>
              <a:gd name="adj" fmla="val 3380"/>
            </a:avLst>
          </a:prstGeom>
          <a:solidFill>
            <a:srgbClr val="EDF1F6"/>
          </a:solidFill>
          <a:ln w="12700">
            <a:solidFill>
              <a:srgbClr val="DCE3EB"/>
            </a:solidFill>
            <a:prstDash val="solid"/>
          </a:ln>
        </p:spPr>
      </p:sp>
      <p:sp>
        <p:nvSpPr>
          <p:cNvPr id="8" name="Text 6"/>
          <p:cNvSpPr txBox="1"/>
          <p:nvPr/>
        </p:nvSpPr>
        <p:spPr>
          <a:xfrm>
            <a:off x="6598768" y="1600200"/>
            <a:ext cx="4724248" cy="457200"/>
          </a:xfrm>
          <a:prstGeom prst="rect">
            <a:avLst/>
          </a:prstGeom>
          <a:noFill/>
          <a:ln/>
        </p:spPr>
        <p:txBody>
          <a:bodyPr wrap="square" lIns="0" tIns="0" rIns="0" bIns="0" rtlCol="0" anchor="t"/>
          <a:lstStyle/>
          <a:p>
            <a:pPr indent="0" marL="0">
              <a:buNone/>
            </a:pPr>
            <a:r>
              <a:rPr lang="en-US" sz="2200" b="1" dirty="0">
                <a:solidFill>
                  <a:srgbClr val="003C6C"/>
                </a:solidFill>
                <a:latin typeface="Calibri" pitchFamily="34" charset="0"/>
                <a:ea typeface="Calibri" pitchFamily="34" charset="-122"/>
                <a:cs typeface="Calibri" pitchFamily="34" charset="-120"/>
              </a:rPr>
              <a:t>Next</a:t>
            </a:r>
            <a:endParaRPr lang="en-US" sz="2200" dirty="0"/>
          </a:p>
        </p:txBody>
      </p:sp>
      <p:sp>
        <p:nvSpPr>
          <p:cNvPr id="9" name="Text 7"/>
          <p:cNvSpPr txBox="1"/>
          <p:nvPr/>
        </p:nvSpPr>
        <p:spPr>
          <a:xfrm>
            <a:off x="6598768" y="2194560"/>
            <a:ext cx="4724248" cy="2286000"/>
          </a:xfrm>
          <a:prstGeom prst="rect">
            <a:avLst/>
          </a:prstGeom>
          <a:noFill/>
          <a:ln/>
        </p:spPr>
        <p:txBody>
          <a:bodyPr wrap="square" lIns="0" tIns="0" rIns="0" bIns="0" rtlCol="0" anchor="t"/>
          <a:lstStyle/>
          <a:p>
            <a:pPr marL="203200" indent="-203200">
              <a:spcAft>
                <a:spcPts val="900"/>
              </a:spcAft>
              <a:buSzPct val="100000"/>
              <a:buChar char="•"/>
            </a:pPr>
            <a:r>
              <a:rPr lang="en-US" sz="1700" dirty="0">
                <a:solidFill>
                  <a:srgbClr val="18293B"/>
                </a:solidFill>
                <a:latin typeface="Calibri" pitchFamily="34" charset="0"/>
                <a:ea typeface="Calibri" pitchFamily="34" charset="-122"/>
                <a:cs typeface="Calibri" pitchFamily="34" charset="-120"/>
              </a:rPr>
              <a:t>Shared, persistent chains: popular regions free after the first visit.</a:t>
            </a:r>
            <a:endParaRPr lang="en-US" sz="1700" dirty="0"/>
          </a:p>
          <a:p>
            <a:pPr marL="203200" indent="-203200">
              <a:spcAft>
                <a:spcPts val="900"/>
              </a:spcAft>
              <a:buSzPct val="100000"/>
              <a:buChar char="•"/>
            </a:pPr>
            <a:r>
              <a:rPr lang="en-US" sz="1700" dirty="0">
                <a:solidFill>
                  <a:srgbClr val="18293B"/>
                </a:solidFill>
                <a:latin typeface="Calibri" pitchFamily="34" charset="0"/>
                <a:ea typeface="Calibri" pitchFamily="34" charset="-122"/>
                <a:cs typeface="Calibri" pitchFamily="34" charset="-120"/>
              </a:rPr>
              <a:t>Better recovery in segdup-dense spans.</a:t>
            </a:r>
            <a:endParaRPr lang="en-US" sz="1700" dirty="0"/>
          </a:p>
          <a:p>
            <a:pPr marL="203200" indent="-203200">
              <a:spcAft>
                <a:spcPts val="900"/>
              </a:spcAft>
              <a:buSzPct val="100000"/>
              <a:buChar char="•"/>
            </a:pPr>
            <a:r>
              <a:rPr lang="en-US" sz="1700" dirty="0">
                <a:solidFill>
                  <a:srgbClr val="18293B"/>
                </a:solidFill>
                <a:latin typeface="Calibri" pitchFamily="34" charset="0"/>
                <a:ea typeface="Calibri" pitchFamily="34" charset="-122"/>
                <a:cs typeface="Calibri" pitchFamily="34" charset="-120"/>
              </a:rPr>
              <a:t>A documented JSON API, so it runs from your pipeline too.</a:t>
            </a:r>
            <a:endParaRPr lang="en-US" sz="1700" dirty="0"/>
          </a:p>
          <a:p>
            <a:pPr marL="203200" indent="-203200">
              <a:spcAft>
                <a:spcPts val="900"/>
              </a:spcAft>
              <a:buSzPct val="100000"/>
              <a:buChar char="•"/>
            </a:pPr>
            <a:r>
              <a:rPr lang="en-US" sz="1700" dirty="0">
                <a:solidFill>
                  <a:srgbClr val="18293B"/>
                </a:solidFill>
                <a:latin typeface="Calibri" pitchFamily="34" charset="0"/>
                <a:ea typeface="Calibri" pitchFamily="34" charset="-122"/>
                <a:cs typeface="Calibri" pitchFamily="34" charset="-120"/>
              </a:rPr>
              <a:t>New graphs plug in by building one index.</a:t>
            </a:r>
            <a:endParaRPr lang="en-US" sz="1700" dirty="0"/>
          </a:p>
        </p:txBody>
      </p:sp>
      <p:sp>
        <p:nvSpPr>
          <p:cNvPr id="10" name="Shape 8"/>
          <p:cNvSpPr/>
          <p:nvPr/>
        </p:nvSpPr>
        <p:spPr>
          <a:xfrm>
            <a:off x="548640" y="4937760"/>
            <a:ext cx="11094415" cy="960120"/>
          </a:xfrm>
          <a:prstGeom prst="roundRect">
            <a:avLst>
              <a:gd name="adj" fmla="val 11429"/>
            </a:avLst>
          </a:prstGeom>
          <a:solidFill>
            <a:srgbClr val="06294A"/>
          </a:solidFill>
          <a:ln w="12700">
            <a:solidFill>
              <a:srgbClr val="06294A"/>
            </a:solidFill>
            <a:prstDash val="solid"/>
          </a:ln>
        </p:spPr>
      </p:sp>
      <p:sp>
        <p:nvSpPr>
          <p:cNvPr id="11" name="Text 9"/>
          <p:cNvSpPr txBox="1"/>
          <p:nvPr/>
        </p:nvSpPr>
        <p:spPr>
          <a:xfrm>
            <a:off x="548640" y="4937760"/>
            <a:ext cx="11094415" cy="960120"/>
          </a:xfrm>
          <a:prstGeom prst="rect">
            <a:avLst/>
          </a:prstGeom>
          <a:noFill/>
          <a:ln/>
        </p:spPr>
        <p:txBody>
          <a:bodyPr wrap="square" lIns="0" tIns="0" rIns="0" bIns="0" rtlCol="0" anchor="ctr"/>
          <a:lstStyle/>
          <a:p>
            <a:pPr algn="ctr" indent="0" marL="0">
              <a:buNone/>
            </a:pPr>
            <a:r>
              <a:rPr lang="en-US" sz="2400" dirty="0">
                <a:solidFill>
                  <a:srgbClr val="C6D3DF"/>
                </a:solidFill>
                <a:latin typeface="Calibri" pitchFamily="34" charset="0"/>
                <a:ea typeface="Calibri" pitchFamily="34" charset="-122"/>
                <a:cs typeface="Calibri" pitchFamily="34" charset="-120"/>
              </a:rPr>
              <a:t>Next milestone: </a:t>
            </a:r>
            <a:pPr algn="ctr" indent="0" marL="0">
              <a:buNone/>
            </a:pPr>
            <a:r>
              <a:rPr lang="en-US" sz="2400" b="1" dirty="0">
                <a:solidFill>
                  <a:srgbClr val="FFFFFF"/>
                </a:solidFill>
                <a:latin typeface="Calibri" pitchFamily="34" charset="0"/>
                <a:ea typeface="Calibri" pitchFamily="34" charset="-122"/>
                <a:cs typeface="Calibri" pitchFamily="34" charset="-120"/>
              </a:rPr>
              <a:t>public release in the UCSC Genome Browser</a:t>
            </a:r>
            <a:endParaRPr lang="en-US" sz="2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6294A"/>
        </a:solidFill>
      </p:bgPr>
    </p:bg>
    <p:spTree>
      <p:nvGrpSpPr>
        <p:cNvPr id="1" name=""/>
        <p:cNvGrpSpPr/>
        <p:nvPr/>
      </p:nvGrpSpPr>
      <p:grpSpPr>
        <a:xfrm>
          <a:off x="0" y="0"/>
          <a:ext cx="0" cy="0"/>
          <a:chOff x="0" y="0"/>
          <a:chExt cx="0" cy="0"/>
        </a:xfrm>
      </p:grpSpPr>
      <p:sp>
        <p:nvSpPr>
          <p:cNvPr id="2" name="Text 0"/>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3D5A7A"/>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84048"/>
            <a:ext cx="11094415" cy="713232"/>
          </a:xfrm>
          <a:prstGeom prst="rect">
            <a:avLst/>
          </a:prstGeom>
          <a:noFill/>
          <a:ln/>
        </p:spPr>
        <p:txBody>
          <a:bodyPr wrap="square" lIns="0" tIns="0" rIns="0" bIns="0" rtlCol="0" anchor="ctr"/>
          <a:lstStyle/>
          <a:p>
            <a:pPr indent="0" marL="0">
              <a:buNone/>
            </a:pPr>
            <a:r>
              <a:rPr lang="en-US" sz="3200" b="1" dirty="0">
                <a:solidFill>
                  <a:srgbClr val="FFFFFF"/>
                </a:solidFill>
                <a:latin typeface="Calibri" pitchFamily="34" charset="0"/>
                <a:ea typeface="Calibri" pitchFamily="34" charset="-122"/>
                <a:cs typeface="Calibri" pitchFamily="34" charset="-120"/>
              </a:rPr>
              <a:t>All three: yes</a:t>
            </a:r>
            <a:endParaRPr lang="en-US" sz="3200" dirty="0"/>
          </a:p>
        </p:txBody>
      </p:sp>
      <p:sp>
        <p:nvSpPr>
          <p:cNvPr id="4" name="Shape 2"/>
          <p:cNvSpPr/>
          <p:nvPr/>
        </p:nvSpPr>
        <p:spPr>
          <a:xfrm>
            <a:off x="548640" y="1325880"/>
            <a:ext cx="3454298" cy="4114800"/>
          </a:xfrm>
          <a:prstGeom prst="roundRect">
            <a:avLst>
              <a:gd name="adj" fmla="val 3177"/>
            </a:avLst>
          </a:prstGeom>
          <a:solidFill>
            <a:srgbClr val="0F3557"/>
          </a:solidFill>
          <a:ln w="12700">
            <a:solidFill>
              <a:srgbClr val="1D4F7C"/>
            </a:solidFill>
            <a:prstDash val="solid"/>
          </a:ln>
        </p:spPr>
      </p:sp>
      <p:sp>
        <p:nvSpPr>
          <p:cNvPr id="5" name="Shape 3"/>
          <p:cNvSpPr/>
          <p:nvPr/>
        </p:nvSpPr>
        <p:spPr>
          <a:xfrm>
            <a:off x="868680" y="1691640"/>
            <a:ext cx="777240" cy="777240"/>
          </a:xfrm>
          <a:prstGeom prst="ellipse">
            <a:avLst/>
          </a:prstGeom>
          <a:solidFill>
            <a:srgbClr val="0E7C9C"/>
          </a:solidFill>
          <a:ln w="12700">
            <a:solidFill>
              <a:srgbClr val="0E7C9C"/>
            </a:solidFill>
            <a:prstDash val="solid"/>
          </a:ln>
        </p:spPr>
      </p:sp>
      <p:pic>
        <p:nvPicPr>
          <p:cNvPr id="6" name="Image 0" descr="preencoded.png">    </p:cNvPr>
          <p:cNvPicPr>
            <a:picLocks noChangeAspect="1"/>
          </p:cNvPicPr>
          <p:nvPr/>
        </p:nvPicPr>
        <p:blipFill>
          <a:blip r:embed="rId1"/>
          <a:stretch>
            <a:fillRect/>
          </a:stretch>
        </p:blipFill>
        <p:spPr>
          <a:xfrm>
            <a:off x="1070762" y="1893722"/>
            <a:ext cx="373075" cy="373075"/>
          </a:xfrm>
          <a:prstGeom prst="rect">
            <a:avLst/>
          </a:prstGeom>
        </p:spPr>
      </p:pic>
      <p:sp>
        <p:nvSpPr>
          <p:cNvPr id="7" name="Text 4"/>
          <p:cNvSpPr txBox="1"/>
          <p:nvPr/>
        </p:nvSpPr>
        <p:spPr>
          <a:xfrm>
            <a:off x="868680" y="2697480"/>
            <a:ext cx="2814218" cy="457200"/>
          </a:xfrm>
          <a:prstGeom prst="rect">
            <a:avLst/>
          </a:prstGeom>
          <a:noFill/>
          <a:ln/>
        </p:spPr>
        <p:txBody>
          <a:bodyPr wrap="square" lIns="0" tIns="0" rIns="0" bIns="0" rtlCol="0" anchor="t"/>
          <a:lstStyle/>
          <a:p>
            <a:pPr indent="0" marL="0">
              <a:buNone/>
            </a:pPr>
            <a:r>
              <a:rPr lang="en-US" sz="2000" b="1" dirty="0">
                <a:solidFill>
                  <a:srgbClr val="FFFFFF"/>
                </a:solidFill>
                <a:latin typeface="Calibri" pitchFamily="34" charset="0"/>
                <a:ea typeface="Calibri" pitchFamily="34" charset="-122"/>
                <a:cs typeface="Calibri" pitchFamily="34" charset="-120"/>
              </a:rPr>
              <a:t>I have a sequence.</a:t>
            </a:r>
            <a:endParaRPr lang="en-US" sz="2000" dirty="0"/>
          </a:p>
        </p:txBody>
      </p:sp>
      <p:sp>
        <p:nvSpPr>
          <p:cNvPr id="8" name="Text 5"/>
          <p:cNvSpPr txBox="1"/>
          <p:nvPr/>
        </p:nvSpPr>
        <p:spPr>
          <a:xfrm>
            <a:off x="868680" y="3200400"/>
            <a:ext cx="2814218" cy="914400"/>
          </a:xfrm>
          <a:prstGeom prst="rect">
            <a:avLst/>
          </a:prstGeom>
          <a:noFill/>
          <a:ln/>
        </p:spPr>
        <p:txBody>
          <a:bodyPr wrap="square" lIns="0" tIns="0" rIns="0" bIns="0" rtlCol="0" anchor="t"/>
          <a:lstStyle/>
          <a:p>
            <a:pPr indent="0" marL="0">
              <a:buNone/>
            </a:pPr>
            <a:r>
              <a:rPr lang="en-US" sz="2000" dirty="0">
                <a:solidFill>
                  <a:srgbClr val="C6D3DF"/>
                </a:solidFill>
                <a:latin typeface="Calibri" pitchFamily="34" charset="0"/>
                <a:ea typeface="Calibri" pitchFamily="34" charset="-122"/>
                <a:cs typeface="Calibri" pitchFamily="34" charset="-120"/>
              </a:rPr>
              <a:t>Which haplotypes carry it, and where?</a:t>
            </a:r>
            <a:endParaRPr lang="en-US" sz="2000" dirty="0"/>
          </a:p>
        </p:txBody>
      </p:sp>
      <p:sp>
        <p:nvSpPr>
          <p:cNvPr id="9" name="Text 6"/>
          <p:cNvSpPr txBox="1"/>
          <p:nvPr/>
        </p:nvSpPr>
        <p:spPr>
          <a:xfrm>
            <a:off x="868680" y="4251960"/>
            <a:ext cx="2814218" cy="320040"/>
          </a:xfrm>
          <a:prstGeom prst="rect">
            <a:avLst/>
          </a:prstGeom>
          <a:noFill/>
          <a:ln/>
        </p:spPr>
        <p:txBody>
          <a:bodyPr wrap="square" lIns="0" tIns="0" rIns="0" bIns="0" rtlCol="0" anchor="t"/>
          <a:lstStyle/>
          <a:p>
            <a:pPr indent="0" marL="0">
              <a:buNone/>
            </a:pPr>
            <a:r>
              <a:rPr lang="en-US" sz="1400" dirty="0">
                <a:solidFill>
                  <a:srgbClr val="C6D3DF"/>
                </a:solidFill>
                <a:latin typeface="Calibri" pitchFamily="34" charset="0"/>
                <a:ea typeface="Calibri" pitchFamily="34" charset="-122"/>
                <a:cs typeface="Calibri" pitchFamily="34" charset="-120"/>
              </a:rPr>
              <a:t>in the browser, in seconds</a:t>
            </a:r>
            <a:endParaRPr lang="en-US" sz="1400" dirty="0"/>
          </a:p>
        </p:txBody>
      </p:sp>
      <p:sp>
        <p:nvSpPr>
          <p:cNvPr id="10" name="Text 7"/>
          <p:cNvSpPr txBox="1"/>
          <p:nvPr/>
        </p:nvSpPr>
        <p:spPr>
          <a:xfrm>
            <a:off x="868680" y="4572000"/>
            <a:ext cx="2814218" cy="640080"/>
          </a:xfrm>
          <a:prstGeom prst="rect">
            <a:avLst/>
          </a:prstGeom>
          <a:noFill/>
          <a:ln/>
        </p:spPr>
        <p:txBody>
          <a:bodyPr wrap="square" lIns="0" tIns="0" rIns="0" bIns="0" rtlCol="0" anchor="ctr"/>
          <a:lstStyle/>
          <a:p>
            <a:pPr indent="0" marL="0">
              <a:buNone/>
            </a:pPr>
            <a:r>
              <a:rPr lang="en-US" sz="4000" b="1" dirty="0">
                <a:solidFill>
                  <a:srgbClr val="FDC700"/>
                </a:solidFill>
                <a:latin typeface="Calibri" pitchFamily="34" charset="0"/>
                <a:ea typeface="Calibri" pitchFamily="34" charset="-122"/>
                <a:cs typeface="Calibri" pitchFamily="34" charset="-120"/>
              </a:rPr>
              <a:t>yes</a:t>
            </a:r>
            <a:endParaRPr lang="en-US" sz="4000" dirty="0"/>
          </a:p>
        </p:txBody>
      </p:sp>
      <p:sp>
        <p:nvSpPr>
          <p:cNvPr id="11" name="Shape 8"/>
          <p:cNvSpPr/>
          <p:nvPr/>
        </p:nvSpPr>
        <p:spPr>
          <a:xfrm>
            <a:off x="4368698" y="1325880"/>
            <a:ext cx="3454298" cy="4114800"/>
          </a:xfrm>
          <a:prstGeom prst="roundRect">
            <a:avLst>
              <a:gd name="adj" fmla="val 3177"/>
            </a:avLst>
          </a:prstGeom>
          <a:solidFill>
            <a:srgbClr val="0F3557"/>
          </a:solidFill>
          <a:ln w="12700">
            <a:solidFill>
              <a:srgbClr val="1D4F7C"/>
            </a:solidFill>
            <a:prstDash val="solid"/>
          </a:ln>
        </p:spPr>
      </p:sp>
      <p:sp>
        <p:nvSpPr>
          <p:cNvPr id="12" name="Shape 9"/>
          <p:cNvSpPr/>
          <p:nvPr/>
        </p:nvSpPr>
        <p:spPr>
          <a:xfrm>
            <a:off x="4688738" y="1691640"/>
            <a:ext cx="777240" cy="777240"/>
          </a:xfrm>
          <a:prstGeom prst="ellipse">
            <a:avLst/>
          </a:prstGeom>
          <a:solidFill>
            <a:srgbClr val="0E7C9C"/>
          </a:solidFill>
          <a:ln w="12700">
            <a:solidFill>
              <a:srgbClr val="0E7C9C"/>
            </a:solidFill>
            <a:prstDash val="solid"/>
          </a:ln>
        </p:spPr>
      </p:sp>
      <p:pic>
        <p:nvPicPr>
          <p:cNvPr id="13" name="Image 1" descr="preencoded.png">    </p:cNvPr>
          <p:cNvPicPr>
            <a:picLocks noChangeAspect="1"/>
          </p:cNvPicPr>
          <p:nvPr/>
        </p:nvPicPr>
        <p:blipFill>
          <a:blip r:embed="rId2"/>
          <a:stretch>
            <a:fillRect/>
          </a:stretch>
        </p:blipFill>
        <p:spPr>
          <a:xfrm>
            <a:off x="4890821" y="1893722"/>
            <a:ext cx="373075" cy="373075"/>
          </a:xfrm>
          <a:prstGeom prst="rect">
            <a:avLst/>
          </a:prstGeom>
        </p:spPr>
      </p:pic>
      <p:sp>
        <p:nvSpPr>
          <p:cNvPr id="14" name="Text 10"/>
          <p:cNvSpPr txBox="1"/>
          <p:nvPr/>
        </p:nvSpPr>
        <p:spPr>
          <a:xfrm>
            <a:off x="4688738" y="2697480"/>
            <a:ext cx="2814218" cy="457200"/>
          </a:xfrm>
          <a:prstGeom prst="rect">
            <a:avLst/>
          </a:prstGeom>
          <a:noFill/>
          <a:ln/>
        </p:spPr>
        <p:txBody>
          <a:bodyPr wrap="square" lIns="0" tIns="0" rIns="0" bIns="0" rtlCol="0" anchor="t"/>
          <a:lstStyle/>
          <a:p>
            <a:pPr indent="0" marL="0">
              <a:buNone/>
            </a:pPr>
            <a:r>
              <a:rPr lang="en-US" sz="2000" b="1" dirty="0">
                <a:solidFill>
                  <a:srgbClr val="FFFFFF"/>
                </a:solidFill>
                <a:latin typeface="Calibri" pitchFamily="34" charset="0"/>
                <a:ea typeface="Calibri" pitchFamily="34" charset="-122"/>
                <a:cs typeface="Calibri" pitchFamily="34" charset="-120"/>
              </a:rPr>
              <a:t>I have a CHM13 region.</a:t>
            </a:r>
            <a:endParaRPr lang="en-US" sz="2000" dirty="0"/>
          </a:p>
        </p:txBody>
      </p:sp>
      <p:sp>
        <p:nvSpPr>
          <p:cNvPr id="15" name="Text 11"/>
          <p:cNvSpPr txBox="1"/>
          <p:nvPr/>
        </p:nvSpPr>
        <p:spPr>
          <a:xfrm>
            <a:off x="4688738" y="3200400"/>
            <a:ext cx="2814218" cy="914400"/>
          </a:xfrm>
          <a:prstGeom prst="rect">
            <a:avLst/>
          </a:prstGeom>
          <a:noFill/>
          <a:ln/>
        </p:spPr>
        <p:txBody>
          <a:bodyPr wrap="square" lIns="0" tIns="0" rIns="0" bIns="0" rtlCol="0" anchor="t"/>
          <a:lstStyle/>
          <a:p>
            <a:pPr indent="0" marL="0">
              <a:buNone/>
            </a:pPr>
            <a:r>
              <a:rPr lang="en-US" sz="2000" dirty="0">
                <a:solidFill>
                  <a:srgbClr val="C6D3DF"/>
                </a:solidFill>
                <a:latin typeface="Calibri" pitchFamily="34" charset="0"/>
                <a:ea typeface="Calibri" pitchFamily="34" charset="-122"/>
                <a:cs typeface="Calibri" pitchFamily="34" charset="-120"/>
              </a:rPr>
              <a:t>Where is it on HG02015?</a:t>
            </a:r>
            <a:endParaRPr lang="en-US" sz="2000" dirty="0"/>
          </a:p>
        </p:txBody>
      </p:sp>
      <p:sp>
        <p:nvSpPr>
          <p:cNvPr id="16" name="Text 12"/>
          <p:cNvSpPr txBox="1"/>
          <p:nvPr/>
        </p:nvSpPr>
        <p:spPr>
          <a:xfrm>
            <a:off x="4688738" y="4251960"/>
            <a:ext cx="2814218" cy="320040"/>
          </a:xfrm>
          <a:prstGeom prst="rect">
            <a:avLst/>
          </a:prstGeom>
          <a:noFill/>
          <a:ln/>
        </p:spPr>
        <p:txBody>
          <a:bodyPr wrap="square" lIns="0" tIns="0" rIns="0" bIns="0" rtlCol="0" anchor="t"/>
          <a:lstStyle/>
          <a:p>
            <a:pPr indent="0" marL="0">
              <a:buNone/>
            </a:pPr>
            <a:r>
              <a:rPr lang="en-US" sz="1400" dirty="0">
                <a:solidFill>
                  <a:srgbClr val="C6D3DF"/>
                </a:solidFill>
                <a:latin typeface="Calibri" pitchFamily="34" charset="0"/>
                <a:ea typeface="Calibri" pitchFamily="34" charset="-122"/>
                <a:cs typeface="Calibri" pitchFamily="34" charset="-120"/>
              </a:rPr>
              <a:t>in the browser, in seconds</a:t>
            </a:r>
            <a:endParaRPr lang="en-US" sz="1400" dirty="0"/>
          </a:p>
        </p:txBody>
      </p:sp>
      <p:sp>
        <p:nvSpPr>
          <p:cNvPr id="17" name="Text 13"/>
          <p:cNvSpPr txBox="1"/>
          <p:nvPr/>
        </p:nvSpPr>
        <p:spPr>
          <a:xfrm>
            <a:off x="4688738" y="4572000"/>
            <a:ext cx="2814218" cy="640080"/>
          </a:xfrm>
          <a:prstGeom prst="rect">
            <a:avLst/>
          </a:prstGeom>
          <a:noFill/>
          <a:ln/>
        </p:spPr>
        <p:txBody>
          <a:bodyPr wrap="square" lIns="0" tIns="0" rIns="0" bIns="0" rtlCol="0" anchor="ctr"/>
          <a:lstStyle/>
          <a:p>
            <a:pPr indent="0" marL="0">
              <a:buNone/>
            </a:pPr>
            <a:r>
              <a:rPr lang="en-US" sz="4000" b="1" dirty="0">
                <a:solidFill>
                  <a:srgbClr val="FDC700"/>
                </a:solidFill>
                <a:latin typeface="Calibri" pitchFamily="34" charset="0"/>
                <a:ea typeface="Calibri" pitchFamily="34" charset="-122"/>
                <a:cs typeface="Calibri" pitchFamily="34" charset="-120"/>
              </a:rPr>
              <a:t>yes</a:t>
            </a:r>
            <a:endParaRPr lang="en-US" sz="4000" dirty="0"/>
          </a:p>
        </p:txBody>
      </p:sp>
      <p:sp>
        <p:nvSpPr>
          <p:cNvPr id="18" name="Shape 14"/>
          <p:cNvSpPr/>
          <p:nvPr/>
        </p:nvSpPr>
        <p:spPr>
          <a:xfrm>
            <a:off x="8188757" y="1325880"/>
            <a:ext cx="3454298" cy="4114800"/>
          </a:xfrm>
          <a:prstGeom prst="roundRect">
            <a:avLst>
              <a:gd name="adj" fmla="val 3177"/>
            </a:avLst>
          </a:prstGeom>
          <a:solidFill>
            <a:srgbClr val="0F3557"/>
          </a:solidFill>
          <a:ln w="12700">
            <a:solidFill>
              <a:srgbClr val="1D4F7C"/>
            </a:solidFill>
            <a:prstDash val="solid"/>
          </a:ln>
        </p:spPr>
      </p:sp>
      <p:sp>
        <p:nvSpPr>
          <p:cNvPr id="19" name="Shape 15"/>
          <p:cNvSpPr/>
          <p:nvPr/>
        </p:nvSpPr>
        <p:spPr>
          <a:xfrm>
            <a:off x="8508797" y="1691640"/>
            <a:ext cx="777240" cy="777240"/>
          </a:xfrm>
          <a:prstGeom prst="ellipse">
            <a:avLst/>
          </a:prstGeom>
          <a:solidFill>
            <a:srgbClr val="0E7C9C"/>
          </a:solidFill>
          <a:ln w="12700">
            <a:solidFill>
              <a:srgbClr val="0E7C9C"/>
            </a:solidFill>
            <a:prstDash val="solid"/>
          </a:ln>
        </p:spPr>
      </p:sp>
      <p:pic>
        <p:nvPicPr>
          <p:cNvPr id="20" name="Image 2" descr="preencoded.png">    </p:cNvPr>
          <p:cNvPicPr>
            <a:picLocks noChangeAspect="1"/>
          </p:cNvPicPr>
          <p:nvPr/>
        </p:nvPicPr>
        <p:blipFill>
          <a:blip r:embed="rId3"/>
          <a:stretch>
            <a:fillRect/>
          </a:stretch>
        </p:blipFill>
        <p:spPr>
          <a:xfrm>
            <a:off x="8710879" y="1893722"/>
            <a:ext cx="373075" cy="373075"/>
          </a:xfrm>
          <a:prstGeom prst="rect">
            <a:avLst/>
          </a:prstGeom>
        </p:spPr>
      </p:pic>
      <p:sp>
        <p:nvSpPr>
          <p:cNvPr id="21" name="Text 16"/>
          <p:cNvSpPr txBox="1"/>
          <p:nvPr/>
        </p:nvSpPr>
        <p:spPr>
          <a:xfrm>
            <a:off x="8508797" y="2697480"/>
            <a:ext cx="2814218" cy="457200"/>
          </a:xfrm>
          <a:prstGeom prst="rect">
            <a:avLst/>
          </a:prstGeom>
          <a:noFill/>
          <a:ln/>
        </p:spPr>
        <p:txBody>
          <a:bodyPr wrap="square" lIns="0" tIns="0" rIns="0" bIns="0" rtlCol="0" anchor="t"/>
          <a:lstStyle/>
          <a:p>
            <a:pPr indent="0" marL="0">
              <a:buNone/>
            </a:pPr>
            <a:r>
              <a:rPr lang="en-US" sz="2000" b="1" dirty="0">
                <a:solidFill>
                  <a:srgbClr val="FFFFFF"/>
                </a:solidFill>
                <a:latin typeface="Calibri" pitchFamily="34" charset="0"/>
                <a:ea typeface="Calibri" pitchFamily="34" charset="-122"/>
                <a:cs typeface="Calibri" pitchFamily="34" charset="-120"/>
              </a:rPr>
              <a:t>When I get there,</a:t>
            </a:r>
            <a:endParaRPr lang="en-US" sz="2000" dirty="0"/>
          </a:p>
        </p:txBody>
      </p:sp>
      <p:sp>
        <p:nvSpPr>
          <p:cNvPr id="22" name="Text 17"/>
          <p:cNvSpPr txBox="1"/>
          <p:nvPr/>
        </p:nvSpPr>
        <p:spPr>
          <a:xfrm>
            <a:off x="8508797" y="3200400"/>
            <a:ext cx="2814218" cy="914400"/>
          </a:xfrm>
          <a:prstGeom prst="rect">
            <a:avLst/>
          </a:prstGeom>
          <a:noFill/>
          <a:ln/>
        </p:spPr>
        <p:txBody>
          <a:bodyPr wrap="square" lIns="0" tIns="0" rIns="0" bIns="0" rtlCol="0" anchor="t"/>
          <a:lstStyle/>
          <a:p>
            <a:pPr indent="0" marL="0">
              <a:buNone/>
            </a:pPr>
            <a:r>
              <a:rPr lang="en-US" sz="2000" dirty="0">
                <a:solidFill>
                  <a:srgbClr val="C6D3DF"/>
                </a:solidFill>
                <a:latin typeface="Calibri" pitchFamily="34" charset="0"/>
                <a:ea typeface="Calibri" pitchFamily="34" charset="-122"/>
                <a:cs typeface="Calibri" pitchFamily="34" charset="-120"/>
              </a:rPr>
              <a:t>can I see the genes?</a:t>
            </a:r>
            <a:endParaRPr lang="en-US" sz="2000" dirty="0"/>
          </a:p>
        </p:txBody>
      </p:sp>
      <p:sp>
        <p:nvSpPr>
          <p:cNvPr id="23" name="Text 18"/>
          <p:cNvSpPr txBox="1"/>
          <p:nvPr/>
        </p:nvSpPr>
        <p:spPr>
          <a:xfrm>
            <a:off x="8508797" y="4251960"/>
            <a:ext cx="2814218" cy="320040"/>
          </a:xfrm>
          <a:prstGeom prst="rect">
            <a:avLst/>
          </a:prstGeom>
          <a:noFill/>
          <a:ln/>
        </p:spPr>
        <p:txBody>
          <a:bodyPr wrap="square" lIns="0" tIns="0" rIns="0" bIns="0" rtlCol="0" anchor="t"/>
          <a:lstStyle/>
          <a:p>
            <a:pPr indent="0" marL="0">
              <a:buNone/>
            </a:pPr>
            <a:r>
              <a:rPr lang="en-US" sz="1400" dirty="0">
                <a:solidFill>
                  <a:srgbClr val="C6D3DF"/>
                </a:solidFill>
                <a:latin typeface="Calibri" pitchFamily="34" charset="0"/>
                <a:ea typeface="Calibri" pitchFamily="34" charset="-122"/>
                <a:cs typeface="Calibri" pitchFamily="34" charset="-120"/>
              </a:rPr>
              <a:t>the reference's tracks, over a chain built on the spot</a:t>
            </a:r>
            <a:endParaRPr lang="en-US" sz="1400" dirty="0"/>
          </a:p>
        </p:txBody>
      </p:sp>
      <p:sp>
        <p:nvSpPr>
          <p:cNvPr id="24" name="Text 19"/>
          <p:cNvSpPr txBox="1"/>
          <p:nvPr/>
        </p:nvSpPr>
        <p:spPr>
          <a:xfrm>
            <a:off x="8508797" y="4572000"/>
            <a:ext cx="2814218" cy="640080"/>
          </a:xfrm>
          <a:prstGeom prst="rect">
            <a:avLst/>
          </a:prstGeom>
          <a:noFill/>
          <a:ln/>
        </p:spPr>
        <p:txBody>
          <a:bodyPr wrap="square" lIns="0" tIns="0" rIns="0" bIns="0" rtlCol="0" anchor="ctr"/>
          <a:lstStyle/>
          <a:p>
            <a:pPr indent="0" marL="0">
              <a:buNone/>
            </a:pPr>
            <a:r>
              <a:rPr lang="en-US" sz="4000" b="1" dirty="0">
                <a:solidFill>
                  <a:srgbClr val="FDC700"/>
                </a:solidFill>
                <a:latin typeface="Calibri" pitchFamily="34" charset="0"/>
                <a:ea typeface="Calibri" pitchFamily="34" charset="-122"/>
                <a:cs typeface="Calibri" pitchFamily="34" charset="-120"/>
              </a:rPr>
              <a:t>yes</a:t>
            </a:r>
            <a:endParaRPr lang="en-US" sz="4000" dirty="0"/>
          </a:p>
        </p:txBody>
      </p:sp>
      <p:sp>
        <p:nvSpPr>
          <p:cNvPr id="25" name="Text 20"/>
          <p:cNvSpPr txBox="1"/>
          <p:nvPr/>
        </p:nvSpPr>
        <p:spPr>
          <a:xfrm>
            <a:off x="548640" y="5760720"/>
            <a:ext cx="11094415" cy="548640"/>
          </a:xfrm>
          <a:prstGeom prst="rect">
            <a:avLst/>
          </a:prstGeom>
          <a:noFill/>
          <a:ln/>
        </p:spPr>
        <p:txBody>
          <a:bodyPr wrap="square" lIns="0" tIns="0" rIns="0" bIns="0" rtlCol="0" anchor="ctr"/>
          <a:lstStyle/>
          <a:p>
            <a:pPr algn="ctr" indent="0" marL="0">
              <a:buNone/>
            </a:pPr>
            <a:r>
              <a:rPr lang="en-US" sz="2200" i="1" dirty="0">
                <a:solidFill>
                  <a:srgbClr val="FDC700"/>
                </a:solidFill>
                <a:latin typeface="Calibri" pitchFamily="34" charset="0"/>
                <a:ea typeface="Calibri" pitchFamily="34" charset="-122"/>
                <a:cs typeface="Calibri" pitchFamily="34" charset="-120"/>
              </a:rPr>
              <a:t>Live on the development browser today. Bring me your hardest region, and tell me where it breaks.</a:t>
            </a:r>
            <a:endParaRPr lang="en-US" sz="2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6294A"/>
        </a:solidFill>
      </p:bgPr>
    </p:bg>
    <p:spTree>
      <p:nvGrpSpPr>
        <p:cNvPr id="1" name=""/>
        <p:cNvGrpSpPr/>
        <p:nvPr/>
      </p:nvGrpSpPr>
      <p:grpSpPr>
        <a:xfrm>
          <a:off x="0" y="0"/>
          <a:ext cx="0" cy="0"/>
          <a:chOff x="0" y="0"/>
          <a:chExt cx="0" cy="0"/>
        </a:xfrm>
      </p:grpSpPr>
      <p:sp>
        <p:nvSpPr>
          <p:cNvPr id="2" name="Text 0"/>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3D5A7A"/>
                </a:solidFill>
                <a:latin typeface="Calibri" pitchFamily="34" charset="0"/>
                <a:ea typeface="Calibri" pitchFamily="34" charset="-122"/>
                <a:cs typeface="Calibri" pitchFamily="34" charset="-120"/>
              </a:rPr>
              <a:t>17</a:t>
            </a:r>
            <a:endParaRPr lang="en-US" sz="1000" dirty="0"/>
          </a:p>
        </p:txBody>
      </p:sp>
      <p:sp>
        <p:nvSpPr>
          <p:cNvPr id="3" name="Shape 1"/>
          <p:cNvSpPr/>
          <p:nvPr/>
        </p:nvSpPr>
        <p:spPr>
          <a:xfrm>
            <a:off x="0" y="2103120"/>
            <a:ext cx="12191695" cy="27432"/>
          </a:xfrm>
          <a:prstGeom prst="rect">
            <a:avLst/>
          </a:prstGeom>
          <a:solidFill>
            <a:srgbClr val="0E7C9C"/>
          </a:solidFill>
          <a:ln w="12700">
            <a:solidFill>
              <a:srgbClr val="0E7C9C"/>
            </a:solidFill>
            <a:prstDash val="solid"/>
          </a:ln>
        </p:spPr>
      </p:sp>
      <p:pic>
        <p:nvPicPr>
          <p:cNvPr id="4" name="Image 0" descr="/Users/seeskand/Documents/HPRC/2026/hprc_2026_poster/talk/figures/emblem2.png">    </p:cNvPr>
          <p:cNvPicPr>
            <a:picLocks noChangeAspect="1"/>
          </p:cNvPicPr>
          <p:nvPr/>
        </p:nvPicPr>
        <p:blipFill>
          <a:blip r:embed="rId1"/>
          <a:stretch>
            <a:fillRect/>
          </a:stretch>
        </p:blipFill>
        <p:spPr>
          <a:xfrm>
            <a:off x="6613855" y="1529397"/>
            <a:ext cx="5029200" cy="1174879"/>
          </a:xfrm>
          <a:prstGeom prst="rect">
            <a:avLst/>
          </a:prstGeom>
        </p:spPr>
      </p:pic>
      <p:pic>
        <p:nvPicPr>
          <p:cNvPr id="5" name="Image 1" descr="/Users/seeskand/Documents/HPRC/2026/hprc_2026_poster/talk/figures/hprc_logo.png">    </p:cNvPr>
          <p:cNvPicPr>
            <a:picLocks noChangeAspect="1"/>
          </p:cNvPicPr>
          <p:nvPr/>
        </p:nvPicPr>
        <p:blipFill>
          <a:blip r:embed="rId2"/>
          <a:stretch>
            <a:fillRect/>
          </a:stretch>
        </p:blipFill>
        <p:spPr>
          <a:xfrm>
            <a:off x="548640" y="411480"/>
            <a:ext cx="1280160" cy="1062774"/>
          </a:xfrm>
          <a:prstGeom prst="rect">
            <a:avLst/>
          </a:prstGeom>
        </p:spPr>
      </p:pic>
      <p:sp>
        <p:nvSpPr>
          <p:cNvPr id="6" name="Text 2"/>
          <p:cNvSpPr txBox="1"/>
          <p:nvPr/>
        </p:nvSpPr>
        <p:spPr>
          <a:xfrm>
            <a:off x="548640" y="2468880"/>
            <a:ext cx="5486400" cy="640080"/>
          </a:xfrm>
          <a:prstGeom prst="rect">
            <a:avLst/>
          </a:prstGeom>
          <a:noFill/>
          <a:ln/>
        </p:spPr>
        <p:txBody>
          <a:bodyPr wrap="square" lIns="0" tIns="0" rIns="0" bIns="0" rtlCol="0" anchor="t"/>
          <a:lstStyle/>
          <a:p>
            <a:pPr indent="0" marL="0">
              <a:buNone/>
            </a:pPr>
            <a:r>
              <a:rPr lang="en-US" sz="3200" b="1" dirty="0">
                <a:solidFill>
                  <a:srgbClr val="FFFFFF"/>
                </a:solidFill>
                <a:latin typeface="Calibri" pitchFamily="34" charset="0"/>
                <a:ea typeface="Calibri" pitchFamily="34" charset="-122"/>
                <a:cs typeface="Calibri" pitchFamily="34" charset="-120"/>
              </a:rPr>
              <a:t>Thank you</a:t>
            </a:r>
            <a:endParaRPr lang="en-US" sz="3200" dirty="0"/>
          </a:p>
        </p:txBody>
      </p:sp>
      <p:sp>
        <p:nvSpPr>
          <p:cNvPr id="7" name="Text 3"/>
          <p:cNvSpPr txBox="1"/>
          <p:nvPr/>
        </p:nvSpPr>
        <p:spPr>
          <a:xfrm>
            <a:off x="548640" y="3291840"/>
            <a:ext cx="5943600" cy="457200"/>
          </a:xfrm>
          <a:prstGeom prst="rect">
            <a:avLst/>
          </a:prstGeom>
          <a:noFill/>
          <a:ln/>
        </p:spPr>
        <p:txBody>
          <a:bodyPr wrap="square" lIns="0" tIns="0" rIns="0" bIns="0" rtlCol="0" anchor="t"/>
          <a:lstStyle/>
          <a:p>
            <a:pPr indent="0" marL="0">
              <a:buNone/>
            </a:pPr>
            <a:r>
              <a:rPr lang="en-US" sz="2200" dirty="0">
                <a:solidFill>
                  <a:srgbClr val="FDC700"/>
                </a:solidFill>
                <a:latin typeface="Courier New" pitchFamily="34" charset="0"/>
                <a:ea typeface="Courier New" pitchFamily="34" charset="-122"/>
                <a:cs typeface="Courier New" pitchFamily="34" charset="-120"/>
              </a:rPr>
              <a:t>seeskand@ucsc.edu</a:t>
            </a:r>
            <a:endParaRPr lang="en-US" sz="2200" dirty="0"/>
          </a:p>
        </p:txBody>
      </p:sp>
      <p:sp>
        <p:nvSpPr>
          <p:cNvPr id="8" name="Text 4"/>
          <p:cNvSpPr txBox="1"/>
          <p:nvPr/>
        </p:nvSpPr>
        <p:spPr>
          <a:xfrm>
            <a:off x="548640" y="3749040"/>
            <a:ext cx="6400800" cy="411480"/>
          </a:xfrm>
          <a:prstGeom prst="rect">
            <a:avLst/>
          </a:prstGeom>
          <a:noFill/>
          <a:ln/>
        </p:spPr>
        <p:txBody>
          <a:bodyPr wrap="square" lIns="0" tIns="0" rIns="0" bIns="0" rtlCol="0" anchor="t"/>
          <a:lstStyle/>
          <a:p>
            <a:pPr indent="0" marL="0">
              <a:buNone/>
            </a:pPr>
            <a:r>
              <a:rPr lang="en-US" sz="1700" dirty="0">
                <a:solidFill>
                  <a:srgbClr val="FDC700"/>
                </a:solidFill>
                <a:latin typeface="Courier New" pitchFamily="34" charset="0"/>
                <a:ea typeface="Courier New" pitchFamily="34" charset="-122"/>
                <a:cs typeface="Courier New" pitchFamily="34" charset="-120"/>
              </a:rPr>
              <a:t>github.com/parsaeskandar/hprc_2026_poster</a:t>
            </a:r>
            <a:endParaRPr lang="en-US" sz="1700" dirty="0"/>
          </a:p>
        </p:txBody>
      </p:sp>
      <p:sp>
        <p:nvSpPr>
          <p:cNvPr id="9" name="Text 5"/>
          <p:cNvSpPr txBox="1"/>
          <p:nvPr/>
        </p:nvSpPr>
        <p:spPr>
          <a:xfrm>
            <a:off x="548640" y="4206240"/>
            <a:ext cx="6400800" cy="365760"/>
          </a:xfrm>
          <a:prstGeom prst="rect">
            <a:avLst/>
          </a:prstGeom>
          <a:noFill/>
          <a:ln/>
        </p:spPr>
        <p:txBody>
          <a:bodyPr wrap="square" lIns="0" tIns="0" rIns="0" bIns="0" rtlCol="0" anchor="t"/>
          <a:lstStyle/>
          <a:p>
            <a:pPr indent="0" marL="0">
              <a:buNone/>
            </a:pPr>
            <a:r>
              <a:rPr lang="en-US" sz="1600" dirty="0">
                <a:solidFill>
                  <a:srgbClr val="C6D3DF"/>
                </a:solidFill>
                <a:latin typeface="Calibri" pitchFamily="34" charset="0"/>
                <a:ea typeface="Calibri" pitchFamily="34" charset="-122"/>
                <a:cs typeface="Calibri" pitchFamily="34" charset="-120"/>
              </a:rPr>
              <a:t>Poster, slides and figures are in the repository.</a:t>
            </a:r>
            <a:endParaRPr lang="en-US" sz="1600" dirty="0"/>
          </a:p>
        </p:txBody>
      </p:sp>
      <p:sp>
        <p:nvSpPr>
          <p:cNvPr id="10" name="Text 6"/>
          <p:cNvSpPr txBox="1"/>
          <p:nvPr/>
        </p:nvSpPr>
        <p:spPr>
          <a:xfrm>
            <a:off x="548640" y="4892040"/>
            <a:ext cx="11094415" cy="1554480"/>
          </a:xfrm>
          <a:prstGeom prst="rect">
            <a:avLst/>
          </a:prstGeom>
          <a:noFill/>
          <a:ln/>
        </p:spPr>
        <p:txBody>
          <a:bodyPr wrap="square" lIns="0" tIns="0" rIns="0" bIns="0" rtlCol="0" anchor="t"/>
          <a:lstStyle/>
          <a:p>
            <a:pPr indent="0" marL="0">
              <a:spcAft>
                <a:spcPts val="600"/>
              </a:spcAft>
              <a:buNone/>
            </a:pPr>
            <a:r>
              <a:rPr lang="en-US" sz="1800" dirty="0">
                <a:solidFill>
                  <a:srgbClr val="FFFFFF"/>
                </a:solidFill>
                <a:latin typeface="Calibri" pitchFamily="34" charset="0"/>
                <a:ea typeface="Calibri" pitchFamily="34" charset="-122"/>
                <a:cs typeface="Calibri" pitchFamily="34" charset="-120"/>
              </a:rPr>
              <a:t>Jouni Sirén  •  Benedict Paten</a:t>
            </a:r>
            <a:endParaRPr lang="en-US" sz="1800" dirty="0"/>
          </a:p>
          <a:p>
            <a:pPr indent="0" marL="0">
              <a:spcAft>
                <a:spcPts val="600"/>
              </a:spcAft>
              <a:buNone/>
            </a:pPr>
            <a:r>
              <a:rPr lang="en-US" sz="1600" dirty="0">
                <a:solidFill>
                  <a:srgbClr val="C6D3DF"/>
                </a:solidFill>
                <a:latin typeface="Calibri" pitchFamily="34" charset="0"/>
                <a:ea typeface="Calibri" pitchFamily="34" charset="-122"/>
                <a:cs typeface="Calibri" pitchFamily="34" charset="-120"/>
              </a:rPr>
              <a:t>UC Santa Cruz Computational Genomics Lab: Adam Novak, Glenn Hickey, Zia Truong, Mark Diekhans</a:t>
            </a:r>
            <a:endParaRPr lang="en-US" sz="1800" dirty="0"/>
          </a:p>
          <a:p>
            <a:pPr indent="0" marL="0">
              <a:spcAft>
                <a:spcPts val="600"/>
              </a:spcAft>
              <a:buNone/>
            </a:pPr>
            <a:r>
              <a:rPr lang="en-US" sz="1600" dirty="0">
                <a:solidFill>
                  <a:srgbClr val="C6D3DF"/>
                </a:solidFill>
                <a:latin typeface="Calibri" pitchFamily="34" charset="0"/>
                <a:ea typeface="Calibri" pitchFamily="34" charset="-122"/>
                <a:cs typeface="Calibri" pitchFamily="34" charset="-120"/>
              </a:rPr>
              <a:t>The UCSC Genome Browser team  •  The Human Pangenome Reference Consortium</a:t>
            </a:r>
            <a:endParaRPr lang="en-US" sz="1800" dirty="0"/>
          </a:p>
          <a:p>
            <a:pPr indent="0" marL="0">
              <a:spcAft>
                <a:spcPts val="600"/>
              </a:spcAft>
              <a:buNone/>
            </a:pPr>
            <a:r>
              <a:rPr lang="en-US" sz="1600" dirty="0">
                <a:solidFill>
                  <a:srgbClr val="C6D3DF"/>
                </a:solidFill>
                <a:latin typeface="Calibri" pitchFamily="34" charset="0"/>
                <a:ea typeface="Calibri" pitchFamily="34" charset="-122"/>
                <a:cs typeface="Calibri" pitchFamily="34" charset="-120"/>
              </a:rPr>
              <a:t>Built on vg and the HPRC v2.0 graph</a:t>
            </a:r>
            <a:endParaRPr lang="en-US" sz="1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6294A"/>
        </a:solidFill>
      </p:bgPr>
    </p:bg>
    <p:spTree>
      <p:nvGrpSpPr>
        <p:cNvPr id="1" name=""/>
        <p:cNvGrpSpPr/>
        <p:nvPr/>
      </p:nvGrpSpPr>
      <p:grpSpPr>
        <a:xfrm>
          <a:off x="0" y="0"/>
          <a:ext cx="0" cy="0"/>
          <a:chOff x="0" y="0"/>
          <a:chExt cx="0" cy="0"/>
        </a:xfrm>
      </p:grpSpPr>
      <p:sp>
        <p:nvSpPr>
          <p:cNvPr id="2" name="Text 0"/>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3D5A7A"/>
                </a:solidFill>
                <a:latin typeface="Calibri" pitchFamily="34" charset="0"/>
                <a:ea typeface="Calibri" pitchFamily="34" charset="-122"/>
                <a:cs typeface="Calibri" pitchFamily="34" charset="-120"/>
              </a:rPr>
              <a:t>18</a:t>
            </a:r>
            <a:endParaRPr lang="en-US" sz="1000" dirty="0"/>
          </a:p>
        </p:txBody>
      </p:sp>
      <p:sp>
        <p:nvSpPr>
          <p:cNvPr id="3" name="Shape 1"/>
          <p:cNvSpPr/>
          <p:nvPr/>
        </p:nvSpPr>
        <p:spPr>
          <a:xfrm>
            <a:off x="5394960" y="3063240"/>
            <a:ext cx="45720" cy="685800"/>
          </a:xfrm>
          <a:prstGeom prst="rect">
            <a:avLst/>
          </a:prstGeom>
          <a:solidFill>
            <a:srgbClr val="FDC700"/>
          </a:solidFill>
          <a:ln w="12700">
            <a:solidFill>
              <a:srgbClr val="FDC700"/>
            </a:solidFill>
            <a:prstDash val="solid"/>
          </a:ln>
        </p:spPr>
      </p:sp>
      <p:sp>
        <p:nvSpPr>
          <p:cNvPr id="4" name="Text 2"/>
          <p:cNvSpPr txBox="1"/>
          <p:nvPr/>
        </p:nvSpPr>
        <p:spPr>
          <a:xfrm>
            <a:off x="5623560" y="3017520"/>
            <a:ext cx="3657600" cy="777240"/>
          </a:xfrm>
          <a:prstGeom prst="rect">
            <a:avLst/>
          </a:prstGeom>
          <a:noFill/>
          <a:ln/>
        </p:spPr>
        <p:txBody>
          <a:bodyPr wrap="square" lIns="0" tIns="0" rIns="0" bIns="0" rtlCol="0" anchor="ctr"/>
          <a:lstStyle/>
          <a:p>
            <a:pPr indent="0" marL="0">
              <a:buNone/>
            </a:pPr>
            <a:r>
              <a:rPr lang="en-US" sz="3200" b="1" dirty="0">
                <a:solidFill>
                  <a:srgbClr val="FFFFFF"/>
                </a:solidFill>
                <a:latin typeface="Calibri" pitchFamily="34" charset="0"/>
                <a:ea typeface="Calibri" pitchFamily="34" charset="-122"/>
                <a:cs typeface="Calibri" pitchFamily="34" charset="-120"/>
              </a:rPr>
              <a:t>Backup</a:t>
            </a:r>
            <a:endParaRPr lang="en-US" sz="3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Backup: anchors and blocks, precisely</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19</a:t>
            </a:r>
            <a:endParaRPr lang="en-US" sz="1000" dirty="0"/>
          </a:p>
        </p:txBody>
      </p:sp>
      <p:sp>
        <p:nvSpPr>
          <p:cNvPr id="4" name="Shape 2"/>
          <p:cNvSpPr/>
          <p:nvPr/>
        </p:nvSpPr>
        <p:spPr>
          <a:xfrm>
            <a:off x="548640" y="1325880"/>
            <a:ext cx="5364328" cy="3931920"/>
          </a:xfrm>
          <a:prstGeom prst="roundRect">
            <a:avLst>
              <a:gd name="adj" fmla="val 2791"/>
            </a:avLst>
          </a:prstGeom>
          <a:solidFill>
            <a:srgbClr val="EDF1F6"/>
          </a:solidFill>
          <a:ln w="12700">
            <a:solidFill>
              <a:srgbClr val="DCE3EB"/>
            </a:solidFill>
            <a:prstDash val="solid"/>
          </a:ln>
        </p:spPr>
      </p:sp>
      <p:sp>
        <p:nvSpPr>
          <p:cNvPr id="5" name="Shape 3"/>
          <p:cNvSpPr/>
          <p:nvPr/>
        </p:nvSpPr>
        <p:spPr>
          <a:xfrm>
            <a:off x="6278728" y="1325880"/>
            <a:ext cx="5364328" cy="3931920"/>
          </a:xfrm>
          <a:prstGeom prst="roundRect">
            <a:avLst>
              <a:gd name="adj" fmla="val 2791"/>
            </a:avLst>
          </a:prstGeom>
          <a:solidFill>
            <a:srgbClr val="EDF1F6"/>
          </a:solidFill>
          <a:ln w="12700">
            <a:solidFill>
              <a:srgbClr val="DCE3EB"/>
            </a:solidFill>
            <a:prstDash val="solid"/>
          </a:ln>
        </p:spPr>
      </p:sp>
      <p:sp>
        <p:nvSpPr>
          <p:cNvPr id="6" name="Text 4"/>
          <p:cNvSpPr txBox="1"/>
          <p:nvPr/>
        </p:nvSpPr>
        <p:spPr>
          <a:xfrm>
            <a:off x="868680" y="1600200"/>
            <a:ext cx="4724248" cy="457200"/>
          </a:xfrm>
          <a:prstGeom prst="rect">
            <a:avLst/>
          </a:prstGeom>
          <a:noFill/>
          <a:ln/>
        </p:spPr>
        <p:txBody>
          <a:bodyPr wrap="square" lIns="0" tIns="0" rIns="0" bIns="0" rtlCol="0" anchor="t"/>
          <a:lstStyle/>
          <a:p>
            <a:pPr indent="0" marL="0">
              <a:buNone/>
            </a:pPr>
            <a:r>
              <a:rPr lang="en-US" sz="2200" b="1" dirty="0">
                <a:solidFill>
                  <a:srgbClr val="003C6C"/>
                </a:solidFill>
                <a:latin typeface="Calibri" pitchFamily="34" charset="0"/>
                <a:ea typeface="Calibri" pitchFamily="34" charset="-122"/>
                <a:cs typeface="Calibri" pitchFamily="34" charset="-120"/>
              </a:rPr>
              <a:t>Anchors</a:t>
            </a:r>
            <a:endParaRPr lang="en-US" sz="2200" dirty="0"/>
          </a:p>
        </p:txBody>
      </p:sp>
      <p:sp>
        <p:nvSpPr>
          <p:cNvPr id="7" name="Text 5"/>
          <p:cNvSpPr txBox="1"/>
          <p:nvPr/>
        </p:nvSpPr>
        <p:spPr>
          <a:xfrm>
            <a:off x="868680" y="2194560"/>
            <a:ext cx="4724248" cy="2926080"/>
          </a:xfrm>
          <a:prstGeom prst="rect">
            <a:avLst/>
          </a:prstGeom>
          <a:noFill/>
          <a:ln/>
        </p:spPr>
        <p:txBody>
          <a:bodyPr wrap="square" lIns="0" tIns="0" rIns="0" bIns="0" rtlCol="0" anchor="t"/>
          <a:lstStyle/>
          <a:p>
            <a:pPr marL="203200" indent="-203200">
              <a:spcAft>
                <a:spcPts val="900"/>
              </a:spcAft>
              <a:buSzPct val="100000"/>
              <a:buChar char="•"/>
            </a:pPr>
            <a:r>
              <a:rPr lang="en-US" sz="1600" dirty="0">
                <a:solidFill>
                  <a:srgbClr val="18293B"/>
                </a:solidFill>
                <a:latin typeface="Calibri" pitchFamily="34" charset="0"/>
                <a:ea typeface="Calibri" pitchFamily="34" charset="-122"/>
                <a:cs typeface="Calibri" pitchFamily="34" charset="-120"/>
              </a:rPr>
              <a:t>A node visited exactly once by the source path and exactly once by the target path is an unambiguous anchor with respect to the graph's alignment: our procedure cannot create a false one; a paralogy collapsed in the graph still can.</a:t>
            </a:r>
            <a:endParaRPr lang="en-US" sz="1600" dirty="0"/>
          </a:p>
          <a:p>
            <a:pPr marL="203200" indent="-203200">
              <a:spcAft>
                <a:spcPts val="900"/>
              </a:spcAft>
              <a:buSzPct val="100000"/>
              <a:buChar char="•"/>
            </a:pPr>
            <a:r>
              <a:rPr lang="en-US" sz="1600" dirty="0">
                <a:solidFill>
                  <a:srgbClr val="18293B"/>
                </a:solidFill>
                <a:latin typeface="Calibri" pitchFamily="34" charset="0"/>
                <a:ea typeface="Calibri" pitchFamily="34" charset="-122"/>
                <a:cs typeface="Calibri" pitchFamily="34" charset="-120"/>
              </a:rPr>
              <a:t>A colinearity gate rejects anchor pairs whose target span is wildly inconsistent with the source span.</a:t>
            </a:r>
            <a:endParaRPr lang="en-US" sz="1600" dirty="0"/>
          </a:p>
          <a:p>
            <a:pPr marL="203200" indent="-203200">
              <a:spcAft>
                <a:spcPts val="900"/>
              </a:spcAft>
              <a:buSzPct val="100000"/>
              <a:buChar char="•"/>
            </a:pPr>
            <a:r>
              <a:rPr lang="en-US" sz="1600" dirty="0">
                <a:solidFill>
                  <a:srgbClr val="18293B"/>
                </a:solidFill>
                <a:latin typeface="Calibri" pitchFamily="34" charset="0"/>
                <a:ea typeface="Calibri" pitchFamily="34" charset="-122"/>
                <a:cs typeface="Calibri" pitchFamily="34" charset="-120"/>
              </a:rPr>
              <a:t>The failure mode in hard regions is missing positions, never wrong ones.</a:t>
            </a:r>
            <a:endParaRPr lang="en-US" sz="1600" dirty="0"/>
          </a:p>
        </p:txBody>
      </p:sp>
      <p:sp>
        <p:nvSpPr>
          <p:cNvPr id="8" name="Text 6"/>
          <p:cNvSpPr txBox="1"/>
          <p:nvPr/>
        </p:nvSpPr>
        <p:spPr>
          <a:xfrm>
            <a:off x="6598768" y="1600200"/>
            <a:ext cx="4724248" cy="457200"/>
          </a:xfrm>
          <a:prstGeom prst="rect">
            <a:avLst/>
          </a:prstGeom>
          <a:noFill/>
          <a:ln/>
        </p:spPr>
        <p:txBody>
          <a:bodyPr wrap="square" lIns="0" tIns="0" rIns="0" bIns="0" rtlCol="0" anchor="t"/>
          <a:lstStyle/>
          <a:p>
            <a:pPr indent="0" marL="0">
              <a:buNone/>
            </a:pPr>
            <a:r>
              <a:rPr lang="en-US" sz="2200" b="1" dirty="0">
                <a:solidFill>
                  <a:srgbClr val="003C6C"/>
                </a:solidFill>
                <a:latin typeface="Calibri" pitchFamily="34" charset="0"/>
                <a:ea typeface="Calibri" pitchFamily="34" charset="-122"/>
                <a:cs typeface="Calibri" pitchFamily="34" charset="-120"/>
              </a:rPr>
              <a:t>Blocks and chains</a:t>
            </a:r>
            <a:endParaRPr lang="en-US" sz="2200" dirty="0"/>
          </a:p>
        </p:txBody>
      </p:sp>
      <p:sp>
        <p:nvSpPr>
          <p:cNvPr id="9" name="Text 7"/>
          <p:cNvSpPr txBox="1"/>
          <p:nvPr/>
        </p:nvSpPr>
        <p:spPr>
          <a:xfrm>
            <a:off x="6598768" y="2194560"/>
            <a:ext cx="4724248" cy="2926080"/>
          </a:xfrm>
          <a:prstGeom prst="rect">
            <a:avLst/>
          </a:prstGeom>
          <a:noFill/>
          <a:ln/>
        </p:spPr>
        <p:txBody>
          <a:bodyPr wrap="square" lIns="0" tIns="0" rIns="0" bIns="0" rtlCol="0" anchor="t"/>
          <a:lstStyle/>
          <a:p>
            <a:pPr marL="203200" indent="-203200">
              <a:spcAft>
                <a:spcPts val="900"/>
              </a:spcAft>
              <a:buSzPct val="100000"/>
              <a:buChar char="•"/>
            </a:pPr>
            <a:r>
              <a:rPr lang="en-US" sz="1600" dirty="0">
                <a:solidFill>
                  <a:srgbClr val="18293B"/>
                </a:solidFill>
                <a:latin typeface="Calibri" pitchFamily="34" charset="0"/>
                <a:ea typeface="Calibri" pitchFamily="34" charset="-122"/>
                <a:cs typeface="Calibri" pitchFamily="34" charset="-120"/>
              </a:rPr>
              <a:t>An LF-walk between anchors emits a per-base correspondence.</a:t>
            </a:r>
            <a:endParaRPr lang="en-US" sz="1600" dirty="0"/>
          </a:p>
          <a:p>
            <a:pPr marL="203200" indent="-203200">
              <a:spcAft>
                <a:spcPts val="900"/>
              </a:spcAft>
              <a:buSzPct val="100000"/>
              <a:buChar char="•"/>
            </a:pPr>
            <a:r>
              <a:rPr lang="en-US" sz="1600" dirty="0">
                <a:solidFill>
                  <a:srgbClr val="18293B"/>
                </a:solidFill>
                <a:latin typeface="Calibri" pitchFamily="34" charset="0"/>
                <a:ea typeface="Calibri" pitchFamily="34" charset="-122"/>
                <a:cs typeface="Calibri" pitchFamily="34" charset="-120"/>
              </a:rPr>
              <a:t>A block is a maximal run of constant offset: it breaks on indels, never on substitutions. Orientation flips and non-colinear jumps start a new chain.</a:t>
            </a:r>
            <a:endParaRPr lang="en-US" sz="1600" dirty="0"/>
          </a:p>
          <a:p>
            <a:pPr marL="203200" indent="-203200">
              <a:spcAft>
                <a:spcPts val="900"/>
              </a:spcAft>
              <a:buSzPct val="100000"/>
              <a:buChar char="•"/>
            </a:pPr>
            <a:r>
              <a:rPr lang="en-US" sz="1600" dirty="0">
                <a:solidFill>
                  <a:srgbClr val="18293B"/>
                </a:solidFill>
                <a:latin typeface="Calibri" pitchFamily="34" charset="0"/>
                <a:ea typeface="Calibri" pitchFamily="34" charset="-122"/>
                <a:cs typeface="Calibri" pitchFamily="34" charset="-120"/>
              </a:rPr>
              <a:t>Blocks are 0-based, half-open, and become bigChain + bigLink files the browser's QuickLift draws directly.</a:t>
            </a:r>
            <a:endParaRPr lang="en-US" sz="16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Backup: chains that keep up with panning</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20</a:t>
            </a:r>
            <a:endParaRPr lang="en-US" sz="1000" dirty="0"/>
          </a:p>
        </p:txBody>
      </p:sp>
      <p:sp>
        <p:nvSpPr>
          <p:cNvPr id="4" name="Text 2"/>
          <p:cNvSpPr txBox="1"/>
          <p:nvPr/>
        </p:nvSpPr>
        <p:spPr>
          <a:xfrm>
            <a:off x="548640" y="1417320"/>
            <a:ext cx="5394960" cy="4389120"/>
          </a:xfrm>
          <a:prstGeom prst="rect">
            <a:avLst/>
          </a:prstGeom>
          <a:noFill/>
          <a:ln/>
        </p:spPr>
        <p:txBody>
          <a:bodyPr wrap="square" lIns="0" tIns="0" rIns="0" bIns="0" rtlCol="0" anchor="t"/>
          <a:lstStyle/>
          <a:p>
            <a:pPr marL="203200" indent="-203200">
              <a:spcAft>
                <a:spcPts val="900"/>
              </a:spcAft>
              <a:buSzPct val="100000"/>
              <a:buChar char="•"/>
            </a:pPr>
            <a:r>
              <a:rPr lang="en-US" sz="1700" dirty="0">
                <a:solidFill>
                  <a:srgbClr val="18293B"/>
                </a:solidFill>
                <a:latin typeface="Calibri" pitchFamily="34" charset="0"/>
                <a:ea typeface="Calibri" pitchFamily="34" charset="-122"/>
                <a:cs typeface="Calibri" pitchFamily="34" charset="-120"/>
              </a:rPr>
              <a:t>The request is padded to 5x its span (250 kb to 1 Mb) before the chain is built, so a gene-sized view gets a ~1 Mb chain.</a:t>
            </a:r>
            <a:endParaRPr lang="en-US" sz="1700" dirty="0"/>
          </a:p>
          <a:p>
            <a:pPr marL="203200" indent="-203200">
              <a:spcAft>
                <a:spcPts val="900"/>
              </a:spcAft>
              <a:buSzPct val="100000"/>
              <a:buChar char="•"/>
            </a:pPr>
            <a:r>
              <a:rPr lang="en-US" sz="1700" dirty="0">
                <a:solidFill>
                  <a:srgbClr val="18293B"/>
                </a:solidFill>
                <a:latin typeface="Calibri" pitchFamily="34" charset="0"/>
                <a:ea typeface="Calibri" pitchFamily="34" charset="-122"/>
                <a:cs typeface="Calibri" pitchFamily="34" charset="-120"/>
              </a:rPr>
              <a:t>As the page navigates, the server rebuilds the same chain at +/-5 Mb in the background (about 11 s, off the user's path). The browser reopens the chain file on every request, so the next pan picks it up with no reload.</a:t>
            </a:r>
            <a:endParaRPr lang="en-US" sz="1700" dirty="0"/>
          </a:p>
          <a:p>
            <a:pPr marL="203200" indent="-203200">
              <a:spcAft>
                <a:spcPts val="900"/>
              </a:spcAft>
              <a:buSzPct val="100000"/>
              <a:buChar char="•"/>
            </a:pPr>
            <a:r>
              <a:rPr lang="en-US" sz="1700" dirty="0">
                <a:solidFill>
                  <a:srgbClr val="18293B"/>
                </a:solidFill>
                <a:latin typeface="Calibri" pitchFamily="34" charset="0"/>
                <a:ea typeface="Calibri" pitchFamily="34" charset="-122"/>
                <a:cs typeface="Calibri" pitchFamily="34" charset="-120"/>
              </a:rPr>
              <a:t>Lifted gene items visible 4 Mb from the conversion: 1 with the first chain, 31 with the widened one.</a:t>
            </a:r>
            <a:endParaRPr lang="en-US" sz="1700" dirty="0"/>
          </a:p>
        </p:txBody>
      </p:sp>
      <p:graphicFrame>
        <p:nvGraphicFramePr>
          <p:cNvPr id="5" name="Chart 0" descr=""/>
          <p:cNvGraphicFramePr/>
          <p:nvPr/>
        </p:nvGraphicFramePr>
        <p:xfrm>
          <a:off x="6309360" y="1325880"/>
          <a:ext cx="5333695" cy="4480560"/>
        </p:xfrm>
        <a:graphic xmlns:a="http://schemas.openxmlformats.org/drawingml/2006/main">
          <a:graphicData uri="http://schemas.openxmlformats.org/drawingml/2006/chart">
            <c:chart xmlns:c="http://schemas.openxmlformats.org/drawingml/2006/chart" r:id="rId1"/>
          </a:graphicData>
        </a:graphic>
      </p:graphicFrame>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991295" cy="713232"/>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Backup: by the numbers</a:t>
            </a:r>
            <a:endParaRPr lang="en-US" sz="3200" dirty="0"/>
          </a:p>
        </p:txBody>
      </p:sp>
      <p:sp>
        <p:nvSpPr>
          <p:cNvPr id="3" name="Text 1"/>
          <p:cNvSpPr txBox="1"/>
          <p:nvPr/>
        </p:nvSpPr>
        <p:spPr>
          <a:xfrm>
            <a:off x="11185855" y="6446520"/>
            <a:ext cx="457200" cy="274320"/>
          </a:xfrm>
          <a:prstGeom prst="rect">
            <a:avLst/>
          </a:prstGeom>
          <a:noFill/>
          <a:ln/>
        </p:spPr>
        <p:txBody>
          <a:bodyPr wrap="square" lIns="0" tIns="0" rIns="0" bIns="0" rtlCol="0" anchor="ctr"/>
          <a:lstStyle/>
          <a:p>
            <a:pPr algn="r" indent="0" marL="0">
              <a:buNone/>
            </a:pPr>
            <a:r>
              <a:rPr lang="en-US" sz="1000" dirty="0">
                <a:solidFill>
                  <a:srgbClr val="D9E1E9"/>
                </a:solidFill>
                <a:latin typeface="Calibri" pitchFamily="34" charset="0"/>
                <a:ea typeface="Calibri" pitchFamily="34" charset="-122"/>
                <a:cs typeface="Calibri" pitchFamily="34" charset="-120"/>
              </a:rPr>
              <a:t>21</a:t>
            </a:r>
            <a:endParaRPr lang="en-US" sz="1000" dirty="0"/>
          </a:p>
        </p:txBody>
      </p:sp>
      <p:sp>
        <p:nvSpPr>
          <p:cNvPr id="4" name="Shape 2"/>
          <p:cNvSpPr/>
          <p:nvPr/>
        </p:nvSpPr>
        <p:spPr>
          <a:xfrm>
            <a:off x="548640" y="1325880"/>
            <a:ext cx="2567864" cy="2148840"/>
          </a:xfrm>
          <a:prstGeom prst="roundRect">
            <a:avLst>
              <a:gd name="adj" fmla="val 5106"/>
            </a:avLst>
          </a:prstGeom>
          <a:solidFill>
            <a:srgbClr val="EDF1F6"/>
          </a:solidFill>
          <a:ln w="12700">
            <a:solidFill>
              <a:srgbClr val="DCE3EB"/>
            </a:solidFill>
            <a:prstDash val="solid"/>
          </a:ln>
        </p:spPr>
      </p:sp>
      <p:sp>
        <p:nvSpPr>
          <p:cNvPr id="5" name="Text 3"/>
          <p:cNvSpPr txBox="1"/>
          <p:nvPr/>
        </p:nvSpPr>
        <p:spPr>
          <a:xfrm>
            <a:off x="548640" y="1645920"/>
            <a:ext cx="2567864" cy="731520"/>
          </a:xfrm>
          <a:prstGeom prst="rect">
            <a:avLst/>
          </a:prstGeom>
          <a:noFill/>
          <a:ln/>
        </p:spPr>
        <p:txBody>
          <a:bodyPr wrap="square" lIns="0" tIns="0" rIns="0" bIns="0" rtlCol="0" anchor="ctr"/>
          <a:lstStyle/>
          <a:p>
            <a:pPr algn="ctr" indent="0" marL="0">
              <a:buNone/>
            </a:pPr>
            <a:r>
              <a:rPr lang="en-US" sz="3200" b="1" dirty="0">
                <a:solidFill>
                  <a:srgbClr val="003C6C"/>
                </a:solidFill>
                <a:latin typeface="Calibri" pitchFamily="34" charset="0"/>
                <a:ea typeface="Calibri" pitchFamily="34" charset="-122"/>
                <a:cs typeface="Calibri" pitchFamily="34" charset="-120"/>
              </a:rPr>
              <a:t>148M</a:t>
            </a:r>
            <a:endParaRPr lang="en-US" sz="3200" dirty="0"/>
          </a:p>
        </p:txBody>
      </p:sp>
      <p:sp>
        <p:nvSpPr>
          <p:cNvPr id="6" name="Text 4"/>
          <p:cNvSpPr txBox="1"/>
          <p:nvPr/>
        </p:nvSpPr>
        <p:spPr>
          <a:xfrm>
            <a:off x="777240" y="2468880"/>
            <a:ext cx="2110664" cy="914400"/>
          </a:xfrm>
          <a:prstGeom prst="rect">
            <a:avLst/>
          </a:prstGeom>
          <a:noFill/>
          <a:ln/>
        </p:spPr>
        <p:txBody>
          <a:bodyPr wrap="square" lIns="0" tIns="0" rIns="0" bIns="0" rtlCol="0" anchor="t"/>
          <a:lstStyle/>
          <a:p>
            <a:pPr algn="ctr" indent="0" marL="0">
              <a:buNone/>
            </a:pPr>
            <a:r>
              <a:rPr lang="en-US" sz="1600" dirty="0">
                <a:solidFill>
                  <a:srgbClr val="5B6B7C"/>
                </a:solidFill>
                <a:latin typeface="Calibri" pitchFamily="34" charset="0"/>
                <a:ea typeface="Calibri" pitchFamily="34" charset="-122"/>
                <a:cs typeface="Calibri" pitchFamily="34" charset="-120"/>
              </a:rPr>
              <a:t>nodes in the HPRC v2.0 Minigraph-Cactus graph</a:t>
            </a:r>
            <a:endParaRPr lang="en-US" sz="1600" dirty="0"/>
          </a:p>
        </p:txBody>
      </p:sp>
      <p:sp>
        <p:nvSpPr>
          <p:cNvPr id="7" name="Shape 5"/>
          <p:cNvSpPr/>
          <p:nvPr/>
        </p:nvSpPr>
        <p:spPr>
          <a:xfrm>
            <a:off x="3390824" y="1325880"/>
            <a:ext cx="2567864" cy="2148840"/>
          </a:xfrm>
          <a:prstGeom prst="roundRect">
            <a:avLst>
              <a:gd name="adj" fmla="val 5106"/>
            </a:avLst>
          </a:prstGeom>
          <a:solidFill>
            <a:srgbClr val="EDF1F6"/>
          </a:solidFill>
          <a:ln w="12700">
            <a:solidFill>
              <a:srgbClr val="DCE3EB"/>
            </a:solidFill>
            <a:prstDash val="solid"/>
          </a:ln>
        </p:spPr>
      </p:sp>
      <p:sp>
        <p:nvSpPr>
          <p:cNvPr id="8" name="Text 6"/>
          <p:cNvSpPr txBox="1"/>
          <p:nvPr/>
        </p:nvSpPr>
        <p:spPr>
          <a:xfrm>
            <a:off x="3390824" y="1645920"/>
            <a:ext cx="2567864" cy="731520"/>
          </a:xfrm>
          <a:prstGeom prst="rect">
            <a:avLst/>
          </a:prstGeom>
          <a:noFill/>
          <a:ln/>
        </p:spPr>
        <p:txBody>
          <a:bodyPr wrap="square" lIns="0" tIns="0" rIns="0" bIns="0" rtlCol="0" anchor="ctr"/>
          <a:lstStyle/>
          <a:p>
            <a:pPr algn="ctr" indent="0" marL="0">
              <a:buNone/>
            </a:pPr>
            <a:r>
              <a:rPr lang="en-US" sz="3200" b="1" dirty="0">
                <a:solidFill>
                  <a:srgbClr val="003C6C"/>
                </a:solidFill>
                <a:latin typeface="Calibri" pitchFamily="34" charset="0"/>
                <a:ea typeface="Calibri" pitchFamily="34" charset="-122"/>
                <a:cs typeface="Calibri" pitchFamily="34" charset="-120"/>
              </a:rPr>
              <a:t>464</a:t>
            </a:r>
            <a:endParaRPr lang="en-US" sz="3200" dirty="0"/>
          </a:p>
        </p:txBody>
      </p:sp>
      <p:sp>
        <p:nvSpPr>
          <p:cNvPr id="9" name="Text 7"/>
          <p:cNvSpPr txBox="1"/>
          <p:nvPr/>
        </p:nvSpPr>
        <p:spPr>
          <a:xfrm>
            <a:off x="3619424" y="2468880"/>
            <a:ext cx="2110664" cy="914400"/>
          </a:xfrm>
          <a:prstGeom prst="rect">
            <a:avLst/>
          </a:prstGeom>
          <a:noFill/>
          <a:ln/>
        </p:spPr>
        <p:txBody>
          <a:bodyPr wrap="square" lIns="0" tIns="0" rIns="0" bIns="0" rtlCol="0" anchor="t"/>
          <a:lstStyle/>
          <a:p>
            <a:pPr algn="ctr" indent="0" marL="0">
              <a:buNone/>
            </a:pPr>
            <a:r>
              <a:rPr lang="en-US" sz="1600" dirty="0">
                <a:solidFill>
                  <a:srgbClr val="5B6B7C"/>
                </a:solidFill>
                <a:latin typeface="Calibri" pitchFamily="34" charset="0"/>
                <a:ea typeface="Calibri" pitchFamily="34" charset="-122"/>
                <a:cs typeface="Calibri" pitchFamily="34" charset="-120"/>
              </a:rPr>
              <a:t>haplotypes indexed, CHM13 and GRCh38 included</a:t>
            </a:r>
            <a:endParaRPr lang="en-US" sz="1600" dirty="0"/>
          </a:p>
        </p:txBody>
      </p:sp>
      <p:sp>
        <p:nvSpPr>
          <p:cNvPr id="10" name="Shape 8"/>
          <p:cNvSpPr/>
          <p:nvPr/>
        </p:nvSpPr>
        <p:spPr>
          <a:xfrm>
            <a:off x="6233008" y="1325880"/>
            <a:ext cx="2567864" cy="2148840"/>
          </a:xfrm>
          <a:prstGeom prst="roundRect">
            <a:avLst>
              <a:gd name="adj" fmla="val 5106"/>
            </a:avLst>
          </a:prstGeom>
          <a:solidFill>
            <a:srgbClr val="EDF1F6"/>
          </a:solidFill>
          <a:ln w="12700">
            <a:solidFill>
              <a:srgbClr val="DCE3EB"/>
            </a:solidFill>
            <a:prstDash val="solid"/>
          </a:ln>
        </p:spPr>
      </p:sp>
      <p:sp>
        <p:nvSpPr>
          <p:cNvPr id="11" name="Text 9"/>
          <p:cNvSpPr txBox="1"/>
          <p:nvPr/>
        </p:nvSpPr>
        <p:spPr>
          <a:xfrm>
            <a:off x="6233008" y="1645920"/>
            <a:ext cx="2567864" cy="731520"/>
          </a:xfrm>
          <a:prstGeom prst="rect">
            <a:avLst/>
          </a:prstGeom>
          <a:noFill/>
          <a:ln/>
        </p:spPr>
        <p:txBody>
          <a:bodyPr wrap="square" lIns="0" tIns="0" rIns="0" bIns="0" rtlCol="0" anchor="ctr"/>
          <a:lstStyle/>
          <a:p>
            <a:pPr algn="ctr" indent="0" marL="0">
              <a:buNone/>
            </a:pPr>
            <a:r>
              <a:rPr lang="en-US" sz="3200" b="1" dirty="0">
                <a:solidFill>
                  <a:srgbClr val="0E7C9C"/>
                </a:solidFill>
                <a:latin typeface="Calibri" pitchFamily="34" charset="0"/>
                <a:ea typeface="Calibri" pitchFamily="34" charset="-122"/>
                <a:cs typeface="Calibri" pitchFamily="34" charset="-120"/>
              </a:rPr>
              <a:t>~11 GB</a:t>
            </a:r>
            <a:endParaRPr lang="en-US" sz="3200" dirty="0"/>
          </a:p>
        </p:txBody>
      </p:sp>
      <p:sp>
        <p:nvSpPr>
          <p:cNvPr id="12" name="Text 10"/>
          <p:cNvSpPr txBox="1"/>
          <p:nvPr/>
        </p:nvSpPr>
        <p:spPr>
          <a:xfrm>
            <a:off x="6461608" y="2468880"/>
            <a:ext cx="2110664" cy="914400"/>
          </a:xfrm>
          <a:prstGeom prst="rect">
            <a:avLst/>
          </a:prstGeom>
          <a:noFill/>
          <a:ln/>
        </p:spPr>
        <p:txBody>
          <a:bodyPr wrap="square" lIns="0" tIns="0" rIns="0" bIns="0" rtlCol="0" anchor="t"/>
          <a:lstStyle/>
          <a:p>
            <a:pPr algn="ctr" indent="0" marL="0">
              <a:buNone/>
            </a:pPr>
            <a:r>
              <a:rPr lang="en-US" sz="1600" dirty="0">
                <a:solidFill>
                  <a:srgbClr val="5B6B7C"/>
                </a:solidFill>
                <a:latin typeface="Calibri" pitchFamily="34" charset="0"/>
                <a:ea typeface="Calibri" pitchFamily="34" charset="-122"/>
                <a:cs typeface="Calibri" pitchFamily="34" charset="-120"/>
              </a:rPr>
              <a:t>GBWT FastLocate structure</a:t>
            </a:r>
            <a:endParaRPr lang="en-US" sz="1600" dirty="0"/>
          </a:p>
        </p:txBody>
      </p:sp>
      <p:sp>
        <p:nvSpPr>
          <p:cNvPr id="13" name="Shape 11"/>
          <p:cNvSpPr/>
          <p:nvPr/>
        </p:nvSpPr>
        <p:spPr>
          <a:xfrm>
            <a:off x="9075191" y="1325880"/>
            <a:ext cx="2567864" cy="2148840"/>
          </a:xfrm>
          <a:prstGeom prst="roundRect">
            <a:avLst>
              <a:gd name="adj" fmla="val 5106"/>
            </a:avLst>
          </a:prstGeom>
          <a:solidFill>
            <a:srgbClr val="EDF1F6"/>
          </a:solidFill>
          <a:ln w="12700">
            <a:solidFill>
              <a:srgbClr val="DCE3EB"/>
            </a:solidFill>
            <a:prstDash val="solid"/>
          </a:ln>
        </p:spPr>
      </p:sp>
      <p:sp>
        <p:nvSpPr>
          <p:cNvPr id="14" name="Text 12"/>
          <p:cNvSpPr txBox="1"/>
          <p:nvPr/>
        </p:nvSpPr>
        <p:spPr>
          <a:xfrm>
            <a:off x="9075191" y="1645920"/>
            <a:ext cx="2567864" cy="731520"/>
          </a:xfrm>
          <a:prstGeom prst="rect">
            <a:avLst/>
          </a:prstGeom>
          <a:noFill/>
          <a:ln/>
        </p:spPr>
        <p:txBody>
          <a:bodyPr wrap="square" lIns="0" tIns="0" rIns="0" bIns="0" rtlCol="0" anchor="ctr"/>
          <a:lstStyle/>
          <a:p>
            <a:pPr algn="ctr" indent="0" marL="0">
              <a:buNone/>
            </a:pPr>
            <a:r>
              <a:rPr lang="en-US" sz="3200" b="1" dirty="0">
                <a:solidFill>
                  <a:srgbClr val="0E7C9C"/>
                </a:solidFill>
                <a:latin typeface="Calibri" pitchFamily="34" charset="0"/>
                <a:ea typeface="Calibri" pitchFamily="34" charset="-122"/>
                <a:cs typeface="Calibri" pitchFamily="34" charset="-120"/>
              </a:rPr>
              <a:t>~250 GB</a:t>
            </a:r>
            <a:endParaRPr lang="en-US" sz="3200" dirty="0"/>
          </a:p>
        </p:txBody>
      </p:sp>
      <p:sp>
        <p:nvSpPr>
          <p:cNvPr id="15" name="Text 13"/>
          <p:cNvSpPr txBox="1"/>
          <p:nvPr/>
        </p:nvSpPr>
        <p:spPr>
          <a:xfrm>
            <a:off x="9303791" y="2468880"/>
            <a:ext cx="2110664" cy="914400"/>
          </a:xfrm>
          <a:prstGeom prst="rect">
            <a:avLst/>
          </a:prstGeom>
          <a:noFill/>
          <a:ln/>
        </p:spPr>
        <p:txBody>
          <a:bodyPr wrap="square" lIns="0" tIns="0" rIns="0" bIns="0" rtlCol="0" anchor="t"/>
          <a:lstStyle/>
          <a:p>
            <a:pPr algn="ctr" indent="0" marL="0">
              <a:buNone/>
            </a:pPr>
            <a:r>
              <a:rPr lang="en-US" sz="1600" dirty="0">
                <a:solidFill>
                  <a:srgbClr val="5B6B7C"/>
                </a:solidFill>
                <a:latin typeface="Calibri" pitchFamily="34" charset="0"/>
                <a:ea typeface="Calibri" pitchFamily="34" charset="-122"/>
                <a:cs typeface="Calibri" pitchFamily="34" charset="-120"/>
              </a:rPr>
              <a:t>RAM for the running service</a:t>
            </a:r>
            <a:endParaRPr lang="en-US" sz="1600" dirty="0"/>
          </a:p>
        </p:txBody>
      </p:sp>
      <p:sp>
        <p:nvSpPr>
          <p:cNvPr id="16" name="Shape 14"/>
          <p:cNvSpPr/>
          <p:nvPr/>
        </p:nvSpPr>
        <p:spPr>
          <a:xfrm>
            <a:off x="548640" y="3794760"/>
            <a:ext cx="2567864" cy="2148840"/>
          </a:xfrm>
          <a:prstGeom prst="roundRect">
            <a:avLst>
              <a:gd name="adj" fmla="val 5106"/>
            </a:avLst>
          </a:prstGeom>
          <a:solidFill>
            <a:srgbClr val="EDF1F6"/>
          </a:solidFill>
          <a:ln w="12700">
            <a:solidFill>
              <a:srgbClr val="DCE3EB"/>
            </a:solidFill>
            <a:prstDash val="solid"/>
          </a:ln>
        </p:spPr>
      </p:sp>
      <p:sp>
        <p:nvSpPr>
          <p:cNvPr id="17" name="Text 15"/>
          <p:cNvSpPr txBox="1"/>
          <p:nvPr/>
        </p:nvSpPr>
        <p:spPr>
          <a:xfrm>
            <a:off x="548640" y="4114800"/>
            <a:ext cx="2567864" cy="731520"/>
          </a:xfrm>
          <a:prstGeom prst="rect">
            <a:avLst/>
          </a:prstGeom>
          <a:noFill/>
          <a:ln/>
        </p:spPr>
        <p:txBody>
          <a:bodyPr wrap="square" lIns="0" tIns="0" rIns="0" bIns="0" rtlCol="0" anchor="ctr"/>
          <a:lstStyle/>
          <a:p>
            <a:pPr algn="ctr" indent="0" marL="0">
              <a:buNone/>
            </a:pPr>
            <a:r>
              <a:rPr lang="en-US" sz="3200" b="1" dirty="0">
                <a:solidFill>
                  <a:srgbClr val="0E7C9C"/>
                </a:solidFill>
                <a:latin typeface="Calibri" pitchFamily="34" charset="0"/>
                <a:ea typeface="Calibri" pitchFamily="34" charset="-122"/>
                <a:cs typeface="Calibri" pitchFamily="34" charset="-120"/>
              </a:rPr>
              <a:t>35 min</a:t>
            </a:r>
            <a:endParaRPr lang="en-US" sz="3200" dirty="0"/>
          </a:p>
        </p:txBody>
      </p:sp>
      <p:sp>
        <p:nvSpPr>
          <p:cNvPr id="18" name="Text 16"/>
          <p:cNvSpPr txBox="1"/>
          <p:nvPr/>
        </p:nvSpPr>
        <p:spPr>
          <a:xfrm>
            <a:off x="777240" y="4937760"/>
            <a:ext cx="2110664" cy="914400"/>
          </a:xfrm>
          <a:prstGeom prst="rect">
            <a:avLst/>
          </a:prstGeom>
          <a:noFill/>
          <a:ln/>
        </p:spPr>
        <p:txBody>
          <a:bodyPr wrap="square" lIns="0" tIns="0" rIns="0" bIns="0" rtlCol="0" anchor="t"/>
          <a:lstStyle/>
          <a:p>
            <a:pPr algn="ctr" indent="0" marL="0">
              <a:buNone/>
            </a:pPr>
            <a:r>
              <a:rPr lang="en-US" sz="1600" dirty="0">
                <a:solidFill>
                  <a:srgbClr val="5B6B7C"/>
                </a:solidFill>
                <a:latin typeface="Calibri" pitchFamily="34" charset="0"/>
                <a:ea typeface="Calibri" pitchFamily="34" charset="-122"/>
                <a:cs typeface="Calibri" pitchFamily="34" charset="-120"/>
              </a:rPr>
              <a:t>index build for the routing structure, 32 threads</a:t>
            </a:r>
            <a:endParaRPr lang="en-US" sz="1600" dirty="0"/>
          </a:p>
        </p:txBody>
      </p:sp>
      <p:sp>
        <p:nvSpPr>
          <p:cNvPr id="19" name="Shape 17"/>
          <p:cNvSpPr/>
          <p:nvPr/>
        </p:nvSpPr>
        <p:spPr>
          <a:xfrm>
            <a:off x="3390824" y="3794760"/>
            <a:ext cx="2567864" cy="2148840"/>
          </a:xfrm>
          <a:prstGeom prst="roundRect">
            <a:avLst>
              <a:gd name="adj" fmla="val 5106"/>
            </a:avLst>
          </a:prstGeom>
          <a:solidFill>
            <a:srgbClr val="EDF1F6"/>
          </a:solidFill>
          <a:ln w="12700">
            <a:solidFill>
              <a:srgbClr val="DCE3EB"/>
            </a:solidFill>
            <a:prstDash val="solid"/>
          </a:ln>
        </p:spPr>
      </p:sp>
      <p:sp>
        <p:nvSpPr>
          <p:cNvPr id="20" name="Text 18"/>
          <p:cNvSpPr txBox="1"/>
          <p:nvPr/>
        </p:nvSpPr>
        <p:spPr>
          <a:xfrm>
            <a:off x="3390824" y="4114800"/>
            <a:ext cx="2567864" cy="731520"/>
          </a:xfrm>
          <a:prstGeom prst="rect">
            <a:avLst/>
          </a:prstGeom>
          <a:noFill/>
          <a:ln/>
        </p:spPr>
        <p:txBody>
          <a:bodyPr wrap="square" lIns="0" tIns="0" rIns="0" bIns="0" rtlCol="0" anchor="ctr"/>
          <a:lstStyle/>
          <a:p>
            <a:pPr algn="ctr" indent="0" marL="0">
              <a:buNone/>
            </a:pPr>
            <a:r>
              <a:rPr lang="en-US" sz="3200" b="1" dirty="0">
                <a:solidFill>
                  <a:srgbClr val="0E7C9C"/>
                </a:solidFill>
                <a:latin typeface="Calibri" pitchFamily="34" charset="0"/>
                <a:ea typeface="Calibri" pitchFamily="34" charset="-122"/>
                <a:cs typeface="Calibri" pitchFamily="34" charset="-120"/>
              </a:rPr>
              <a:t>1.78 GB</a:t>
            </a:r>
            <a:endParaRPr lang="en-US" sz="3200" dirty="0"/>
          </a:p>
        </p:txBody>
      </p:sp>
      <p:sp>
        <p:nvSpPr>
          <p:cNvPr id="21" name="Text 19"/>
          <p:cNvSpPr txBox="1"/>
          <p:nvPr/>
        </p:nvSpPr>
        <p:spPr>
          <a:xfrm>
            <a:off x="3619424" y="4937760"/>
            <a:ext cx="2110664" cy="914400"/>
          </a:xfrm>
          <a:prstGeom prst="rect">
            <a:avLst/>
          </a:prstGeom>
          <a:noFill/>
          <a:ln/>
        </p:spPr>
        <p:txBody>
          <a:bodyPr wrap="square" lIns="0" tIns="0" rIns="0" bIns="0" rtlCol="0" anchor="t"/>
          <a:lstStyle/>
          <a:p>
            <a:pPr algn="ctr" indent="0" marL="0">
              <a:buNone/>
            </a:pPr>
            <a:r>
              <a:rPr lang="en-US" sz="1600" dirty="0">
                <a:solidFill>
                  <a:srgbClr val="5B6B7C"/>
                </a:solidFill>
                <a:latin typeface="Calibri" pitchFamily="34" charset="0"/>
                <a:ea typeface="Calibri" pitchFamily="34" charset="-122"/>
                <a:cs typeface="Calibri" pitchFamily="34" charset="-120"/>
              </a:rPr>
              <a:t>that structure on disk (naive all-pairs: 17 TB)</a:t>
            </a:r>
            <a:endParaRPr lang="en-US" sz="1600" dirty="0"/>
          </a:p>
        </p:txBody>
      </p:sp>
      <p:sp>
        <p:nvSpPr>
          <p:cNvPr id="22" name="Shape 20"/>
          <p:cNvSpPr/>
          <p:nvPr/>
        </p:nvSpPr>
        <p:spPr>
          <a:xfrm>
            <a:off x="6233008" y="3794760"/>
            <a:ext cx="2567864" cy="2148840"/>
          </a:xfrm>
          <a:prstGeom prst="roundRect">
            <a:avLst>
              <a:gd name="adj" fmla="val 5106"/>
            </a:avLst>
          </a:prstGeom>
          <a:solidFill>
            <a:srgbClr val="EDF1F6"/>
          </a:solidFill>
          <a:ln w="12700">
            <a:solidFill>
              <a:srgbClr val="DCE3EB"/>
            </a:solidFill>
            <a:prstDash val="solid"/>
          </a:ln>
        </p:spPr>
      </p:sp>
      <p:sp>
        <p:nvSpPr>
          <p:cNvPr id="23" name="Text 21"/>
          <p:cNvSpPr txBox="1"/>
          <p:nvPr/>
        </p:nvSpPr>
        <p:spPr>
          <a:xfrm>
            <a:off x="6233008" y="4114800"/>
            <a:ext cx="2567864" cy="731520"/>
          </a:xfrm>
          <a:prstGeom prst="rect">
            <a:avLst/>
          </a:prstGeom>
          <a:noFill/>
          <a:ln/>
        </p:spPr>
        <p:txBody>
          <a:bodyPr wrap="square" lIns="0" tIns="0" rIns="0" bIns="0" rtlCol="0" anchor="ctr"/>
          <a:lstStyle/>
          <a:p>
            <a:pPr algn="ctr" indent="0" marL="0">
              <a:buNone/>
            </a:pPr>
            <a:r>
              <a:rPr lang="en-US" sz="3200" b="1" dirty="0">
                <a:solidFill>
                  <a:srgbClr val="003C6C"/>
                </a:solidFill>
                <a:latin typeface="Calibri" pitchFamily="34" charset="0"/>
                <a:ea typeface="Calibri" pitchFamily="34" charset="-122"/>
                <a:cs typeface="Calibri" pitchFamily="34" charset="-120"/>
              </a:rPr>
              <a:t>15 lines</a:t>
            </a:r>
            <a:endParaRPr lang="en-US" sz="3200" dirty="0"/>
          </a:p>
        </p:txBody>
      </p:sp>
      <p:sp>
        <p:nvSpPr>
          <p:cNvPr id="24" name="Text 22"/>
          <p:cNvSpPr txBox="1"/>
          <p:nvPr/>
        </p:nvSpPr>
        <p:spPr>
          <a:xfrm>
            <a:off x="6461608" y="4937760"/>
            <a:ext cx="2110664" cy="914400"/>
          </a:xfrm>
          <a:prstGeom prst="rect">
            <a:avLst/>
          </a:prstGeom>
          <a:noFill/>
          <a:ln/>
        </p:spPr>
        <p:txBody>
          <a:bodyPr wrap="square" lIns="0" tIns="0" rIns="0" bIns="0" rtlCol="0" anchor="t"/>
          <a:lstStyle/>
          <a:p>
            <a:pPr algn="ctr" indent="0" marL="0">
              <a:buNone/>
            </a:pPr>
            <a:r>
              <a:rPr lang="en-US" sz="1600" dirty="0">
                <a:solidFill>
                  <a:srgbClr val="5B6B7C"/>
                </a:solidFill>
                <a:latin typeface="Calibri" pitchFamily="34" charset="0"/>
                <a:ea typeface="Calibri" pitchFamily="34" charset="-122"/>
                <a:cs typeface="Calibri" pitchFamily="34" charset="-120"/>
              </a:rPr>
              <a:t>changed in kent core, across 3 files</a:t>
            </a:r>
            <a:endParaRPr lang="en-US" sz="1600" dirty="0"/>
          </a:p>
        </p:txBody>
      </p:sp>
      <p:sp>
        <p:nvSpPr>
          <p:cNvPr id="25" name="Shape 23"/>
          <p:cNvSpPr/>
          <p:nvPr/>
        </p:nvSpPr>
        <p:spPr>
          <a:xfrm>
            <a:off x="9075191" y="3794760"/>
            <a:ext cx="2567864" cy="2148840"/>
          </a:xfrm>
          <a:prstGeom prst="roundRect">
            <a:avLst>
              <a:gd name="adj" fmla="val 5106"/>
            </a:avLst>
          </a:prstGeom>
          <a:solidFill>
            <a:srgbClr val="EDF1F6"/>
          </a:solidFill>
          <a:ln w="12700">
            <a:solidFill>
              <a:srgbClr val="DCE3EB"/>
            </a:solidFill>
            <a:prstDash val="solid"/>
          </a:ln>
        </p:spPr>
      </p:sp>
      <p:sp>
        <p:nvSpPr>
          <p:cNvPr id="26" name="Text 24"/>
          <p:cNvSpPr txBox="1"/>
          <p:nvPr/>
        </p:nvSpPr>
        <p:spPr>
          <a:xfrm>
            <a:off x="9075191" y="4114800"/>
            <a:ext cx="2567864" cy="731520"/>
          </a:xfrm>
          <a:prstGeom prst="rect">
            <a:avLst/>
          </a:prstGeom>
          <a:noFill/>
          <a:ln/>
        </p:spPr>
        <p:txBody>
          <a:bodyPr wrap="square" lIns="0" tIns="0" rIns="0" bIns="0" rtlCol="0" anchor="ctr"/>
          <a:lstStyle/>
          <a:p>
            <a:pPr algn="ctr" indent="0" marL="0">
              <a:buNone/>
            </a:pPr>
            <a:r>
              <a:rPr lang="en-US" sz="3200" b="1" dirty="0">
                <a:solidFill>
                  <a:srgbClr val="003C6C"/>
                </a:solidFill>
                <a:latin typeface="Calibri" pitchFamily="34" charset="0"/>
                <a:ea typeface="Calibri" pitchFamily="34" charset="-122"/>
                <a:cs typeface="Calibri" pitchFamily="34" charset="-120"/>
              </a:rPr>
              <a:t>385</a:t>
            </a:r>
            <a:endParaRPr lang="en-US" sz="3200" dirty="0"/>
          </a:p>
        </p:txBody>
      </p:sp>
      <p:sp>
        <p:nvSpPr>
          <p:cNvPr id="27" name="Text 25"/>
          <p:cNvSpPr txBox="1"/>
          <p:nvPr/>
        </p:nvSpPr>
        <p:spPr>
          <a:xfrm>
            <a:off x="9303791" y="4937760"/>
            <a:ext cx="2110664" cy="914400"/>
          </a:xfrm>
          <a:prstGeom prst="rect">
            <a:avLst/>
          </a:prstGeom>
          <a:noFill/>
          <a:ln/>
        </p:spPr>
        <p:txBody>
          <a:bodyPr wrap="square" lIns="0" tIns="0" rIns="0" bIns="0" rtlCol="0" anchor="t"/>
          <a:lstStyle/>
          <a:p>
            <a:pPr algn="ctr" indent="0" marL="0">
              <a:buNone/>
            </a:pPr>
            <a:r>
              <a:rPr lang="en-US" sz="1600" dirty="0">
                <a:solidFill>
                  <a:srgbClr val="5B6B7C"/>
                </a:solidFill>
                <a:latin typeface="Calibri" pitchFamily="34" charset="0"/>
                <a:ea typeface="Calibri" pitchFamily="34" charset="-122"/>
                <a:cs typeface="Calibri" pitchFamily="34" charset="-120"/>
              </a:rPr>
              <a:t>browser-side tests: payload validation, UI, hub writes</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 pangenome sequence search and coordinate translation service for the UCSC Genome Browser</dc:title>
  <dc:subject>PptxGenJS Presentation</dc:subject>
  <dc:creator>Parsa Eskandar</dc:creator>
  <cp:lastModifiedBy>Parsa Eskandar</cp:lastModifiedBy>
  <cp:revision>1</cp:revision>
  <dcterms:created xsi:type="dcterms:W3CDTF">2026-09-02T20:35:19Z</dcterms:created>
  <dcterms:modified xsi:type="dcterms:W3CDTF">2026-09-02T20:35:19Z</dcterms:modified>
</cp:coreProperties>
</file>
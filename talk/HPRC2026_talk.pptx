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Thanks. I'm Parsa Eskandar, from Benedict Paten's lab at UC Santa Cruz, and this is joint work with Jouni Sirén and the UCSC Genome Browser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HPRC release 2 is a remarkable resource, and the Genome Browser can open all 464 haplotype assemblies. The same database has 56 chain files.
(pause)
Which means almost everything we know about the human genome, written in hg38 or CHM13, cannot move onto the other 462. You can look at them. You can't ask them anything. That is the problem this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[1:00-2:00]
Three reasons, and this room knows all three.
First, our knowledge lives on two references. ClinVar, GWAS, ENCODE, RefSeq, your own BED file: written once, in hg38 or CHM13 coordinates. Release 2 gives each haplotype CAT and Liftoff genes, and that's where it stops.
Second, sequence search is single-assembly. BLAT runs against one assembly and knows nothing about the graph. It cannot tell you which haplotypes carry your sequence, or how common it is.
Third, lift-over needs a chain per pair. QuickLift, shipped last year, is a great tool: it draws one assembly's tracks on another. But only over a prebuilt chain, made on request. 464 haplotypes is more than two hundred thousand pairs. The browser has fifty-six.
The graph is, by construction, the alignment of all 464 at once. In the browser, it has been a file, not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[2:00-2:45]
Let me make this concrete with one researcher and two afternoons.
First afternoon: she has assembled an insertion from a patient's long reads, and it is not in GRCh38. Which HPRC haplotypes carry it? How common is it? What does the neighbourhood look like on a genome that actually has it? Today her tool is BLAT, one assembly at a time, and it can't tell her who else carries the sequence.
Second afternoon: she's curating a gene on GRCh38, ClinVar and the GWAS catalog open, and she wants that locus on one HPRC individual. Today her tool is QuickLift, and it works only where a chain already exists.
By the end of this talk: both afternoons, in the browser,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[2:45-3:20]
Here is what we built, in one picture. One index over the HPRC v2.0 graph: the tag-array index, which I'll explain in a moment. Every position in the BWT knows its graph position, and every node knows every haplotype crossing it.
Two tools sit on top of it in the browser. Pangenome Mapping: paste a sequence, get every haplotype that carries it, land on any of them as a track. Rapid lift-over: pick any of the 464 haplotypes, a chain is built on the spot, and the reference's tracks follow you.
Both run as one service behind the browser. The browser itself changed by fifteen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[3:20-4:05]
A brief word on the index, because everything rests on it.
Indexing a pangenome used to force a choice. An FM-index on the haplotype sequences is simple and lossless, but reports the same seed once per haplotype. An FM-index on the graph deduplicates, but needs graph transformations that are fragile and can lose parts of haplotypes. Minimizer indexes are fast, but the seed length is fixed in advance.
Tag arrays take a different route: keep the FM-index on the haplotypes, and annotate the BWT with graph positions. Lossless, deduplicated, any seed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[4:05-5:05]
Here is the whole idea on a toy graph. Three haplotypes, one BWT over their sequences. The tag array runs alongside the BWT: for every BWT position, the graph node and offset it came from.
A query is two steps. The r-index finds the BWT interval for a pattern, exactly as an FM-index would. Then two rank queries on the run-length tag structure return the distinct graph positions in that interval. No scan, no decompression, and no redundancy: one hit per graph position, however many haplotypes share it.
It stays small because similar suffixes sit together, so tags come in long runs. From v1.1 to v2.0 the sequence grew fivefold; the tag runs only doubled. We build it per chromosome and merge through the multi-string BWT. For the release 2 graph: 464 haplotypes, 2.6 terabases of sequence, 26 billion tag runs, 149 gigabytes, plus a 23 gigabyte sampled tag array that serves coordinate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[5:05-6:05]
And the same structure gives us coordinate translation, without a single pairwise table.
Take the orange haplotype from position 3 to 7, and ask where that lands on purple. One: walk the interval backwards with the r-index and collect the sampled tags it passes: nodes b, e and f. Two: for each tag, the sampled tag array lists every haplotype standing at that graph position, so we learn purple is on b and on f. Three: nodes both haplotypes visit exactly once anchor the two paths. Four: walk both paths between the anchors and emit offsets. Orange 3 maps to purple 3, orange 6 to purple 6, and orange 5 sits on node e, which purple never visits: no position, never a wrong one.
Nothing anywhere says orange-to-purple. Any haplotype to any haplotype, from one index. And the output has chain semantics, so the browser's existing lift-over renderer can draw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[6:05-7:35]  Play the recording; narrate over it.
First afternoon. This is the Pangenome Mapping page, BLAT for the pangenome.
She pastes the insertion. It is mapped once, to the whole graph, with vg giraffe, in a few seconds. And here is what BLAT could never have told her: exactly two of the 464 haplotypes carry this sequence, HG01167 hap1 and HG04157 paternal, and GRCh38 is not one of them. They're ranked by identity, with coverage beside it.
She clicks HG01167. No special page: she lands in the browser, on a genome that actually has her insertion, with the sequence as a native track, base-level differences colored the way BLAT users already know, and that haplotype's own annotation around it.
Picking a different carrier re-surjects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[7:35-8:10]
So, what does that change on release 2? Before: BLAT one assembly at a time, with 464 to choose from and no way to know which; a sequence missing from hg38 was simply unmapped; nothing told you who else carried it. Now: one search against the whole graph returns every carrying haplotype, ranked. Sequences absent from the reference are found where they actually live. You land on any carrier as a native track, and re-surjecting to another haplotype costs nothing.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[8:10-8:45]
Second afternoon. She has a gene open on a reference, ClinVar and GWAS beside it, and she wants that locus on one HPRC individual.
The browser already has the right tool: QuickLift. View, In Other Genomes, tick QuickLift tracks, and your tracks are drawn on the other assembly with the differences marked. It is superb for hg38 to hs1.
But it needs a prebuilt chain between the two assemblies, made on request. Between HPRC haplotypes the browser has fifty-six, out of more than two hundred thousand pairs. She picks HG02015. There is no chain. Dead end.
The renderer is ready. What's missing is a chain for any pair, on demand. That is exactly what the walk I just showed you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[8:45-10:25]  Play the recording; narrate over it. SLOW DOWN at the landing.
Now the same afternoon with our tool. Source: the gene she was looking at, here HLA-DMA on CHM13, ten kilobases on chromosome 6; GRCh38 is a path in this graph too, so hg38 works exactly the same way. Target: HG02015 paternal, the haplotype that was a dead end a minute ago.
Translated in about a hundred milliseconds. A hundred percent of bases.
She clicks the result, and this is the part I care about most. HG02015 has its own CAT and Liftoff genes from release 2. What it will never have is everything that exists once, on one reference: ClinVar, the GWAS catalog, ENCODE, her own BED file. And here they are, drawn at their translated positions, with the differences marked the way QuickLift users already read them.
(pause) The chain that made this possible did not exist a second before the page loaded. The translation blocks became a bigChain; the browser's own QuickLift renderer drew the tracks. Same QuickLift. The chain just isn't prebuilt anymore.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[10:25-11:00]
Before: lift-over only between pairs with a prebuilt chain, fifty-six of two hundred thousand, new ones made on request, and a haplotype without a chain showed only its own tracks. Now: any of the 464 haplotypes as the target, from hg38 or CHM13, in about a hundred milliseconds; the chain is built for the region you're looking at and reused as you pan; the reference's tracks come along with the differences marked; and it's in the ordinary hgConvert menu too.
That is what I mean by making release 2 useful: the thousands of tracks that exist once, on one reference, will never be rebuilt 464 times. Any haplotype can borrow them,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[11:00-11:45]
Who is this for? For clinicians and curators: is this insertion private to my patient, or carried by HPRC individuals, and which ones? ClinVar and GWAS context on the haplotype that actually carries the patient's allele. And the complex loci where one reference misleads, HLA, KIR, CYP2D6, LPA, SMN, seen on many haplotypes with the reference annotation drawn there.
For researchers and graph builders: place contigs, probes, primers or guide RNAs on every haplotype at once; move any annotation, including your own tracks, onto any assembly; and inspect the graph's alignment itself, because the Alignment Differences track is the graph, drawn base by base.
No pipeline, no download. A browser tab, and a sequence or a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[11:45-12:35]
Trust before speed, and I want to be straight about which numbers I have. Checked: the Alignment Differences track, base by base across 22 kb of ABO, exactly the two real mismatches; completeness 99% at gene scale and 93% at a megabase; and one hard case, a segdup-dense span on 1q21.1 recovering about half its bases. Missing positions, never wrong ones. Not yet: halLiftover on the same Cactus alignment, the 56 existing chains, and CAT transcripts against a haplotype's own annotation. Those come before public release.
Speed: exon-scale intervals in about twenty milliseconds, a ten-kilobase gene in a tenth of a second, a megabase in about four, and one server sustains about sixty queries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[12:35-13:30]
Two things I want to be honest about. Chains are built per view, so if you pan far enough we build another one. And wide, segdup-dense spans lose positions: on 1q21.1 we recover about half. Missing, not wrong. This runs on the development browser, as one service with about 250 gigabytes of RAM, and there is no public API yet.
Next: chains that persist and are shared across users; better recovery in segdups; a documented JSON API, because half of you will want this from a pipeline; and more graphs, since nothing here is specific to release 2.
And the milestone all of that serves: the public UCSC Genome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[13:30-14:10]
So, back to her two afternoons. The insertion that isn't in GRCh38: two carriers found in seconds, and mapped as a track on a genome that has it. The gene she knew on a reference: on HG02015 in a tenth of a second, with the reference's tracks drawn around it, over a chain that didn't exist until she asked.
It's live on the development browser today. So bring me your hardest region, and tell me where it breaks.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[14:10-14:25]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same walk on the real graph, with a colinearity gate between anchors and chain-semantics blocks as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Index numbers from the Algorithms for Molecular Biology paper (bidirectional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52241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640080" y="457200"/>
            <a:ext cx="1188720" cy="986862"/>
          </a:xfrm>
          <a:prstGeom prst="rect">
            <a:avLst/>
          </a:prstGeom>
        </p:spPr>
      </p:pic>
      <p:sp>
        <p:nvSpPr>
          <p:cNvPr id="6" name="Text 2"/>
          <p:cNvSpPr txBox="1"/>
          <p:nvPr/>
        </p:nvSpPr>
        <p:spPr>
          <a:xfrm>
            <a:off x="64008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640080" y="2606040"/>
            <a:ext cx="8686800" cy="155448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The UCSC Genome Browser</a:t>
            </a:r>
            <a:endParaRPr lang="en-US" sz="4400" dirty="0"/>
          </a:p>
          <a:p>
            <a:pPr indent="0" marL="0">
              <a:buNone/>
            </a:pPr>
            <a:r>
              <a:rPr lang="en-US" sz="4400" b="1" dirty="0">
                <a:solidFill>
                  <a:srgbClr val="FDC700"/>
                </a:solidFill>
                <a:latin typeface="Calibri" pitchFamily="34" charset="0"/>
                <a:ea typeface="Calibri" pitchFamily="34" charset="-122"/>
                <a:cs typeface="Calibri" pitchFamily="34" charset="-120"/>
              </a:rPr>
              <a:t>now speaks pangenome.</a:t>
            </a:r>
            <a:endParaRPr lang="en-US" sz="4400" dirty="0"/>
          </a:p>
        </p:txBody>
      </p:sp>
      <p:sp>
        <p:nvSpPr>
          <p:cNvPr id="8" name="Text 4"/>
          <p:cNvSpPr txBox="1"/>
          <p:nvPr/>
        </p:nvSpPr>
        <p:spPr>
          <a:xfrm>
            <a:off x="640080" y="4251960"/>
            <a:ext cx="10058400" cy="45720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Sequence search and rapid lift-over across all 464 HPRC haplotypes</a:t>
            </a:r>
            <a:endParaRPr lang="en-US" sz="2000" dirty="0"/>
          </a:p>
        </p:txBody>
      </p:sp>
      <p:sp>
        <p:nvSpPr>
          <p:cNvPr id="9" name="Text 5"/>
          <p:cNvSpPr txBox="1"/>
          <p:nvPr/>
        </p:nvSpPr>
        <p:spPr>
          <a:xfrm>
            <a:off x="640080" y="4754880"/>
            <a:ext cx="86868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Live on the development browser today</a:t>
            </a:r>
            <a:endParaRPr lang="en-US" sz="1600" dirty="0"/>
          </a:p>
        </p:txBody>
      </p:sp>
      <p:sp>
        <p:nvSpPr>
          <p:cNvPr id="10" name="Text 6"/>
          <p:cNvSpPr txBox="1"/>
          <p:nvPr/>
        </p:nvSpPr>
        <p:spPr>
          <a:xfrm>
            <a:off x="64008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1" name="Text 7"/>
          <p:cNvSpPr txBox="1"/>
          <p:nvPr/>
        </p:nvSpPr>
        <p:spPr>
          <a:xfrm>
            <a:off x="64008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64008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64008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 assemblies the Genome Browser can open</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56</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chain files in its database</a:t>
            </a:r>
            <a:endParaRPr lang="en-US" sz="2200" dirty="0"/>
          </a:p>
        </p:txBody>
      </p:sp>
      <p:sp>
        <p:nvSpPr>
          <p:cNvPr id="7" name="Shape 5"/>
          <p:cNvSpPr/>
          <p:nvPr/>
        </p:nvSpPr>
        <p:spPr>
          <a:xfrm>
            <a:off x="640080" y="3657600"/>
            <a:ext cx="105156" cy="105156"/>
          </a:xfrm>
          <a:prstGeom prst="rect">
            <a:avLst/>
          </a:prstGeom>
          <a:solidFill>
            <a:srgbClr val="17436B"/>
          </a:solidFill>
          <a:ln w="12700">
            <a:solidFill>
              <a:srgbClr val="17436B"/>
            </a:solidFill>
            <a:prstDash val="solid"/>
          </a:ln>
        </p:spPr>
      </p:sp>
      <p:sp>
        <p:nvSpPr>
          <p:cNvPr id="8" name="Shape 6"/>
          <p:cNvSpPr/>
          <p:nvPr/>
        </p:nvSpPr>
        <p:spPr>
          <a:xfrm>
            <a:off x="786384" y="3657600"/>
            <a:ext cx="105156" cy="105156"/>
          </a:xfrm>
          <a:prstGeom prst="rect">
            <a:avLst/>
          </a:prstGeom>
          <a:solidFill>
            <a:srgbClr val="17436B"/>
          </a:solidFill>
          <a:ln w="12700">
            <a:solidFill>
              <a:srgbClr val="17436B"/>
            </a:solidFill>
            <a:prstDash val="solid"/>
          </a:ln>
        </p:spPr>
      </p:sp>
      <p:sp>
        <p:nvSpPr>
          <p:cNvPr id="9" name="Shape 7"/>
          <p:cNvSpPr/>
          <p:nvPr/>
        </p:nvSpPr>
        <p:spPr>
          <a:xfrm>
            <a:off x="932688" y="3657600"/>
            <a:ext cx="105156" cy="105156"/>
          </a:xfrm>
          <a:prstGeom prst="rect">
            <a:avLst/>
          </a:prstGeom>
          <a:solidFill>
            <a:srgbClr val="17436B"/>
          </a:solidFill>
          <a:ln w="12700">
            <a:solidFill>
              <a:srgbClr val="17436B"/>
            </a:solidFill>
            <a:prstDash val="solid"/>
          </a:ln>
        </p:spPr>
      </p:sp>
      <p:sp>
        <p:nvSpPr>
          <p:cNvPr id="10" name="Shape 8"/>
          <p:cNvSpPr/>
          <p:nvPr/>
        </p:nvSpPr>
        <p:spPr>
          <a:xfrm>
            <a:off x="107899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22529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37160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51790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66420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81051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95681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10312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24942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9572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54203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68833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83464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98094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12724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27355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41985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56616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71246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85876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400507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15137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9768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44398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59028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73659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64008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78638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93268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107899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22529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37160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51790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66420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81051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95681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10312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24942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9572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54203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68833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83464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98094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12724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27355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41985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56616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71246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85876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400507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15137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9768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44398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59028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73659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64008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78638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93268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107899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22529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37160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51790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66420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81051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95681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10312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24942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9572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54203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68833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83464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98094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12724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27355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41985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56616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71246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85876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400507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15137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9768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44398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59028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73659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64008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78638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93268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107899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22529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37160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51790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66420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81051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95681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10312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24942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9572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54203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68833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83464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98094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12724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27355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41985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56616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71246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85876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400507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15137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9768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44398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59028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73659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64008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78638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93268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107899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22529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37160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51790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66420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81051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95681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10312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24942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9572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54203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68833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83464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98094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12724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27355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41985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56616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71246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85876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400507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15137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9768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44398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59028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73659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64008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78638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93268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107899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22529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37160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51790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66420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81051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95681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10312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24942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9572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54203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68833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83464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98094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12724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27355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41985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56616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71246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85876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400507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15137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9768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44398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59028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73659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64008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78638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93268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107899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22529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37160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51790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66420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81051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95681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10312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24942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9572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54203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68833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83464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98094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12724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27355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41985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56616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71246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85876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400507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15137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9768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44398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59028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73659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64008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78638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93268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107899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22529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37160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51790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66420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81051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95681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10312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24942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9572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54203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68833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83464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98094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12724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27355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41985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56616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71246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85876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400507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15137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9768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44398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59028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73659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64008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78638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93268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107899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22529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37160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51790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66420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81051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95681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10312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24942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9572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54203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68833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83464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98094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12724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27355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41985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56616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71246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85876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400507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15137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9768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44398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59028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73659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64008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78638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93268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107899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22529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37160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51790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66420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81051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95681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10312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24942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9572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54203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68833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83464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98094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12724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27355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41985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56616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71246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85876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400507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15137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9768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44398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59028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73659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64008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78638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93268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107899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22529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37160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51790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66420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81051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95681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10312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24942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9572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54203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68833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83464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98094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12724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27355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41985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56616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71246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85876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400507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15137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9768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44398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59028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73659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64008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78638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93268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107899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22529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37160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51790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66420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81051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95681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10312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24942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9572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54203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68833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83464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98094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12724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27355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41985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56616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71246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85876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400507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15137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9768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44398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59028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73659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64008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78638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93268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107899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22529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37160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51790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66420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81051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95681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10312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24942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9572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54203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68833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83464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98094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12724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27355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41985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56616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71246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85876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400507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15137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9768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44398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59028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73659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64008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78638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93268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107899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22529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37160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51790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66420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81051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95681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10312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24942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9572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54203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68833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83464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98094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12724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27355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41985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56616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71246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85876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400507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15137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9768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44398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59028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73659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64008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78638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93268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107899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22529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37160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51790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66420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81051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95681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10312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24942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9572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54203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68833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83464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98094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12724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27355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41985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56616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71246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85876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400507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15137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9768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44398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59028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73659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64008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78638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93268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107899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22529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37160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51790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66420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81051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95681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10312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24942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9572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54203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68833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83464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98094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12724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27355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41985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56616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71246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85876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400507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15137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9768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44398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59028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73659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64008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of them hold almost everything we know</a:t>
            </a:r>
            <a:endParaRPr lang="en-US" sz="1500" dirty="0"/>
          </a:p>
        </p:txBody>
      </p:sp>
      <p:sp>
        <p:nvSpPr>
          <p:cNvPr id="472" name="Text 470"/>
          <p:cNvSpPr txBox="1"/>
          <p:nvPr/>
        </p:nvSpPr>
        <p:spPr>
          <a:xfrm>
            <a:off x="6400800" y="3749040"/>
            <a:ext cx="5212080" cy="12801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Almost everything we know about the human genome is written in hg38 or CHM13.</a:t>
            </a:r>
            <a:endParaRPr lang="en-US" sz="2200" dirty="0"/>
          </a:p>
        </p:txBody>
      </p:sp>
      <p:sp>
        <p:nvSpPr>
          <p:cNvPr id="473" name="Text 471"/>
          <p:cNvSpPr txBox="1"/>
          <p:nvPr/>
        </p:nvSpPr>
        <p:spPr>
          <a:xfrm>
            <a:off x="6400800" y="5120640"/>
            <a:ext cx="5212080" cy="914400"/>
          </a:xfrm>
          <a:prstGeom prst="rect">
            <a:avLst/>
          </a:prstGeom>
          <a:noFill/>
          <a:ln/>
        </p:spPr>
        <p:txBody>
          <a:bodyPr wrap="square" lIns="0" tIns="0" rIns="0" bIns="0" rtlCol="0" anchor="t"/>
          <a:lstStyle/>
          <a:p>
            <a:pPr indent="0" marL="0">
              <a:buNone/>
            </a:pPr>
            <a:r>
              <a:rPr lang="en-US" sz="2200" i="1" dirty="0">
                <a:solidFill>
                  <a:srgbClr val="FDC700"/>
                </a:solidFill>
                <a:latin typeface="Calibri" pitchFamily="34" charset="0"/>
                <a:ea typeface="Calibri" pitchFamily="34" charset="-122"/>
                <a:cs typeface="Calibri" pitchFamily="34" charset="-120"/>
              </a:rPr>
              <a:t>You can look at the other 462. You can't ask them anything.</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Why release 2 is hard to use in the browser</a:t>
            </a:r>
            <a:endParaRPr lang="en-US" sz="3000" dirty="0"/>
          </a:p>
        </p:txBody>
      </p:sp>
      <p:sp>
        <p:nvSpPr>
          <p:cNvPr id="3" name="Text 1"/>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Text 2"/>
          <p:cNvSpPr txBox="1"/>
          <p:nvPr/>
        </p:nvSpPr>
        <p:spPr>
          <a:xfrm>
            <a:off x="640080" y="1463040"/>
            <a:ext cx="3393338" cy="457200"/>
          </a:xfrm>
          <a:prstGeom prst="rect">
            <a:avLst/>
          </a:prstGeom>
          <a:noFill/>
          <a:ln/>
        </p:spPr>
        <p:txBody>
          <a:bodyPr wrap="square" lIns="0" tIns="0" rIns="0" bIns="0" rtlCol="0" anchor="t"/>
          <a:lstStyle/>
          <a:p>
            <a:pPr indent="0" marL="0">
              <a:buNone/>
            </a:pPr>
            <a:r>
              <a:rPr lang="en-US" sz="1600" b="1" spc="200" kern="0" dirty="0">
                <a:solidFill>
                  <a:srgbClr val="FDC700"/>
                </a:solidFill>
                <a:latin typeface="Calibri" pitchFamily="34" charset="0"/>
                <a:ea typeface="Calibri" pitchFamily="34" charset="-122"/>
                <a:cs typeface="Calibri" pitchFamily="34" charset="-120"/>
              </a:rPr>
              <a:t>01</a:t>
            </a:r>
            <a:endParaRPr lang="en-US" sz="1600" dirty="0"/>
          </a:p>
        </p:txBody>
      </p:sp>
      <p:sp>
        <p:nvSpPr>
          <p:cNvPr id="5" name="Text 3"/>
          <p:cNvSpPr txBox="1"/>
          <p:nvPr/>
        </p:nvSpPr>
        <p:spPr>
          <a:xfrm>
            <a:off x="640080" y="1874520"/>
            <a:ext cx="3393338" cy="9144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Knowledge lives on two references</a:t>
            </a:r>
            <a:endParaRPr lang="en-US" sz="2200" dirty="0"/>
          </a:p>
        </p:txBody>
      </p:sp>
      <p:sp>
        <p:nvSpPr>
          <p:cNvPr id="6" name="Shape 4"/>
          <p:cNvSpPr/>
          <p:nvPr/>
        </p:nvSpPr>
        <p:spPr>
          <a:xfrm>
            <a:off x="640080" y="2880360"/>
            <a:ext cx="3393338" cy="0"/>
          </a:xfrm>
          <a:prstGeom prst="line">
            <a:avLst/>
          </a:prstGeom>
          <a:noFill/>
          <a:ln w="12700">
            <a:solidFill>
              <a:srgbClr val="D9E1E9"/>
            </a:solidFill>
            <a:prstDash val="solid"/>
          </a:ln>
        </p:spPr>
      </p:sp>
      <p:sp>
        <p:nvSpPr>
          <p:cNvPr id="7" name="Text 5"/>
          <p:cNvSpPr txBox="1"/>
          <p:nvPr/>
        </p:nvSpPr>
        <p:spPr>
          <a:xfrm>
            <a:off x="640080" y="3063240"/>
            <a:ext cx="3393338" cy="256032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ClinVar, GWAS, ENCODE, RefSeq, your own tracks: written once, in hg38 or CHM13 coordinates. Release 2 gives each haplotype CAT and Liftoff genes, and nothing else follows.</a:t>
            </a:r>
            <a:endParaRPr lang="en-US" sz="1700" dirty="0"/>
          </a:p>
        </p:txBody>
      </p:sp>
      <p:sp>
        <p:nvSpPr>
          <p:cNvPr id="8" name="Text 6"/>
          <p:cNvSpPr txBox="1"/>
          <p:nvPr/>
        </p:nvSpPr>
        <p:spPr>
          <a:xfrm>
            <a:off x="4399178" y="1463040"/>
            <a:ext cx="3393338" cy="457200"/>
          </a:xfrm>
          <a:prstGeom prst="rect">
            <a:avLst/>
          </a:prstGeom>
          <a:noFill/>
          <a:ln/>
        </p:spPr>
        <p:txBody>
          <a:bodyPr wrap="square" lIns="0" tIns="0" rIns="0" bIns="0" rtlCol="0" anchor="t"/>
          <a:lstStyle/>
          <a:p>
            <a:pPr indent="0" marL="0">
              <a:buNone/>
            </a:pPr>
            <a:r>
              <a:rPr lang="en-US" sz="1600" b="1" spc="200" kern="0" dirty="0">
                <a:solidFill>
                  <a:srgbClr val="FDC700"/>
                </a:solidFill>
                <a:latin typeface="Calibri" pitchFamily="34" charset="0"/>
                <a:ea typeface="Calibri" pitchFamily="34" charset="-122"/>
                <a:cs typeface="Calibri" pitchFamily="34" charset="-120"/>
              </a:rPr>
              <a:t>02</a:t>
            </a:r>
            <a:endParaRPr lang="en-US" sz="1600" dirty="0"/>
          </a:p>
        </p:txBody>
      </p:sp>
      <p:sp>
        <p:nvSpPr>
          <p:cNvPr id="9" name="Text 7"/>
          <p:cNvSpPr txBox="1"/>
          <p:nvPr/>
        </p:nvSpPr>
        <p:spPr>
          <a:xfrm>
            <a:off x="4399178" y="1874520"/>
            <a:ext cx="3393338" cy="9144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 is single-assembly</a:t>
            </a:r>
            <a:endParaRPr lang="en-US" sz="2200" dirty="0"/>
          </a:p>
        </p:txBody>
      </p:sp>
      <p:sp>
        <p:nvSpPr>
          <p:cNvPr id="10" name="Shape 8"/>
          <p:cNvSpPr/>
          <p:nvPr/>
        </p:nvSpPr>
        <p:spPr>
          <a:xfrm>
            <a:off x="4399178" y="2880360"/>
            <a:ext cx="3393338" cy="0"/>
          </a:xfrm>
          <a:prstGeom prst="line">
            <a:avLst/>
          </a:prstGeom>
          <a:noFill/>
          <a:ln w="12700">
            <a:solidFill>
              <a:srgbClr val="D9E1E9"/>
            </a:solidFill>
            <a:prstDash val="solid"/>
          </a:ln>
        </p:spPr>
      </p:sp>
      <p:sp>
        <p:nvSpPr>
          <p:cNvPr id="11" name="Text 9"/>
          <p:cNvSpPr txBox="1"/>
          <p:nvPr/>
        </p:nvSpPr>
        <p:spPr>
          <a:xfrm>
            <a:off x="4399178" y="3063240"/>
            <a:ext cx="3393338" cy="256032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BLAT runs against one assembly at a time and knows nothing about the graph. It cannot tell you which haplotypes carry a sequence.</a:t>
            </a:r>
            <a:endParaRPr lang="en-US" sz="1700" dirty="0"/>
          </a:p>
        </p:txBody>
      </p:sp>
      <p:sp>
        <p:nvSpPr>
          <p:cNvPr id="12" name="Text 10"/>
          <p:cNvSpPr txBox="1"/>
          <p:nvPr/>
        </p:nvSpPr>
        <p:spPr>
          <a:xfrm>
            <a:off x="8158277" y="1463040"/>
            <a:ext cx="3393338" cy="457200"/>
          </a:xfrm>
          <a:prstGeom prst="rect">
            <a:avLst/>
          </a:prstGeom>
          <a:noFill/>
          <a:ln/>
        </p:spPr>
        <p:txBody>
          <a:bodyPr wrap="square" lIns="0" tIns="0" rIns="0" bIns="0" rtlCol="0" anchor="t"/>
          <a:lstStyle/>
          <a:p>
            <a:pPr indent="0" marL="0">
              <a:buNone/>
            </a:pPr>
            <a:r>
              <a:rPr lang="en-US" sz="1600" b="1" spc="200" kern="0" dirty="0">
                <a:solidFill>
                  <a:srgbClr val="FDC700"/>
                </a:solidFill>
                <a:latin typeface="Calibri" pitchFamily="34" charset="0"/>
                <a:ea typeface="Calibri" pitchFamily="34" charset="-122"/>
                <a:cs typeface="Calibri" pitchFamily="34" charset="-120"/>
              </a:rPr>
              <a:t>03</a:t>
            </a:r>
            <a:endParaRPr lang="en-US" sz="1600" dirty="0"/>
          </a:p>
        </p:txBody>
      </p:sp>
      <p:sp>
        <p:nvSpPr>
          <p:cNvPr id="13" name="Text 11"/>
          <p:cNvSpPr txBox="1"/>
          <p:nvPr/>
        </p:nvSpPr>
        <p:spPr>
          <a:xfrm>
            <a:off x="8158277" y="1874520"/>
            <a:ext cx="3393338" cy="9144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chain per pair</a:t>
            </a:r>
            <a:endParaRPr lang="en-US" sz="2200" dirty="0"/>
          </a:p>
        </p:txBody>
      </p:sp>
      <p:sp>
        <p:nvSpPr>
          <p:cNvPr id="14" name="Shape 12"/>
          <p:cNvSpPr/>
          <p:nvPr/>
        </p:nvSpPr>
        <p:spPr>
          <a:xfrm>
            <a:off x="8158277" y="2880360"/>
            <a:ext cx="3393338" cy="0"/>
          </a:xfrm>
          <a:prstGeom prst="line">
            <a:avLst/>
          </a:prstGeom>
          <a:noFill/>
          <a:ln w="12700">
            <a:solidFill>
              <a:srgbClr val="D9E1E9"/>
            </a:solidFill>
            <a:prstDash val="solid"/>
          </a:ln>
        </p:spPr>
      </p:sp>
      <p:sp>
        <p:nvSpPr>
          <p:cNvPr id="15" name="Text 13"/>
          <p:cNvSpPr txBox="1"/>
          <p:nvPr/>
        </p:nvSpPr>
        <p:spPr>
          <a:xfrm>
            <a:off x="8158277" y="3063240"/>
            <a:ext cx="3393338" cy="256032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QuickLift draws one assembly's tracks on another, but only over a prebuilt chain. 464 haplotypes: more than 200,000 pairs. Chains: 56.</a:t>
            </a:r>
            <a:endParaRPr lang="en-US" sz="1700" dirty="0"/>
          </a:p>
        </p:txBody>
      </p:sp>
      <p:sp>
        <p:nvSpPr>
          <p:cNvPr id="16" name="Text 14"/>
          <p:cNvSpPr txBox="1"/>
          <p:nvPr/>
        </p:nvSpPr>
        <p:spPr>
          <a:xfrm>
            <a:off x="640080" y="5897880"/>
            <a:ext cx="1091153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is the alignment of all 464 at once. In the browser, it has been a file, not a tool.</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One researcher, two afternoons</a:t>
            </a:r>
            <a:endParaRPr lang="en-US" sz="3000" dirty="0"/>
          </a:p>
        </p:txBody>
      </p:sp>
      <p:sp>
        <p:nvSpPr>
          <p:cNvPr id="3" name="Text 1"/>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Text 2"/>
          <p:cNvSpPr txBox="1"/>
          <p:nvPr/>
        </p:nvSpPr>
        <p:spPr>
          <a:xfrm>
            <a:off x="640080" y="1463040"/>
            <a:ext cx="5181448" cy="36576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Scenario 1</a:t>
            </a:r>
            <a:endParaRPr lang="en-US" sz="1400" dirty="0"/>
          </a:p>
        </p:txBody>
      </p:sp>
      <p:sp>
        <p:nvSpPr>
          <p:cNvPr id="5" name="Text 3"/>
          <p:cNvSpPr txBox="1"/>
          <p:nvPr/>
        </p:nvSpPr>
        <p:spPr>
          <a:xfrm>
            <a:off x="640080" y="1828800"/>
            <a:ext cx="5181448" cy="548640"/>
          </a:xfrm>
          <a:prstGeom prst="rect">
            <a:avLst/>
          </a:prstGeom>
          <a:noFill/>
          <a:ln/>
        </p:spPr>
        <p:txBody>
          <a:bodyPr wrap="square" lIns="0" tIns="0" rIns="0" bIns="0" rtlCol="0" anchor="t"/>
          <a:lstStyle/>
          <a:p>
            <a:pPr indent="0" marL="0">
              <a:buNone/>
            </a:pPr>
            <a:r>
              <a:rPr lang="en-US" sz="2400" b="1" dirty="0">
                <a:solidFill>
                  <a:srgbClr val="003C6C"/>
                </a:solidFill>
                <a:latin typeface="Calibri" pitchFamily="34" charset="0"/>
                <a:ea typeface="Calibri" pitchFamily="34" charset="-122"/>
                <a:cs typeface="Calibri" pitchFamily="34" charset="-120"/>
              </a:rPr>
              <a:t>A sequence GRCh38 doesn't have</a:t>
            </a:r>
            <a:endParaRPr lang="en-US" sz="2400" dirty="0"/>
          </a:p>
        </p:txBody>
      </p:sp>
      <p:sp>
        <p:nvSpPr>
          <p:cNvPr id="6" name="Shape 4"/>
          <p:cNvSpPr/>
          <p:nvPr/>
        </p:nvSpPr>
        <p:spPr>
          <a:xfrm>
            <a:off x="640080" y="2514600"/>
            <a:ext cx="5181448" cy="0"/>
          </a:xfrm>
          <a:prstGeom prst="line">
            <a:avLst/>
          </a:prstGeom>
          <a:noFill/>
          <a:ln w="12700">
            <a:solidFill>
              <a:srgbClr val="D9E1E9"/>
            </a:solidFill>
            <a:prstDash val="solid"/>
          </a:ln>
        </p:spPr>
      </p:sp>
      <p:sp>
        <p:nvSpPr>
          <p:cNvPr id="7" name="Text 5"/>
          <p:cNvSpPr txBox="1"/>
          <p:nvPr/>
        </p:nvSpPr>
        <p:spPr>
          <a:xfrm>
            <a:off x="640080" y="2697480"/>
            <a:ext cx="5181448" cy="1463040"/>
          </a:xfrm>
          <a:prstGeom prst="rect">
            <a:avLst/>
          </a:prstGeom>
          <a:noFill/>
          <a:ln/>
        </p:spPr>
        <p:txBody>
          <a:bodyPr wrap="square" lIns="0" tIns="0" rIns="0" bIns="0" rtlCol="0" anchor="t"/>
          <a:lstStyle/>
          <a:p>
            <a:pPr indent="0" marL="0">
              <a:buNone/>
            </a:pPr>
            <a:r>
              <a:rPr lang="en-US" sz="1900" dirty="0">
                <a:solidFill>
                  <a:srgbClr val="18293B"/>
                </a:solidFill>
                <a:latin typeface="Calibri" pitchFamily="34" charset="0"/>
                <a:ea typeface="Calibri" pitchFamily="34" charset="-122"/>
                <a:cs typeface="Calibri" pitchFamily="34" charset="-120"/>
              </a:rPr>
              <a:t>A researcher assembles an insertion from a patient's long reads. It isn't in the reference. Which HPRC haplotypes carry it, and what does it look like there?</a:t>
            </a:r>
            <a:endParaRPr lang="en-US" sz="1900" dirty="0"/>
          </a:p>
        </p:txBody>
      </p:sp>
      <p:sp>
        <p:nvSpPr>
          <p:cNvPr id="8" name="Text 6"/>
          <p:cNvSpPr txBox="1"/>
          <p:nvPr/>
        </p:nvSpPr>
        <p:spPr>
          <a:xfrm>
            <a:off x="640080" y="4297680"/>
            <a:ext cx="5181448" cy="320040"/>
          </a:xfrm>
          <a:prstGeom prst="rect">
            <a:avLst/>
          </a:prstGeom>
          <a:noFill/>
          <a:ln/>
        </p:spPr>
        <p:txBody>
          <a:bodyPr wrap="square" lIns="0" tIns="0" rIns="0" bIns="0" rtlCol="0" anchor="t"/>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9" name="Text 7"/>
          <p:cNvSpPr txBox="1"/>
          <p:nvPr/>
        </p:nvSpPr>
        <p:spPr>
          <a:xfrm>
            <a:off x="640080" y="4617720"/>
            <a:ext cx="5181448" cy="731520"/>
          </a:xfrm>
          <a:prstGeom prst="rect">
            <a:avLst/>
          </a:prstGeom>
          <a:noFill/>
          <a:ln/>
        </p:spPr>
        <p:txBody>
          <a:bodyPr wrap="square" lIns="0" tIns="0" rIns="0" bIns="0" rtlCol="0" anchor="t"/>
          <a:lstStyle/>
          <a:p>
            <a:pPr indent="0" marL="0">
              <a:buNone/>
            </a:pPr>
            <a:r>
              <a:rPr lang="en-US" sz="2200" b="1" dirty="0">
                <a:solidFill>
                  <a:srgbClr val="E4572E"/>
                </a:solidFill>
                <a:latin typeface="Calibri" pitchFamily="34" charset="0"/>
                <a:ea typeface="Calibri" pitchFamily="34" charset="-122"/>
                <a:cs typeface="Calibri" pitchFamily="34" charset="-120"/>
              </a:rPr>
              <a:t>BLAT: one assembly at a time, blind to the graph</a:t>
            </a:r>
            <a:endParaRPr lang="en-US" sz="2200" dirty="0"/>
          </a:p>
        </p:txBody>
      </p:sp>
      <p:sp>
        <p:nvSpPr>
          <p:cNvPr id="10" name="Text 8"/>
          <p:cNvSpPr txBox="1"/>
          <p:nvPr/>
        </p:nvSpPr>
        <p:spPr>
          <a:xfrm>
            <a:off x="6370168" y="1463040"/>
            <a:ext cx="5181448" cy="36576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Scenario 2</a:t>
            </a:r>
            <a:endParaRPr lang="en-US" sz="1400" dirty="0"/>
          </a:p>
        </p:txBody>
      </p:sp>
      <p:sp>
        <p:nvSpPr>
          <p:cNvPr id="11" name="Text 9"/>
          <p:cNvSpPr txBox="1"/>
          <p:nvPr/>
        </p:nvSpPr>
        <p:spPr>
          <a:xfrm>
            <a:off x="6370168" y="1828800"/>
            <a:ext cx="5181448" cy="548640"/>
          </a:xfrm>
          <a:prstGeom prst="rect">
            <a:avLst/>
          </a:prstGeom>
          <a:noFill/>
          <a:ln/>
        </p:spPr>
        <p:txBody>
          <a:bodyPr wrap="square" lIns="0" tIns="0" rIns="0" bIns="0" rtlCol="0" anchor="t"/>
          <a:lstStyle/>
          <a:p>
            <a:pPr indent="0" marL="0">
              <a:buNone/>
            </a:pPr>
            <a:r>
              <a:rPr lang="en-US" sz="2400" b="1" dirty="0">
                <a:solidFill>
                  <a:srgbClr val="003C6C"/>
                </a:solidFill>
                <a:latin typeface="Calibri" pitchFamily="34" charset="0"/>
                <a:ea typeface="Calibri" pitchFamily="34" charset="-122"/>
                <a:cs typeface="Calibri" pitchFamily="34" charset="-120"/>
              </a:rPr>
              <a:t>A gene you know, on a genome you don't</a:t>
            </a:r>
            <a:endParaRPr lang="en-US" sz="2400" dirty="0"/>
          </a:p>
        </p:txBody>
      </p:sp>
      <p:sp>
        <p:nvSpPr>
          <p:cNvPr id="12" name="Shape 10"/>
          <p:cNvSpPr/>
          <p:nvPr/>
        </p:nvSpPr>
        <p:spPr>
          <a:xfrm>
            <a:off x="6370168" y="2514600"/>
            <a:ext cx="5181448" cy="0"/>
          </a:xfrm>
          <a:prstGeom prst="line">
            <a:avLst/>
          </a:prstGeom>
          <a:noFill/>
          <a:ln w="12700">
            <a:solidFill>
              <a:srgbClr val="D9E1E9"/>
            </a:solidFill>
            <a:prstDash val="solid"/>
          </a:ln>
        </p:spPr>
      </p:sp>
      <p:sp>
        <p:nvSpPr>
          <p:cNvPr id="13" name="Text 11"/>
          <p:cNvSpPr txBox="1"/>
          <p:nvPr/>
        </p:nvSpPr>
        <p:spPr>
          <a:xfrm>
            <a:off x="6370168" y="2697480"/>
            <a:ext cx="5181448" cy="1463040"/>
          </a:xfrm>
          <a:prstGeom prst="rect">
            <a:avLst/>
          </a:prstGeom>
          <a:noFill/>
          <a:ln/>
        </p:spPr>
        <p:txBody>
          <a:bodyPr wrap="square" lIns="0" tIns="0" rIns="0" bIns="0" rtlCol="0" anchor="t"/>
          <a:lstStyle/>
          <a:p>
            <a:pPr indent="0" marL="0">
              <a:buNone/>
            </a:pPr>
            <a:r>
              <a:rPr lang="en-US" sz="1900" dirty="0">
                <a:solidFill>
                  <a:srgbClr val="18293B"/>
                </a:solidFill>
                <a:latin typeface="Calibri" pitchFamily="34" charset="0"/>
                <a:ea typeface="Calibri" pitchFamily="34" charset="-122"/>
                <a:cs typeface="Calibri" pitchFamily="34" charset="-120"/>
              </a:rPr>
              <a:t>The same researcher is curating a gene on GRCh38, ClinVar and GWAS open, and wants to see it on one HPRC individual.</a:t>
            </a:r>
            <a:endParaRPr lang="en-US" sz="1900" dirty="0"/>
          </a:p>
        </p:txBody>
      </p:sp>
      <p:sp>
        <p:nvSpPr>
          <p:cNvPr id="14" name="Text 12"/>
          <p:cNvSpPr txBox="1"/>
          <p:nvPr/>
        </p:nvSpPr>
        <p:spPr>
          <a:xfrm>
            <a:off x="6370168" y="4297680"/>
            <a:ext cx="5181448" cy="320040"/>
          </a:xfrm>
          <a:prstGeom prst="rect">
            <a:avLst/>
          </a:prstGeom>
          <a:noFill/>
          <a:ln/>
        </p:spPr>
        <p:txBody>
          <a:bodyPr wrap="square" lIns="0" tIns="0" rIns="0" bIns="0" rtlCol="0" anchor="t"/>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15" name="Text 13"/>
          <p:cNvSpPr txBox="1"/>
          <p:nvPr/>
        </p:nvSpPr>
        <p:spPr>
          <a:xfrm>
            <a:off x="6370168" y="4617720"/>
            <a:ext cx="5181448" cy="731520"/>
          </a:xfrm>
          <a:prstGeom prst="rect">
            <a:avLst/>
          </a:prstGeom>
          <a:noFill/>
          <a:ln/>
        </p:spPr>
        <p:txBody>
          <a:bodyPr wrap="square" lIns="0" tIns="0" rIns="0" bIns="0" rtlCol="0" anchor="t"/>
          <a:lstStyle/>
          <a:p>
            <a:pPr indent="0" marL="0">
              <a:buNone/>
            </a:pPr>
            <a:r>
              <a:rPr lang="en-US" sz="2200" b="1" dirty="0">
                <a:solidFill>
                  <a:srgbClr val="E4572E"/>
                </a:solidFill>
                <a:latin typeface="Calibri" pitchFamily="34" charset="0"/>
                <a:ea typeface="Calibri" pitchFamily="34" charset="-122"/>
                <a:cs typeface="Calibri" pitchFamily="34" charset="-120"/>
              </a:rPr>
              <a:t>QuickLift: only where a chain already exists</a:t>
            </a:r>
            <a:endParaRPr lang="en-US" sz="2200" dirty="0"/>
          </a:p>
        </p:txBody>
      </p:sp>
      <p:sp>
        <p:nvSpPr>
          <p:cNvPr id="16" name="Text 14"/>
          <p:cNvSpPr txBox="1"/>
          <p:nvPr/>
        </p:nvSpPr>
        <p:spPr>
          <a:xfrm>
            <a:off x="640080" y="5897880"/>
            <a:ext cx="1091153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By the end of this talk: both afternoons, in the browser, in seconds.</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One index over the graph, two tools in the browser</a:t>
            </a:r>
            <a:endParaRPr lang="en-US" sz="3000" dirty="0"/>
          </a:p>
        </p:txBody>
      </p:sp>
      <p:sp>
        <p:nvSpPr>
          <p:cNvPr id="3" name="Text 1"/>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640080" y="1645920"/>
            <a:ext cx="10911535" cy="1188720"/>
          </a:xfrm>
          <a:prstGeom prst="roundRect">
            <a:avLst>
              <a:gd name="adj" fmla="val 7692"/>
            </a:avLst>
          </a:prstGeom>
          <a:solidFill>
            <a:srgbClr val="F3F5F8"/>
          </a:solidFill>
          <a:ln w="12700">
            <a:solidFill>
              <a:srgbClr val="E1E6EC"/>
            </a:solidFill>
            <a:prstDash val="solid"/>
          </a:ln>
        </p:spPr>
      </p:sp>
      <p:sp>
        <p:nvSpPr>
          <p:cNvPr id="5" name="Text 3"/>
          <p:cNvSpPr txBox="1"/>
          <p:nvPr/>
        </p:nvSpPr>
        <p:spPr>
          <a:xfrm>
            <a:off x="640080" y="1783080"/>
            <a:ext cx="10911535" cy="457200"/>
          </a:xfrm>
          <a:prstGeom prst="rect">
            <a:avLst/>
          </a:prstGeom>
          <a:noFill/>
          <a:ln/>
        </p:spPr>
        <p:txBody>
          <a:bodyPr wrap="square" lIns="0" tIns="0" rIns="0" bIns="0" rtlCol="0" anchor="t"/>
          <a:lstStyle/>
          <a:p>
            <a:pPr algn="ctr" indent="0" marL="0">
              <a:buNone/>
            </a:pPr>
            <a:r>
              <a:rPr lang="en-US" sz="2200" b="1" dirty="0">
                <a:solidFill>
                  <a:srgbClr val="003C6C"/>
                </a:solidFill>
                <a:latin typeface="Calibri" pitchFamily="34" charset="0"/>
                <a:ea typeface="Calibri" pitchFamily="34" charset="-122"/>
                <a:cs typeface="Calibri" pitchFamily="34" charset="-120"/>
              </a:rPr>
              <a:t>Tag-array index over the HPRC v2.0 graph</a:t>
            </a:r>
            <a:endParaRPr lang="en-US" sz="2200" dirty="0"/>
          </a:p>
        </p:txBody>
      </p:sp>
      <p:sp>
        <p:nvSpPr>
          <p:cNvPr id="6" name="Text 4"/>
          <p:cNvSpPr txBox="1"/>
          <p:nvPr/>
        </p:nvSpPr>
        <p:spPr>
          <a:xfrm>
            <a:off x="640080" y="2286000"/>
            <a:ext cx="10911535" cy="36576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464 haplotypes  •  every BWT position knows its graph position  •  every node knows every haplotype crossing it</a:t>
            </a:r>
            <a:endParaRPr lang="en-US" sz="1600" dirty="0"/>
          </a:p>
        </p:txBody>
      </p:sp>
      <p:sp>
        <p:nvSpPr>
          <p:cNvPr id="7" name="Shape 5"/>
          <p:cNvSpPr/>
          <p:nvPr/>
        </p:nvSpPr>
        <p:spPr>
          <a:xfrm>
            <a:off x="3230804" y="2834640"/>
            <a:ext cx="0" cy="502920"/>
          </a:xfrm>
          <a:prstGeom prst="line">
            <a:avLst/>
          </a:prstGeom>
          <a:noFill/>
          <a:ln w="25400">
            <a:solidFill>
              <a:srgbClr val="003C6C"/>
            </a:solidFill>
            <a:prstDash val="solid"/>
            <a:tailEnd type="triangle"/>
          </a:ln>
        </p:spPr>
      </p:sp>
      <p:sp>
        <p:nvSpPr>
          <p:cNvPr id="8" name="Text 6"/>
          <p:cNvSpPr txBox="1"/>
          <p:nvPr/>
        </p:nvSpPr>
        <p:spPr>
          <a:xfrm>
            <a:off x="640080" y="3474720"/>
            <a:ext cx="5181448" cy="32004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Scenario 1</a:t>
            </a:r>
            <a:endParaRPr lang="en-US" sz="1400" dirty="0"/>
          </a:p>
        </p:txBody>
      </p:sp>
      <p:sp>
        <p:nvSpPr>
          <p:cNvPr id="9" name="Text 7"/>
          <p:cNvSpPr txBox="1"/>
          <p:nvPr/>
        </p:nvSpPr>
        <p:spPr>
          <a:xfrm>
            <a:off x="640080" y="3794760"/>
            <a:ext cx="5181448" cy="502920"/>
          </a:xfrm>
          <a:prstGeom prst="rect">
            <a:avLst/>
          </a:prstGeom>
          <a:noFill/>
          <a:ln/>
        </p:spPr>
        <p:txBody>
          <a:bodyPr wrap="square" lIns="0" tIns="0" rIns="0" bIns="0" rtlCol="0" anchor="t"/>
          <a:lstStyle/>
          <a:p>
            <a:pPr indent="0" marL="0">
              <a:buNone/>
            </a:pPr>
            <a:r>
              <a:rPr lang="en-US" sz="2400" b="1" dirty="0">
                <a:solidFill>
                  <a:srgbClr val="003C6C"/>
                </a:solidFill>
                <a:latin typeface="Calibri" pitchFamily="34" charset="0"/>
                <a:ea typeface="Calibri" pitchFamily="34" charset="-122"/>
                <a:cs typeface="Calibri" pitchFamily="34" charset="-120"/>
              </a:rPr>
              <a:t>Pangenome Mapping</a:t>
            </a:r>
            <a:endParaRPr lang="en-US" sz="2400" dirty="0"/>
          </a:p>
        </p:txBody>
      </p:sp>
      <p:sp>
        <p:nvSpPr>
          <p:cNvPr id="10" name="Text 8"/>
          <p:cNvSpPr txBox="1"/>
          <p:nvPr/>
        </p:nvSpPr>
        <p:spPr>
          <a:xfrm>
            <a:off x="640080" y="4343400"/>
            <a:ext cx="5181448" cy="109728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Paste a sequence. Every haplotype that carries it, ranked; land on any of them as a track.</a:t>
            </a:r>
            <a:endParaRPr lang="en-US" sz="1800" dirty="0"/>
          </a:p>
        </p:txBody>
      </p:sp>
      <p:sp>
        <p:nvSpPr>
          <p:cNvPr id="11" name="Shape 9"/>
          <p:cNvSpPr/>
          <p:nvPr/>
        </p:nvSpPr>
        <p:spPr>
          <a:xfrm>
            <a:off x="8960891" y="2834640"/>
            <a:ext cx="0" cy="502920"/>
          </a:xfrm>
          <a:prstGeom prst="line">
            <a:avLst/>
          </a:prstGeom>
          <a:noFill/>
          <a:ln w="25400">
            <a:solidFill>
              <a:srgbClr val="003C6C"/>
            </a:solidFill>
            <a:prstDash val="solid"/>
            <a:tailEnd type="triangle"/>
          </a:ln>
        </p:spPr>
      </p:sp>
      <p:sp>
        <p:nvSpPr>
          <p:cNvPr id="12" name="Text 10"/>
          <p:cNvSpPr txBox="1"/>
          <p:nvPr/>
        </p:nvSpPr>
        <p:spPr>
          <a:xfrm>
            <a:off x="6370168" y="3474720"/>
            <a:ext cx="5181448" cy="32004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Scenario 2</a:t>
            </a:r>
            <a:endParaRPr lang="en-US" sz="1400" dirty="0"/>
          </a:p>
        </p:txBody>
      </p:sp>
      <p:sp>
        <p:nvSpPr>
          <p:cNvPr id="13" name="Text 11"/>
          <p:cNvSpPr txBox="1"/>
          <p:nvPr/>
        </p:nvSpPr>
        <p:spPr>
          <a:xfrm>
            <a:off x="6370168" y="3794760"/>
            <a:ext cx="5181448" cy="502920"/>
          </a:xfrm>
          <a:prstGeom prst="rect">
            <a:avLst/>
          </a:prstGeom>
          <a:noFill/>
          <a:ln/>
        </p:spPr>
        <p:txBody>
          <a:bodyPr wrap="square" lIns="0" tIns="0" rIns="0" bIns="0" rtlCol="0" anchor="t"/>
          <a:lstStyle/>
          <a:p>
            <a:pPr indent="0" marL="0">
              <a:buNone/>
            </a:pPr>
            <a:r>
              <a:rPr lang="en-US" sz="2400" b="1" dirty="0">
                <a:solidFill>
                  <a:srgbClr val="003C6C"/>
                </a:solidFill>
                <a:latin typeface="Calibri" pitchFamily="34" charset="0"/>
                <a:ea typeface="Calibri" pitchFamily="34" charset="-122"/>
                <a:cs typeface="Calibri" pitchFamily="34" charset="-120"/>
              </a:rPr>
              <a:t>Rapid lift-over</a:t>
            </a:r>
            <a:endParaRPr lang="en-US" sz="2400" dirty="0"/>
          </a:p>
        </p:txBody>
      </p:sp>
      <p:sp>
        <p:nvSpPr>
          <p:cNvPr id="14" name="Text 12"/>
          <p:cNvSpPr txBox="1"/>
          <p:nvPr/>
        </p:nvSpPr>
        <p:spPr>
          <a:xfrm>
            <a:off x="6370168" y="4343400"/>
            <a:ext cx="5181448" cy="109728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Pick any of 464 haplotypes. A chain is built on the spot and the reference's tracks follow.</a:t>
            </a:r>
            <a:endParaRPr lang="en-US" sz="1800" dirty="0"/>
          </a:p>
        </p:txBody>
      </p:sp>
      <p:sp>
        <p:nvSpPr>
          <p:cNvPr id="15" name="Text 13"/>
          <p:cNvSpPr txBox="1"/>
          <p:nvPr/>
        </p:nvSpPr>
        <p:spPr>
          <a:xfrm>
            <a:off x="640080" y="5943600"/>
            <a:ext cx="10911535" cy="457200"/>
          </a:xfrm>
          <a:prstGeom prst="rect">
            <a:avLst/>
          </a:prstGeom>
          <a:noFill/>
          <a:ln/>
        </p:spPr>
        <p:txBody>
          <a:bodyPr wrap="square" lIns="0" tIns="0" rIns="0" bIns="0" rtlCol="0" anchor="t"/>
          <a:lstStyle/>
          <a:p>
            <a:pPr algn="ctr" indent="0" marL="0">
              <a:buNone/>
            </a:pPr>
            <a:r>
              <a:rPr lang="en-US" sz="1500" i="1" dirty="0">
                <a:solidFill>
                  <a:srgbClr val="5B6B7C"/>
                </a:solidFill>
                <a:latin typeface="Calibri" pitchFamily="34" charset="0"/>
                <a:ea typeface="Calibri" pitchFamily="34" charset="-122"/>
                <a:cs typeface="Calibri" pitchFamily="34" charset="-120"/>
              </a:rPr>
              <a:t>Both run as one service behind the browser; 15 lines changed in the browser's core.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Indexing a pangenome forced a trade-off</a:t>
            </a:r>
            <a:endParaRPr lang="en-US" sz="3000" dirty="0"/>
          </a:p>
        </p:txBody>
      </p:sp>
      <p:sp>
        <p:nvSpPr>
          <p:cNvPr id="3" name="Text 1"/>
          <p:cNvSpPr txBox="1"/>
          <p:nvPr/>
        </p:nvSpPr>
        <p:spPr>
          <a:xfrm>
            <a:off x="9448495" y="457200"/>
            <a:ext cx="2103120" cy="731520"/>
          </a:xfrm>
          <a:prstGeom prst="rect">
            <a:avLst/>
          </a:prstGeom>
          <a:noFill/>
          <a:ln/>
        </p:spPr>
        <p:txBody>
          <a:bodyPr wrap="square" lIns="0" tIns="0" rIns="0" bIns="0" rtlCol="0" anchor="ctr"/>
          <a:lstStyle/>
          <a:p>
            <a:pPr algn="r" indent="0" marL="0">
              <a:buNone/>
            </a:pPr>
            <a:r>
              <a:rPr lang="en-US" sz="1400" b="1" spc="200" kern="0" dirty="0">
                <a:solidFill>
                  <a:srgbClr val="5B6B7C"/>
                </a:solidFill>
                <a:latin typeface="Calibri" pitchFamily="34" charset="0"/>
                <a:ea typeface="Calibri" pitchFamily="34" charset="-122"/>
                <a:cs typeface="Calibri" pitchFamily="34" charset="-120"/>
              </a:rPr>
              <a:t>Tag arrays</a:t>
            </a:r>
            <a:endParaRPr lang="en-US" sz="1400" dirty="0"/>
          </a:p>
        </p:txBody>
      </p:sp>
      <p:sp>
        <p:nvSpPr>
          <p:cNvPr id="4" name="Text 2"/>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5" name="Text 3"/>
          <p:cNvSpPr txBox="1"/>
          <p:nvPr/>
        </p:nvSpPr>
        <p:spPr>
          <a:xfrm>
            <a:off x="640080" y="1463040"/>
            <a:ext cx="3393338" cy="54864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haplotypes</a:t>
            </a:r>
            <a:endParaRPr lang="en-US" sz="2100" dirty="0"/>
          </a:p>
        </p:txBody>
      </p:sp>
      <p:sp>
        <p:nvSpPr>
          <p:cNvPr id="6" name="Shape 4"/>
          <p:cNvSpPr/>
          <p:nvPr/>
        </p:nvSpPr>
        <p:spPr>
          <a:xfrm>
            <a:off x="640080" y="2148840"/>
            <a:ext cx="3393338" cy="0"/>
          </a:xfrm>
          <a:prstGeom prst="line">
            <a:avLst/>
          </a:prstGeom>
          <a:noFill/>
          <a:ln w="12700">
            <a:solidFill>
              <a:srgbClr val="D9E1E9"/>
            </a:solidFill>
            <a:prstDash val="solid"/>
          </a:ln>
        </p:spPr>
      </p:sp>
      <p:sp>
        <p:nvSpPr>
          <p:cNvPr id="7" name="Text 5"/>
          <p:cNvSpPr txBox="1"/>
          <p:nvPr/>
        </p:nvSpPr>
        <p:spPr>
          <a:xfrm>
            <a:off x="640080" y="2331720"/>
            <a:ext cx="3393338" cy="201168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Simple and lossless, but the same seed is reported once per haplotype: 464 copies of every hit.</a:t>
            </a:r>
            <a:endParaRPr lang="en-US" sz="1700" dirty="0"/>
          </a:p>
        </p:txBody>
      </p:sp>
      <p:sp>
        <p:nvSpPr>
          <p:cNvPr id="8" name="Text 6"/>
          <p:cNvSpPr txBox="1"/>
          <p:nvPr/>
        </p:nvSpPr>
        <p:spPr>
          <a:xfrm>
            <a:off x="640080" y="4389120"/>
            <a:ext cx="339333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ropebwt3</a:t>
            </a:r>
            <a:endParaRPr lang="en-US" sz="1400" dirty="0"/>
          </a:p>
        </p:txBody>
      </p:sp>
      <p:sp>
        <p:nvSpPr>
          <p:cNvPr id="9" name="Text 7"/>
          <p:cNvSpPr txBox="1"/>
          <p:nvPr/>
        </p:nvSpPr>
        <p:spPr>
          <a:xfrm>
            <a:off x="4399178" y="1463040"/>
            <a:ext cx="3393338" cy="54864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graph</a:t>
            </a:r>
            <a:endParaRPr lang="en-US" sz="2100" dirty="0"/>
          </a:p>
        </p:txBody>
      </p:sp>
      <p:sp>
        <p:nvSpPr>
          <p:cNvPr id="10" name="Shape 8"/>
          <p:cNvSpPr/>
          <p:nvPr/>
        </p:nvSpPr>
        <p:spPr>
          <a:xfrm>
            <a:off x="4399178" y="2148840"/>
            <a:ext cx="3393338" cy="0"/>
          </a:xfrm>
          <a:prstGeom prst="line">
            <a:avLst/>
          </a:prstGeom>
          <a:noFill/>
          <a:ln w="12700">
            <a:solidFill>
              <a:srgbClr val="D9E1E9"/>
            </a:solidFill>
            <a:prstDash val="solid"/>
          </a:ln>
        </p:spPr>
      </p:sp>
      <p:sp>
        <p:nvSpPr>
          <p:cNvPr id="11" name="Text 9"/>
          <p:cNvSpPr txBox="1"/>
          <p:nvPr/>
        </p:nvSpPr>
        <p:spPr>
          <a:xfrm>
            <a:off x="4399178" y="2331720"/>
            <a:ext cx="3393338" cy="201168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Deduplicated positions, but construction needs graph transformations that are fragile and can drop parts of haplotypes.</a:t>
            </a:r>
            <a:endParaRPr lang="en-US" sz="1700" dirty="0"/>
          </a:p>
        </p:txBody>
      </p:sp>
      <p:sp>
        <p:nvSpPr>
          <p:cNvPr id="12" name="Text 10"/>
          <p:cNvSpPr txBox="1"/>
          <p:nvPr/>
        </p:nvSpPr>
        <p:spPr>
          <a:xfrm>
            <a:off x="4399178" y="4389120"/>
            <a:ext cx="339333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HISAT2, vg map</a:t>
            </a:r>
            <a:endParaRPr lang="en-US" sz="1400" dirty="0"/>
          </a:p>
        </p:txBody>
      </p:sp>
      <p:sp>
        <p:nvSpPr>
          <p:cNvPr id="13" name="Text 11"/>
          <p:cNvSpPr txBox="1"/>
          <p:nvPr/>
        </p:nvSpPr>
        <p:spPr>
          <a:xfrm>
            <a:off x="8158277" y="1463040"/>
            <a:ext cx="3393338" cy="54864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Minimizer indexes</a:t>
            </a:r>
            <a:endParaRPr lang="en-US" sz="2100" dirty="0"/>
          </a:p>
        </p:txBody>
      </p:sp>
      <p:sp>
        <p:nvSpPr>
          <p:cNvPr id="14" name="Shape 12"/>
          <p:cNvSpPr/>
          <p:nvPr/>
        </p:nvSpPr>
        <p:spPr>
          <a:xfrm>
            <a:off x="8158277" y="2148840"/>
            <a:ext cx="3393338" cy="0"/>
          </a:xfrm>
          <a:prstGeom prst="line">
            <a:avLst/>
          </a:prstGeom>
          <a:noFill/>
          <a:ln w="12700">
            <a:solidFill>
              <a:srgbClr val="D9E1E9"/>
            </a:solidFill>
            <a:prstDash val="solid"/>
          </a:ln>
        </p:spPr>
      </p:sp>
      <p:sp>
        <p:nvSpPr>
          <p:cNvPr id="15" name="Text 13"/>
          <p:cNvSpPr txBox="1"/>
          <p:nvPr/>
        </p:nvSpPr>
        <p:spPr>
          <a:xfrm>
            <a:off x="8158277" y="2331720"/>
            <a:ext cx="3393338" cy="201168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Fast, but the seed length is fixed in advance: a permanent trade of sensitivity for specificity.</a:t>
            </a:r>
            <a:endParaRPr lang="en-US" sz="1700" dirty="0"/>
          </a:p>
        </p:txBody>
      </p:sp>
      <p:sp>
        <p:nvSpPr>
          <p:cNvPr id="16" name="Text 14"/>
          <p:cNvSpPr txBox="1"/>
          <p:nvPr/>
        </p:nvSpPr>
        <p:spPr>
          <a:xfrm>
            <a:off x="8158277" y="4389120"/>
            <a:ext cx="339333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vg giraffe</a:t>
            </a:r>
            <a:endParaRPr lang="en-US" sz="1400" dirty="0"/>
          </a:p>
        </p:txBody>
      </p:sp>
      <p:sp>
        <p:nvSpPr>
          <p:cNvPr id="17" name="Shape 15"/>
          <p:cNvSpPr/>
          <p:nvPr/>
        </p:nvSpPr>
        <p:spPr>
          <a:xfrm>
            <a:off x="640080" y="5074920"/>
            <a:ext cx="10911535" cy="914400"/>
          </a:xfrm>
          <a:prstGeom prst="roundRect">
            <a:avLst>
              <a:gd name="adj" fmla="val 10000"/>
            </a:avLst>
          </a:prstGeom>
          <a:solidFill>
            <a:srgbClr val="F3F5F8"/>
          </a:solidFill>
          <a:ln w="12700">
            <a:solidFill>
              <a:srgbClr val="E1E6EC"/>
            </a:solidFill>
            <a:prstDash val="solid"/>
          </a:ln>
        </p:spPr>
      </p:sp>
      <p:sp>
        <p:nvSpPr>
          <p:cNvPr id="18" name="Text 16"/>
          <p:cNvSpPr txBox="1"/>
          <p:nvPr/>
        </p:nvSpPr>
        <p:spPr>
          <a:xfrm>
            <a:off x="914400" y="5074920"/>
            <a:ext cx="10362895" cy="914400"/>
          </a:xfrm>
          <a:prstGeom prst="rect">
            <a:avLst/>
          </a:prstGeom>
          <a:noFill/>
          <a:ln/>
        </p:spPr>
        <p:txBody>
          <a:bodyPr wrap="square" lIns="0" tIns="0" rIns="0" bIns="0" rtlCol="0" anchor="ctr"/>
          <a:lstStyle/>
          <a:p>
            <a:pPr algn="ctr" indent="0" marL="0">
              <a:buNone/>
            </a:pPr>
            <a:r>
              <a:rPr lang="en-US" sz="1900" b="1" dirty="0">
                <a:solidFill>
                  <a:srgbClr val="003C6C"/>
                </a:solidFill>
                <a:latin typeface="Calibri" pitchFamily="34" charset="0"/>
                <a:ea typeface="Calibri" pitchFamily="34" charset="-122"/>
                <a:cs typeface="Calibri" pitchFamily="34" charset="-120"/>
              </a:rPr>
              <a:t>Tag arrays: keep the FM-index on the haplotypes, and annotate the BWT with graph positions. Lossless, deduplicated, any seed length.</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Tag arrays: every BWT position knows its node</a:t>
            </a:r>
            <a:endParaRPr lang="en-US" sz="3000" dirty="0"/>
          </a:p>
        </p:txBody>
      </p:sp>
      <p:sp>
        <p:nvSpPr>
          <p:cNvPr id="3" name="Text 1"/>
          <p:cNvSpPr txBox="1"/>
          <p:nvPr/>
        </p:nvSpPr>
        <p:spPr>
          <a:xfrm>
            <a:off x="9448495" y="457200"/>
            <a:ext cx="2103120" cy="731520"/>
          </a:xfrm>
          <a:prstGeom prst="rect">
            <a:avLst/>
          </a:prstGeom>
          <a:noFill/>
          <a:ln/>
        </p:spPr>
        <p:txBody>
          <a:bodyPr wrap="square" lIns="0" tIns="0" rIns="0" bIns="0" rtlCol="0" anchor="ctr"/>
          <a:lstStyle/>
          <a:p>
            <a:pPr algn="r" indent="0" marL="0">
              <a:buNone/>
            </a:pPr>
            <a:r>
              <a:rPr lang="en-US" sz="1400" b="1" spc="200" kern="0" dirty="0">
                <a:solidFill>
                  <a:srgbClr val="5B6B7C"/>
                </a:solidFill>
                <a:latin typeface="Calibri" pitchFamily="34" charset="0"/>
                <a:ea typeface="Calibri" pitchFamily="34" charset="-122"/>
                <a:cs typeface="Calibri" pitchFamily="34" charset="-120"/>
              </a:rPr>
              <a:t>Tag arrays</a:t>
            </a:r>
            <a:endParaRPr lang="en-US" sz="1400" dirty="0"/>
          </a:p>
        </p:txBody>
      </p:sp>
      <p:sp>
        <p:nvSpPr>
          <p:cNvPr id="4" name="Text 2"/>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640080" y="1463040"/>
            <a:ext cx="6949440" cy="4623358"/>
          </a:xfrm>
          <a:prstGeom prst="rect">
            <a:avLst/>
          </a:prstGeom>
        </p:spPr>
      </p:pic>
      <p:sp>
        <p:nvSpPr>
          <p:cNvPr id="6" name="Text 3"/>
          <p:cNvSpPr txBox="1"/>
          <p:nvPr/>
        </p:nvSpPr>
        <p:spPr>
          <a:xfrm>
            <a:off x="8046720" y="1463040"/>
            <a:ext cx="350489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Query</a:t>
            </a:r>
            <a:endParaRPr lang="en-US" sz="1800" dirty="0"/>
          </a:p>
        </p:txBody>
      </p:sp>
      <p:sp>
        <p:nvSpPr>
          <p:cNvPr id="7" name="Text 4"/>
          <p:cNvSpPr txBox="1"/>
          <p:nvPr/>
        </p:nvSpPr>
        <p:spPr>
          <a:xfrm>
            <a:off x="8046720" y="1847088"/>
            <a:ext cx="3504895" cy="118872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r-index finds the BWT interval for a pattern. Two rank queries on the run-length tag structure return the distinct graph positions in it: no scan, no decompression.</a:t>
            </a:r>
            <a:endParaRPr lang="en-US" sz="1500" dirty="0"/>
          </a:p>
        </p:txBody>
      </p:sp>
      <p:sp>
        <p:nvSpPr>
          <p:cNvPr id="8" name="Text 5"/>
          <p:cNvSpPr txBox="1"/>
          <p:nvPr/>
        </p:nvSpPr>
        <p:spPr>
          <a:xfrm>
            <a:off x="8046720" y="3063240"/>
            <a:ext cx="350489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Runs, not positions</a:t>
            </a:r>
            <a:endParaRPr lang="en-US" sz="1800" dirty="0"/>
          </a:p>
        </p:txBody>
      </p:sp>
      <p:sp>
        <p:nvSpPr>
          <p:cNvPr id="9" name="Text 6"/>
          <p:cNvSpPr txBox="1"/>
          <p:nvPr/>
        </p:nvSpPr>
        <p:spPr>
          <a:xfrm>
            <a:off x="8046720" y="3447288"/>
            <a:ext cx="3504895" cy="118872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Similar suffixes sit together, so tags come in long runs. Bases grew 5x from v1.1 to v2.0; tag runs only 2x.</a:t>
            </a:r>
            <a:endParaRPr lang="en-US" sz="1500" dirty="0"/>
          </a:p>
        </p:txBody>
      </p:sp>
      <p:sp>
        <p:nvSpPr>
          <p:cNvPr id="10" name="Text 7"/>
          <p:cNvSpPr txBox="1"/>
          <p:nvPr/>
        </p:nvSpPr>
        <p:spPr>
          <a:xfrm>
            <a:off x="8046720" y="4663440"/>
            <a:ext cx="350489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Built at HPRC scale</a:t>
            </a:r>
            <a:endParaRPr lang="en-US" sz="1800" dirty="0"/>
          </a:p>
        </p:txBody>
      </p:sp>
      <p:sp>
        <p:nvSpPr>
          <p:cNvPr id="11" name="Text 8"/>
          <p:cNvSpPr txBox="1"/>
          <p:nvPr/>
        </p:nvSpPr>
        <p:spPr>
          <a:xfrm>
            <a:off x="8046720" y="5047488"/>
            <a:ext cx="3504895" cy="118872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Per chromosome, then merged through the multi-string BWT. v2.0: 464 haplotypes, 2.6 Tbp, 26 billion tag runs, 149 GiB; a 23 GiB sampled tag array serves translation.</a:t>
            </a:r>
            <a:endParaRPr lang="en-US" sz="1500" dirty="0"/>
          </a:p>
        </p:txBody>
      </p:sp>
      <p:sp>
        <p:nvSpPr>
          <p:cNvPr id="12" name="Text 9"/>
          <p:cNvSpPr txBox="1"/>
          <p:nvPr/>
        </p:nvSpPr>
        <p:spPr>
          <a:xfrm>
            <a:off x="640080" y="6172200"/>
            <a:ext cx="10911535" cy="3657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From tags to translation: a walk, not a lookup</a:t>
            </a:r>
            <a:endParaRPr lang="en-US" sz="3000" dirty="0"/>
          </a:p>
        </p:txBody>
      </p:sp>
      <p:sp>
        <p:nvSpPr>
          <p:cNvPr id="3" name="Text 1"/>
          <p:cNvSpPr txBox="1"/>
          <p:nvPr/>
        </p:nvSpPr>
        <p:spPr>
          <a:xfrm>
            <a:off x="9448495" y="457200"/>
            <a:ext cx="2103120" cy="731520"/>
          </a:xfrm>
          <a:prstGeom prst="rect">
            <a:avLst/>
          </a:prstGeom>
          <a:noFill/>
          <a:ln/>
        </p:spPr>
        <p:txBody>
          <a:bodyPr wrap="square" lIns="0" tIns="0" rIns="0" bIns="0" rtlCol="0" anchor="ctr"/>
          <a:lstStyle/>
          <a:p>
            <a:pPr algn="r" indent="0" marL="0">
              <a:buNone/>
            </a:pPr>
            <a:r>
              <a:rPr lang="en-US" sz="1400" b="1" spc="200" kern="0" dirty="0">
                <a:solidFill>
                  <a:srgbClr val="5B6B7C"/>
                </a:solidFill>
                <a:latin typeface="Calibri" pitchFamily="34" charset="0"/>
                <a:ea typeface="Calibri" pitchFamily="34" charset="-122"/>
                <a:cs typeface="Calibri" pitchFamily="34" charset="-120"/>
              </a:rPr>
              <a:t>Tag arrays</a:t>
            </a:r>
            <a:endParaRPr lang="en-US" sz="1400" dirty="0"/>
          </a:p>
        </p:txBody>
      </p:sp>
      <p:sp>
        <p:nvSpPr>
          <p:cNvPr id="4" name="Text 2"/>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640080" y="2194560"/>
            <a:ext cx="6400800" cy="2493335"/>
          </a:xfrm>
          <a:prstGeom prst="rect">
            <a:avLst/>
          </a:prstGeom>
        </p:spPr>
      </p:pic>
      <p:sp>
        <p:nvSpPr>
          <p:cNvPr id="6" name="Text 3"/>
          <p:cNvSpPr txBox="1"/>
          <p:nvPr/>
        </p:nvSpPr>
        <p:spPr>
          <a:xfrm>
            <a:off x="64008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589520" y="1435608"/>
            <a:ext cx="384048" cy="384048"/>
          </a:xfrm>
          <a:prstGeom prst="roundRect">
            <a:avLst>
              <a:gd name="adj" fmla="val 19048"/>
            </a:avLst>
          </a:prstGeom>
          <a:solidFill>
            <a:srgbClr val="FDC700"/>
          </a:solidFill>
          <a:ln w="12700">
            <a:solidFill>
              <a:srgbClr val="FDC700"/>
            </a:solidFill>
            <a:prstDash val="solid"/>
          </a:ln>
        </p:spPr>
      </p:sp>
      <p:sp>
        <p:nvSpPr>
          <p:cNvPr id="8" name="Text 5"/>
          <p:cNvSpPr txBox="1"/>
          <p:nvPr/>
        </p:nvSpPr>
        <p:spPr>
          <a:xfrm>
            <a:off x="7589520" y="1435608"/>
            <a:ext cx="384048" cy="384048"/>
          </a:xfrm>
          <a:prstGeom prst="rect">
            <a:avLst/>
          </a:prstGeom>
          <a:noFill/>
          <a:ln/>
        </p:spPr>
        <p:txBody>
          <a:bodyPr wrap="square" lIns="0" tIns="0" rIns="0" bIns="0" rtlCol="0" anchor="ctr"/>
          <a:lstStyle/>
          <a:p>
            <a:pPr algn="ctr" indent="0" marL="0">
              <a:buNone/>
            </a:pPr>
            <a:r>
              <a:rPr lang="en-US" sz="1600" b="1" dirty="0">
                <a:solidFill>
                  <a:srgbClr val="06294A"/>
                </a:solidFill>
                <a:latin typeface="Calibri" pitchFamily="34" charset="0"/>
                <a:ea typeface="Calibri" pitchFamily="34" charset="-122"/>
                <a:cs typeface="Calibri" pitchFamily="34" charset="-120"/>
              </a:rPr>
              <a:t>1</a:t>
            </a:r>
            <a:endParaRPr lang="en-US" sz="1600" dirty="0"/>
          </a:p>
        </p:txBody>
      </p:sp>
      <p:sp>
        <p:nvSpPr>
          <p:cNvPr id="9" name="Text 6"/>
          <p:cNvSpPr txBox="1"/>
          <p:nvPr/>
        </p:nvSpPr>
        <p:spPr>
          <a:xfrm>
            <a:off x="8138160" y="1417320"/>
            <a:ext cx="3413455" cy="100584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589520" y="2487168"/>
            <a:ext cx="384048" cy="384048"/>
          </a:xfrm>
          <a:prstGeom prst="roundRect">
            <a:avLst>
              <a:gd name="adj" fmla="val 19048"/>
            </a:avLst>
          </a:prstGeom>
          <a:solidFill>
            <a:srgbClr val="FDC700"/>
          </a:solidFill>
          <a:ln w="12700">
            <a:solidFill>
              <a:srgbClr val="FDC700"/>
            </a:solidFill>
            <a:prstDash val="solid"/>
          </a:ln>
        </p:spPr>
      </p:sp>
      <p:sp>
        <p:nvSpPr>
          <p:cNvPr id="11" name="Text 8"/>
          <p:cNvSpPr txBox="1"/>
          <p:nvPr/>
        </p:nvSpPr>
        <p:spPr>
          <a:xfrm>
            <a:off x="7589520" y="2487168"/>
            <a:ext cx="384048" cy="384048"/>
          </a:xfrm>
          <a:prstGeom prst="rect">
            <a:avLst/>
          </a:prstGeom>
          <a:noFill/>
          <a:ln/>
        </p:spPr>
        <p:txBody>
          <a:bodyPr wrap="square" lIns="0" tIns="0" rIns="0" bIns="0" rtlCol="0" anchor="ctr"/>
          <a:lstStyle/>
          <a:p>
            <a:pPr algn="ctr" indent="0" marL="0">
              <a:buNone/>
            </a:pPr>
            <a:r>
              <a:rPr lang="en-US" sz="1600" b="1" dirty="0">
                <a:solidFill>
                  <a:srgbClr val="06294A"/>
                </a:solidFill>
                <a:latin typeface="Calibri" pitchFamily="34" charset="0"/>
                <a:ea typeface="Calibri" pitchFamily="34" charset="-122"/>
                <a:cs typeface="Calibri" pitchFamily="34" charset="-120"/>
              </a:rPr>
              <a:t>2</a:t>
            </a:r>
            <a:endParaRPr lang="en-US" sz="1600" dirty="0"/>
          </a:p>
        </p:txBody>
      </p:sp>
      <p:sp>
        <p:nvSpPr>
          <p:cNvPr id="12" name="Text 9"/>
          <p:cNvSpPr txBox="1"/>
          <p:nvPr/>
        </p:nvSpPr>
        <p:spPr>
          <a:xfrm>
            <a:off x="8138160" y="2468880"/>
            <a:ext cx="3413455" cy="100584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589520" y="3538728"/>
            <a:ext cx="384048" cy="384048"/>
          </a:xfrm>
          <a:prstGeom prst="roundRect">
            <a:avLst>
              <a:gd name="adj" fmla="val 19048"/>
            </a:avLst>
          </a:prstGeom>
          <a:solidFill>
            <a:srgbClr val="FDC700"/>
          </a:solidFill>
          <a:ln w="12700">
            <a:solidFill>
              <a:srgbClr val="FDC700"/>
            </a:solidFill>
            <a:prstDash val="solid"/>
          </a:ln>
        </p:spPr>
      </p:sp>
      <p:sp>
        <p:nvSpPr>
          <p:cNvPr id="14" name="Text 11"/>
          <p:cNvSpPr txBox="1"/>
          <p:nvPr/>
        </p:nvSpPr>
        <p:spPr>
          <a:xfrm>
            <a:off x="7589520" y="3538728"/>
            <a:ext cx="384048" cy="384048"/>
          </a:xfrm>
          <a:prstGeom prst="rect">
            <a:avLst/>
          </a:prstGeom>
          <a:noFill/>
          <a:ln/>
        </p:spPr>
        <p:txBody>
          <a:bodyPr wrap="square" lIns="0" tIns="0" rIns="0" bIns="0" rtlCol="0" anchor="ctr"/>
          <a:lstStyle/>
          <a:p>
            <a:pPr algn="ctr" indent="0" marL="0">
              <a:buNone/>
            </a:pPr>
            <a:r>
              <a:rPr lang="en-US" sz="1600" b="1" dirty="0">
                <a:solidFill>
                  <a:srgbClr val="06294A"/>
                </a:solidFill>
                <a:latin typeface="Calibri" pitchFamily="34" charset="0"/>
                <a:ea typeface="Calibri" pitchFamily="34" charset="-122"/>
                <a:cs typeface="Calibri" pitchFamily="34" charset="-120"/>
              </a:rPr>
              <a:t>3</a:t>
            </a:r>
            <a:endParaRPr lang="en-US" sz="1600" dirty="0"/>
          </a:p>
        </p:txBody>
      </p:sp>
      <p:sp>
        <p:nvSpPr>
          <p:cNvPr id="15" name="Text 12"/>
          <p:cNvSpPr txBox="1"/>
          <p:nvPr/>
        </p:nvSpPr>
        <p:spPr>
          <a:xfrm>
            <a:off x="8138160" y="3520440"/>
            <a:ext cx="3413455" cy="100584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589520" y="4590288"/>
            <a:ext cx="384048" cy="384048"/>
          </a:xfrm>
          <a:prstGeom prst="roundRect">
            <a:avLst>
              <a:gd name="adj" fmla="val 19048"/>
            </a:avLst>
          </a:prstGeom>
          <a:solidFill>
            <a:srgbClr val="FDC700"/>
          </a:solidFill>
          <a:ln w="12700">
            <a:solidFill>
              <a:srgbClr val="FDC700"/>
            </a:solidFill>
            <a:prstDash val="solid"/>
          </a:ln>
        </p:spPr>
      </p:sp>
      <p:sp>
        <p:nvSpPr>
          <p:cNvPr id="17" name="Text 14"/>
          <p:cNvSpPr txBox="1"/>
          <p:nvPr/>
        </p:nvSpPr>
        <p:spPr>
          <a:xfrm>
            <a:off x="7589520" y="4590288"/>
            <a:ext cx="384048" cy="384048"/>
          </a:xfrm>
          <a:prstGeom prst="rect">
            <a:avLst/>
          </a:prstGeom>
          <a:noFill/>
          <a:ln/>
        </p:spPr>
        <p:txBody>
          <a:bodyPr wrap="square" lIns="0" tIns="0" rIns="0" bIns="0" rtlCol="0" anchor="ctr"/>
          <a:lstStyle/>
          <a:p>
            <a:pPr algn="ctr" indent="0" marL="0">
              <a:buNone/>
            </a:pPr>
            <a:r>
              <a:rPr lang="en-US" sz="1600" b="1" dirty="0">
                <a:solidFill>
                  <a:srgbClr val="06294A"/>
                </a:solidFill>
                <a:latin typeface="Calibri" pitchFamily="34" charset="0"/>
                <a:ea typeface="Calibri" pitchFamily="34" charset="-122"/>
                <a:cs typeface="Calibri" pitchFamily="34" charset="-120"/>
              </a:rPr>
              <a:t>4</a:t>
            </a:r>
            <a:endParaRPr lang="en-US" sz="1600" dirty="0"/>
          </a:p>
        </p:txBody>
      </p:sp>
      <p:sp>
        <p:nvSpPr>
          <p:cNvPr id="18" name="Text 15"/>
          <p:cNvSpPr txBox="1"/>
          <p:nvPr/>
        </p:nvSpPr>
        <p:spPr>
          <a:xfrm>
            <a:off x="8138160" y="4572000"/>
            <a:ext cx="3413455" cy="100584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
        <p:nvSpPr>
          <p:cNvPr id="19" name="Text 16"/>
          <p:cNvSpPr txBox="1"/>
          <p:nvPr/>
        </p:nvSpPr>
        <p:spPr>
          <a:xfrm>
            <a:off x="640080" y="5989320"/>
            <a:ext cx="1091153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has chain semantics, so the browser's own lift-over renderer draws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Scenario 1: a sequence GRCh38 doesn't have</a:t>
            </a:r>
            <a:endParaRPr lang="en-US" sz="3000" dirty="0"/>
          </a:p>
        </p:txBody>
      </p:sp>
      <p:sp>
        <p:nvSpPr>
          <p:cNvPr id="3" name="Text 1"/>
          <p:cNvSpPr txBox="1"/>
          <p:nvPr/>
        </p:nvSpPr>
        <p:spPr>
          <a:xfrm>
            <a:off x="9448495" y="457200"/>
            <a:ext cx="2103120" cy="731520"/>
          </a:xfrm>
          <a:prstGeom prst="rect">
            <a:avLst/>
          </a:prstGeom>
          <a:noFill/>
          <a:ln/>
        </p:spPr>
        <p:txBody>
          <a:bodyPr wrap="square" lIns="0" tIns="0" rIns="0" bIns="0" rtlCol="0" anchor="ctr"/>
          <a:lstStyle/>
          <a:p>
            <a:pPr algn="r" indent="0" marL="0">
              <a:buNone/>
            </a:pPr>
            <a:r>
              <a:rPr lang="en-US" sz="1400" b="1" spc="200" kern="0" dirty="0">
                <a:solidFill>
                  <a:srgbClr val="5B6B7C"/>
                </a:solidFill>
                <a:latin typeface="Calibri" pitchFamily="34" charset="0"/>
                <a:ea typeface="Calibri" pitchFamily="34" charset="-122"/>
                <a:cs typeface="Calibri" pitchFamily="34" charset="-120"/>
              </a:rPr>
              <a:t>Scenario 1</a:t>
            </a:r>
            <a:endParaRPr lang="en-US" sz="1400" dirty="0"/>
          </a:p>
        </p:txBody>
      </p:sp>
      <p:sp>
        <p:nvSpPr>
          <p:cNvPr id="4" name="Text 2"/>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640080" y="1417320"/>
            <a:ext cx="7863840" cy="4423410"/>
          </a:xfrm>
          <a:prstGeom prst="roundRect">
            <a:avLst>
              <a:gd name="adj" fmla="val 2067"/>
            </a:avLst>
          </a:prstGeom>
          <a:solidFill>
            <a:srgbClr val="06294A"/>
          </a:solidFill>
          <a:ln w="12700">
            <a:solidFill>
              <a:srgbClr val="06294A"/>
            </a:solidFill>
            <a:prstDash val="solid"/>
          </a:ln>
        </p:spPr>
      </p:sp>
      <p:sp>
        <p:nvSpPr>
          <p:cNvPr id="6" name="Shape 4"/>
          <p:cNvSpPr/>
          <p:nvPr/>
        </p:nvSpPr>
        <p:spPr>
          <a:xfrm>
            <a:off x="4114800" y="3171825"/>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416552" y="3427857"/>
            <a:ext cx="384048" cy="402336"/>
          </a:xfrm>
          <a:prstGeom prst="triangle">
            <a:avLst/>
          </a:prstGeom>
          <a:solidFill>
            <a:srgbClr val="06294A"/>
          </a:solidFill>
          <a:ln w="12700">
            <a:solidFill>
              <a:srgbClr val="06294A"/>
            </a:solidFill>
            <a:prstDash val="solid"/>
          </a:ln>
        </p:spPr>
      </p:sp>
      <p:sp>
        <p:nvSpPr>
          <p:cNvPr id="8" name="Text 6"/>
          <p:cNvSpPr txBox="1"/>
          <p:nvPr/>
        </p:nvSpPr>
        <p:spPr>
          <a:xfrm>
            <a:off x="640080" y="5017770"/>
            <a:ext cx="786384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640080" y="5383530"/>
            <a:ext cx="786384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Text 8"/>
          <p:cNvSpPr txBox="1"/>
          <p:nvPr/>
        </p:nvSpPr>
        <p:spPr>
          <a:xfrm>
            <a:off x="8961120" y="1417320"/>
            <a:ext cx="2590495" cy="36576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What you are watching</a:t>
            </a:r>
            <a:endParaRPr lang="en-US" sz="1400" dirty="0"/>
          </a:p>
        </p:txBody>
      </p:sp>
      <p:sp>
        <p:nvSpPr>
          <p:cNvPr id="11" name="Text 9"/>
          <p:cNvSpPr txBox="1"/>
          <p:nvPr/>
        </p:nvSpPr>
        <p:spPr>
          <a:xfrm>
            <a:off x="8961120" y="1828800"/>
            <a:ext cx="2590495" cy="40233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She pastes the insertion sequence into Pangenome Mapping.</a:t>
            </a:r>
            <a:endParaRPr lang="en-US" sz="1600" dirty="0"/>
          </a:p>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vg giraffe maps it once, to the whole graph.</a:t>
            </a:r>
            <a:endParaRPr lang="en-US" sz="1600" dirty="0"/>
          </a:p>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Every haplotype that carries it comes back, ranked by identity: two of 464, and GRCh38 is not one of them.</a:t>
            </a:r>
            <a:endParaRPr lang="en-US" sz="1600" dirty="0"/>
          </a:p>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She clicks a carrier and lands in the browser, with her sequence drawn as a track.</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What that changes on release 2</a:t>
            </a:r>
            <a:endParaRPr lang="en-US" sz="3000" dirty="0"/>
          </a:p>
        </p:txBody>
      </p:sp>
      <p:sp>
        <p:nvSpPr>
          <p:cNvPr id="3" name="Text 1"/>
          <p:cNvSpPr txBox="1"/>
          <p:nvPr/>
        </p:nvSpPr>
        <p:spPr>
          <a:xfrm>
            <a:off x="9448495" y="457200"/>
            <a:ext cx="2103120" cy="731520"/>
          </a:xfrm>
          <a:prstGeom prst="rect">
            <a:avLst/>
          </a:prstGeom>
          <a:noFill/>
          <a:ln/>
        </p:spPr>
        <p:txBody>
          <a:bodyPr wrap="square" lIns="0" tIns="0" rIns="0" bIns="0" rtlCol="0" anchor="ctr"/>
          <a:lstStyle/>
          <a:p>
            <a:pPr algn="r" indent="0" marL="0">
              <a:buNone/>
            </a:pPr>
            <a:r>
              <a:rPr lang="en-US" sz="1400" b="1" spc="200" kern="0" dirty="0">
                <a:solidFill>
                  <a:srgbClr val="5B6B7C"/>
                </a:solidFill>
                <a:latin typeface="Calibri" pitchFamily="34" charset="0"/>
                <a:ea typeface="Calibri" pitchFamily="34" charset="-122"/>
                <a:cs typeface="Calibri" pitchFamily="34" charset="-120"/>
              </a:rPr>
              <a:t>Scenario 1</a:t>
            </a:r>
            <a:endParaRPr lang="en-US" sz="1400" dirty="0"/>
          </a:p>
        </p:txBody>
      </p:sp>
      <p:sp>
        <p:nvSpPr>
          <p:cNvPr id="4" name="Text 2"/>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640080" y="1417320"/>
            <a:ext cx="5181448" cy="36576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Before</a:t>
            </a:r>
            <a:endParaRPr lang="en-US" sz="1400" dirty="0"/>
          </a:p>
        </p:txBody>
      </p:sp>
      <p:sp>
        <p:nvSpPr>
          <p:cNvPr id="6" name="Text 4"/>
          <p:cNvSpPr txBox="1"/>
          <p:nvPr/>
        </p:nvSpPr>
        <p:spPr>
          <a:xfrm>
            <a:off x="640080" y="1828800"/>
            <a:ext cx="5181448" cy="219456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5B6B7C"/>
                </a:solidFill>
                <a:latin typeface="Calibri" pitchFamily="34" charset="0"/>
                <a:ea typeface="Calibri" pitchFamily="34" charset="-122"/>
                <a:cs typeface="Calibri" pitchFamily="34" charset="-120"/>
              </a:rPr>
              <a:t>BLAT against one assembly at a time; 464 to choose from, and no way to know which.</a:t>
            </a:r>
            <a:endParaRPr lang="en-US" sz="1700" dirty="0"/>
          </a:p>
          <a:p>
            <a:pPr marL="203200" indent="-203200">
              <a:spcAft>
                <a:spcPts val="1000"/>
              </a:spcAft>
              <a:buSzPct val="100000"/>
              <a:buChar char="•"/>
            </a:pPr>
            <a:r>
              <a:rPr lang="en-US" sz="1700" dirty="0">
                <a:solidFill>
                  <a:srgbClr val="5B6B7C"/>
                </a:solidFill>
                <a:latin typeface="Calibri" pitchFamily="34" charset="0"/>
                <a:ea typeface="Calibri" pitchFamily="34" charset="-122"/>
                <a:cs typeface="Calibri" pitchFamily="34" charset="-120"/>
              </a:rPr>
              <a:t>A sequence missing from hg38 is simply unmapped.</a:t>
            </a:r>
            <a:endParaRPr lang="en-US" sz="1700" dirty="0"/>
          </a:p>
          <a:p>
            <a:pPr marL="203200" indent="-203200">
              <a:spcAft>
                <a:spcPts val="1000"/>
              </a:spcAft>
              <a:buSzPct val="100000"/>
              <a:buChar char="•"/>
            </a:pPr>
            <a:r>
              <a:rPr lang="en-US" sz="1700" dirty="0">
                <a:solidFill>
                  <a:srgbClr val="5B6B7C"/>
                </a:solidFill>
                <a:latin typeface="Calibri" pitchFamily="34" charset="0"/>
                <a:ea typeface="Calibri" pitchFamily="34" charset="-122"/>
                <a:cs typeface="Calibri" pitchFamily="34" charset="-120"/>
              </a:rPr>
              <a:t>No notion of who else carries it, or how common it is.</a:t>
            </a:r>
            <a:endParaRPr lang="en-US" sz="1700" dirty="0"/>
          </a:p>
        </p:txBody>
      </p:sp>
      <p:sp>
        <p:nvSpPr>
          <p:cNvPr id="7" name="Text 5"/>
          <p:cNvSpPr txBox="1"/>
          <p:nvPr/>
        </p:nvSpPr>
        <p:spPr>
          <a:xfrm>
            <a:off x="6370168" y="1417320"/>
            <a:ext cx="5181448" cy="36576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Now</a:t>
            </a:r>
            <a:endParaRPr lang="en-US" sz="1400" dirty="0"/>
          </a:p>
        </p:txBody>
      </p:sp>
      <p:sp>
        <p:nvSpPr>
          <p:cNvPr id="8" name="Text 6"/>
          <p:cNvSpPr txBox="1"/>
          <p:nvPr/>
        </p:nvSpPr>
        <p:spPr>
          <a:xfrm>
            <a:off x="6370168" y="1828800"/>
            <a:ext cx="5181448" cy="265176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One search against the whole graph; every carrying haplotype, ranked.</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Sequences absent from the reference are found where they live.</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Land on any carrier as a native track, with base-level differences.</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Re-surject to another haplotype without remapping.</a:t>
            </a:r>
            <a:endParaRPr lang="en-US" sz="1700" dirty="0"/>
          </a:p>
        </p:txBody>
      </p:sp>
      <p:sp>
        <p:nvSpPr>
          <p:cNvPr id="9" name="Shape 7"/>
          <p:cNvSpPr/>
          <p:nvPr/>
        </p:nvSpPr>
        <p:spPr>
          <a:xfrm>
            <a:off x="2753343" y="4526280"/>
            <a:ext cx="6685009" cy="2514600"/>
          </a:xfrm>
          <a:prstGeom prst="roundRect">
            <a:avLst>
              <a:gd name="adj" fmla="val 3636"/>
            </a:avLst>
          </a:prstGeom>
          <a:solidFill>
            <a:srgbClr val="F3F5F8"/>
          </a:solidFill>
          <a:ln w="12700">
            <a:solidFill>
              <a:srgbClr val="E1E6EC"/>
            </a:solidFill>
            <a:prstDash val="solid"/>
          </a:ln>
        </p:spPr>
      </p:sp>
      <p:sp>
        <p:nvSpPr>
          <p:cNvPr id="10" name="Shape 8"/>
          <p:cNvSpPr/>
          <p:nvPr/>
        </p:nvSpPr>
        <p:spPr>
          <a:xfrm>
            <a:off x="2890503" y="4617720"/>
            <a:ext cx="91440" cy="91440"/>
          </a:xfrm>
          <a:prstGeom prst="ellipse">
            <a:avLst/>
          </a:prstGeom>
          <a:solidFill>
            <a:srgbClr val="CBD5E0"/>
          </a:solidFill>
          <a:ln w="12700">
            <a:solidFill>
              <a:srgbClr val="CBD5E0"/>
            </a:solidFill>
            <a:prstDash val="solid"/>
          </a:ln>
        </p:spPr>
      </p:sp>
      <p:sp>
        <p:nvSpPr>
          <p:cNvPr id="11" name="Shape 9"/>
          <p:cNvSpPr/>
          <p:nvPr/>
        </p:nvSpPr>
        <p:spPr>
          <a:xfrm>
            <a:off x="3045951" y="4617720"/>
            <a:ext cx="91440" cy="91440"/>
          </a:xfrm>
          <a:prstGeom prst="ellipse">
            <a:avLst/>
          </a:prstGeom>
          <a:solidFill>
            <a:srgbClr val="CBD5E0"/>
          </a:solidFill>
          <a:ln w="12700">
            <a:solidFill>
              <a:srgbClr val="CBD5E0"/>
            </a:solidFill>
            <a:prstDash val="solid"/>
          </a:ln>
        </p:spPr>
      </p:sp>
      <p:sp>
        <p:nvSpPr>
          <p:cNvPr id="12" name="Shape 10"/>
          <p:cNvSpPr/>
          <p:nvPr/>
        </p:nvSpPr>
        <p:spPr>
          <a:xfrm>
            <a:off x="3201399" y="4617720"/>
            <a:ext cx="91440" cy="91440"/>
          </a:xfrm>
          <a:prstGeom prst="ellipse">
            <a:avLst/>
          </a:prstGeom>
          <a:solidFill>
            <a:srgbClr val="CBD5E0"/>
          </a:solidFill>
          <a:ln w="12700">
            <a:solidFill>
              <a:srgbClr val="CBD5E0"/>
            </a:solidFill>
            <a:prstDash val="solid"/>
          </a:ln>
        </p:spPr>
      </p:sp>
      <p:pic>
        <p:nvPicPr>
          <p:cNvPr id="13" name="Image 0" descr="/Users/seeskand/Documents/HPRC/2026/hprc_2026_poster/talk/figures/crop_mapping_result.png">    </p:cNvPr>
          <p:cNvPicPr>
            <a:picLocks noChangeAspect="1"/>
          </p:cNvPicPr>
          <p:nvPr/>
        </p:nvPicPr>
        <p:blipFill>
          <a:blip r:embed="rId1"/>
          <a:stretch>
            <a:fillRect/>
          </a:stretch>
        </p:blipFill>
        <p:spPr>
          <a:xfrm>
            <a:off x="2844783" y="4818888"/>
            <a:ext cx="6502129" cy="213055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Scenario 2, today: QuickLift needs a chain per pair</a:t>
            </a:r>
            <a:endParaRPr lang="en-US" sz="3000" dirty="0"/>
          </a:p>
        </p:txBody>
      </p:sp>
      <p:sp>
        <p:nvSpPr>
          <p:cNvPr id="3" name="Text 1"/>
          <p:cNvSpPr txBox="1"/>
          <p:nvPr/>
        </p:nvSpPr>
        <p:spPr>
          <a:xfrm>
            <a:off x="9448495" y="457200"/>
            <a:ext cx="2103120" cy="731520"/>
          </a:xfrm>
          <a:prstGeom prst="rect">
            <a:avLst/>
          </a:prstGeom>
          <a:noFill/>
          <a:ln/>
        </p:spPr>
        <p:txBody>
          <a:bodyPr wrap="square" lIns="0" tIns="0" rIns="0" bIns="0" rtlCol="0" anchor="ctr"/>
          <a:lstStyle/>
          <a:p>
            <a:pPr algn="r" indent="0" marL="0">
              <a:buNone/>
            </a:pPr>
            <a:r>
              <a:rPr lang="en-US" sz="1400" b="1" spc="200" kern="0" dirty="0">
                <a:solidFill>
                  <a:srgbClr val="5B6B7C"/>
                </a:solidFill>
                <a:latin typeface="Calibri" pitchFamily="34" charset="0"/>
                <a:ea typeface="Calibri" pitchFamily="34" charset="-122"/>
                <a:cs typeface="Calibri" pitchFamily="34" charset="-120"/>
              </a:rPr>
              <a:t>Scenario 2</a:t>
            </a:r>
            <a:endParaRPr lang="en-US" sz="1400" dirty="0"/>
          </a:p>
        </p:txBody>
      </p:sp>
      <p:sp>
        <p:nvSpPr>
          <p:cNvPr id="4" name="Text 2"/>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640080" y="1417320"/>
            <a:ext cx="5181448" cy="45720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QuickLift, in the browser since 2025</a:t>
            </a:r>
            <a:endParaRPr lang="en-US" sz="2100" dirty="0"/>
          </a:p>
        </p:txBody>
      </p:sp>
      <p:sp>
        <p:nvSpPr>
          <p:cNvPr id="6" name="Text 4"/>
          <p:cNvSpPr txBox="1"/>
          <p:nvPr/>
        </p:nvSpPr>
        <p:spPr>
          <a:xfrm>
            <a:off x="640080" y="2011680"/>
            <a:ext cx="5181448" cy="329184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View &gt; In Other Genomes, tick "QuickLift tracks": your tracks are drawn on the other assembly, differences marked with vertical bars.</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Needs a prebuilt liftOver chain between the two assemblies, made by UCSC on request.</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Superb for hg38 to hs1. Between HPRC haplotypes: 56 chains, out of 200,000+ pairs.</a:t>
            </a:r>
            <a:endParaRPr lang="en-US" sz="1700" dirty="0"/>
          </a:p>
        </p:txBody>
      </p:sp>
      <p:pic>
        <p:nvPicPr>
          <p:cNvPr id="7" name="Image 0" descr="/Users/seeskand/Documents/HPRC/2026/hprc_2026_poster/talk/figures/grids.png">    </p:cNvPr>
          <p:cNvPicPr>
            <a:picLocks noChangeAspect="1"/>
          </p:cNvPicPr>
          <p:nvPr/>
        </p:nvPicPr>
        <p:blipFill>
          <a:blip r:embed="rId1"/>
          <a:stretch>
            <a:fillRect/>
          </a:stretch>
        </p:blipFill>
        <p:spPr>
          <a:xfrm>
            <a:off x="6370168" y="1645920"/>
            <a:ext cx="5181448" cy="1828308"/>
          </a:xfrm>
          <a:prstGeom prst="rect">
            <a:avLst/>
          </a:prstGeom>
        </p:spPr>
      </p:pic>
      <p:sp>
        <p:nvSpPr>
          <p:cNvPr id="8" name="Text 5"/>
          <p:cNvSpPr txBox="1"/>
          <p:nvPr/>
        </p:nvSpPr>
        <p:spPr>
          <a:xfrm>
            <a:off x="6370168" y="3748548"/>
            <a:ext cx="5181448" cy="91440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She picks HG02015 from the menu. There is no chain. Dead end.</a:t>
            </a:r>
            <a:endParaRPr lang="en-US" sz="1900" dirty="0"/>
          </a:p>
        </p:txBody>
      </p:sp>
      <p:sp>
        <p:nvSpPr>
          <p:cNvPr id="9" name="Text 6"/>
          <p:cNvSpPr txBox="1"/>
          <p:nvPr/>
        </p:nvSpPr>
        <p:spPr>
          <a:xfrm>
            <a:off x="640080" y="5897880"/>
            <a:ext cx="1091153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renderer is ready. The missing piece is a chain for any pair, on demand.</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Scenario 2: the gene she knows, on HG02015</a:t>
            </a:r>
            <a:endParaRPr lang="en-US" sz="3000" dirty="0"/>
          </a:p>
        </p:txBody>
      </p:sp>
      <p:sp>
        <p:nvSpPr>
          <p:cNvPr id="3" name="Text 1"/>
          <p:cNvSpPr txBox="1"/>
          <p:nvPr/>
        </p:nvSpPr>
        <p:spPr>
          <a:xfrm>
            <a:off x="9448495" y="457200"/>
            <a:ext cx="2103120" cy="731520"/>
          </a:xfrm>
          <a:prstGeom prst="rect">
            <a:avLst/>
          </a:prstGeom>
          <a:noFill/>
          <a:ln/>
        </p:spPr>
        <p:txBody>
          <a:bodyPr wrap="square" lIns="0" tIns="0" rIns="0" bIns="0" rtlCol="0" anchor="ctr"/>
          <a:lstStyle/>
          <a:p>
            <a:pPr algn="r" indent="0" marL="0">
              <a:buNone/>
            </a:pPr>
            <a:r>
              <a:rPr lang="en-US" sz="1400" b="1" spc="200" kern="0" dirty="0">
                <a:solidFill>
                  <a:srgbClr val="5B6B7C"/>
                </a:solidFill>
                <a:latin typeface="Calibri" pitchFamily="34" charset="0"/>
                <a:ea typeface="Calibri" pitchFamily="34" charset="-122"/>
                <a:cs typeface="Calibri" pitchFamily="34" charset="-120"/>
              </a:rPr>
              <a:t>Scenario 2</a:t>
            </a:r>
            <a:endParaRPr lang="en-US" sz="1400" dirty="0"/>
          </a:p>
        </p:txBody>
      </p:sp>
      <p:sp>
        <p:nvSpPr>
          <p:cNvPr id="4" name="Text 2"/>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640080" y="1417320"/>
            <a:ext cx="7863840" cy="4423410"/>
          </a:xfrm>
          <a:prstGeom prst="roundRect">
            <a:avLst>
              <a:gd name="adj" fmla="val 2067"/>
            </a:avLst>
          </a:prstGeom>
          <a:solidFill>
            <a:srgbClr val="06294A"/>
          </a:solidFill>
          <a:ln w="12700">
            <a:solidFill>
              <a:srgbClr val="06294A"/>
            </a:solidFill>
            <a:prstDash val="solid"/>
          </a:ln>
        </p:spPr>
      </p:sp>
      <p:sp>
        <p:nvSpPr>
          <p:cNvPr id="6" name="Shape 4"/>
          <p:cNvSpPr/>
          <p:nvPr/>
        </p:nvSpPr>
        <p:spPr>
          <a:xfrm>
            <a:off x="4114800" y="3171825"/>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416552" y="3427857"/>
            <a:ext cx="384048" cy="402336"/>
          </a:xfrm>
          <a:prstGeom prst="triangle">
            <a:avLst/>
          </a:prstGeom>
          <a:solidFill>
            <a:srgbClr val="06294A"/>
          </a:solidFill>
          <a:ln w="12700">
            <a:solidFill>
              <a:srgbClr val="06294A"/>
            </a:solidFill>
            <a:prstDash val="solid"/>
          </a:ln>
        </p:spPr>
      </p:sp>
      <p:sp>
        <p:nvSpPr>
          <p:cNvPr id="8" name="Text 6"/>
          <p:cNvSpPr txBox="1"/>
          <p:nvPr/>
        </p:nvSpPr>
        <p:spPr>
          <a:xfrm>
            <a:off x="640080" y="5017770"/>
            <a:ext cx="786384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Convert Coordinates and land with annotations</a:t>
            </a:r>
            <a:endParaRPr lang="en-US" sz="1600" dirty="0"/>
          </a:p>
        </p:txBody>
      </p:sp>
      <p:sp>
        <p:nvSpPr>
          <p:cNvPr id="9" name="Text 7"/>
          <p:cNvSpPr txBox="1"/>
          <p:nvPr/>
        </p:nvSpPr>
        <p:spPr>
          <a:xfrm>
            <a:off x="640080" y="5383530"/>
            <a:ext cx="786384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Text 8"/>
          <p:cNvSpPr txBox="1"/>
          <p:nvPr/>
        </p:nvSpPr>
        <p:spPr>
          <a:xfrm>
            <a:off x="8961120" y="1417320"/>
            <a:ext cx="2590495" cy="36576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What you are watching</a:t>
            </a:r>
            <a:endParaRPr lang="en-US" sz="1400" dirty="0"/>
          </a:p>
        </p:txBody>
      </p:sp>
      <p:sp>
        <p:nvSpPr>
          <p:cNvPr id="11" name="Text 9"/>
          <p:cNvSpPr txBox="1"/>
          <p:nvPr/>
        </p:nvSpPr>
        <p:spPr>
          <a:xfrm>
            <a:off x="8961120" y="1828800"/>
            <a:ext cx="2590495" cy="40233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Source: the gene's coordinates on the reference she was using.</a:t>
            </a:r>
            <a:endParaRPr lang="en-US" sz="1600" dirty="0"/>
          </a:p>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Target: HG02015 paternal, picked from all 464; the picker can show only haplotypes that contain the region.</a:t>
            </a:r>
            <a:endParaRPr lang="en-US" sz="1600" dirty="0"/>
          </a:p>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Translated in about 100 ms, 100% of bases.</a:t>
            </a:r>
            <a:endParaRPr lang="en-US" sz="1600" dirty="0"/>
          </a:p>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She clicks through: the reference's tracks are drawn on HG02015, with insertions, deletions and mismatches marked.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What that changes on release 2</a:t>
            </a:r>
            <a:endParaRPr lang="en-US" sz="3000" dirty="0"/>
          </a:p>
        </p:txBody>
      </p:sp>
      <p:sp>
        <p:nvSpPr>
          <p:cNvPr id="3" name="Text 1"/>
          <p:cNvSpPr txBox="1"/>
          <p:nvPr/>
        </p:nvSpPr>
        <p:spPr>
          <a:xfrm>
            <a:off x="9448495" y="457200"/>
            <a:ext cx="2103120" cy="731520"/>
          </a:xfrm>
          <a:prstGeom prst="rect">
            <a:avLst/>
          </a:prstGeom>
          <a:noFill/>
          <a:ln/>
        </p:spPr>
        <p:txBody>
          <a:bodyPr wrap="square" lIns="0" tIns="0" rIns="0" bIns="0" rtlCol="0" anchor="ctr"/>
          <a:lstStyle/>
          <a:p>
            <a:pPr algn="r" indent="0" marL="0">
              <a:buNone/>
            </a:pPr>
            <a:r>
              <a:rPr lang="en-US" sz="1400" b="1" spc="200" kern="0" dirty="0">
                <a:solidFill>
                  <a:srgbClr val="5B6B7C"/>
                </a:solidFill>
                <a:latin typeface="Calibri" pitchFamily="34" charset="0"/>
                <a:ea typeface="Calibri" pitchFamily="34" charset="-122"/>
                <a:cs typeface="Calibri" pitchFamily="34" charset="-120"/>
              </a:rPr>
              <a:t>Scenario 2</a:t>
            </a:r>
            <a:endParaRPr lang="en-US" sz="1400" dirty="0"/>
          </a:p>
        </p:txBody>
      </p:sp>
      <p:sp>
        <p:nvSpPr>
          <p:cNvPr id="4" name="Text 2"/>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640080" y="1417320"/>
            <a:ext cx="5181448" cy="36576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Before</a:t>
            </a:r>
            <a:endParaRPr lang="en-US" sz="1400" dirty="0"/>
          </a:p>
        </p:txBody>
      </p:sp>
      <p:sp>
        <p:nvSpPr>
          <p:cNvPr id="6" name="Text 4"/>
          <p:cNvSpPr txBox="1"/>
          <p:nvPr/>
        </p:nvSpPr>
        <p:spPr>
          <a:xfrm>
            <a:off x="640080" y="1828800"/>
            <a:ext cx="5181448" cy="219456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5B6B7C"/>
                </a:solidFill>
                <a:latin typeface="Calibri" pitchFamily="34" charset="0"/>
                <a:ea typeface="Calibri" pitchFamily="34" charset="-122"/>
                <a:cs typeface="Calibri" pitchFamily="34" charset="-120"/>
              </a:rPr>
              <a:t>Lift-over only between pairs with a prebuilt chain: 56 of 200,000+.</a:t>
            </a:r>
            <a:endParaRPr lang="en-US" sz="1700" dirty="0"/>
          </a:p>
          <a:p>
            <a:pPr marL="203200" indent="-203200">
              <a:spcAft>
                <a:spcPts val="1000"/>
              </a:spcAft>
              <a:buSzPct val="100000"/>
              <a:buChar char="•"/>
            </a:pPr>
            <a:r>
              <a:rPr lang="en-US" sz="1700" dirty="0">
                <a:solidFill>
                  <a:srgbClr val="5B6B7C"/>
                </a:solidFill>
                <a:latin typeface="Calibri" pitchFamily="34" charset="0"/>
                <a:ea typeface="Calibri" pitchFamily="34" charset="-122"/>
                <a:cs typeface="Calibri" pitchFamily="34" charset="-120"/>
              </a:rPr>
              <a:t>New chains made by UCSC on request, one pair at a time.</a:t>
            </a:r>
            <a:endParaRPr lang="en-US" sz="1700" dirty="0"/>
          </a:p>
          <a:p>
            <a:pPr marL="203200" indent="-203200">
              <a:spcAft>
                <a:spcPts val="1000"/>
              </a:spcAft>
              <a:buSzPct val="100000"/>
              <a:buChar char="•"/>
            </a:pPr>
            <a:r>
              <a:rPr lang="en-US" sz="1700" dirty="0">
                <a:solidFill>
                  <a:srgbClr val="5B6B7C"/>
                </a:solidFill>
                <a:latin typeface="Calibri" pitchFamily="34" charset="0"/>
                <a:ea typeface="Calibri" pitchFamily="34" charset="-122"/>
                <a:cs typeface="Calibri" pitchFamily="34" charset="-120"/>
              </a:rPr>
              <a:t>A haplotype without a chain shows only its own tracks.</a:t>
            </a:r>
            <a:endParaRPr lang="en-US" sz="1700" dirty="0"/>
          </a:p>
        </p:txBody>
      </p:sp>
      <p:sp>
        <p:nvSpPr>
          <p:cNvPr id="7" name="Text 5"/>
          <p:cNvSpPr txBox="1"/>
          <p:nvPr/>
        </p:nvSpPr>
        <p:spPr>
          <a:xfrm>
            <a:off x="6370168" y="1417320"/>
            <a:ext cx="5181448" cy="36576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Now</a:t>
            </a:r>
            <a:endParaRPr lang="en-US" sz="1400" dirty="0"/>
          </a:p>
        </p:txBody>
      </p:sp>
      <p:sp>
        <p:nvSpPr>
          <p:cNvPr id="8" name="Text 6"/>
          <p:cNvSpPr txBox="1"/>
          <p:nvPr/>
        </p:nvSpPr>
        <p:spPr>
          <a:xfrm>
            <a:off x="6370168" y="1828800"/>
            <a:ext cx="5181448" cy="265176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Any of 464 haplotypes as the target, from hg38 or CHM13, in about 100 ms.</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The chain is built for the region you are looking at and reused as you pan.</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The reference's tracks come along; an Alignment Differences track marks indels and mismatches.</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Also in the ordinary hgConvert menu: same button, new capability.</a:t>
            </a:r>
            <a:endParaRPr lang="en-US" sz="1700" dirty="0"/>
          </a:p>
        </p:txBody>
      </p:sp>
      <p:sp>
        <p:nvSpPr>
          <p:cNvPr id="9" name="Shape 7"/>
          <p:cNvSpPr/>
          <p:nvPr/>
        </p:nvSpPr>
        <p:spPr>
          <a:xfrm>
            <a:off x="2596303" y="4526280"/>
            <a:ext cx="6999088" cy="2514600"/>
          </a:xfrm>
          <a:prstGeom prst="roundRect">
            <a:avLst>
              <a:gd name="adj" fmla="val 3636"/>
            </a:avLst>
          </a:prstGeom>
          <a:solidFill>
            <a:srgbClr val="F3F5F8"/>
          </a:solidFill>
          <a:ln w="12700">
            <a:solidFill>
              <a:srgbClr val="E1E6EC"/>
            </a:solidFill>
            <a:prstDash val="solid"/>
          </a:ln>
        </p:spPr>
      </p:sp>
      <p:sp>
        <p:nvSpPr>
          <p:cNvPr id="10" name="Shape 8"/>
          <p:cNvSpPr/>
          <p:nvPr/>
        </p:nvSpPr>
        <p:spPr>
          <a:xfrm>
            <a:off x="2733463" y="4617720"/>
            <a:ext cx="91440" cy="91440"/>
          </a:xfrm>
          <a:prstGeom prst="ellipse">
            <a:avLst/>
          </a:prstGeom>
          <a:solidFill>
            <a:srgbClr val="CBD5E0"/>
          </a:solidFill>
          <a:ln w="12700">
            <a:solidFill>
              <a:srgbClr val="CBD5E0"/>
            </a:solidFill>
            <a:prstDash val="solid"/>
          </a:ln>
        </p:spPr>
      </p:sp>
      <p:sp>
        <p:nvSpPr>
          <p:cNvPr id="11" name="Shape 9"/>
          <p:cNvSpPr/>
          <p:nvPr/>
        </p:nvSpPr>
        <p:spPr>
          <a:xfrm>
            <a:off x="2888911" y="4617720"/>
            <a:ext cx="91440" cy="91440"/>
          </a:xfrm>
          <a:prstGeom prst="ellipse">
            <a:avLst/>
          </a:prstGeom>
          <a:solidFill>
            <a:srgbClr val="CBD5E0"/>
          </a:solidFill>
          <a:ln w="12700">
            <a:solidFill>
              <a:srgbClr val="CBD5E0"/>
            </a:solidFill>
            <a:prstDash val="solid"/>
          </a:ln>
        </p:spPr>
      </p:sp>
      <p:sp>
        <p:nvSpPr>
          <p:cNvPr id="12" name="Shape 10"/>
          <p:cNvSpPr/>
          <p:nvPr/>
        </p:nvSpPr>
        <p:spPr>
          <a:xfrm>
            <a:off x="3044359" y="4617720"/>
            <a:ext cx="91440" cy="91440"/>
          </a:xfrm>
          <a:prstGeom prst="ellipse">
            <a:avLst/>
          </a:prstGeom>
          <a:solidFill>
            <a:srgbClr val="CBD5E0"/>
          </a:solidFill>
          <a:ln w="12700">
            <a:solidFill>
              <a:srgbClr val="CBD5E0"/>
            </a:solidFill>
            <a:prstDash val="solid"/>
          </a:ln>
        </p:spPr>
      </p:sp>
      <p:pic>
        <p:nvPicPr>
          <p:cNvPr id="13" name="Image 0" descr="/Users/seeskand/Documents/HPRC/2026/hprc_2026_poster/talk/figures/crop_lifted.png">    </p:cNvPr>
          <p:cNvPicPr>
            <a:picLocks noChangeAspect="1"/>
          </p:cNvPicPr>
          <p:nvPr/>
        </p:nvPicPr>
        <p:blipFill>
          <a:blip r:embed="rId1"/>
          <a:stretch>
            <a:fillRect/>
          </a:stretch>
        </p:blipFill>
        <p:spPr>
          <a:xfrm>
            <a:off x="2687743" y="4818888"/>
            <a:ext cx="6816208" cy="213055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Who this is for</a:t>
            </a:r>
            <a:endParaRPr lang="en-US" sz="3000" dirty="0"/>
          </a:p>
        </p:txBody>
      </p:sp>
      <p:sp>
        <p:nvSpPr>
          <p:cNvPr id="3" name="Text 1"/>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640080" y="1417320"/>
            <a:ext cx="5181448" cy="45720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Clinicians and variant curators</a:t>
            </a:r>
            <a:endParaRPr lang="en-US" sz="2100" dirty="0"/>
          </a:p>
        </p:txBody>
      </p:sp>
      <p:sp>
        <p:nvSpPr>
          <p:cNvPr id="5" name="Shape 3"/>
          <p:cNvSpPr/>
          <p:nvPr/>
        </p:nvSpPr>
        <p:spPr>
          <a:xfrm>
            <a:off x="640080" y="1965960"/>
            <a:ext cx="5181448" cy="0"/>
          </a:xfrm>
          <a:prstGeom prst="line">
            <a:avLst/>
          </a:prstGeom>
          <a:noFill/>
          <a:ln w="12700">
            <a:solidFill>
              <a:srgbClr val="D9E1E9"/>
            </a:solidFill>
            <a:prstDash val="solid"/>
          </a:ln>
        </p:spPr>
      </p:sp>
      <p:sp>
        <p:nvSpPr>
          <p:cNvPr id="6" name="Text 4"/>
          <p:cNvSpPr txBox="1"/>
          <p:nvPr/>
        </p:nvSpPr>
        <p:spPr>
          <a:xfrm>
            <a:off x="640080" y="2148840"/>
            <a:ext cx="5181448" cy="3657600"/>
          </a:xfrm>
          <a:prstGeom prst="rect">
            <a:avLst/>
          </a:prstGeom>
          <a:noFill/>
          <a:ln/>
        </p:spPr>
        <p:txBody>
          <a:bodyPr wrap="square" lIns="0" tIns="0" rIns="0" bIns="0" rtlCol="0" anchor="t"/>
          <a:lstStyle/>
          <a:p>
            <a:pPr marL="203200" indent="-203200">
              <a:spcAft>
                <a:spcPts val="1000"/>
              </a:spcAft>
              <a:buSzPct val="100000"/>
              <a:buChar char="•"/>
            </a:pPr>
            <a:r>
              <a:rPr lang="en-US" sz="1650" dirty="0">
                <a:solidFill>
                  <a:srgbClr val="18293B"/>
                </a:solidFill>
                <a:latin typeface="Calibri" pitchFamily="34" charset="0"/>
                <a:ea typeface="Calibri" pitchFamily="34" charset="-122"/>
                <a:cs typeface="Calibri" pitchFamily="34" charset="-120"/>
              </a:rPr>
              <a:t>Is this insertion or SV sequence private to my patient, or carried by HPRC individuals? Which ones?</a:t>
            </a:r>
            <a:endParaRPr lang="en-US" sz="1650" dirty="0"/>
          </a:p>
          <a:p>
            <a:pPr marL="203200" indent="-203200">
              <a:spcAft>
                <a:spcPts val="1000"/>
              </a:spcAft>
              <a:buSzPct val="100000"/>
              <a:buChar char="•"/>
            </a:pPr>
            <a:r>
              <a:rPr lang="en-US" sz="1650" dirty="0">
                <a:solidFill>
                  <a:srgbClr val="18293B"/>
                </a:solidFill>
                <a:latin typeface="Calibri" pitchFamily="34" charset="0"/>
                <a:ea typeface="Calibri" pitchFamily="34" charset="-122"/>
                <a:cs typeface="Calibri" pitchFamily="34" charset="-120"/>
              </a:rPr>
              <a:t>ClinVar and GWAS context for a locus on the haplotype that actually carries the patient's allele.</a:t>
            </a:r>
            <a:endParaRPr lang="en-US" sz="1650" dirty="0"/>
          </a:p>
          <a:p>
            <a:pPr marL="203200" indent="-203200">
              <a:spcAft>
                <a:spcPts val="1000"/>
              </a:spcAft>
              <a:buSzPct val="100000"/>
              <a:buChar char="•"/>
            </a:pPr>
            <a:r>
              <a:rPr lang="en-US" sz="1650" dirty="0">
                <a:solidFill>
                  <a:srgbClr val="18293B"/>
                </a:solidFill>
                <a:latin typeface="Calibri" pitchFamily="34" charset="0"/>
                <a:ea typeface="Calibri" pitchFamily="34" charset="-122"/>
                <a:cs typeface="Calibri" pitchFamily="34" charset="-120"/>
              </a:rPr>
              <a:t>Complex loci where one reference misleads: HLA, KIR, CYP2D6, LPA, SMN1/2, seen on many haplotypes with the reference annotation drawn there.</a:t>
            </a:r>
            <a:endParaRPr lang="en-US" sz="1650" dirty="0"/>
          </a:p>
        </p:txBody>
      </p:sp>
      <p:sp>
        <p:nvSpPr>
          <p:cNvPr id="7" name="Text 5"/>
          <p:cNvSpPr txBox="1"/>
          <p:nvPr/>
        </p:nvSpPr>
        <p:spPr>
          <a:xfrm>
            <a:off x="6370168" y="1417320"/>
            <a:ext cx="5181448" cy="45720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Researchers and graph builders</a:t>
            </a:r>
            <a:endParaRPr lang="en-US" sz="2100" dirty="0"/>
          </a:p>
        </p:txBody>
      </p:sp>
      <p:sp>
        <p:nvSpPr>
          <p:cNvPr id="8" name="Shape 6"/>
          <p:cNvSpPr/>
          <p:nvPr/>
        </p:nvSpPr>
        <p:spPr>
          <a:xfrm>
            <a:off x="6370168" y="1965960"/>
            <a:ext cx="5181448" cy="0"/>
          </a:xfrm>
          <a:prstGeom prst="line">
            <a:avLst/>
          </a:prstGeom>
          <a:noFill/>
          <a:ln w="12700">
            <a:solidFill>
              <a:srgbClr val="D9E1E9"/>
            </a:solidFill>
            <a:prstDash val="solid"/>
          </a:ln>
        </p:spPr>
      </p:sp>
      <p:sp>
        <p:nvSpPr>
          <p:cNvPr id="9" name="Text 7"/>
          <p:cNvSpPr txBox="1"/>
          <p:nvPr/>
        </p:nvSpPr>
        <p:spPr>
          <a:xfrm>
            <a:off x="6370168" y="2148840"/>
            <a:ext cx="5181448" cy="3657600"/>
          </a:xfrm>
          <a:prstGeom prst="rect">
            <a:avLst/>
          </a:prstGeom>
          <a:noFill/>
          <a:ln/>
        </p:spPr>
        <p:txBody>
          <a:bodyPr wrap="square" lIns="0" tIns="0" rIns="0" bIns="0" rtlCol="0" anchor="t"/>
          <a:lstStyle/>
          <a:p>
            <a:pPr marL="203200" indent="-203200">
              <a:spcAft>
                <a:spcPts val="1000"/>
              </a:spcAft>
              <a:buSzPct val="100000"/>
              <a:buChar char="•"/>
            </a:pPr>
            <a:r>
              <a:rPr lang="en-US" sz="1650" dirty="0">
                <a:solidFill>
                  <a:srgbClr val="18293B"/>
                </a:solidFill>
                <a:latin typeface="Calibri" pitchFamily="34" charset="0"/>
                <a:ea typeface="Calibri" pitchFamily="34" charset="-122"/>
                <a:cs typeface="Calibri" pitchFamily="34" charset="-120"/>
              </a:rPr>
              <a:t>Place contigs, probes, primers or guide RNAs on every haplotype at once; see which haplotypes lack the site.</a:t>
            </a:r>
            <a:endParaRPr lang="en-US" sz="1650" dirty="0"/>
          </a:p>
          <a:p>
            <a:pPr marL="203200" indent="-203200">
              <a:spcAft>
                <a:spcPts val="1000"/>
              </a:spcAft>
              <a:buSzPct val="100000"/>
              <a:buChar char="•"/>
            </a:pPr>
            <a:r>
              <a:rPr lang="en-US" sz="1650" dirty="0">
                <a:solidFill>
                  <a:srgbClr val="18293B"/>
                </a:solidFill>
                <a:latin typeface="Calibri" pitchFamily="34" charset="0"/>
                <a:ea typeface="Calibri" pitchFamily="34" charset="-122"/>
                <a:cs typeface="Calibri" pitchFamily="34" charset="-120"/>
              </a:rPr>
              <a:t>Move any reference annotation, or your own tracks, onto any assembly; compare a locus across individuals.</a:t>
            </a:r>
            <a:endParaRPr lang="en-US" sz="1650" dirty="0"/>
          </a:p>
          <a:p>
            <a:pPr marL="203200" indent="-203200">
              <a:spcAft>
                <a:spcPts val="1000"/>
              </a:spcAft>
              <a:buSzPct val="100000"/>
              <a:buChar char="•"/>
            </a:pPr>
            <a:r>
              <a:rPr lang="en-US" sz="1650" dirty="0">
                <a:solidFill>
                  <a:srgbClr val="18293B"/>
                </a:solidFill>
                <a:latin typeface="Calibri" pitchFamily="34" charset="0"/>
                <a:ea typeface="Calibri" pitchFamily="34" charset="-122"/>
                <a:cs typeface="Calibri" pitchFamily="34" charset="-120"/>
              </a:rPr>
              <a:t>Inspect the graph's alignment itself: the Alignment Differences track is the graph, drawn base by base.</a:t>
            </a:r>
            <a:endParaRPr lang="en-US" sz="1650" dirty="0"/>
          </a:p>
        </p:txBody>
      </p:sp>
      <p:sp>
        <p:nvSpPr>
          <p:cNvPr id="10" name="Text 8"/>
          <p:cNvSpPr txBox="1"/>
          <p:nvPr/>
        </p:nvSpPr>
        <p:spPr>
          <a:xfrm>
            <a:off x="640080" y="5852160"/>
            <a:ext cx="1091153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No pipeline, no download: a browser tab and a sequence or a position.</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Checked so far, and fast enough</a:t>
            </a:r>
            <a:endParaRPr lang="en-US" sz="3000" dirty="0"/>
          </a:p>
        </p:txBody>
      </p:sp>
      <p:sp>
        <p:nvSpPr>
          <p:cNvPr id="3" name="Text 1"/>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640080" y="1417320"/>
            <a:ext cx="5181448" cy="365760"/>
          </a:xfrm>
          <a:prstGeom prst="rect">
            <a:avLst/>
          </a:prstGeom>
          <a:noFill/>
          <a:ln/>
        </p:spPr>
        <p:txBody>
          <a:bodyPr wrap="square" lIns="0" tIns="0" rIns="0" bIns="0" rtlCol="0" anchor="t"/>
          <a:lstStyle/>
          <a:p>
            <a:pPr indent="0" marL="0">
              <a:buNone/>
            </a:pPr>
            <a:r>
              <a:rPr lang="en-US" sz="1400" b="1" spc="200" kern="0" dirty="0">
                <a:solidFill>
                  <a:srgbClr val="0E7C9C"/>
                </a:solidFill>
                <a:latin typeface="Calibri" pitchFamily="34" charset="0"/>
                <a:ea typeface="Calibri" pitchFamily="34" charset="-122"/>
                <a:cs typeface="Calibri" pitchFamily="34" charset="-120"/>
              </a:rPr>
              <a:t>Checked</a:t>
            </a:r>
            <a:endParaRPr lang="en-US" sz="1400" dirty="0"/>
          </a:p>
        </p:txBody>
      </p:sp>
      <p:sp>
        <p:nvSpPr>
          <p:cNvPr id="5" name="Text 3"/>
          <p:cNvSpPr txBox="1"/>
          <p:nvPr/>
        </p:nvSpPr>
        <p:spPr>
          <a:xfrm>
            <a:off x="640080" y="1783080"/>
            <a:ext cx="5181448" cy="2377440"/>
          </a:xfrm>
          <a:prstGeom prst="rect">
            <a:avLst/>
          </a:prstGeom>
          <a:noFill/>
          <a:ln/>
        </p:spPr>
        <p:txBody>
          <a:bodyPr wrap="square" lIns="0" tIns="0" rIns="0" bIns="0" rtlCol="0" anchor="t"/>
          <a:lstStyle/>
          <a:p>
            <a:pPr marL="203200" indent="-203200">
              <a:spcAft>
                <a:spcPts val="1000"/>
              </a:spcAft>
              <a:buSzPct val="100000"/>
              <a:buChar char="•"/>
            </a:pPr>
            <a:r>
              <a:rPr lang="en-US" sz="1550" dirty="0">
                <a:solidFill>
                  <a:srgbClr val="18293B"/>
                </a:solidFill>
                <a:latin typeface="Calibri" pitchFamily="34" charset="0"/>
                <a:ea typeface="Calibri" pitchFamily="34" charset="-122"/>
                <a:cs typeface="Calibri" pitchFamily="34" charset="-120"/>
              </a:rPr>
              <a:t>Alignment Differences, base by base: 22 kb of ABO, hs1 vs HG00597#1, exactly the 2 real mismatches.</a:t>
            </a:r>
            <a:endParaRPr lang="en-US" sz="1550" dirty="0"/>
          </a:p>
          <a:p>
            <a:pPr marL="203200" indent="-203200">
              <a:spcAft>
                <a:spcPts val="1000"/>
              </a:spcAft>
              <a:buSzPct val="100000"/>
              <a:buChar char="•"/>
            </a:pPr>
            <a:r>
              <a:rPr lang="en-US" sz="1550" dirty="0">
                <a:solidFill>
                  <a:srgbClr val="18293B"/>
                </a:solidFill>
                <a:latin typeface="Calibri" pitchFamily="34" charset="0"/>
                <a:ea typeface="Calibri" pitchFamily="34" charset="-122"/>
                <a:cs typeface="Calibri" pitchFamily="34" charset="-120"/>
              </a:rPr>
              <a:t>Completeness by span: 99% up to 10 kb, 97% at 100 kb, 93% at 1 Mb.</a:t>
            </a:r>
            <a:endParaRPr lang="en-US" sz="1550" dirty="0"/>
          </a:p>
          <a:p>
            <a:pPr marL="203200" indent="-203200">
              <a:spcAft>
                <a:spcPts val="1000"/>
              </a:spcAft>
              <a:buSzPct val="100000"/>
              <a:buChar char="•"/>
            </a:pPr>
            <a:r>
              <a:rPr lang="en-US" sz="1550" dirty="0">
                <a:solidFill>
                  <a:srgbClr val="18293B"/>
                </a:solidFill>
                <a:latin typeface="Calibri" pitchFamily="34" charset="0"/>
                <a:ea typeface="Calibri" pitchFamily="34" charset="-122"/>
                <a:cs typeface="Calibri" pitchFamily="34" charset="-120"/>
              </a:rPr>
              <a:t>Hard case: a 37 kb segdup-dense span on 1q21.1 recovers 46% of bases. Missing positions, not wrong ones.</a:t>
            </a:r>
            <a:endParaRPr lang="en-US" sz="1550" dirty="0"/>
          </a:p>
        </p:txBody>
      </p:sp>
      <p:sp>
        <p:nvSpPr>
          <p:cNvPr id="6" name="Text 4"/>
          <p:cNvSpPr txBox="1"/>
          <p:nvPr/>
        </p:nvSpPr>
        <p:spPr>
          <a:xfrm>
            <a:off x="640080" y="4251960"/>
            <a:ext cx="5181448" cy="365760"/>
          </a:xfrm>
          <a:prstGeom prst="rect">
            <a:avLst/>
          </a:prstGeom>
          <a:noFill/>
          <a:ln/>
        </p:spPr>
        <p:txBody>
          <a:bodyPr wrap="square" lIns="0" tIns="0" rIns="0" bIns="0" rtlCol="0" anchor="t"/>
          <a:lstStyle/>
          <a:p>
            <a:pPr indent="0" marL="0">
              <a:buNone/>
            </a:pPr>
            <a:r>
              <a:rPr lang="en-US" sz="1400" b="1" spc="200" kern="0" dirty="0">
                <a:solidFill>
                  <a:srgbClr val="E4572E"/>
                </a:solidFill>
                <a:latin typeface="Calibri" pitchFamily="34" charset="0"/>
                <a:ea typeface="Calibri" pitchFamily="34" charset="-122"/>
                <a:cs typeface="Calibri" pitchFamily="34" charset="-120"/>
              </a:rPr>
              <a:t>Not yet</a:t>
            </a:r>
            <a:endParaRPr lang="en-US" sz="1400" dirty="0"/>
          </a:p>
        </p:txBody>
      </p:sp>
      <p:sp>
        <p:nvSpPr>
          <p:cNvPr id="7" name="Text 5"/>
          <p:cNvSpPr txBox="1"/>
          <p:nvPr/>
        </p:nvSpPr>
        <p:spPr>
          <a:xfrm>
            <a:off x="640080" y="4617720"/>
            <a:ext cx="5181448" cy="1280160"/>
          </a:xfrm>
          <a:prstGeom prst="rect">
            <a:avLst/>
          </a:prstGeom>
          <a:noFill/>
          <a:ln/>
        </p:spPr>
        <p:txBody>
          <a:bodyPr wrap="square" lIns="0" tIns="0" rIns="0" bIns="0" rtlCol="0" anchor="t"/>
          <a:lstStyle/>
          <a:p>
            <a:pPr marL="203200" indent="-203200">
              <a:spcAft>
                <a:spcPts val="1000"/>
              </a:spcAft>
              <a:buSzPct val="100000"/>
              <a:buChar char="•"/>
            </a:pPr>
            <a:r>
              <a:rPr lang="en-US" sz="1550" dirty="0">
                <a:solidFill>
                  <a:srgbClr val="18293B"/>
                </a:solidFill>
                <a:latin typeface="Calibri" pitchFamily="34" charset="0"/>
                <a:ea typeface="Calibri" pitchFamily="34" charset="-122"/>
                <a:cs typeface="Calibri" pitchFamily="34" charset="-120"/>
              </a:rPr>
              <a:t>halLiftover on the same Cactus alignment; the 56 existing chains; CHM13 CAT transcripts against a haplotype's own CAT annotation. Those come before public release.</a:t>
            </a:r>
            <a:endParaRPr lang="en-US" sz="1550" dirty="0"/>
          </a:p>
        </p:txBody>
      </p:sp>
      <p:sp>
        <p:nvSpPr>
          <p:cNvPr id="8" name="Text 6"/>
          <p:cNvSpPr txBox="1"/>
          <p:nvPr/>
        </p:nvSpPr>
        <p:spPr>
          <a:xfrm>
            <a:off x="6370168" y="1417320"/>
            <a:ext cx="5181448" cy="365760"/>
          </a:xfrm>
          <a:prstGeom prst="rect">
            <a:avLst/>
          </a:prstGeom>
          <a:noFill/>
          <a:ln/>
        </p:spPr>
        <p:txBody>
          <a:bodyPr wrap="square" lIns="0" tIns="0" rIns="0" bIns="0" rtlCol="0" anchor="t"/>
          <a:lstStyle/>
          <a:p>
            <a:pPr indent="0" marL="0">
              <a:buNone/>
            </a:pPr>
            <a:r>
              <a:rPr lang="en-US" sz="1400" b="1" spc="200" kern="0" dirty="0">
                <a:solidFill>
                  <a:srgbClr val="003C6C"/>
                </a:solidFill>
                <a:latin typeface="Calibri" pitchFamily="34" charset="0"/>
                <a:ea typeface="Calibri" pitchFamily="34" charset="-122"/>
                <a:cs typeface="Calibri" pitchFamily="34" charset="-120"/>
              </a:rPr>
              <a:t>Translation latency, median</a:t>
            </a:r>
            <a:endParaRPr lang="en-US" sz="1400" dirty="0"/>
          </a:p>
        </p:txBody>
      </p:sp>
      <p:sp>
        <p:nvSpPr>
          <p:cNvPr id="9" name="Shape 7"/>
          <p:cNvSpPr/>
          <p:nvPr/>
        </p:nvSpPr>
        <p:spPr>
          <a:xfrm>
            <a:off x="7833208" y="2011680"/>
            <a:ext cx="0" cy="2743200"/>
          </a:xfrm>
          <a:prstGeom prst="line">
            <a:avLst/>
          </a:prstGeom>
          <a:noFill/>
          <a:ln w="12700">
            <a:solidFill>
              <a:srgbClr val="D9E1E9"/>
            </a:solidFill>
            <a:prstDash val="dash"/>
          </a:ln>
        </p:spPr>
      </p:sp>
      <p:sp>
        <p:nvSpPr>
          <p:cNvPr id="10" name="Text 8"/>
          <p:cNvSpPr txBox="1"/>
          <p:nvPr/>
        </p:nvSpPr>
        <p:spPr>
          <a:xfrm>
            <a:off x="7376008" y="4846320"/>
            <a:ext cx="914400" cy="32004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10 ms</a:t>
            </a:r>
            <a:endParaRPr lang="en-US" sz="1300" dirty="0"/>
          </a:p>
        </p:txBody>
      </p:sp>
      <p:sp>
        <p:nvSpPr>
          <p:cNvPr id="11" name="Shape 9"/>
          <p:cNvSpPr/>
          <p:nvPr/>
        </p:nvSpPr>
        <p:spPr>
          <a:xfrm>
            <a:off x="8584997" y="2011680"/>
            <a:ext cx="0" cy="2743200"/>
          </a:xfrm>
          <a:prstGeom prst="line">
            <a:avLst/>
          </a:prstGeom>
          <a:noFill/>
          <a:ln w="12700">
            <a:solidFill>
              <a:srgbClr val="D9E1E9"/>
            </a:solidFill>
            <a:prstDash val="dash"/>
          </a:ln>
        </p:spPr>
      </p:sp>
      <p:sp>
        <p:nvSpPr>
          <p:cNvPr id="12" name="Text 10"/>
          <p:cNvSpPr txBox="1"/>
          <p:nvPr/>
        </p:nvSpPr>
        <p:spPr>
          <a:xfrm>
            <a:off x="8127797" y="4846320"/>
            <a:ext cx="914400" cy="32004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100 ms</a:t>
            </a:r>
            <a:endParaRPr lang="en-US" sz="1300" dirty="0"/>
          </a:p>
        </p:txBody>
      </p:sp>
      <p:sp>
        <p:nvSpPr>
          <p:cNvPr id="13" name="Shape 11"/>
          <p:cNvSpPr/>
          <p:nvPr/>
        </p:nvSpPr>
        <p:spPr>
          <a:xfrm>
            <a:off x="9336786" y="2011680"/>
            <a:ext cx="0" cy="2743200"/>
          </a:xfrm>
          <a:prstGeom prst="line">
            <a:avLst/>
          </a:prstGeom>
          <a:noFill/>
          <a:ln w="12700">
            <a:solidFill>
              <a:srgbClr val="D9E1E9"/>
            </a:solidFill>
            <a:prstDash val="dash"/>
          </a:ln>
        </p:spPr>
      </p:sp>
      <p:sp>
        <p:nvSpPr>
          <p:cNvPr id="14" name="Text 12"/>
          <p:cNvSpPr txBox="1"/>
          <p:nvPr/>
        </p:nvSpPr>
        <p:spPr>
          <a:xfrm>
            <a:off x="8879586" y="4846320"/>
            <a:ext cx="914400" cy="32004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1 s</a:t>
            </a:r>
            <a:endParaRPr lang="en-US" sz="1300" dirty="0"/>
          </a:p>
        </p:txBody>
      </p:sp>
      <p:sp>
        <p:nvSpPr>
          <p:cNvPr id="15" name="Shape 13"/>
          <p:cNvSpPr/>
          <p:nvPr/>
        </p:nvSpPr>
        <p:spPr>
          <a:xfrm>
            <a:off x="10088575" y="2011680"/>
            <a:ext cx="0" cy="2743200"/>
          </a:xfrm>
          <a:prstGeom prst="line">
            <a:avLst/>
          </a:prstGeom>
          <a:noFill/>
          <a:ln w="12700">
            <a:solidFill>
              <a:srgbClr val="D9E1E9"/>
            </a:solidFill>
            <a:prstDash val="dash"/>
          </a:ln>
        </p:spPr>
      </p:sp>
      <p:sp>
        <p:nvSpPr>
          <p:cNvPr id="16" name="Text 14"/>
          <p:cNvSpPr txBox="1"/>
          <p:nvPr/>
        </p:nvSpPr>
        <p:spPr>
          <a:xfrm>
            <a:off x="9631375" y="4846320"/>
            <a:ext cx="914400" cy="32004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10 s</a:t>
            </a:r>
            <a:endParaRPr lang="en-US" sz="1300" dirty="0"/>
          </a:p>
        </p:txBody>
      </p:sp>
      <p:sp>
        <p:nvSpPr>
          <p:cNvPr id="17" name="Text 15"/>
          <p:cNvSpPr txBox="1"/>
          <p:nvPr/>
        </p:nvSpPr>
        <p:spPr>
          <a:xfrm>
            <a:off x="6370168" y="2103120"/>
            <a:ext cx="1280160" cy="365760"/>
          </a:xfrm>
          <a:prstGeom prst="rect">
            <a:avLst/>
          </a:prstGeom>
          <a:noFill/>
          <a:ln/>
        </p:spPr>
        <p:txBody>
          <a:bodyPr wrap="square" lIns="0" tIns="0" rIns="0" bIns="0" rtlCol="0" anchor="ctr"/>
          <a:lstStyle/>
          <a:p>
            <a:pPr algn="r" indent="0" marL="0">
              <a:buNone/>
            </a:pPr>
            <a:r>
              <a:rPr lang="en-US" sz="1500" dirty="0">
                <a:solidFill>
                  <a:srgbClr val="18293B"/>
                </a:solidFill>
                <a:latin typeface="Calibri" pitchFamily="34" charset="0"/>
                <a:ea typeface="Calibri" pitchFamily="34" charset="-122"/>
                <a:cs typeface="Calibri" pitchFamily="34" charset="-120"/>
              </a:rPr>
              <a:t>up to 1 kb</a:t>
            </a:r>
            <a:endParaRPr lang="en-US" sz="1500" dirty="0"/>
          </a:p>
        </p:txBody>
      </p:sp>
      <p:sp>
        <p:nvSpPr>
          <p:cNvPr id="18" name="Shape 16"/>
          <p:cNvSpPr/>
          <p:nvPr/>
        </p:nvSpPr>
        <p:spPr>
          <a:xfrm>
            <a:off x="7833208" y="2286000"/>
            <a:ext cx="242241" cy="0"/>
          </a:xfrm>
          <a:prstGeom prst="line">
            <a:avLst/>
          </a:prstGeom>
          <a:noFill/>
          <a:ln w="38100">
            <a:solidFill>
              <a:srgbClr val="B8C7D6"/>
            </a:solidFill>
            <a:prstDash val="solid"/>
          </a:ln>
        </p:spPr>
      </p:sp>
      <p:sp>
        <p:nvSpPr>
          <p:cNvPr id="19" name="Shape 17"/>
          <p:cNvSpPr/>
          <p:nvPr/>
        </p:nvSpPr>
        <p:spPr>
          <a:xfrm>
            <a:off x="7974865" y="218541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8258329" y="2103120"/>
            <a:ext cx="1280160" cy="365760"/>
          </a:xfrm>
          <a:prstGeom prst="rect">
            <a:avLst/>
          </a:prstGeom>
          <a:noFill/>
          <a:ln/>
        </p:spPr>
        <p:txBody>
          <a:bodyPr wrap="square" lIns="0" tIns="0" rIns="0" bIns="0" rtlCol="0" anchor="ctr"/>
          <a:lstStyle/>
          <a:p>
            <a:pPr indent="0" marL="0">
              <a:buNone/>
            </a:pPr>
            <a:r>
              <a:rPr lang="en-US" sz="1700" b="1" dirty="0">
                <a:solidFill>
                  <a:srgbClr val="003C6C"/>
                </a:solidFill>
                <a:latin typeface="Calibri" pitchFamily="34" charset="0"/>
                <a:ea typeface="Calibri" pitchFamily="34" charset="-122"/>
                <a:cs typeface="Calibri" pitchFamily="34" charset="-120"/>
              </a:rPr>
              <a:t>~20 ms</a:t>
            </a:r>
            <a:endParaRPr lang="en-US" sz="1700" dirty="0"/>
          </a:p>
        </p:txBody>
      </p:sp>
      <p:sp>
        <p:nvSpPr>
          <p:cNvPr id="21" name="Text 19"/>
          <p:cNvSpPr txBox="1"/>
          <p:nvPr/>
        </p:nvSpPr>
        <p:spPr>
          <a:xfrm>
            <a:off x="6370168" y="2834640"/>
            <a:ext cx="1280160" cy="365760"/>
          </a:xfrm>
          <a:prstGeom prst="rect">
            <a:avLst/>
          </a:prstGeom>
          <a:noFill/>
          <a:ln/>
        </p:spPr>
        <p:txBody>
          <a:bodyPr wrap="square" lIns="0" tIns="0" rIns="0" bIns="0" rtlCol="0" anchor="ctr"/>
          <a:lstStyle/>
          <a:p>
            <a:pPr algn="r" indent="0" marL="0">
              <a:buNone/>
            </a:pPr>
            <a:r>
              <a:rPr lang="en-US" sz="1500" dirty="0">
                <a:solidFill>
                  <a:srgbClr val="18293B"/>
                </a:solidFill>
                <a:latin typeface="Calibri" pitchFamily="34" charset="0"/>
                <a:ea typeface="Calibri" pitchFamily="34" charset="-122"/>
                <a:cs typeface="Calibri" pitchFamily="34" charset="-120"/>
              </a:rPr>
              <a:t>10 kb</a:t>
            </a:r>
            <a:endParaRPr lang="en-US" sz="1500" dirty="0"/>
          </a:p>
        </p:txBody>
      </p:sp>
      <p:sp>
        <p:nvSpPr>
          <p:cNvPr id="22" name="Shape 20"/>
          <p:cNvSpPr/>
          <p:nvPr/>
        </p:nvSpPr>
        <p:spPr>
          <a:xfrm>
            <a:off x="7833208" y="3017520"/>
            <a:ext cx="797421" cy="0"/>
          </a:xfrm>
          <a:prstGeom prst="line">
            <a:avLst/>
          </a:prstGeom>
          <a:noFill/>
          <a:ln w="38100">
            <a:solidFill>
              <a:srgbClr val="B8C7D6"/>
            </a:solidFill>
            <a:prstDash val="solid"/>
          </a:ln>
        </p:spPr>
      </p:sp>
      <p:sp>
        <p:nvSpPr>
          <p:cNvPr id="23" name="Shape 21"/>
          <p:cNvSpPr/>
          <p:nvPr/>
        </p:nvSpPr>
        <p:spPr>
          <a:xfrm>
            <a:off x="8530045" y="291693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8813509" y="2834640"/>
            <a:ext cx="1280160" cy="365760"/>
          </a:xfrm>
          <a:prstGeom prst="rect">
            <a:avLst/>
          </a:prstGeom>
          <a:noFill/>
          <a:ln/>
        </p:spPr>
        <p:txBody>
          <a:bodyPr wrap="square" lIns="0" tIns="0" rIns="0" bIns="0" rtlCol="0" anchor="ctr"/>
          <a:lstStyle/>
          <a:p>
            <a:pPr indent="0" marL="0">
              <a:buNone/>
            </a:pPr>
            <a:r>
              <a:rPr lang="en-US" sz="1700" b="1" dirty="0">
                <a:solidFill>
                  <a:srgbClr val="003C6C"/>
                </a:solidFill>
                <a:latin typeface="Calibri" pitchFamily="34" charset="0"/>
                <a:ea typeface="Calibri" pitchFamily="34" charset="-122"/>
                <a:cs typeface="Calibri" pitchFamily="34" charset="-120"/>
              </a:rPr>
              <a:t>115 ms</a:t>
            </a:r>
            <a:endParaRPr lang="en-US" sz="1700" dirty="0"/>
          </a:p>
        </p:txBody>
      </p:sp>
      <p:sp>
        <p:nvSpPr>
          <p:cNvPr id="25" name="Text 23"/>
          <p:cNvSpPr txBox="1"/>
          <p:nvPr/>
        </p:nvSpPr>
        <p:spPr>
          <a:xfrm>
            <a:off x="6370168" y="3566160"/>
            <a:ext cx="1280160" cy="365760"/>
          </a:xfrm>
          <a:prstGeom prst="rect">
            <a:avLst/>
          </a:prstGeom>
          <a:noFill/>
          <a:ln/>
        </p:spPr>
        <p:txBody>
          <a:bodyPr wrap="square" lIns="0" tIns="0" rIns="0" bIns="0" rtlCol="0" anchor="ctr"/>
          <a:lstStyle/>
          <a:p>
            <a:pPr algn="r" indent="0" marL="0">
              <a:buNone/>
            </a:pPr>
            <a:r>
              <a:rPr lang="en-US" sz="1500" dirty="0">
                <a:solidFill>
                  <a:srgbClr val="18293B"/>
                </a:solidFill>
                <a:latin typeface="Calibri" pitchFamily="34" charset="0"/>
                <a:ea typeface="Calibri" pitchFamily="34" charset="-122"/>
                <a:cs typeface="Calibri" pitchFamily="34" charset="-120"/>
              </a:rPr>
              <a:t>100 kb</a:t>
            </a:r>
            <a:endParaRPr lang="en-US" sz="1500" dirty="0"/>
          </a:p>
        </p:txBody>
      </p:sp>
      <p:sp>
        <p:nvSpPr>
          <p:cNvPr id="26" name="Shape 24"/>
          <p:cNvSpPr/>
          <p:nvPr/>
        </p:nvSpPr>
        <p:spPr>
          <a:xfrm>
            <a:off x="7833208" y="3749040"/>
            <a:ext cx="1336250" cy="0"/>
          </a:xfrm>
          <a:prstGeom prst="line">
            <a:avLst/>
          </a:prstGeom>
          <a:noFill/>
          <a:ln w="38100">
            <a:solidFill>
              <a:srgbClr val="B8C7D6"/>
            </a:solidFill>
            <a:prstDash val="solid"/>
          </a:ln>
        </p:spPr>
      </p:sp>
      <p:sp>
        <p:nvSpPr>
          <p:cNvPr id="27" name="Shape 25"/>
          <p:cNvSpPr/>
          <p:nvPr/>
        </p:nvSpPr>
        <p:spPr>
          <a:xfrm>
            <a:off x="9068874" y="364845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9352338" y="3566160"/>
            <a:ext cx="1280160" cy="365760"/>
          </a:xfrm>
          <a:prstGeom prst="rect">
            <a:avLst/>
          </a:prstGeom>
          <a:noFill/>
          <a:ln/>
        </p:spPr>
        <p:txBody>
          <a:bodyPr wrap="square" lIns="0" tIns="0" rIns="0" bIns="0" rtlCol="0" anchor="ctr"/>
          <a:lstStyle/>
          <a:p>
            <a:pPr indent="0" marL="0">
              <a:buNone/>
            </a:pPr>
            <a:r>
              <a:rPr lang="en-US" sz="1700" b="1" dirty="0">
                <a:solidFill>
                  <a:srgbClr val="003C6C"/>
                </a:solidFill>
                <a:latin typeface="Calibri" pitchFamily="34" charset="0"/>
                <a:ea typeface="Calibri" pitchFamily="34" charset="-122"/>
                <a:cs typeface="Calibri" pitchFamily="34" charset="-120"/>
              </a:rPr>
              <a:t>0.6 s</a:t>
            </a:r>
            <a:endParaRPr lang="en-US" sz="1700" dirty="0"/>
          </a:p>
        </p:txBody>
      </p:sp>
      <p:sp>
        <p:nvSpPr>
          <p:cNvPr id="29" name="Text 27"/>
          <p:cNvSpPr txBox="1"/>
          <p:nvPr/>
        </p:nvSpPr>
        <p:spPr>
          <a:xfrm>
            <a:off x="6370168" y="4297680"/>
            <a:ext cx="1280160" cy="365760"/>
          </a:xfrm>
          <a:prstGeom prst="rect">
            <a:avLst/>
          </a:prstGeom>
          <a:noFill/>
          <a:ln/>
        </p:spPr>
        <p:txBody>
          <a:bodyPr wrap="square" lIns="0" tIns="0" rIns="0" bIns="0" rtlCol="0" anchor="ctr"/>
          <a:lstStyle/>
          <a:p>
            <a:pPr algn="r" indent="0" marL="0">
              <a:buNone/>
            </a:pPr>
            <a:r>
              <a:rPr lang="en-US" sz="1500" dirty="0">
                <a:solidFill>
                  <a:srgbClr val="18293B"/>
                </a:solidFill>
                <a:latin typeface="Calibri" pitchFamily="34" charset="0"/>
                <a:ea typeface="Calibri" pitchFamily="34" charset="-122"/>
                <a:cs typeface="Calibri" pitchFamily="34" charset="-120"/>
              </a:rPr>
              <a:t>1 Mb</a:t>
            </a:r>
            <a:endParaRPr lang="en-US" sz="1500" dirty="0"/>
          </a:p>
        </p:txBody>
      </p:sp>
      <p:sp>
        <p:nvSpPr>
          <p:cNvPr id="30" name="Shape 28"/>
          <p:cNvSpPr/>
          <p:nvPr/>
        </p:nvSpPr>
        <p:spPr>
          <a:xfrm>
            <a:off x="7833208" y="4480560"/>
            <a:ext cx="1979813" cy="0"/>
          </a:xfrm>
          <a:prstGeom prst="line">
            <a:avLst/>
          </a:prstGeom>
          <a:noFill/>
          <a:ln w="38100">
            <a:solidFill>
              <a:srgbClr val="B8C7D6"/>
            </a:solidFill>
            <a:prstDash val="solid"/>
          </a:ln>
        </p:spPr>
      </p:sp>
      <p:sp>
        <p:nvSpPr>
          <p:cNvPr id="31" name="Shape 29"/>
          <p:cNvSpPr/>
          <p:nvPr/>
        </p:nvSpPr>
        <p:spPr>
          <a:xfrm>
            <a:off x="9712437" y="4379976"/>
            <a:ext cx="201168" cy="201168"/>
          </a:xfrm>
          <a:prstGeom prst="ellipse">
            <a:avLst/>
          </a:prstGeom>
          <a:solidFill>
            <a:srgbClr val="003C6C"/>
          </a:solidFill>
          <a:ln w="12700">
            <a:solidFill>
              <a:srgbClr val="003C6C"/>
            </a:solidFill>
            <a:prstDash val="solid"/>
          </a:ln>
        </p:spPr>
      </p:sp>
      <p:sp>
        <p:nvSpPr>
          <p:cNvPr id="32" name="Text 30"/>
          <p:cNvSpPr txBox="1"/>
          <p:nvPr/>
        </p:nvSpPr>
        <p:spPr>
          <a:xfrm>
            <a:off x="9995901" y="4297680"/>
            <a:ext cx="1280160" cy="365760"/>
          </a:xfrm>
          <a:prstGeom prst="rect">
            <a:avLst/>
          </a:prstGeom>
          <a:noFill/>
          <a:ln/>
        </p:spPr>
        <p:txBody>
          <a:bodyPr wrap="square" lIns="0" tIns="0" rIns="0" bIns="0" rtlCol="0" anchor="ctr"/>
          <a:lstStyle/>
          <a:p>
            <a:pPr indent="0" marL="0">
              <a:buNone/>
            </a:pPr>
            <a:r>
              <a:rPr lang="en-US" sz="1700" b="1" dirty="0">
                <a:solidFill>
                  <a:srgbClr val="003C6C"/>
                </a:solidFill>
                <a:latin typeface="Calibri" pitchFamily="34" charset="0"/>
                <a:ea typeface="Calibri" pitchFamily="34" charset="-122"/>
                <a:cs typeface="Calibri" pitchFamily="34" charset="-120"/>
              </a:rPr>
              <a:t>4.3 s</a:t>
            </a:r>
            <a:endParaRPr lang="en-US" sz="1700" dirty="0"/>
          </a:p>
        </p:txBody>
      </p:sp>
      <p:sp>
        <p:nvSpPr>
          <p:cNvPr id="33" name="Text 31"/>
          <p:cNvSpPr txBox="1"/>
          <p:nvPr/>
        </p:nvSpPr>
        <p:spPr>
          <a:xfrm>
            <a:off x="6370168" y="5212080"/>
            <a:ext cx="5181448" cy="731520"/>
          </a:xfrm>
          <a:prstGeom prst="rect">
            <a:avLst/>
          </a:prstGeom>
          <a:noFill/>
          <a:ln/>
        </p:spPr>
        <p:txBody>
          <a:bodyPr wrap="square" lIns="0" tIns="0" rIns="0" bIns="0" rtlCol="0" anchor="t"/>
          <a:lstStyle/>
          <a:p>
            <a:pPr indent="0" marL="0">
              <a:buNone/>
            </a:pPr>
            <a:r>
              <a:rPr lang="en-US" sz="1500" dirty="0">
                <a:solidFill>
                  <a:srgbClr val="5B6B7C"/>
                </a:solidFill>
                <a:latin typeface="Calibri" pitchFamily="34" charset="0"/>
                <a:ea typeface="Calibri" pitchFamily="34" charset="-122"/>
                <a:cs typeface="Calibri" pitchFamily="34" charset="-120"/>
              </a:rPr>
              <a:t>One server sustains about 60 queries a second; the index is read-only and thread-safe.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Real limits, and what's next</a:t>
            </a:r>
            <a:endParaRPr lang="en-US" sz="3000" dirty="0"/>
          </a:p>
        </p:txBody>
      </p:sp>
      <p:sp>
        <p:nvSpPr>
          <p:cNvPr id="3" name="Text 1"/>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Text 2"/>
          <p:cNvSpPr txBox="1"/>
          <p:nvPr/>
        </p:nvSpPr>
        <p:spPr>
          <a:xfrm>
            <a:off x="640080" y="1417320"/>
            <a:ext cx="5181448" cy="36576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Today</a:t>
            </a:r>
            <a:endParaRPr lang="en-US" sz="1400" dirty="0"/>
          </a:p>
        </p:txBody>
      </p:sp>
      <p:sp>
        <p:nvSpPr>
          <p:cNvPr id="5" name="Text 3"/>
          <p:cNvSpPr txBox="1"/>
          <p:nvPr/>
        </p:nvSpPr>
        <p:spPr>
          <a:xfrm>
            <a:off x="640080" y="1828800"/>
            <a:ext cx="5181448" cy="265176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per view. Pan far enough and another one is built.</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Segdup-dense spans lose positions: 46% recovered on 1q21.1.</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Development browser only. One service, about 250 GB of RAM. No public API yet.</a:t>
            </a:r>
            <a:endParaRPr lang="en-US" sz="1700" dirty="0"/>
          </a:p>
        </p:txBody>
      </p:sp>
      <p:sp>
        <p:nvSpPr>
          <p:cNvPr id="6" name="Text 4"/>
          <p:cNvSpPr txBox="1"/>
          <p:nvPr/>
        </p:nvSpPr>
        <p:spPr>
          <a:xfrm>
            <a:off x="6370168" y="1417320"/>
            <a:ext cx="5181448" cy="36576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Next</a:t>
            </a:r>
            <a:endParaRPr lang="en-US" sz="1400" dirty="0"/>
          </a:p>
        </p:txBody>
      </p:sp>
      <p:sp>
        <p:nvSpPr>
          <p:cNvPr id="7" name="Text 5"/>
          <p:cNvSpPr txBox="1"/>
          <p:nvPr/>
        </p:nvSpPr>
        <p:spPr>
          <a:xfrm>
            <a:off x="6370168" y="1828800"/>
            <a:ext cx="5181448" cy="265176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Shared, persistent chains: popular regions free after the first visit.</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Better recovery in segdup-dense spans.</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A documented JSON API, so it runs from your pipeline too.</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New graphs plug in by building one index.</a:t>
            </a:r>
            <a:endParaRPr lang="en-US" sz="1700" dirty="0"/>
          </a:p>
        </p:txBody>
      </p:sp>
      <p:sp>
        <p:nvSpPr>
          <p:cNvPr id="8" name="Shape 6"/>
          <p:cNvSpPr/>
          <p:nvPr/>
        </p:nvSpPr>
        <p:spPr>
          <a:xfrm>
            <a:off x="640080" y="4846320"/>
            <a:ext cx="10911535" cy="914400"/>
          </a:xfrm>
          <a:prstGeom prst="roundRect">
            <a:avLst>
              <a:gd name="adj" fmla="val 10000"/>
            </a:avLst>
          </a:prstGeom>
          <a:solidFill>
            <a:srgbClr val="06294A"/>
          </a:solidFill>
          <a:ln w="12700">
            <a:solidFill>
              <a:srgbClr val="06294A"/>
            </a:solidFill>
            <a:prstDash val="solid"/>
          </a:ln>
        </p:spPr>
      </p:sp>
      <p:sp>
        <p:nvSpPr>
          <p:cNvPr id="9" name="Text 7"/>
          <p:cNvSpPr txBox="1"/>
          <p:nvPr/>
        </p:nvSpPr>
        <p:spPr>
          <a:xfrm>
            <a:off x="640080" y="4846320"/>
            <a:ext cx="10911535" cy="914400"/>
          </a:xfrm>
          <a:prstGeom prst="rect">
            <a:avLst/>
          </a:prstGeom>
          <a:noFill/>
          <a:ln/>
        </p:spPr>
        <p:txBody>
          <a:bodyPr wrap="square" lIns="0" tIns="0" rIns="0" bIns="0" rtlCol="0" anchor="ctr"/>
          <a:lstStyle/>
          <a:p>
            <a:pPr algn="ctr" indent="0" marL="0">
              <a:buNone/>
            </a:pPr>
            <a:r>
              <a:rPr lang="en-US" sz="2400" dirty="0">
                <a:solidFill>
                  <a:srgbClr val="C6D3DF"/>
                </a:solidFill>
                <a:latin typeface="Calibri" pitchFamily="34" charset="0"/>
                <a:ea typeface="Calibri" pitchFamily="34" charset="-122"/>
                <a:cs typeface="Calibri" pitchFamily="34" charset="-120"/>
              </a:rPr>
              <a:t>Next milestone: </a:t>
            </a:r>
            <a:pPr algn="ctr" indent="0" marL="0">
              <a:buNone/>
            </a:pPr>
            <a:r>
              <a:rPr lang="en-US" sz="2400" b="1" dirty="0">
                <a:solidFill>
                  <a:srgbClr val="FFFFFF"/>
                </a:solidFill>
                <a:latin typeface="Calibri" pitchFamily="34" charset="0"/>
                <a:ea typeface="Calibri" pitchFamily="34" charset="-122"/>
                <a:cs typeface="Calibri" pitchFamily="34" charset="-120"/>
              </a:rPr>
              <a:t>public release in the UCSC Genome Browser</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640080" y="457200"/>
            <a:ext cx="10911535" cy="7315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Both afternoons, served</a:t>
            </a:r>
            <a:endParaRPr lang="en-US" sz="3000" dirty="0"/>
          </a:p>
        </p:txBody>
      </p:sp>
      <p:sp>
        <p:nvSpPr>
          <p:cNvPr id="4" name="Text 2"/>
          <p:cNvSpPr txBox="1"/>
          <p:nvPr/>
        </p:nvSpPr>
        <p:spPr>
          <a:xfrm>
            <a:off x="640080" y="1463040"/>
            <a:ext cx="5181448" cy="36576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Scenario 1</a:t>
            </a:r>
            <a:endParaRPr lang="en-US" sz="1400" dirty="0"/>
          </a:p>
        </p:txBody>
      </p:sp>
      <p:sp>
        <p:nvSpPr>
          <p:cNvPr id="5" name="Text 3"/>
          <p:cNvSpPr txBox="1"/>
          <p:nvPr/>
        </p:nvSpPr>
        <p:spPr>
          <a:xfrm>
            <a:off x="640080" y="1828800"/>
            <a:ext cx="5181448" cy="548640"/>
          </a:xfrm>
          <a:prstGeom prst="rect">
            <a:avLst/>
          </a:prstGeom>
          <a:noFill/>
          <a:ln/>
        </p:spPr>
        <p:txBody>
          <a:bodyPr wrap="square" lIns="0" tIns="0" rIns="0" bIns="0" rtlCol="0" anchor="t"/>
          <a:lstStyle/>
          <a:p>
            <a:pPr indent="0" marL="0">
              <a:buNone/>
            </a:pPr>
            <a:r>
              <a:rPr lang="en-US" sz="2400" b="1" dirty="0">
                <a:solidFill>
                  <a:srgbClr val="FFFFFF"/>
                </a:solidFill>
                <a:latin typeface="Calibri" pitchFamily="34" charset="0"/>
                <a:ea typeface="Calibri" pitchFamily="34" charset="-122"/>
                <a:cs typeface="Calibri" pitchFamily="34" charset="-120"/>
              </a:rPr>
              <a:t>A sequence GRCh38 doesn't have</a:t>
            </a:r>
            <a:endParaRPr lang="en-US" sz="2400" dirty="0"/>
          </a:p>
        </p:txBody>
      </p:sp>
      <p:sp>
        <p:nvSpPr>
          <p:cNvPr id="6" name="Shape 4"/>
          <p:cNvSpPr/>
          <p:nvPr/>
        </p:nvSpPr>
        <p:spPr>
          <a:xfrm>
            <a:off x="640080" y="2514600"/>
            <a:ext cx="5181448" cy="0"/>
          </a:xfrm>
          <a:prstGeom prst="line">
            <a:avLst/>
          </a:prstGeom>
          <a:noFill/>
          <a:ln w="12700">
            <a:solidFill>
              <a:srgbClr val="3D5A7A"/>
            </a:solidFill>
            <a:prstDash val="solid"/>
          </a:ln>
        </p:spPr>
      </p:sp>
      <p:sp>
        <p:nvSpPr>
          <p:cNvPr id="7" name="Text 5"/>
          <p:cNvSpPr txBox="1"/>
          <p:nvPr/>
        </p:nvSpPr>
        <p:spPr>
          <a:xfrm>
            <a:off x="640080" y="2697480"/>
            <a:ext cx="5181448" cy="1463040"/>
          </a:xfrm>
          <a:prstGeom prst="rect">
            <a:avLst/>
          </a:prstGeom>
          <a:noFill/>
          <a:ln/>
        </p:spPr>
        <p:txBody>
          <a:bodyPr wrap="square" lIns="0" tIns="0" rIns="0" bIns="0" rtlCol="0" anchor="t"/>
          <a:lstStyle/>
          <a:p>
            <a:pPr indent="0" marL="0">
              <a:buNone/>
            </a:pPr>
            <a:r>
              <a:rPr lang="en-US" sz="1900" dirty="0">
                <a:solidFill>
                  <a:srgbClr val="C6D3DF"/>
                </a:solidFill>
                <a:latin typeface="Calibri" pitchFamily="34" charset="0"/>
                <a:ea typeface="Calibri" pitchFamily="34" charset="-122"/>
                <a:cs typeface="Calibri" pitchFamily="34" charset="-120"/>
              </a:rPr>
              <a:t>A researcher assembles an insertion from a patient's long reads. It isn't in the reference. Which HPRC haplotypes carry it, and what does it look like there?</a:t>
            </a:r>
            <a:endParaRPr lang="en-US" sz="1900" dirty="0"/>
          </a:p>
        </p:txBody>
      </p:sp>
      <p:sp>
        <p:nvSpPr>
          <p:cNvPr id="8" name="Text 6"/>
          <p:cNvSpPr txBox="1"/>
          <p:nvPr/>
        </p:nvSpPr>
        <p:spPr>
          <a:xfrm>
            <a:off x="640080" y="4251960"/>
            <a:ext cx="5181448" cy="64008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two carriers found in seconds; her insertion mapped as a track on a genome that has it</a:t>
            </a:r>
            <a:endParaRPr lang="en-US" sz="1500" dirty="0"/>
          </a:p>
        </p:txBody>
      </p:sp>
      <p:sp>
        <p:nvSpPr>
          <p:cNvPr id="9" name="Text 7"/>
          <p:cNvSpPr txBox="1"/>
          <p:nvPr/>
        </p:nvSpPr>
        <p:spPr>
          <a:xfrm>
            <a:off x="640080" y="4892040"/>
            <a:ext cx="518144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done</a:t>
            </a:r>
            <a:endParaRPr lang="en-US" sz="4000" dirty="0"/>
          </a:p>
        </p:txBody>
      </p:sp>
      <p:sp>
        <p:nvSpPr>
          <p:cNvPr id="10" name="Text 8"/>
          <p:cNvSpPr txBox="1"/>
          <p:nvPr/>
        </p:nvSpPr>
        <p:spPr>
          <a:xfrm>
            <a:off x="6370168" y="1463040"/>
            <a:ext cx="5181448" cy="365760"/>
          </a:xfrm>
          <a:prstGeom prst="rect">
            <a:avLst/>
          </a:prstGeom>
          <a:noFill/>
          <a:ln/>
        </p:spPr>
        <p:txBody>
          <a:bodyPr wrap="square" lIns="0" tIns="0" rIns="0" bIns="0" rtlCol="0" anchor="t"/>
          <a:lstStyle/>
          <a:p>
            <a:pPr indent="0" marL="0">
              <a:buNone/>
            </a:pPr>
            <a:r>
              <a:rPr lang="en-US" sz="1400" b="1" spc="200" kern="0" dirty="0">
                <a:solidFill>
                  <a:srgbClr val="FDC700"/>
                </a:solidFill>
                <a:latin typeface="Calibri" pitchFamily="34" charset="0"/>
                <a:ea typeface="Calibri" pitchFamily="34" charset="-122"/>
                <a:cs typeface="Calibri" pitchFamily="34" charset="-120"/>
              </a:rPr>
              <a:t>Scenario 2</a:t>
            </a:r>
            <a:endParaRPr lang="en-US" sz="1400" dirty="0"/>
          </a:p>
        </p:txBody>
      </p:sp>
      <p:sp>
        <p:nvSpPr>
          <p:cNvPr id="11" name="Text 9"/>
          <p:cNvSpPr txBox="1"/>
          <p:nvPr/>
        </p:nvSpPr>
        <p:spPr>
          <a:xfrm>
            <a:off x="6370168" y="1828800"/>
            <a:ext cx="5181448" cy="548640"/>
          </a:xfrm>
          <a:prstGeom prst="rect">
            <a:avLst/>
          </a:prstGeom>
          <a:noFill/>
          <a:ln/>
        </p:spPr>
        <p:txBody>
          <a:bodyPr wrap="square" lIns="0" tIns="0" rIns="0" bIns="0" rtlCol="0" anchor="t"/>
          <a:lstStyle/>
          <a:p>
            <a:pPr indent="0" marL="0">
              <a:buNone/>
            </a:pPr>
            <a:r>
              <a:rPr lang="en-US" sz="2400" b="1" dirty="0">
                <a:solidFill>
                  <a:srgbClr val="FFFFFF"/>
                </a:solidFill>
                <a:latin typeface="Calibri" pitchFamily="34" charset="0"/>
                <a:ea typeface="Calibri" pitchFamily="34" charset="-122"/>
                <a:cs typeface="Calibri" pitchFamily="34" charset="-120"/>
              </a:rPr>
              <a:t>A gene you know, on a genome you don't</a:t>
            </a:r>
            <a:endParaRPr lang="en-US" sz="2400" dirty="0"/>
          </a:p>
        </p:txBody>
      </p:sp>
      <p:sp>
        <p:nvSpPr>
          <p:cNvPr id="12" name="Shape 10"/>
          <p:cNvSpPr/>
          <p:nvPr/>
        </p:nvSpPr>
        <p:spPr>
          <a:xfrm>
            <a:off x="6370168" y="2514600"/>
            <a:ext cx="5181448" cy="0"/>
          </a:xfrm>
          <a:prstGeom prst="line">
            <a:avLst/>
          </a:prstGeom>
          <a:noFill/>
          <a:ln w="12700">
            <a:solidFill>
              <a:srgbClr val="3D5A7A"/>
            </a:solidFill>
            <a:prstDash val="solid"/>
          </a:ln>
        </p:spPr>
      </p:sp>
      <p:sp>
        <p:nvSpPr>
          <p:cNvPr id="13" name="Text 11"/>
          <p:cNvSpPr txBox="1"/>
          <p:nvPr/>
        </p:nvSpPr>
        <p:spPr>
          <a:xfrm>
            <a:off x="6370168" y="2697480"/>
            <a:ext cx="5181448" cy="1463040"/>
          </a:xfrm>
          <a:prstGeom prst="rect">
            <a:avLst/>
          </a:prstGeom>
          <a:noFill/>
          <a:ln/>
        </p:spPr>
        <p:txBody>
          <a:bodyPr wrap="square" lIns="0" tIns="0" rIns="0" bIns="0" rtlCol="0" anchor="t"/>
          <a:lstStyle/>
          <a:p>
            <a:pPr indent="0" marL="0">
              <a:buNone/>
            </a:pPr>
            <a:r>
              <a:rPr lang="en-US" sz="1900" dirty="0">
                <a:solidFill>
                  <a:srgbClr val="C6D3DF"/>
                </a:solidFill>
                <a:latin typeface="Calibri" pitchFamily="34" charset="0"/>
                <a:ea typeface="Calibri" pitchFamily="34" charset="-122"/>
                <a:cs typeface="Calibri" pitchFamily="34" charset="-120"/>
              </a:rPr>
              <a:t>The same researcher is curating a gene on GRCh38, ClinVar and GWAS open, and wants to see it on one HPRC individual.</a:t>
            </a:r>
            <a:endParaRPr lang="en-US" sz="1900" dirty="0"/>
          </a:p>
        </p:txBody>
      </p:sp>
      <p:sp>
        <p:nvSpPr>
          <p:cNvPr id="14" name="Text 12"/>
          <p:cNvSpPr txBox="1"/>
          <p:nvPr/>
        </p:nvSpPr>
        <p:spPr>
          <a:xfrm>
            <a:off x="6370168" y="4251960"/>
            <a:ext cx="5181448" cy="64008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HG02015 in ~100 ms, with the reference's tracks drawn around the gene, over a chain built on the spot</a:t>
            </a:r>
            <a:endParaRPr lang="en-US" sz="1500" dirty="0"/>
          </a:p>
        </p:txBody>
      </p:sp>
      <p:sp>
        <p:nvSpPr>
          <p:cNvPr id="15" name="Text 13"/>
          <p:cNvSpPr txBox="1"/>
          <p:nvPr/>
        </p:nvSpPr>
        <p:spPr>
          <a:xfrm>
            <a:off x="6370168" y="4892040"/>
            <a:ext cx="518144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done</a:t>
            </a:r>
            <a:endParaRPr lang="en-US" sz="4000" dirty="0"/>
          </a:p>
        </p:txBody>
      </p:sp>
      <p:sp>
        <p:nvSpPr>
          <p:cNvPr id="16" name="Text 14"/>
          <p:cNvSpPr txBox="1"/>
          <p:nvPr/>
        </p:nvSpPr>
        <p:spPr>
          <a:xfrm>
            <a:off x="640080" y="5897880"/>
            <a:ext cx="10911535" cy="548640"/>
          </a:xfrm>
          <a:prstGeom prst="rect">
            <a:avLst/>
          </a:prstGeom>
          <a:noFill/>
          <a:ln/>
        </p:spPr>
        <p:txBody>
          <a:bodyPr wrap="square" lIns="0" tIns="0" rIns="0" bIns="0" rtlCol="0" anchor="ctr"/>
          <a:lstStyle/>
          <a:p>
            <a:pPr algn="ctr" indent="0" marL="0">
              <a:buNone/>
            </a:pPr>
            <a:r>
              <a:rPr lang="en-US" sz="2200" i="1" dirty="0">
                <a:solidFill>
                  <a:srgbClr val="FDC700"/>
                </a:solidFill>
                <a:latin typeface="Calibri" pitchFamily="34" charset="0"/>
                <a:ea typeface="Calibri" pitchFamily="34" charset="-122"/>
                <a:cs typeface="Calibri" pitchFamily="34" charset="-120"/>
              </a:rPr>
              <a:t>Live on the development browser today. Bring me your hardest region, and tell me where it breaks.</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52241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640080" y="457200"/>
            <a:ext cx="1188720" cy="986862"/>
          </a:xfrm>
          <a:prstGeom prst="rect">
            <a:avLst/>
          </a:prstGeom>
        </p:spPr>
      </p:pic>
      <p:sp>
        <p:nvSpPr>
          <p:cNvPr id="6" name="Text 2"/>
          <p:cNvSpPr txBox="1"/>
          <p:nvPr/>
        </p:nvSpPr>
        <p:spPr>
          <a:xfrm>
            <a:off x="64008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64008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640080" y="3749040"/>
            <a:ext cx="10058400" cy="411480"/>
          </a:xfrm>
          <a:prstGeom prst="rect">
            <a:avLst/>
          </a:prstGeom>
          <a:noFill/>
          <a:ln/>
        </p:spPr>
        <p:txBody>
          <a:bodyPr wrap="square" lIns="0" tIns="0" rIns="0" bIns="0" rtlCol="0" anchor="t"/>
          <a:lstStyle/>
          <a:p>
            <a:pPr indent="0" marL="0">
              <a:buNone/>
            </a:pPr>
            <a:r>
              <a:rPr lang="en-US" sz="1500" dirty="0">
                <a:solidFill>
                  <a:srgbClr val="FDC700"/>
                </a:solidFill>
                <a:latin typeface="Courier New" pitchFamily="34" charset="0"/>
                <a:ea typeface="Courier New" pitchFamily="34" charset="-122"/>
                <a:cs typeface="Courier New" pitchFamily="34" charset="-120"/>
              </a:rPr>
              <a:t>github.com/parsaeskandar/pangenome-index   •   github.com/parsaeskandar/hprc_2026_poster</a:t>
            </a:r>
            <a:endParaRPr lang="en-US" sz="1500" dirty="0"/>
          </a:p>
        </p:txBody>
      </p:sp>
      <p:sp>
        <p:nvSpPr>
          <p:cNvPr id="9" name="Text 5"/>
          <p:cNvSpPr txBox="1"/>
          <p:nvPr/>
        </p:nvSpPr>
        <p:spPr>
          <a:xfrm>
            <a:off x="640080" y="4206240"/>
            <a:ext cx="73152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Index, poster, slides and figures are in the repositories.</a:t>
            </a:r>
            <a:endParaRPr lang="en-US" sz="1600" dirty="0"/>
          </a:p>
        </p:txBody>
      </p:sp>
      <p:sp>
        <p:nvSpPr>
          <p:cNvPr id="10" name="Text 6"/>
          <p:cNvSpPr txBox="1"/>
          <p:nvPr/>
        </p:nvSpPr>
        <p:spPr>
          <a:xfrm>
            <a:off x="640080" y="4892040"/>
            <a:ext cx="1091153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Backup: translation at scale</a:t>
            </a:r>
            <a:endParaRPr lang="en-US" sz="3000" dirty="0"/>
          </a:p>
        </p:txBody>
      </p:sp>
      <p:sp>
        <p:nvSpPr>
          <p:cNvPr id="3" name="Text 1"/>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20</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640080" y="1463040"/>
            <a:ext cx="6949440" cy="4428944"/>
          </a:xfrm>
          <a:prstGeom prst="rect">
            <a:avLst/>
          </a:prstGeom>
        </p:spPr>
      </p:pic>
      <p:sp>
        <p:nvSpPr>
          <p:cNvPr id="5" name="Shape 2"/>
          <p:cNvSpPr/>
          <p:nvPr/>
        </p:nvSpPr>
        <p:spPr>
          <a:xfrm>
            <a:off x="8046720" y="1527048"/>
            <a:ext cx="384048" cy="384048"/>
          </a:xfrm>
          <a:prstGeom prst="roundRect">
            <a:avLst>
              <a:gd name="adj" fmla="val 19048"/>
            </a:avLst>
          </a:prstGeom>
          <a:solidFill>
            <a:srgbClr val="FDC700"/>
          </a:solidFill>
          <a:ln w="12700">
            <a:solidFill>
              <a:srgbClr val="FDC700"/>
            </a:solidFill>
            <a:prstDash val="solid"/>
          </a:ln>
        </p:spPr>
      </p:sp>
      <p:sp>
        <p:nvSpPr>
          <p:cNvPr id="6" name="Text 3"/>
          <p:cNvSpPr txBox="1"/>
          <p:nvPr/>
        </p:nvSpPr>
        <p:spPr>
          <a:xfrm>
            <a:off x="8046720" y="1527048"/>
            <a:ext cx="384048" cy="384048"/>
          </a:xfrm>
          <a:prstGeom prst="rect">
            <a:avLst/>
          </a:prstGeom>
          <a:noFill/>
          <a:ln/>
        </p:spPr>
        <p:txBody>
          <a:bodyPr wrap="square" lIns="0" tIns="0" rIns="0" bIns="0" rtlCol="0" anchor="ctr"/>
          <a:lstStyle/>
          <a:p>
            <a:pPr algn="ctr" indent="0" marL="0">
              <a:buNone/>
            </a:pPr>
            <a:r>
              <a:rPr lang="en-US" sz="1600" b="1" dirty="0">
                <a:solidFill>
                  <a:srgbClr val="06294A"/>
                </a:solidFill>
                <a:latin typeface="Calibri" pitchFamily="34" charset="0"/>
                <a:ea typeface="Calibri" pitchFamily="34" charset="-122"/>
                <a:cs typeface="Calibri" pitchFamily="34" charset="-120"/>
              </a:rPr>
              <a:t>1</a:t>
            </a:r>
            <a:endParaRPr lang="en-US" sz="1600" dirty="0"/>
          </a:p>
        </p:txBody>
      </p:sp>
      <p:sp>
        <p:nvSpPr>
          <p:cNvPr id="7" name="Text 4"/>
          <p:cNvSpPr txBox="1"/>
          <p:nvPr/>
        </p:nvSpPr>
        <p:spPr>
          <a:xfrm>
            <a:off x="8595360" y="1508760"/>
            <a:ext cx="2956255" cy="10058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Find the query's nodes on the source path.</a:t>
            </a:r>
            <a:endParaRPr lang="en-US" sz="1600" dirty="0"/>
          </a:p>
        </p:txBody>
      </p:sp>
      <p:sp>
        <p:nvSpPr>
          <p:cNvPr id="8" name="Shape 5"/>
          <p:cNvSpPr/>
          <p:nvPr/>
        </p:nvSpPr>
        <p:spPr>
          <a:xfrm>
            <a:off x="8046720" y="2624328"/>
            <a:ext cx="384048" cy="384048"/>
          </a:xfrm>
          <a:prstGeom prst="roundRect">
            <a:avLst>
              <a:gd name="adj" fmla="val 19048"/>
            </a:avLst>
          </a:prstGeom>
          <a:solidFill>
            <a:srgbClr val="FDC700"/>
          </a:solidFill>
          <a:ln w="12700">
            <a:solidFill>
              <a:srgbClr val="FDC700"/>
            </a:solidFill>
            <a:prstDash val="solid"/>
          </a:ln>
        </p:spPr>
      </p:sp>
      <p:sp>
        <p:nvSpPr>
          <p:cNvPr id="9" name="Text 6"/>
          <p:cNvSpPr txBox="1"/>
          <p:nvPr/>
        </p:nvSpPr>
        <p:spPr>
          <a:xfrm>
            <a:off x="8046720" y="2624328"/>
            <a:ext cx="384048" cy="384048"/>
          </a:xfrm>
          <a:prstGeom prst="rect">
            <a:avLst/>
          </a:prstGeom>
          <a:noFill/>
          <a:ln/>
        </p:spPr>
        <p:txBody>
          <a:bodyPr wrap="square" lIns="0" tIns="0" rIns="0" bIns="0" rtlCol="0" anchor="ctr"/>
          <a:lstStyle/>
          <a:p>
            <a:pPr algn="ctr" indent="0" marL="0">
              <a:buNone/>
            </a:pPr>
            <a:r>
              <a:rPr lang="en-US" sz="1600" b="1" dirty="0">
                <a:solidFill>
                  <a:srgbClr val="06294A"/>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8595360" y="2606040"/>
            <a:ext cx="2956255" cy="10058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Ask the tag arrays who else is here.</a:t>
            </a:r>
            <a:endParaRPr lang="en-US" sz="1600" dirty="0"/>
          </a:p>
        </p:txBody>
      </p:sp>
      <p:sp>
        <p:nvSpPr>
          <p:cNvPr id="11" name="Shape 8"/>
          <p:cNvSpPr/>
          <p:nvPr/>
        </p:nvSpPr>
        <p:spPr>
          <a:xfrm>
            <a:off x="8046720" y="3721608"/>
            <a:ext cx="384048" cy="384048"/>
          </a:xfrm>
          <a:prstGeom prst="roundRect">
            <a:avLst>
              <a:gd name="adj" fmla="val 19048"/>
            </a:avLst>
          </a:prstGeom>
          <a:solidFill>
            <a:srgbClr val="FDC700"/>
          </a:solidFill>
          <a:ln w="12700">
            <a:solidFill>
              <a:srgbClr val="FDC700"/>
            </a:solidFill>
            <a:prstDash val="solid"/>
          </a:ln>
        </p:spPr>
      </p:sp>
      <p:sp>
        <p:nvSpPr>
          <p:cNvPr id="12" name="Text 9"/>
          <p:cNvSpPr txBox="1"/>
          <p:nvPr/>
        </p:nvSpPr>
        <p:spPr>
          <a:xfrm>
            <a:off x="8046720" y="3721608"/>
            <a:ext cx="384048" cy="384048"/>
          </a:xfrm>
          <a:prstGeom prst="rect">
            <a:avLst/>
          </a:prstGeom>
          <a:noFill/>
          <a:ln/>
        </p:spPr>
        <p:txBody>
          <a:bodyPr wrap="square" lIns="0" tIns="0" rIns="0" bIns="0" rtlCol="0" anchor="ctr"/>
          <a:lstStyle/>
          <a:p>
            <a:pPr algn="ctr" indent="0" marL="0">
              <a:buNone/>
            </a:pPr>
            <a:r>
              <a:rPr lang="en-US" sz="1600" b="1" dirty="0">
                <a:solidFill>
                  <a:srgbClr val="06294A"/>
                </a:solidFill>
                <a:latin typeface="Calibri" pitchFamily="34" charset="0"/>
                <a:ea typeface="Calibri" pitchFamily="34" charset="-122"/>
                <a:cs typeface="Calibri" pitchFamily="34" charset="-120"/>
              </a:rPr>
              <a:t>3</a:t>
            </a:r>
            <a:endParaRPr lang="en-US" sz="1600" dirty="0"/>
          </a:p>
        </p:txBody>
      </p:sp>
      <p:sp>
        <p:nvSpPr>
          <p:cNvPr id="13" name="Text 10"/>
          <p:cNvSpPr txBox="1"/>
          <p:nvPr/>
        </p:nvSpPr>
        <p:spPr>
          <a:xfrm>
            <a:off x="8595360" y="3703320"/>
            <a:ext cx="2956255" cy="10058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Nodes both visit exactly once: unambiguous anchors. Orthology is the graph's.</a:t>
            </a:r>
            <a:endParaRPr lang="en-US" sz="1600" dirty="0"/>
          </a:p>
        </p:txBody>
      </p:sp>
      <p:sp>
        <p:nvSpPr>
          <p:cNvPr id="14" name="Shape 11"/>
          <p:cNvSpPr/>
          <p:nvPr/>
        </p:nvSpPr>
        <p:spPr>
          <a:xfrm>
            <a:off x="8046720" y="4818888"/>
            <a:ext cx="384048" cy="384048"/>
          </a:xfrm>
          <a:prstGeom prst="roundRect">
            <a:avLst>
              <a:gd name="adj" fmla="val 19048"/>
            </a:avLst>
          </a:prstGeom>
          <a:solidFill>
            <a:srgbClr val="FDC700"/>
          </a:solidFill>
          <a:ln w="12700">
            <a:solidFill>
              <a:srgbClr val="FDC700"/>
            </a:solidFill>
            <a:prstDash val="solid"/>
          </a:ln>
        </p:spPr>
      </p:sp>
      <p:sp>
        <p:nvSpPr>
          <p:cNvPr id="15" name="Text 12"/>
          <p:cNvSpPr txBox="1"/>
          <p:nvPr/>
        </p:nvSpPr>
        <p:spPr>
          <a:xfrm>
            <a:off x="8046720" y="4818888"/>
            <a:ext cx="384048" cy="384048"/>
          </a:xfrm>
          <a:prstGeom prst="rect">
            <a:avLst/>
          </a:prstGeom>
          <a:noFill/>
          <a:ln/>
        </p:spPr>
        <p:txBody>
          <a:bodyPr wrap="square" lIns="0" tIns="0" rIns="0" bIns="0" rtlCol="0" anchor="ctr"/>
          <a:lstStyle/>
          <a:p>
            <a:pPr algn="ctr" indent="0" marL="0">
              <a:buNone/>
            </a:pPr>
            <a:r>
              <a:rPr lang="en-US" sz="1600" b="1" dirty="0">
                <a:solidFill>
                  <a:srgbClr val="06294A"/>
                </a:solidFill>
                <a:latin typeface="Calibri" pitchFamily="34" charset="0"/>
                <a:ea typeface="Calibri" pitchFamily="34" charset="-122"/>
                <a:cs typeface="Calibri" pitchFamily="34" charset="-120"/>
              </a:rPr>
              <a:t>4</a:t>
            </a:r>
            <a:endParaRPr lang="en-US" sz="1600" dirty="0"/>
          </a:p>
        </p:txBody>
      </p:sp>
      <p:sp>
        <p:nvSpPr>
          <p:cNvPr id="16" name="Text 13"/>
          <p:cNvSpPr txBox="1"/>
          <p:nvPr/>
        </p:nvSpPr>
        <p:spPr>
          <a:xfrm>
            <a:off x="8595360" y="4800600"/>
            <a:ext cx="2956255" cy="10058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Walk between anchors, base by base; group shared offsets into chain blocks. A block breaks on an indel, never on a SNP; an inversion starts a new chain.</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Backup: anchors and blocks, precisely</a:t>
            </a:r>
            <a:endParaRPr lang="en-US" sz="3000" dirty="0"/>
          </a:p>
        </p:txBody>
      </p:sp>
      <p:sp>
        <p:nvSpPr>
          <p:cNvPr id="3" name="Text 1"/>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640080" y="1417320"/>
            <a:ext cx="5181448" cy="45720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Anchors</a:t>
            </a:r>
            <a:endParaRPr lang="en-US" sz="2100" dirty="0"/>
          </a:p>
        </p:txBody>
      </p:sp>
      <p:sp>
        <p:nvSpPr>
          <p:cNvPr id="5" name="Text 3"/>
          <p:cNvSpPr txBox="1"/>
          <p:nvPr/>
        </p:nvSpPr>
        <p:spPr>
          <a:xfrm>
            <a:off x="640080" y="2011680"/>
            <a:ext cx="5181448" cy="365760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6" name="Text 4"/>
          <p:cNvSpPr txBox="1"/>
          <p:nvPr/>
        </p:nvSpPr>
        <p:spPr>
          <a:xfrm>
            <a:off x="6370168" y="1417320"/>
            <a:ext cx="5181448" cy="45720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Blocks and chains</a:t>
            </a:r>
            <a:endParaRPr lang="en-US" sz="2100" dirty="0"/>
          </a:p>
        </p:txBody>
      </p:sp>
      <p:sp>
        <p:nvSpPr>
          <p:cNvPr id="7" name="Text 5"/>
          <p:cNvSpPr txBox="1"/>
          <p:nvPr/>
        </p:nvSpPr>
        <p:spPr>
          <a:xfrm>
            <a:off x="6370168" y="2011680"/>
            <a:ext cx="5181448" cy="365760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10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Backup: chains that keep up with panning</a:t>
            </a:r>
            <a:endParaRPr lang="en-US" sz="3000" dirty="0"/>
          </a:p>
        </p:txBody>
      </p:sp>
      <p:sp>
        <p:nvSpPr>
          <p:cNvPr id="3" name="Text 1"/>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Text 2"/>
          <p:cNvSpPr txBox="1"/>
          <p:nvPr/>
        </p:nvSpPr>
        <p:spPr>
          <a:xfrm>
            <a:off x="640080" y="1463040"/>
            <a:ext cx="5394960" cy="438912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10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400800" y="1371600"/>
          <a:ext cx="515081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8716975" cy="731520"/>
          </a:xfrm>
          <a:prstGeom prst="rect">
            <a:avLst/>
          </a:prstGeom>
          <a:noFill/>
          <a:ln/>
        </p:spPr>
        <p:txBody>
          <a:bodyPr wrap="square" lIns="0" tIns="0" rIns="0" bIns="0" rtlCol="0" anchor="ctr"/>
          <a:lstStyle/>
          <a:p>
            <a:pPr indent="0" marL="0">
              <a:buNone/>
            </a:pPr>
            <a:r>
              <a:rPr lang="en-US" sz="3000" b="1" dirty="0">
                <a:solidFill>
                  <a:srgbClr val="003C6C"/>
                </a:solidFill>
                <a:latin typeface="Calibri" pitchFamily="34" charset="0"/>
                <a:ea typeface="Calibri" pitchFamily="34" charset="-122"/>
                <a:cs typeface="Calibri" pitchFamily="34" charset="-120"/>
              </a:rPr>
              <a:t>Backup: by the numbers</a:t>
            </a:r>
            <a:endParaRPr lang="en-US" sz="3000" dirty="0"/>
          </a:p>
        </p:txBody>
      </p:sp>
      <p:sp>
        <p:nvSpPr>
          <p:cNvPr id="3" name="Text 1"/>
          <p:cNvSpPr txBox="1"/>
          <p:nvPr/>
        </p:nvSpPr>
        <p:spPr>
          <a:xfrm>
            <a:off x="1109441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Shape 2"/>
          <p:cNvSpPr/>
          <p:nvPr/>
        </p:nvSpPr>
        <p:spPr>
          <a:xfrm>
            <a:off x="640080" y="1371600"/>
            <a:ext cx="2522144" cy="2103120"/>
          </a:xfrm>
          <a:prstGeom prst="roundRect">
            <a:avLst>
              <a:gd name="adj" fmla="val 4348"/>
            </a:avLst>
          </a:prstGeom>
          <a:solidFill>
            <a:srgbClr val="F3F5F8"/>
          </a:solidFill>
          <a:ln w="12700">
            <a:solidFill>
              <a:srgbClr val="E1E6EC"/>
            </a:solidFill>
            <a:prstDash val="solid"/>
          </a:ln>
        </p:spPr>
      </p:sp>
      <p:sp>
        <p:nvSpPr>
          <p:cNvPr id="5" name="Text 3"/>
          <p:cNvSpPr txBox="1"/>
          <p:nvPr/>
        </p:nvSpPr>
        <p:spPr>
          <a:xfrm>
            <a:off x="640080" y="1691640"/>
            <a:ext cx="2522144" cy="731520"/>
          </a:xfrm>
          <a:prstGeom prst="rect">
            <a:avLst/>
          </a:prstGeom>
          <a:noFill/>
          <a:ln/>
        </p:spPr>
        <p:txBody>
          <a:bodyPr wrap="square" lIns="0" tIns="0" rIns="0" bIns="0" rtlCol="0" anchor="ctr"/>
          <a:lstStyle/>
          <a:p>
            <a:pPr algn="ctr" indent="0" marL="0">
              <a:buNone/>
            </a:pPr>
            <a:r>
              <a:rPr lang="en-US" sz="3000" b="1" dirty="0">
                <a:solidFill>
                  <a:srgbClr val="003C6C"/>
                </a:solidFill>
                <a:latin typeface="Calibri" pitchFamily="34" charset="0"/>
                <a:ea typeface="Calibri" pitchFamily="34" charset="-122"/>
                <a:cs typeface="Calibri" pitchFamily="34" charset="-120"/>
              </a:rPr>
              <a:t>148M</a:t>
            </a:r>
            <a:endParaRPr lang="en-US" sz="3000" dirty="0"/>
          </a:p>
        </p:txBody>
      </p:sp>
      <p:sp>
        <p:nvSpPr>
          <p:cNvPr id="6" name="Text 4"/>
          <p:cNvSpPr txBox="1"/>
          <p:nvPr/>
        </p:nvSpPr>
        <p:spPr>
          <a:xfrm>
            <a:off x="868680" y="2514600"/>
            <a:ext cx="2064944" cy="91440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nodes in the HPRC v2.0 Minigraph-Cactus graph</a:t>
            </a:r>
            <a:endParaRPr lang="en-US" sz="1500" dirty="0"/>
          </a:p>
        </p:txBody>
      </p:sp>
      <p:sp>
        <p:nvSpPr>
          <p:cNvPr id="7" name="Shape 5"/>
          <p:cNvSpPr/>
          <p:nvPr/>
        </p:nvSpPr>
        <p:spPr>
          <a:xfrm>
            <a:off x="3436544" y="1371600"/>
            <a:ext cx="2522144" cy="2103120"/>
          </a:xfrm>
          <a:prstGeom prst="roundRect">
            <a:avLst>
              <a:gd name="adj" fmla="val 4348"/>
            </a:avLst>
          </a:prstGeom>
          <a:solidFill>
            <a:srgbClr val="F3F5F8"/>
          </a:solidFill>
          <a:ln w="12700">
            <a:solidFill>
              <a:srgbClr val="E1E6EC"/>
            </a:solidFill>
            <a:prstDash val="solid"/>
          </a:ln>
        </p:spPr>
      </p:sp>
      <p:sp>
        <p:nvSpPr>
          <p:cNvPr id="8" name="Text 6"/>
          <p:cNvSpPr txBox="1"/>
          <p:nvPr/>
        </p:nvSpPr>
        <p:spPr>
          <a:xfrm>
            <a:off x="3436544" y="1691640"/>
            <a:ext cx="2522144" cy="731520"/>
          </a:xfrm>
          <a:prstGeom prst="rect">
            <a:avLst/>
          </a:prstGeom>
          <a:noFill/>
          <a:ln/>
        </p:spPr>
        <p:txBody>
          <a:bodyPr wrap="square" lIns="0" tIns="0" rIns="0" bIns="0" rtlCol="0" anchor="ctr"/>
          <a:lstStyle/>
          <a:p>
            <a:pPr algn="ctr" indent="0" marL="0">
              <a:buNone/>
            </a:pPr>
            <a:r>
              <a:rPr lang="en-US" sz="3000" b="1" dirty="0">
                <a:solidFill>
                  <a:srgbClr val="003C6C"/>
                </a:solidFill>
                <a:latin typeface="Calibri" pitchFamily="34" charset="0"/>
                <a:ea typeface="Calibri" pitchFamily="34" charset="-122"/>
                <a:cs typeface="Calibri" pitchFamily="34" charset="-120"/>
              </a:rPr>
              <a:t>464</a:t>
            </a:r>
            <a:endParaRPr lang="en-US" sz="3000" dirty="0"/>
          </a:p>
        </p:txBody>
      </p:sp>
      <p:sp>
        <p:nvSpPr>
          <p:cNvPr id="9" name="Text 7"/>
          <p:cNvSpPr txBox="1"/>
          <p:nvPr/>
        </p:nvSpPr>
        <p:spPr>
          <a:xfrm>
            <a:off x="3665144" y="2514600"/>
            <a:ext cx="2064944" cy="91440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haplotypes indexed, CHM13 and GRCh38 included</a:t>
            </a:r>
            <a:endParaRPr lang="en-US" sz="1500" dirty="0"/>
          </a:p>
        </p:txBody>
      </p:sp>
      <p:sp>
        <p:nvSpPr>
          <p:cNvPr id="10" name="Shape 8"/>
          <p:cNvSpPr/>
          <p:nvPr/>
        </p:nvSpPr>
        <p:spPr>
          <a:xfrm>
            <a:off x="6233008" y="1371600"/>
            <a:ext cx="2522144" cy="2103120"/>
          </a:xfrm>
          <a:prstGeom prst="roundRect">
            <a:avLst>
              <a:gd name="adj" fmla="val 4348"/>
            </a:avLst>
          </a:prstGeom>
          <a:solidFill>
            <a:srgbClr val="F3F5F8"/>
          </a:solidFill>
          <a:ln w="12700">
            <a:solidFill>
              <a:srgbClr val="E1E6EC"/>
            </a:solidFill>
            <a:prstDash val="solid"/>
          </a:ln>
        </p:spPr>
      </p:sp>
      <p:sp>
        <p:nvSpPr>
          <p:cNvPr id="11" name="Text 9"/>
          <p:cNvSpPr txBox="1"/>
          <p:nvPr/>
        </p:nvSpPr>
        <p:spPr>
          <a:xfrm>
            <a:off x="6233008" y="1691640"/>
            <a:ext cx="2522144" cy="731520"/>
          </a:xfrm>
          <a:prstGeom prst="rect">
            <a:avLst/>
          </a:prstGeom>
          <a:noFill/>
          <a:ln/>
        </p:spPr>
        <p:txBody>
          <a:bodyPr wrap="square" lIns="0" tIns="0" rIns="0" bIns="0" rtlCol="0" anchor="ctr"/>
          <a:lstStyle/>
          <a:p>
            <a:pPr algn="ctr" indent="0" marL="0">
              <a:buNone/>
            </a:pPr>
            <a:r>
              <a:rPr lang="en-US" sz="3000" b="1" dirty="0">
                <a:solidFill>
                  <a:srgbClr val="003C6C"/>
                </a:solidFill>
                <a:latin typeface="Calibri" pitchFamily="34" charset="0"/>
                <a:ea typeface="Calibri" pitchFamily="34" charset="-122"/>
                <a:cs typeface="Calibri" pitchFamily="34" charset="-120"/>
              </a:rPr>
              <a:t>2.6 Tbp</a:t>
            </a:r>
            <a:endParaRPr lang="en-US" sz="3000" dirty="0"/>
          </a:p>
        </p:txBody>
      </p:sp>
      <p:sp>
        <p:nvSpPr>
          <p:cNvPr id="12" name="Text 10"/>
          <p:cNvSpPr txBox="1"/>
          <p:nvPr/>
        </p:nvSpPr>
        <p:spPr>
          <a:xfrm>
            <a:off x="6461608" y="2514600"/>
            <a:ext cx="2064944" cy="91440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bidirectional sequence in the index</a:t>
            </a:r>
            <a:endParaRPr lang="en-US" sz="1500" dirty="0"/>
          </a:p>
        </p:txBody>
      </p:sp>
      <p:sp>
        <p:nvSpPr>
          <p:cNvPr id="13" name="Shape 11"/>
          <p:cNvSpPr/>
          <p:nvPr/>
        </p:nvSpPr>
        <p:spPr>
          <a:xfrm>
            <a:off x="9029471" y="1371600"/>
            <a:ext cx="2522144" cy="2103120"/>
          </a:xfrm>
          <a:prstGeom prst="roundRect">
            <a:avLst>
              <a:gd name="adj" fmla="val 4348"/>
            </a:avLst>
          </a:prstGeom>
          <a:solidFill>
            <a:srgbClr val="F3F5F8"/>
          </a:solidFill>
          <a:ln w="12700">
            <a:solidFill>
              <a:srgbClr val="E1E6EC"/>
            </a:solidFill>
            <a:prstDash val="solid"/>
          </a:ln>
        </p:spPr>
      </p:sp>
      <p:sp>
        <p:nvSpPr>
          <p:cNvPr id="14" name="Text 12"/>
          <p:cNvSpPr txBox="1"/>
          <p:nvPr/>
        </p:nvSpPr>
        <p:spPr>
          <a:xfrm>
            <a:off x="9029471" y="1691640"/>
            <a:ext cx="2522144" cy="731520"/>
          </a:xfrm>
          <a:prstGeom prst="rect">
            <a:avLst/>
          </a:prstGeom>
          <a:noFill/>
          <a:ln/>
        </p:spPr>
        <p:txBody>
          <a:bodyPr wrap="square" lIns="0" tIns="0" rIns="0" bIns="0" rtlCol="0" anchor="ctr"/>
          <a:lstStyle/>
          <a:p>
            <a:pPr algn="ctr" indent="0" marL="0">
              <a:buNone/>
            </a:pPr>
            <a:r>
              <a:rPr lang="en-US" sz="3000" b="1" dirty="0">
                <a:solidFill>
                  <a:srgbClr val="003C6C"/>
                </a:solidFill>
                <a:latin typeface="Calibri" pitchFamily="34" charset="0"/>
                <a:ea typeface="Calibri" pitchFamily="34" charset="-122"/>
                <a:cs typeface="Calibri" pitchFamily="34" charset="-120"/>
              </a:rPr>
              <a:t>26 B</a:t>
            </a:r>
            <a:endParaRPr lang="en-US" sz="3000" dirty="0"/>
          </a:p>
        </p:txBody>
      </p:sp>
      <p:sp>
        <p:nvSpPr>
          <p:cNvPr id="15" name="Text 13"/>
          <p:cNvSpPr txBox="1"/>
          <p:nvPr/>
        </p:nvSpPr>
        <p:spPr>
          <a:xfrm>
            <a:off x="9258071" y="2514600"/>
            <a:ext cx="2064944" cy="91440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tag array runs (4.9 B BWT runs)</a:t>
            </a:r>
            <a:endParaRPr lang="en-US" sz="1500" dirty="0"/>
          </a:p>
        </p:txBody>
      </p:sp>
      <p:sp>
        <p:nvSpPr>
          <p:cNvPr id="16" name="Shape 14"/>
          <p:cNvSpPr/>
          <p:nvPr/>
        </p:nvSpPr>
        <p:spPr>
          <a:xfrm>
            <a:off x="640080" y="3794760"/>
            <a:ext cx="2522144" cy="2103120"/>
          </a:xfrm>
          <a:prstGeom prst="roundRect">
            <a:avLst>
              <a:gd name="adj" fmla="val 4348"/>
            </a:avLst>
          </a:prstGeom>
          <a:solidFill>
            <a:srgbClr val="F3F5F8"/>
          </a:solidFill>
          <a:ln w="12700">
            <a:solidFill>
              <a:srgbClr val="E1E6EC"/>
            </a:solidFill>
            <a:prstDash val="solid"/>
          </a:ln>
        </p:spPr>
      </p:sp>
      <p:sp>
        <p:nvSpPr>
          <p:cNvPr id="17" name="Text 15"/>
          <p:cNvSpPr txBox="1"/>
          <p:nvPr/>
        </p:nvSpPr>
        <p:spPr>
          <a:xfrm>
            <a:off x="640080" y="4114800"/>
            <a:ext cx="2522144" cy="731520"/>
          </a:xfrm>
          <a:prstGeom prst="rect">
            <a:avLst/>
          </a:prstGeom>
          <a:noFill/>
          <a:ln/>
        </p:spPr>
        <p:txBody>
          <a:bodyPr wrap="square" lIns="0" tIns="0" rIns="0" bIns="0" rtlCol="0" anchor="ctr"/>
          <a:lstStyle/>
          <a:p>
            <a:pPr algn="ctr" indent="0" marL="0">
              <a:buNone/>
            </a:pPr>
            <a:r>
              <a:rPr lang="en-US" sz="3000" b="1" dirty="0">
                <a:solidFill>
                  <a:srgbClr val="0E7C9C"/>
                </a:solidFill>
                <a:latin typeface="Calibri" pitchFamily="34" charset="0"/>
                <a:ea typeface="Calibri" pitchFamily="34" charset="-122"/>
                <a:cs typeface="Calibri" pitchFamily="34" charset="-120"/>
              </a:rPr>
              <a:t>149 GiB</a:t>
            </a:r>
            <a:endParaRPr lang="en-US" sz="3000" dirty="0"/>
          </a:p>
        </p:txBody>
      </p:sp>
      <p:sp>
        <p:nvSpPr>
          <p:cNvPr id="18" name="Text 16"/>
          <p:cNvSpPr txBox="1"/>
          <p:nvPr/>
        </p:nvSpPr>
        <p:spPr>
          <a:xfrm>
            <a:off x="868680" y="4937760"/>
            <a:ext cx="2064944" cy="91440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tag array index; 23 GiB sampled tag array</a:t>
            </a:r>
            <a:endParaRPr lang="en-US" sz="1500" dirty="0"/>
          </a:p>
        </p:txBody>
      </p:sp>
      <p:sp>
        <p:nvSpPr>
          <p:cNvPr id="19" name="Shape 17"/>
          <p:cNvSpPr/>
          <p:nvPr/>
        </p:nvSpPr>
        <p:spPr>
          <a:xfrm>
            <a:off x="3436544" y="3794760"/>
            <a:ext cx="2522144" cy="2103120"/>
          </a:xfrm>
          <a:prstGeom prst="roundRect">
            <a:avLst>
              <a:gd name="adj" fmla="val 4348"/>
            </a:avLst>
          </a:prstGeom>
          <a:solidFill>
            <a:srgbClr val="F3F5F8"/>
          </a:solidFill>
          <a:ln w="12700">
            <a:solidFill>
              <a:srgbClr val="E1E6EC"/>
            </a:solidFill>
            <a:prstDash val="solid"/>
          </a:ln>
        </p:spPr>
      </p:sp>
      <p:sp>
        <p:nvSpPr>
          <p:cNvPr id="20" name="Text 18"/>
          <p:cNvSpPr txBox="1"/>
          <p:nvPr/>
        </p:nvSpPr>
        <p:spPr>
          <a:xfrm>
            <a:off x="3436544" y="4114800"/>
            <a:ext cx="2522144" cy="731520"/>
          </a:xfrm>
          <a:prstGeom prst="rect">
            <a:avLst/>
          </a:prstGeom>
          <a:noFill/>
          <a:ln/>
        </p:spPr>
        <p:txBody>
          <a:bodyPr wrap="square" lIns="0" tIns="0" rIns="0" bIns="0" rtlCol="0" anchor="ctr"/>
          <a:lstStyle/>
          <a:p>
            <a:pPr algn="ctr" indent="0" marL="0">
              <a:buNone/>
            </a:pPr>
            <a:r>
              <a:rPr lang="en-US" sz="3000" b="1" dirty="0">
                <a:solidFill>
                  <a:srgbClr val="0E7C9C"/>
                </a:solidFill>
                <a:latin typeface="Calibri" pitchFamily="34" charset="0"/>
                <a:ea typeface="Calibri" pitchFamily="34" charset="-122"/>
                <a:cs typeface="Calibri" pitchFamily="34" charset="-120"/>
              </a:rPr>
              <a:t>~250 GB</a:t>
            </a:r>
            <a:endParaRPr lang="en-US" sz="3000" dirty="0"/>
          </a:p>
        </p:txBody>
      </p:sp>
      <p:sp>
        <p:nvSpPr>
          <p:cNvPr id="21" name="Text 19"/>
          <p:cNvSpPr txBox="1"/>
          <p:nvPr/>
        </p:nvSpPr>
        <p:spPr>
          <a:xfrm>
            <a:off x="3665144" y="4937760"/>
            <a:ext cx="2064944" cy="91440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RAM for the running service</a:t>
            </a:r>
            <a:endParaRPr lang="en-US" sz="1500" dirty="0"/>
          </a:p>
        </p:txBody>
      </p:sp>
      <p:sp>
        <p:nvSpPr>
          <p:cNvPr id="22" name="Shape 20"/>
          <p:cNvSpPr/>
          <p:nvPr/>
        </p:nvSpPr>
        <p:spPr>
          <a:xfrm>
            <a:off x="6233008" y="3794760"/>
            <a:ext cx="2522144" cy="2103120"/>
          </a:xfrm>
          <a:prstGeom prst="roundRect">
            <a:avLst>
              <a:gd name="adj" fmla="val 4348"/>
            </a:avLst>
          </a:prstGeom>
          <a:solidFill>
            <a:srgbClr val="F3F5F8"/>
          </a:solidFill>
          <a:ln w="12700">
            <a:solidFill>
              <a:srgbClr val="E1E6EC"/>
            </a:solidFill>
            <a:prstDash val="solid"/>
          </a:ln>
        </p:spPr>
      </p:sp>
      <p:sp>
        <p:nvSpPr>
          <p:cNvPr id="23" name="Text 21"/>
          <p:cNvSpPr txBox="1"/>
          <p:nvPr/>
        </p:nvSpPr>
        <p:spPr>
          <a:xfrm>
            <a:off x="6233008" y="4114800"/>
            <a:ext cx="2522144" cy="731520"/>
          </a:xfrm>
          <a:prstGeom prst="rect">
            <a:avLst/>
          </a:prstGeom>
          <a:noFill/>
          <a:ln/>
        </p:spPr>
        <p:txBody>
          <a:bodyPr wrap="square" lIns="0" tIns="0" rIns="0" bIns="0" rtlCol="0" anchor="ctr"/>
          <a:lstStyle/>
          <a:p>
            <a:pPr algn="ctr" indent="0" marL="0">
              <a:buNone/>
            </a:pPr>
            <a:r>
              <a:rPr lang="en-US" sz="3000" b="1" dirty="0">
                <a:solidFill>
                  <a:srgbClr val="003C6C"/>
                </a:solidFill>
                <a:latin typeface="Calibri" pitchFamily="34" charset="0"/>
                <a:ea typeface="Calibri" pitchFamily="34" charset="-122"/>
                <a:cs typeface="Calibri" pitchFamily="34" charset="-120"/>
              </a:rPr>
              <a:t>15 lines</a:t>
            </a:r>
            <a:endParaRPr lang="en-US" sz="3000" dirty="0"/>
          </a:p>
        </p:txBody>
      </p:sp>
      <p:sp>
        <p:nvSpPr>
          <p:cNvPr id="24" name="Text 22"/>
          <p:cNvSpPr txBox="1"/>
          <p:nvPr/>
        </p:nvSpPr>
        <p:spPr>
          <a:xfrm>
            <a:off x="6461608" y="4937760"/>
            <a:ext cx="2064944" cy="91440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changed in kent core, across 3 files</a:t>
            </a:r>
            <a:endParaRPr lang="en-US" sz="1500" dirty="0"/>
          </a:p>
        </p:txBody>
      </p:sp>
      <p:sp>
        <p:nvSpPr>
          <p:cNvPr id="25" name="Shape 23"/>
          <p:cNvSpPr/>
          <p:nvPr/>
        </p:nvSpPr>
        <p:spPr>
          <a:xfrm>
            <a:off x="9029471" y="3794760"/>
            <a:ext cx="2522144" cy="2103120"/>
          </a:xfrm>
          <a:prstGeom prst="roundRect">
            <a:avLst>
              <a:gd name="adj" fmla="val 4348"/>
            </a:avLst>
          </a:prstGeom>
          <a:solidFill>
            <a:srgbClr val="F3F5F8"/>
          </a:solidFill>
          <a:ln w="12700">
            <a:solidFill>
              <a:srgbClr val="E1E6EC"/>
            </a:solidFill>
            <a:prstDash val="solid"/>
          </a:ln>
        </p:spPr>
      </p:sp>
      <p:sp>
        <p:nvSpPr>
          <p:cNvPr id="26" name="Text 24"/>
          <p:cNvSpPr txBox="1"/>
          <p:nvPr/>
        </p:nvSpPr>
        <p:spPr>
          <a:xfrm>
            <a:off x="9029471" y="4114800"/>
            <a:ext cx="2522144" cy="731520"/>
          </a:xfrm>
          <a:prstGeom prst="rect">
            <a:avLst/>
          </a:prstGeom>
          <a:noFill/>
          <a:ln/>
        </p:spPr>
        <p:txBody>
          <a:bodyPr wrap="square" lIns="0" tIns="0" rIns="0" bIns="0" rtlCol="0" anchor="ctr"/>
          <a:lstStyle/>
          <a:p>
            <a:pPr algn="ctr" indent="0" marL="0">
              <a:buNone/>
            </a:pPr>
            <a:r>
              <a:rPr lang="en-US" sz="3000" b="1" dirty="0">
                <a:solidFill>
                  <a:srgbClr val="003C6C"/>
                </a:solidFill>
                <a:latin typeface="Calibri" pitchFamily="34" charset="0"/>
                <a:ea typeface="Calibri" pitchFamily="34" charset="-122"/>
                <a:cs typeface="Calibri" pitchFamily="34" charset="-120"/>
              </a:rPr>
              <a:t>385</a:t>
            </a:r>
            <a:endParaRPr lang="en-US" sz="3000" dirty="0"/>
          </a:p>
        </p:txBody>
      </p:sp>
      <p:sp>
        <p:nvSpPr>
          <p:cNvPr id="27" name="Text 25"/>
          <p:cNvSpPr txBox="1"/>
          <p:nvPr/>
        </p:nvSpPr>
        <p:spPr>
          <a:xfrm>
            <a:off x="9258071" y="4937760"/>
            <a:ext cx="2064944" cy="91440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browser-side tests: payload validation, UI, hub writes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2026-09-04T18:17:06Z</dcterms:created>
  <dcterms:modified xsi:type="dcterms:W3CDTF">2026-09-04T18:17:06Z</dcterms:modified>
</cp:coreProperties>
</file>
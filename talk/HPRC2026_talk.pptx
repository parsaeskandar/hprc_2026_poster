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003C6C"/>
                </a:solidFill>
                <a:latin typeface="Calibri"/>
              </a:defRPr>
            </a:pPr>
            <a:r>
              <a:rPr sz="1800" b="0" i="0" u="none" strike="noStrike">
                <a:solidFill>
                  <a:srgbClr val="003C6C"/>
                </a:solidFill>
                <a:latin typeface="Calibri"/>
              </a:rPr>
              <a:t>Concurrent 3.4 kb queries per second</a:t>
            </a:r>
          </a:p>
        </c:rich>
      </c:tx>
      <c:layout/>
      <c:overlay val="0"/>
    </c:title>
    <c:autoTitleDeleted val="0"/>
    <c:plotArea>
      <c:layout/>
      <c:lineChart>
        <c:varyColors val="0"/>
        <c:ser>
          <c:idx val="0"/>
          <c:order val="0"/>
          <c:tx>
            <c:strRef>
              <c:f>Sheet1!$B$1</c:f>
              <c:strCache>
                <c:ptCount val="1"/>
                <c:pt idx="0">
                  <c:v>queries / s</c:v>
                </c:pt>
              </c:strCache>
            </c:strRef>
          </c:tx>
          <c:spPr>
            <a:solidFill>
              <a:srgbClr val="003C6C"/>
            </a:solidFill>
            <a:ln w="38100" cap="flat">
              <a:solidFill>
                <a:srgbClr val="003C6C"/>
              </a:solidFill>
              <a:prstDash val="solid"/>
              <a:round/>
            </a:ln>
            <a:effectLst/>
          </c:spPr>
          <c:invertIfNegative val="0"/>
          <c:dLbls>
            <c:numFmt formatCode="0" sourceLinked="0"/>
            <c:txPr>
              <a:bodyPr/>
              <a:lstStyle/>
              <a:p>
                <a:pPr>
                  <a:defRPr b="0" i="0" strike="noStrike" sz="1600" u="none">
                    <a:solidFill>
                      <a:srgbClr val="003C6C"/>
                    </a:solidFill>
                    <a:latin typeface="Calibri"/>
                  </a:defRPr>
                </a:pPr>
              </a:p>
            </c:txPr>
            <c:dLblPos val="t"/>
            <c:showLegendKey val="0"/>
            <c:showVal val="1"/>
            <c:showCatName val="0"/>
            <c:showSerName val="0"/>
            <c:showPercent val="0"/>
            <c:showBubbleSize val="0"/>
            <c:showLeaderLines val="0"/>
          </c:dLbls>
          <c:marker>
            <c:symbol val="circle"/>
            <c:size val="9"/>
            <c:spPr>
              <a:solidFill>
                <a:srgbClr val="003C6C"/>
              </a:solidFill>
              <a:ln w="9525" cap="flat">
                <a:solidFill>
                  <a:srgbClr val="003C6C"/>
                </a:solidFill>
                <a:prstDash val="solid"/>
                <a:round/>
              </a:ln>
              <a:effectLst/>
            </c:spPr>
          </c:marker>
          <c:cat>
            <c:multiLvlStrRef>
              <c:f>Sheet1!$A$2:$A$7</c:f>
              <c:multiLvlStrCache>
                <c:ptCount val="6"/>
                <c:lvl>
                  <c:pt idx="0">
                    <c:v>1</c:v>
                  </c:pt>
                  <c:pt idx="1">
                    <c:v>2</c:v>
                  </c:pt>
                  <c:pt idx="2">
                    <c:v>4</c:v>
                  </c:pt>
                  <c:pt idx="3">
                    <c:v>8</c:v>
                  </c:pt>
                  <c:pt idx="4">
                    <c:v>16</c:v>
                  </c:pt>
                  <c:pt idx="5">
                    <c:v>32</c:v>
                  </c:pt>
                </c:lvl>
              </c:multiLvlStrCache>
            </c:multiLvlStrRef>
          </c:cat>
          <c:val>
            <c:numRef>
              <c:f>Sheet1!$B$2:$B$7</c:f>
              <c:numCache>
                <c:formatCode>General</c:formatCode>
                <c:ptCount val="6"/>
                <c:pt idx="0">
                  <c:v>6.3</c:v>
                </c:pt>
                <c:pt idx="1">
                  <c:v>13.2</c:v>
                </c:pt>
                <c:pt idx="2">
                  <c:v>23.6</c:v>
                </c:pt>
                <c:pt idx="3">
                  <c:v>60.3</c:v>
                </c:pt>
                <c:pt idx="4">
                  <c:v>59.4</c:v>
                </c:pt>
                <c:pt idx="5">
                  <c:v>65.3</c:v>
                </c:pt>
              </c:numCache>
            </c:numRef>
          </c:val>
          <c:smooth val="0"/>
        </c:ser>
        <c:dLbls>
          <c:numFmt formatCode="0" sourceLinked="0"/>
          <c:txPr>
            <a:bodyPr/>
            <a:lstStyle/>
            <a:p>
              <a:pPr>
                <a:defRPr b="0" i="0" strike="noStrike" sz="1600" u="none">
                  <a:solidFill>
                    <a:srgbClr val="003C6C"/>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5B6B7C"/>
                    </a:solidFill>
                    <a:latin typeface="Arial"/>
                  </a:defRPr>
                </a:pPr>
                <a:r>
                  <a:rPr sz="1400" b="0" i="0" u="none" strike="noStrike">
                    <a:solidFill>
                      <a:srgbClr val="5B6B7C"/>
                    </a:solidFill>
                    <a:latin typeface="Arial"/>
                  </a:rPr>
                  <a:t>threads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18293B"/>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600" b="0" i="0" u="none" strike="noStrike">
                <a:solidFill>
                  <a:srgbClr val="18293B"/>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3C6C"/>
                </a:solidFill>
                <a:latin typeface="Calibri"/>
              </a:defRPr>
            </a:pPr>
            <a:r>
              <a:rPr sz="1600" b="0" i="0" u="none" strike="noStrike">
                <a:solidFill>
                  <a:srgbClr val="003C6C"/>
                </a:solidFill>
                <a:latin typeface="Calibri"/>
              </a:rPr>
              <a:t>Lifted gene items after panning away (log scale)</a:t>
            </a:r>
          </a:p>
        </c:rich>
      </c:tx>
      <c:layout/>
      <c:overlay val="0"/>
    </c:title>
    <c:autoTitleDeleted val="0"/>
    <c:plotArea>
      <c:layout/>
      <c:barChart>
        <c:barDir val="col"/>
        <c:grouping val="clustered"/>
        <c:varyColors val="0"/>
        <c:ser>
          <c:idx val="0"/>
          <c:order val="0"/>
          <c:tx>
            <c:strRef>
              <c:f>Sheet1!$B$1</c:f>
              <c:strCache>
                <c:ptCount val="1"/>
                <c:pt idx="0">
                  <c:v>first chain (1.1 Mb)</c:v>
                </c:pt>
              </c:strCache>
            </c:strRef>
          </c:tx>
          <c:spPr>
            <a:solidFill>
              <a:srgbClr val="FDC7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Sheet1!$B$2:$B$5</c:f>
              <c:numCache>
                <c:formatCode>General</c:formatCode>
                <c:ptCount val="4"/>
                <c:pt idx="0">
                  <c:v>3</c:v>
                </c:pt>
                <c:pt idx="1">
                  <c:v>129</c:v>
                </c:pt>
                <c:pt idx="2">
                  <c:v>1</c:v>
                </c:pt>
                <c:pt idx="3">
                  <c:v>1</c:v>
                </c:pt>
              </c:numCache>
            </c:numRef>
          </c:val>
        </c:ser>
        <c:ser>
          <c:idx val="1"/>
          <c:order val="1"/>
          <c:tx>
            <c:strRef>
              <c:f>Sheet1!$C$1</c:f>
              <c:strCache>
                <c:ptCount val="1"/>
                <c:pt idx="0">
                  <c:v>widened chain (10 Mb)</c:v>
                </c:pt>
              </c:strCache>
            </c:strRef>
          </c:tx>
          <c:spPr>
            <a:solidFill>
              <a:srgbClr val="003C6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Sheet1!$C$2:$C$5</c:f>
              <c:numCache>
                <c:formatCode>General</c:formatCode>
                <c:ptCount val="4"/>
                <c:pt idx="0">
                  <c:v>3</c:v>
                </c:pt>
                <c:pt idx="1">
                  <c:v>129</c:v>
                </c:pt>
                <c:pt idx="2">
                  <c:v>5</c:v>
                </c:pt>
                <c:pt idx="3">
                  <c:v>31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8293B"/>
                </a:solidFill>
                <a:latin typeface="Arial"/>
              </a:defRPr>
            </a:pPr>
            <a:endParaRPr lang="en-US"/>
          </a:p>
        </c:txPr>
        <c:crossAx val="2094734552"/>
        <c:crosses val="autoZero"/>
        <c:auto val="1"/>
        <c:lblAlgn val="ctr"/>
        <c:noMultiLvlLbl val="1"/>
      </c:catAx>
      <c:valAx>
        <c:axId val="2094734552"/>
        <c:scaling>
          <c:logBase val="10"/>
          <c:orientation val="minMax"/>
          <c:max val="1000"/>
          <c:min val="0.1"/>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18293B"/>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4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Thank you. I'm Parsa Eskandar, from Benedict Paten's lab at UC Santa Cruz. This is joint work with Jouni Sirén and the UCSC Genome Browser team, and it is about making the release 2 assemblies something a scientist can query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[0:15-1:00]
HPRC release 2 is the most complete picture of human variation we have: 464 haplotypes, in one graph. Two of those haplotypes, GRCh38 and CHM13, carry almost everything we know about the human genome: the gene models, the clinical variants, the regulatory annotation, and everyone's own tracks.
(pause)
The tools to work with the graph exist: vg giraffe maps to it, odgi and the r-index query it, halLiftover and impg move coordinates across it. But every one of them wants a large index on disk, real compute, and a command-line workflow that takes time to set up and time to run. A clinician, or a researcher outside a genomics group, never gets past that step. So in practice release 2 is browsed, one assembly at a time, and the graph itself goes unused. This talk is about removing that barrier.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[1:00-1:55]
Concretely, three things release 2 can already do, but only from the command line.
Place a sequence across haplotypes: which of the 464 carry it, where, and what does each region look like? Today that is a giraffe index, a mapping run, and a terminal session before the first answer.
Move a locus onto a haplotype: take coordinates known on GRCh38 or CHM13 to an arbitrary release 2 haplotype. Today that is halLiftover or impg over the whole alignment, per request, or a ready-made chain for the handful of pairs that have one.
And bring the annotation along: see the reference's gene models, ClinVar, GWAS, or your own tracks on a release 2 haplotype. Today you lift every track yourself, per haplotype, before anyone can look.
None of this is impossible. The graph already holds the answers. Reaching them takes compute, disk, and bioinformatics expertise that most clinicians and many researchers do not have, and time that even the experts would rather spend elsewhere.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[1:55-2:35]
I will follow two use cases through the rest of the talk.
Use case 1, sequence search. A researcher has a sequence that is not in GRCh38: an insertion assembled from a sample, a probe, a contig. Which release 2 haplotypes carry it, and where on each?
Use case 2, coordinate translation. A researcher knows a gene on GRCh38 or CHM13 and wants to see it, with its annotation, on a specific release 2 haplotype.
Today the first means a giraffe index and a terminal session; the second, a ready-made chain for a few assembly pairs and a halLiftover run for every other one. Both are shown live, in a web page, on the release 2 graph in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[2:35-3:10]
So what would it take to do this in a web page, where a user waits a second and not an hour? Both use cases come down to two questions the index underneath has to answer in milliseconds.
Where in the graph is this sequence? Asked once, against all 464 haplotypes, not 464 times against one assembly each, and for any sequence, of any length.
And: who passes through this node, and where? Answered for any haplotype against any other, without a pairwise alignment prepared in advance for each of the more than two hundred thousand pairs.
Nothing that existed answered both, at that scale, at interactive speed. So before any tool, we built the index: a tag array index over the release 2 graph. Built once. Everything you will see in the rest of this talk is a query against it. Let me spend three slides on what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[3:10-4:10]
Here is the index on a toy graph, and it is all you need for the rest of the talk. Three haplotypes, one text, one BWT. Alongside the BWT sits the tag array: every BWT position carries a tag, the node and offset in the graph that character came from. On the right, the same thing as columns: search a pattern the way any FM-index does, read the tags in the interval, and you have the graph positions.
Three consequences. One index answers for every haplotype: all 464 are indexed together, so a sequence is looked up once and found on every haplotype that carries it. Every match knows its place in the graph: a hit is a node and an offset, not a line in one assembly. And every node knows who visits it: ask a node and get every haplotype passing through it, each with its own coordinate. That last one is how a locus moves from one haplotype to another.
Earlier pangenome indexes made you choose: index the haplotypes and get every hit 464 times, or index the graph and lose parts of the haplotypes. Tag arrays keep the haplotypes and add the graph. Nothing is lost, nothing is repeated, and nothing anywhere says CHM13-to-HG02015: there is no pairwise index, which is why any of the 464 can be translated to any other. Details are in the paper and I am happy to go into them in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[4:10-4:30]
With that one property in hand, translating a region stops being a lookup and becomes a walk. Four steps, one click each.
(click) One. Find the query interval's nodes on the source haplotype's path. The tag arrays give us those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[4:30-4:45]
Two. At those nodes, ask the tag arrays who else is standing here. Every haplotype comes back at once, including the target we care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[4:45-5:10]
Three. Nodes that source and target each visit exactly once are unambiguous anchors. Orthology is inherited from the graph's alignment; what we add is that a repeat cannot manufacture a false anchor, and a colinearity check drops pairs whose spans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[5:10-5:30]
Four. Walk the graph between anchors, one base at a time, and group the bases that share an offset into blocks. A block breaks on an indel, never on a SNP; an inversion starts a new chain. That is exactly what a chain file means.
So the output is not a coordinate. It is a chain, and the browser already knows what to do with a chain. If the target does not contain the interval, you get fewer positions, never invented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[5:30-6:50]  Start the recording; narrate over it.
Use case 1: a sequence that is not in the reference. This is the Pangenome Mapping page.
The sequence is pasted and mapped once, to the whole release 2 graph, with vg giraffe, in a few seconds. The result is something no single-assembly search can give: exactly two of the 464 haplotypes carry this sequence, HG01167 hap1 and HG04157 paternal, and GRCh38 is not one of them. They are ranked by identity, with coverage beside it.
Selecting HG01167 opens it in the browser: the sequence is drawn as a track with base-level differences, in the context of that haplotype's own annotation. Selecting a different carrier re-uses the same alignment; nothing is remapped.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[6:50-7:25]
What this enables on release 2: one search across all 464 haplotypes instead of one assembly at a time; sequences absent from the reference are found on the haplotypes that carry them, together with how many carry them; and any carrier can be opened with the sequence as a track, with another carrier costing no remapping.
One detail this room will notice: MAPQ is zero by design. In a graph where every locus exists hundreds of times, mapping quality carries no information; per-haplotype identity and coverage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[7:25-8:00]
Use case 2: a gene known on a reference, on a specific release 2 haplotype.
Moving a locus between assemblies today relies on a pairwise chain. The Genome Browser can draw one assembly's tracks on another, but only over a prebuilt chain between the two, and chains are built on request, one pair at a time. 464 haplotypes are more than two hundred thousand pairs; chains exist for fifty-six of them. For an arbitrary release 2 haplotype, such as HG02015, no chain exists.
The graph already contains the alignment for every pair. It has to be usable on demand, and that is exactly what the walk I showed produces.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[8:00-9:40]  Start the recording; slow down at the landing.
Now the same request on the release 2 graph. Source: the gene as known on the reference, here HLA-DMA on CHM13, ten kilobases on chromosome 6; GRCh38 is a path in this graph too, so it works identically as the source. Target: HG02015 paternal, chosen from all 464; the picker can be restricted to haplotypes that contain the region.
Translated in about a hundred milliseconds, covering a hundred percent of bases.
Opening the result is the part I care about most. HG02015 has its own CAT and Liftoff genes from release 2. What it does not have is everything that exists once, on one reference: ClinVar, the GWAS catalog, ENCODE, a lab's own tracks. Here they are, drawn at their translated positions, with the differences between the two assemblies marked.
(pause) The alignment that made this possible did not exist a second before the page loaded. It was built from the graph for this region and this haplotype, and the browser drew the tracks 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[9:40-10:15]
Before, a locus could be moved only between assembly pairs with a prebuilt chain, and a release 2 haplotype without one showed only its own tracks. Now any of the 464 haplotypes can be the target, from GRCh38 or CHM13, in about a hundred milliseconds; the reference's tracks are drawn there over an alignment built for that region, with the differences marked.
The thousands of tracks that exist once, on one reference, will never be rebuilt 464 times. With this, any release 2 haplotype can borrow them for the region under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[10:15-10:55]
Who is this for? For clinicians and curators: is this insertion private to my patient, or carried by HPRC individuals, and which ones? ClinVar and GWAS context on the haplotype that actually carries the patient's allele. And the complex loci where one reference misleads: HLA, KIR, CYP2D6, LPA, SMN, seen on many haplotypes with the reference annotation drawn there.
For researchers and graph builders: place contigs, probes, primers or guide RNAs on every haplotype at once; move any annotation, including your own tracks, onto any assembly; and inspect the graph's alignment itself, because the Alignment Differences track is the graph, drawn base by base.
No pipeline, no download. A browser tab, and a sequence or a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[10:55-11:40]
None of this matters if it takes a minute. So: is it fast enough to sit behind a web page?
Exon-scale intervals translate in about twenty milliseconds, a ten-kilobase gene in about a tenth of a second, a hundred kilobases in under a second, a megabase in about four.
And it serves many people at once: throughput goes from six to sixty queries a second and saturates around eight cores. Read that as "one box serves about sixty queries a second", not as perfect scaling; the single-thread number was warm-up-limited.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[11:40-12:20]
So, the two use cases. Sequence search: every carrying haplotype found in seconds, and the sequence viewed as a track on any of them. Coordinate translation: any of the 464 haplotypes as the target in about a hundred milliseconds, with the reference's annotation drawn there.
Release 2 becomes something a scientist can query, not only browse. The next step is the public UCSC Genome Browser. It is available on the development browser now; bring us your hardest region.
(Advance to thanks. Let it breathe. Then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[12:20-12:35]
None of this was mine alone: Jouni Sirén, Benedict Paten, and a lot of help from the Computational Genomics Lab and the Genome Browser team. 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coordinate translation query on the toy graph from the paper, for questions about how tags become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about accuracy in repeats, or how the output relates to chain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how on-demand chains still let users pan and zoom.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sizes and costs for questions about what it takes to run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a:t>
            </a:r>
            <a:endParaRPr lang="en-US" sz="1000" dirty="0"/>
          </a:p>
        </p:txBody>
      </p:sp>
      <p:sp>
        <p:nvSpPr>
          <p:cNvPr id="3" name="Shape 1"/>
          <p:cNvSpPr/>
          <p:nvPr/>
        </p:nvSpPr>
        <p:spPr>
          <a:xfrm>
            <a:off x="0" y="2331720"/>
            <a:ext cx="12191695" cy="27432"/>
          </a:xfrm>
          <a:prstGeom prst="rect">
            <a:avLst/>
          </a:prstGeom>
          <a:solidFill>
            <a:srgbClr val="0E7C9C"/>
          </a:solidFill>
          <a:ln w="12700">
            <a:solidFill>
              <a:srgbClr val="0E7C9C"/>
            </a:solidFill>
            <a:prstDash val="solid"/>
          </a:ln>
        </p:spPr>
      </p:sp>
      <p:pic>
        <p:nvPicPr>
          <p:cNvPr id="4" name="Image 0" descr="/Users/seeskand/Documents/HPRC/2026/hprc_2026_poster/talk/figures/emblem.png">    </p:cNvPr>
          <p:cNvPicPr>
            <a:picLocks noChangeAspect="1"/>
          </p:cNvPicPr>
          <p:nvPr/>
        </p:nvPicPr>
        <p:blipFill>
          <a:blip r:embed="rId1"/>
          <a:stretch>
            <a:fillRect/>
          </a:stretch>
        </p:blipFill>
        <p:spPr>
          <a:xfrm>
            <a:off x="6613855" y="1757997"/>
            <a:ext cx="5029200" cy="1174879"/>
          </a:xfrm>
          <a:prstGeom prst="rect">
            <a:avLst/>
          </a:prstGeom>
        </p:spPr>
      </p:pic>
      <p:pic>
        <p:nvPicPr>
          <p:cNvPr id="5" name="Image 1" descr="/Users/seeskand/Documents/HPRC/2026/hprc_2026_poster/talk/figures/hprc_logo.png">    </p:cNvPr>
          <p:cNvPicPr>
            <a:picLocks noChangeAspect="1"/>
          </p:cNvPicPr>
          <p:nvPr/>
        </p:nvPicPr>
        <p:blipFill>
          <a:blip r:embed="rId2"/>
          <a:stretch>
            <a:fillRect/>
          </a:stretch>
        </p:blipFill>
        <p:spPr>
          <a:xfrm>
            <a:off x="548640" y="411480"/>
            <a:ext cx="1280160" cy="1062774"/>
          </a:xfrm>
          <a:prstGeom prst="rect">
            <a:avLst/>
          </a:prstGeom>
        </p:spPr>
      </p:pic>
      <p:sp>
        <p:nvSpPr>
          <p:cNvPr id="6" name="Text 2"/>
          <p:cNvSpPr txBox="1"/>
          <p:nvPr/>
        </p:nvSpPr>
        <p:spPr>
          <a:xfrm>
            <a:off x="548640" y="1874520"/>
            <a:ext cx="3657600" cy="320040"/>
          </a:xfrm>
          <a:prstGeom prst="rect">
            <a:avLst/>
          </a:prstGeom>
          <a:noFill/>
          <a:ln/>
        </p:spPr>
        <p:txBody>
          <a:bodyPr wrap="square" lIns="0" tIns="0" rIns="0" bIns="0" rtlCol="0" anchor="t"/>
          <a:lstStyle/>
          <a:p>
            <a:pPr indent="0" marL="0">
              <a:buNone/>
            </a:pPr>
            <a:r>
              <a:rPr lang="en-US" sz="1400" b="1" spc="300" kern="0" dirty="0">
                <a:solidFill>
                  <a:srgbClr val="FDC700"/>
                </a:solidFill>
                <a:latin typeface="Calibri" pitchFamily="34" charset="0"/>
                <a:ea typeface="Calibri" pitchFamily="34" charset="-122"/>
                <a:cs typeface="Calibri" pitchFamily="34" charset="-120"/>
              </a:rPr>
              <a:t>HPRC 2026</a:t>
            </a:r>
            <a:endParaRPr lang="en-US" sz="1400" dirty="0"/>
          </a:p>
        </p:txBody>
      </p:sp>
      <p:sp>
        <p:nvSpPr>
          <p:cNvPr id="7" name="Text 3"/>
          <p:cNvSpPr txBox="1"/>
          <p:nvPr/>
        </p:nvSpPr>
        <p:spPr>
          <a:xfrm>
            <a:off x="548640" y="2606040"/>
            <a:ext cx="10789920" cy="15544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A pangenome sequence search and coordinate</a:t>
            </a:r>
            <a:endParaRPr lang="en-US" sz="3800" dirty="0"/>
          </a:p>
          <a:p>
            <a:pPr indent="0" marL="0">
              <a:buNone/>
            </a:pPr>
            <a:r>
              <a:rPr lang="en-US" sz="3800" b="1" dirty="0">
                <a:solidFill>
                  <a:srgbClr val="FFFFFF"/>
                </a:solidFill>
                <a:latin typeface="Calibri" pitchFamily="34" charset="0"/>
                <a:ea typeface="Calibri" pitchFamily="34" charset="-122"/>
                <a:cs typeface="Calibri" pitchFamily="34" charset="-120"/>
              </a:rPr>
              <a:t>translation service for the UCSC Genome Browser</a:t>
            </a:r>
            <a:endParaRPr lang="en-US" sz="3800" dirty="0"/>
          </a:p>
        </p:txBody>
      </p:sp>
      <p:sp>
        <p:nvSpPr>
          <p:cNvPr id="8" name="Text 4"/>
          <p:cNvSpPr txBox="1"/>
          <p:nvPr/>
        </p:nvSpPr>
        <p:spPr>
          <a:xfrm>
            <a:off x="548640" y="4251960"/>
            <a:ext cx="10789920" cy="457200"/>
          </a:xfrm>
          <a:prstGeom prst="rect">
            <a:avLst/>
          </a:prstGeom>
          <a:noFill/>
          <a:ln/>
        </p:spPr>
        <p:txBody>
          <a:bodyPr wrap="square" lIns="0" tIns="0" rIns="0" bIns="0" rtlCol="0" anchor="t"/>
          <a:lstStyle/>
          <a:p>
            <a:pPr indent="0" marL="0">
              <a:buNone/>
            </a:pPr>
            <a:r>
              <a:rPr lang="en-US" sz="2000" dirty="0">
                <a:solidFill>
                  <a:srgbClr val="FDC700"/>
                </a:solidFill>
                <a:latin typeface="Calibri" pitchFamily="34" charset="0"/>
                <a:ea typeface="Calibri" pitchFamily="34" charset="-122"/>
                <a:cs typeface="Calibri" pitchFamily="34" charset="-120"/>
              </a:rPr>
              <a:t>Making the HPRC release 2 assemblies queryable: any sequence, any locus, any of 464 haplotypes</a:t>
            </a:r>
            <a:endParaRPr lang="en-US" sz="2000" dirty="0"/>
          </a:p>
        </p:txBody>
      </p:sp>
      <p:sp>
        <p:nvSpPr>
          <p:cNvPr id="9" name="Text 5"/>
          <p:cNvSpPr txBox="1"/>
          <p:nvPr/>
        </p:nvSpPr>
        <p:spPr>
          <a:xfrm>
            <a:off x="548640" y="5532120"/>
            <a:ext cx="9144000" cy="41148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Parsa Eskandar   •   Jouni Sirén   •   Benedict Paten</a:t>
            </a:r>
            <a:endParaRPr lang="en-US" sz="1800" dirty="0"/>
          </a:p>
        </p:txBody>
      </p:sp>
      <p:sp>
        <p:nvSpPr>
          <p:cNvPr id="10" name="Text 6"/>
          <p:cNvSpPr txBox="1"/>
          <p:nvPr/>
        </p:nvSpPr>
        <p:spPr>
          <a:xfrm>
            <a:off x="548640" y="5943600"/>
            <a:ext cx="9144000" cy="365760"/>
          </a:xfrm>
          <a:prstGeom prst="rect">
            <a:avLst/>
          </a:prstGeom>
          <a:noFill/>
          <a:ln/>
        </p:spPr>
        <p:txBody>
          <a:bodyPr wrap="square" lIns="0" tIns="0" rIns="0" bIns="0" rtlCol="0" anchor="t"/>
          <a:lstStyle/>
          <a:p>
            <a:pPr indent="0" marL="0">
              <a:buNone/>
            </a:pPr>
            <a:r>
              <a:rPr lang="en-US" sz="1600" dirty="0">
                <a:solidFill>
                  <a:srgbClr val="C6D3DF"/>
                </a:solidFill>
                <a:latin typeface="Calibri" pitchFamily="34" charset="0"/>
                <a:ea typeface="Calibri" pitchFamily="34" charset="-122"/>
                <a:cs typeface="Calibri" pitchFamily="34" charset="-120"/>
              </a:rPr>
              <a:t>UC Santa Cruz Genomics Institute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777240"/>
            <a:ext cx="5120640" cy="1828800"/>
          </a:xfrm>
          <a:prstGeom prst="rect">
            <a:avLst/>
          </a:prstGeom>
          <a:noFill/>
          <a:ln/>
        </p:spPr>
        <p:txBody>
          <a:bodyPr wrap="square" lIns="0" tIns="0" rIns="0" bIns="0" rtlCol="0" anchor="ctr"/>
          <a:lstStyle/>
          <a:p>
            <a:pPr indent="0" marL="0">
              <a:buNone/>
            </a:pPr>
            <a:r>
              <a:rPr lang="en-US" sz="12000" b="1" dirty="0">
                <a:solidFill>
                  <a:srgbClr val="FDC700"/>
                </a:solidFill>
                <a:latin typeface="Calibri" pitchFamily="34" charset="0"/>
                <a:ea typeface="Calibri" pitchFamily="34" charset="-122"/>
                <a:cs typeface="Calibri" pitchFamily="34" charset="-120"/>
              </a:rPr>
              <a:t>464</a:t>
            </a:r>
            <a:endParaRPr lang="en-US" sz="12000" dirty="0"/>
          </a:p>
        </p:txBody>
      </p:sp>
      <p:sp>
        <p:nvSpPr>
          <p:cNvPr id="4" name="Text 2"/>
          <p:cNvSpPr txBox="1"/>
          <p:nvPr/>
        </p:nvSpPr>
        <p:spPr>
          <a:xfrm>
            <a:off x="548640" y="2606040"/>
            <a:ext cx="5120640" cy="822960"/>
          </a:xfrm>
          <a:prstGeom prst="rect">
            <a:avLst/>
          </a:prstGeom>
          <a:noFill/>
          <a:ln/>
        </p:spPr>
        <p:txBody>
          <a:bodyPr wrap="square" lIns="0" tIns="0" rIns="0" bIns="0" rtlCol="0" anchor="t"/>
          <a:lstStyle/>
          <a:p>
            <a:pPr indent="0" marL="0">
              <a:buNone/>
            </a:pPr>
            <a:r>
              <a:rPr lang="en-US" sz="2200" dirty="0">
                <a:solidFill>
                  <a:srgbClr val="FFFFFF"/>
                </a:solidFill>
                <a:latin typeface="Calibri" pitchFamily="34" charset="0"/>
                <a:ea typeface="Calibri" pitchFamily="34" charset="-122"/>
                <a:cs typeface="Calibri" pitchFamily="34" charset="-120"/>
              </a:rPr>
              <a:t>haplotypes in the HPRC release 2 graph</a:t>
            </a:r>
            <a:endParaRPr lang="en-US" sz="2200" dirty="0"/>
          </a:p>
        </p:txBody>
      </p:sp>
      <p:sp>
        <p:nvSpPr>
          <p:cNvPr id="5" name="Text 3"/>
          <p:cNvSpPr txBox="1"/>
          <p:nvPr/>
        </p:nvSpPr>
        <p:spPr>
          <a:xfrm>
            <a:off x="6400800" y="777240"/>
            <a:ext cx="5212080" cy="1828800"/>
          </a:xfrm>
          <a:prstGeom prst="rect">
            <a:avLst/>
          </a:prstGeom>
          <a:noFill/>
          <a:ln/>
        </p:spPr>
        <p:txBody>
          <a:bodyPr wrap="square" lIns="0" tIns="0" rIns="0" bIns="0" rtlCol="0" anchor="ctr"/>
          <a:lstStyle/>
          <a:p>
            <a:pPr indent="0" marL="0">
              <a:buNone/>
            </a:pPr>
            <a:r>
              <a:rPr lang="en-US" sz="12000" b="1" dirty="0">
                <a:solidFill>
                  <a:srgbClr val="FFFFFF"/>
                </a:solidFill>
                <a:latin typeface="Calibri" pitchFamily="34" charset="0"/>
                <a:ea typeface="Calibri" pitchFamily="34" charset="-122"/>
                <a:cs typeface="Calibri" pitchFamily="34" charset="-120"/>
              </a:rPr>
              <a:t>2</a:t>
            </a:r>
            <a:endParaRPr lang="en-US" sz="12000" dirty="0"/>
          </a:p>
        </p:txBody>
      </p:sp>
      <p:sp>
        <p:nvSpPr>
          <p:cNvPr id="6" name="Text 4"/>
          <p:cNvSpPr txBox="1"/>
          <p:nvPr/>
        </p:nvSpPr>
        <p:spPr>
          <a:xfrm>
            <a:off x="6400800" y="2606040"/>
            <a:ext cx="5212080" cy="822960"/>
          </a:xfrm>
          <a:prstGeom prst="rect">
            <a:avLst/>
          </a:prstGeom>
          <a:noFill/>
          <a:ln/>
        </p:spPr>
        <p:txBody>
          <a:bodyPr wrap="square" lIns="0" tIns="0" rIns="0" bIns="0" rtlCol="0" anchor="t"/>
          <a:lstStyle/>
          <a:p>
            <a:pPr indent="0" marL="0">
              <a:buNone/>
            </a:pPr>
            <a:r>
              <a:rPr lang="en-US" sz="2200" dirty="0">
                <a:solidFill>
                  <a:srgbClr val="C6D3DF"/>
                </a:solidFill>
                <a:latin typeface="Calibri" pitchFamily="34" charset="0"/>
                <a:ea typeface="Calibri" pitchFamily="34" charset="-122"/>
                <a:cs typeface="Calibri" pitchFamily="34" charset="-120"/>
              </a:rPr>
              <a:t>of them hold almost everything we know: GRCh38 and CHM13</a:t>
            </a:r>
            <a:endParaRPr lang="en-US" sz="2200" dirty="0"/>
          </a:p>
        </p:txBody>
      </p:sp>
      <p:sp>
        <p:nvSpPr>
          <p:cNvPr id="7" name="Shape 5"/>
          <p:cNvSpPr/>
          <p:nvPr/>
        </p:nvSpPr>
        <p:spPr>
          <a:xfrm>
            <a:off x="548640" y="3657600"/>
            <a:ext cx="105156" cy="105156"/>
          </a:xfrm>
          <a:prstGeom prst="rect">
            <a:avLst/>
          </a:prstGeom>
          <a:solidFill>
            <a:srgbClr val="17436B"/>
          </a:solidFill>
          <a:ln w="12700">
            <a:solidFill>
              <a:srgbClr val="17436B"/>
            </a:solidFill>
            <a:prstDash val="solid"/>
          </a:ln>
        </p:spPr>
      </p:sp>
      <p:sp>
        <p:nvSpPr>
          <p:cNvPr id="8" name="Shape 6"/>
          <p:cNvSpPr/>
          <p:nvPr/>
        </p:nvSpPr>
        <p:spPr>
          <a:xfrm>
            <a:off x="694944" y="3657600"/>
            <a:ext cx="105156" cy="105156"/>
          </a:xfrm>
          <a:prstGeom prst="rect">
            <a:avLst/>
          </a:prstGeom>
          <a:solidFill>
            <a:srgbClr val="17436B"/>
          </a:solidFill>
          <a:ln w="12700">
            <a:solidFill>
              <a:srgbClr val="17436B"/>
            </a:solidFill>
            <a:prstDash val="solid"/>
          </a:ln>
        </p:spPr>
      </p:sp>
      <p:sp>
        <p:nvSpPr>
          <p:cNvPr id="9" name="Shape 7"/>
          <p:cNvSpPr/>
          <p:nvPr/>
        </p:nvSpPr>
        <p:spPr>
          <a:xfrm>
            <a:off x="841248" y="3657600"/>
            <a:ext cx="105156" cy="105156"/>
          </a:xfrm>
          <a:prstGeom prst="rect">
            <a:avLst/>
          </a:prstGeom>
          <a:solidFill>
            <a:srgbClr val="17436B"/>
          </a:solidFill>
          <a:ln w="12700">
            <a:solidFill>
              <a:srgbClr val="17436B"/>
            </a:solidFill>
            <a:prstDash val="solid"/>
          </a:ln>
        </p:spPr>
      </p:sp>
      <p:sp>
        <p:nvSpPr>
          <p:cNvPr id="10" name="Shape 8"/>
          <p:cNvSpPr/>
          <p:nvPr/>
        </p:nvSpPr>
        <p:spPr>
          <a:xfrm>
            <a:off x="987552" y="3657600"/>
            <a:ext cx="105156" cy="105156"/>
          </a:xfrm>
          <a:prstGeom prst="rect">
            <a:avLst/>
          </a:prstGeom>
          <a:solidFill>
            <a:srgbClr val="17436B"/>
          </a:solidFill>
          <a:ln w="12700">
            <a:solidFill>
              <a:srgbClr val="17436B"/>
            </a:solidFill>
            <a:prstDash val="solid"/>
          </a:ln>
        </p:spPr>
      </p:sp>
      <p:sp>
        <p:nvSpPr>
          <p:cNvPr id="11" name="Shape 9"/>
          <p:cNvSpPr/>
          <p:nvPr/>
        </p:nvSpPr>
        <p:spPr>
          <a:xfrm>
            <a:off x="1133856" y="3657600"/>
            <a:ext cx="105156" cy="105156"/>
          </a:xfrm>
          <a:prstGeom prst="rect">
            <a:avLst/>
          </a:prstGeom>
          <a:solidFill>
            <a:srgbClr val="17436B"/>
          </a:solidFill>
          <a:ln w="12700">
            <a:solidFill>
              <a:srgbClr val="17436B"/>
            </a:solidFill>
            <a:prstDash val="solid"/>
          </a:ln>
        </p:spPr>
      </p:sp>
      <p:sp>
        <p:nvSpPr>
          <p:cNvPr id="12" name="Shape 10"/>
          <p:cNvSpPr/>
          <p:nvPr/>
        </p:nvSpPr>
        <p:spPr>
          <a:xfrm>
            <a:off x="1280160" y="3657600"/>
            <a:ext cx="105156" cy="105156"/>
          </a:xfrm>
          <a:prstGeom prst="rect">
            <a:avLst/>
          </a:prstGeom>
          <a:solidFill>
            <a:srgbClr val="17436B"/>
          </a:solidFill>
          <a:ln w="12700">
            <a:solidFill>
              <a:srgbClr val="17436B"/>
            </a:solidFill>
            <a:prstDash val="solid"/>
          </a:ln>
        </p:spPr>
      </p:sp>
      <p:sp>
        <p:nvSpPr>
          <p:cNvPr id="13" name="Shape 11"/>
          <p:cNvSpPr/>
          <p:nvPr/>
        </p:nvSpPr>
        <p:spPr>
          <a:xfrm>
            <a:off x="1426464" y="3657600"/>
            <a:ext cx="105156" cy="105156"/>
          </a:xfrm>
          <a:prstGeom prst="rect">
            <a:avLst/>
          </a:prstGeom>
          <a:solidFill>
            <a:srgbClr val="17436B"/>
          </a:solidFill>
          <a:ln w="12700">
            <a:solidFill>
              <a:srgbClr val="17436B"/>
            </a:solidFill>
            <a:prstDash val="solid"/>
          </a:ln>
        </p:spPr>
      </p:sp>
      <p:sp>
        <p:nvSpPr>
          <p:cNvPr id="14" name="Shape 12"/>
          <p:cNvSpPr/>
          <p:nvPr/>
        </p:nvSpPr>
        <p:spPr>
          <a:xfrm>
            <a:off x="1572768" y="3657600"/>
            <a:ext cx="105156" cy="105156"/>
          </a:xfrm>
          <a:prstGeom prst="rect">
            <a:avLst/>
          </a:prstGeom>
          <a:solidFill>
            <a:srgbClr val="17436B"/>
          </a:solidFill>
          <a:ln w="12700">
            <a:solidFill>
              <a:srgbClr val="17436B"/>
            </a:solidFill>
            <a:prstDash val="solid"/>
          </a:ln>
        </p:spPr>
      </p:sp>
      <p:sp>
        <p:nvSpPr>
          <p:cNvPr id="15" name="Shape 13"/>
          <p:cNvSpPr/>
          <p:nvPr/>
        </p:nvSpPr>
        <p:spPr>
          <a:xfrm>
            <a:off x="1719072" y="3657600"/>
            <a:ext cx="105156" cy="105156"/>
          </a:xfrm>
          <a:prstGeom prst="rect">
            <a:avLst/>
          </a:prstGeom>
          <a:solidFill>
            <a:srgbClr val="17436B"/>
          </a:solidFill>
          <a:ln w="12700">
            <a:solidFill>
              <a:srgbClr val="17436B"/>
            </a:solidFill>
            <a:prstDash val="solid"/>
          </a:ln>
        </p:spPr>
      </p:sp>
      <p:sp>
        <p:nvSpPr>
          <p:cNvPr id="16" name="Shape 14"/>
          <p:cNvSpPr/>
          <p:nvPr/>
        </p:nvSpPr>
        <p:spPr>
          <a:xfrm>
            <a:off x="1865376" y="3657600"/>
            <a:ext cx="105156" cy="105156"/>
          </a:xfrm>
          <a:prstGeom prst="rect">
            <a:avLst/>
          </a:prstGeom>
          <a:solidFill>
            <a:srgbClr val="17436B"/>
          </a:solidFill>
          <a:ln w="12700">
            <a:solidFill>
              <a:srgbClr val="17436B"/>
            </a:solidFill>
            <a:prstDash val="solid"/>
          </a:ln>
        </p:spPr>
      </p:sp>
      <p:sp>
        <p:nvSpPr>
          <p:cNvPr id="17" name="Shape 15"/>
          <p:cNvSpPr/>
          <p:nvPr/>
        </p:nvSpPr>
        <p:spPr>
          <a:xfrm>
            <a:off x="2011680" y="3657600"/>
            <a:ext cx="105156" cy="105156"/>
          </a:xfrm>
          <a:prstGeom prst="rect">
            <a:avLst/>
          </a:prstGeom>
          <a:solidFill>
            <a:srgbClr val="17436B"/>
          </a:solidFill>
          <a:ln w="12700">
            <a:solidFill>
              <a:srgbClr val="17436B"/>
            </a:solidFill>
            <a:prstDash val="solid"/>
          </a:ln>
        </p:spPr>
      </p:sp>
      <p:sp>
        <p:nvSpPr>
          <p:cNvPr id="18" name="Shape 16"/>
          <p:cNvSpPr/>
          <p:nvPr/>
        </p:nvSpPr>
        <p:spPr>
          <a:xfrm>
            <a:off x="2157984" y="3657600"/>
            <a:ext cx="105156" cy="105156"/>
          </a:xfrm>
          <a:prstGeom prst="rect">
            <a:avLst/>
          </a:prstGeom>
          <a:solidFill>
            <a:srgbClr val="17436B"/>
          </a:solidFill>
          <a:ln w="12700">
            <a:solidFill>
              <a:srgbClr val="17436B"/>
            </a:solidFill>
            <a:prstDash val="solid"/>
          </a:ln>
        </p:spPr>
      </p:sp>
      <p:sp>
        <p:nvSpPr>
          <p:cNvPr id="19" name="Shape 17"/>
          <p:cNvSpPr/>
          <p:nvPr/>
        </p:nvSpPr>
        <p:spPr>
          <a:xfrm>
            <a:off x="2304288" y="3657600"/>
            <a:ext cx="105156" cy="105156"/>
          </a:xfrm>
          <a:prstGeom prst="rect">
            <a:avLst/>
          </a:prstGeom>
          <a:solidFill>
            <a:srgbClr val="17436B"/>
          </a:solidFill>
          <a:ln w="12700">
            <a:solidFill>
              <a:srgbClr val="17436B"/>
            </a:solidFill>
            <a:prstDash val="solid"/>
          </a:ln>
        </p:spPr>
      </p:sp>
      <p:sp>
        <p:nvSpPr>
          <p:cNvPr id="20" name="Shape 18"/>
          <p:cNvSpPr/>
          <p:nvPr/>
        </p:nvSpPr>
        <p:spPr>
          <a:xfrm>
            <a:off x="2450592" y="3657600"/>
            <a:ext cx="105156" cy="105156"/>
          </a:xfrm>
          <a:prstGeom prst="rect">
            <a:avLst/>
          </a:prstGeom>
          <a:solidFill>
            <a:srgbClr val="17436B"/>
          </a:solidFill>
          <a:ln w="12700">
            <a:solidFill>
              <a:srgbClr val="17436B"/>
            </a:solidFill>
            <a:prstDash val="solid"/>
          </a:ln>
        </p:spPr>
      </p:sp>
      <p:sp>
        <p:nvSpPr>
          <p:cNvPr id="21" name="Shape 19"/>
          <p:cNvSpPr/>
          <p:nvPr/>
        </p:nvSpPr>
        <p:spPr>
          <a:xfrm>
            <a:off x="2596896" y="3657600"/>
            <a:ext cx="105156" cy="105156"/>
          </a:xfrm>
          <a:prstGeom prst="rect">
            <a:avLst/>
          </a:prstGeom>
          <a:solidFill>
            <a:srgbClr val="17436B"/>
          </a:solidFill>
          <a:ln w="12700">
            <a:solidFill>
              <a:srgbClr val="17436B"/>
            </a:solidFill>
            <a:prstDash val="solid"/>
          </a:ln>
        </p:spPr>
      </p:sp>
      <p:sp>
        <p:nvSpPr>
          <p:cNvPr id="22" name="Shape 20"/>
          <p:cNvSpPr/>
          <p:nvPr/>
        </p:nvSpPr>
        <p:spPr>
          <a:xfrm>
            <a:off x="2743200" y="3657600"/>
            <a:ext cx="105156" cy="105156"/>
          </a:xfrm>
          <a:prstGeom prst="rect">
            <a:avLst/>
          </a:prstGeom>
          <a:solidFill>
            <a:srgbClr val="17436B"/>
          </a:solidFill>
          <a:ln w="12700">
            <a:solidFill>
              <a:srgbClr val="17436B"/>
            </a:solidFill>
            <a:prstDash val="solid"/>
          </a:ln>
        </p:spPr>
      </p:sp>
      <p:sp>
        <p:nvSpPr>
          <p:cNvPr id="23" name="Shape 21"/>
          <p:cNvSpPr/>
          <p:nvPr/>
        </p:nvSpPr>
        <p:spPr>
          <a:xfrm>
            <a:off x="2889504" y="3657600"/>
            <a:ext cx="105156" cy="105156"/>
          </a:xfrm>
          <a:prstGeom prst="rect">
            <a:avLst/>
          </a:prstGeom>
          <a:solidFill>
            <a:srgbClr val="17436B"/>
          </a:solidFill>
          <a:ln w="12700">
            <a:solidFill>
              <a:srgbClr val="17436B"/>
            </a:solidFill>
            <a:prstDash val="solid"/>
          </a:ln>
        </p:spPr>
      </p:sp>
      <p:sp>
        <p:nvSpPr>
          <p:cNvPr id="24" name="Shape 22"/>
          <p:cNvSpPr/>
          <p:nvPr/>
        </p:nvSpPr>
        <p:spPr>
          <a:xfrm>
            <a:off x="3035808" y="3657600"/>
            <a:ext cx="105156" cy="105156"/>
          </a:xfrm>
          <a:prstGeom prst="rect">
            <a:avLst/>
          </a:prstGeom>
          <a:solidFill>
            <a:srgbClr val="17436B"/>
          </a:solidFill>
          <a:ln w="12700">
            <a:solidFill>
              <a:srgbClr val="17436B"/>
            </a:solidFill>
            <a:prstDash val="solid"/>
          </a:ln>
        </p:spPr>
      </p:sp>
      <p:sp>
        <p:nvSpPr>
          <p:cNvPr id="25" name="Shape 23"/>
          <p:cNvSpPr/>
          <p:nvPr/>
        </p:nvSpPr>
        <p:spPr>
          <a:xfrm>
            <a:off x="3182112" y="3657600"/>
            <a:ext cx="105156" cy="105156"/>
          </a:xfrm>
          <a:prstGeom prst="rect">
            <a:avLst/>
          </a:prstGeom>
          <a:solidFill>
            <a:srgbClr val="17436B"/>
          </a:solidFill>
          <a:ln w="12700">
            <a:solidFill>
              <a:srgbClr val="17436B"/>
            </a:solidFill>
            <a:prstDash val="solid"/>
          </a:ln>
        </p:spPr>
      </p:sp>
      <p:sp>
        <p:nvSpPr>
          <p:cNvPr id="26" name="Shape 24"/>
          <p:cNvSpPr/>
          <p:nvPr/>
        </p:nvSpPr>
        <p:spPr>
          <a:xfrm>
            <a:off x="3328416" y="3657600"/>
            <a:ext cx="105156" cy="105156"/>
          </a:xfrm>
          <a:prstGeom prst="rect">
            <a:avLst/>
          </a:prstGeom>
          <a:solidFill>
            <a:srgbClr val="17436B"/>
          </a:solidFill>
          <a:ln w="12700">
            <a:solidFill>
              <a:srgbClr val="17436B"/>
            </a:solidFill>
            <a:prstDash val="solid"/>
          </a:ln>
        </p:spPr>
      </p:sp>
      <p:sp>
        <p:nvSpPr>
          <p:cNvPr id="27" name="Shape 25"/>
          <p:cNvSpPr/>
          <p:nvPr/>
        </p:nvSpPr>
        <p:spPr>
          <a:xfrm>
            <a:off x="3474720" y="3657600"/>
            <a:ext cx="105156" cy="105156"/>
          </a:xfrm>
          <a:prstGeom prst="rect">
            <a:avLst/>
          </a:prstGeom>
          <a:solidFill>
            <a:srgbClr val="17436B"/>
          </a:solidFill>
          <a:ln w="12700">
            <a:solidFill>
              <a:srgbClr val="17436B"/>
            </a:solidFill>
            <a:prstDash val="solid"/>
          </a:ln>
        </p:spPr>
      </p:sp>
      <p:sp>
        <p:nvSpPr>
          <p:cNvPr id="28" name="Shape 26"/>
          <p:cNvSpPr/>
          <p:nvPr/>
        </p:nvSpPr>
        <p:spPr>
          <a:xfrm>
            <a:off x="3621024" y="3657600"/>
            <a:ext cx="105156" cy="105156"/>
          </a:xfrm>
          <a:prstGeom prst="rect">
            <a:avLst/>
          </a:prstGeom>
          <a:solidFill>
            <a:srgbClr val="17436B"/>
          </a:solidFill>
          <a:ln w="12700">
            <a:solidFill>
              <a:srgbClr val="17436B"/>
            </a:solidFill>
            <a:prstDash val="solid"/>
          </a:ln>
        </p:spPr>
      </p:sp>
      <p:sp>
        <p:nvSpPr>
          <p:cNvPr id="29" name="Shape 27"/>
          <p:cNvSpPr/>
          <p:nvPr/>
        </p:nvSpPr>
        <p:spPr>
          <a:xfrm>
            <a:off x="3767328" y="3657600"/>
            <a:ext cx="105156" cy="105156"/>
          </a:xfrm>
          <a:prstGeom prst="rect">
            <a:avLst/>
          </a:prstGeom>
          <a:solidFill>
            <a:srgbClr val="17436B"/>
          </a:solidFill>
          <a:ln w="12700">
            <a:solidFill>
              <a:srgbClr val="17436B"/>
            </a:solidFill>
            <a:prstDash val="solid"/>
          </a:ln>
        </p:spPr>
      </p:sp>
      <p:sp>
        <p:nvSpPr>
          <p:cNvPr id="30" name="Shape 28"/>
          <p:cNvSpPr/>
          <p:nvPr/>
        </p:nvSpPr>
        <p:spPr>
          <a:xfrm>
            <a:off x="3913632" y="3657600"/>
            <a:ext cx="105156" cy="105156"/>
          </a:xfrm>
          <a:prstGeom prst="rect">
            <a:avLst/>
          </a:prstGeom>
          <a:solidFill>
            <a:srgbClr val="17436B"/>
          </a:solidFill>
          <a:ln w="12700">
            <a:solidFill>
              <a:srgbClr val="17436B"/>
            </a:solidFill>
            <a:prstDash val="solid"/>
          </a:ln>
        </p:spPr>
      </p:sp>
      <p:sp>
        <p:nvSpPr>
          <p:cNvPr id="31" name="Shape 29"/>
          <p:cNvSpPr/>
          <p:nvPr/>
        </p:nvSpPr>
        <p:spPr>
          <a:xfrm>
            <a:off x="4059936" y="3657600"/>
            <a:ext cx="105156" cy="105156"/>
          </a:xfrm>
          <a:prstGeom prst="rect">
            <a:avLst/>
          </a:prstGeom>
          <a:solidFill>
            <a:srgbClr val="17436B"/>
          </a:solidFill>
          <a:ln w="12700">
            <a:solidFill>
              <a:srgbClr val="17436B"/>
            </a:solidFill>
            <a:prstDash val="solid"/>
          </a:ln>
        </p:spPr>
      </p:sp>
      <p:sp>
        <p:nvSpPr>
          <p:cNvPr id="32" name="Shape 30"/>
          <p:cNvSpPr/>
          <p:nvPr/>
        </p:nvSpPr>
        <p:spPr>
          <a:xfrm>
            <a:off x="4206240" y="3657600"/>
            <a:ext cx="105156" cy="105156"/>
          </a:xfrm>
          <a:prstGeom prst="rect">
            <a:avLst/>
          </a:prstGeom>
          <a:solidFill>
            <a:srgbClr val="17436B"/>
          </a:solidFill>
          <a:ln w="12700">
            <a:solidFill>
              <a:srgbClr val="17436B"/>
            </a:solidFill>
            <a:prstDash val="solid"/>
          </a:ln>
        </p:spPr>
      </p:sp>
      <p:sp>
        <p:nvSpPr>
          <p:cNvPr id="33" name="Shape 31"/>
          <p:cNvSpPr/>
          <p:nvPr/>
        </p:nvSpPr>
        <p:spPr>
          <a:xfrm>
            <a:off x="4352544" y="3657600"/>
            <a:ext cx="105156" cy="105156"/>
          </a:xfrm>
          <a:prstGeom prst="rect">
            <a:avLst/>
          </a:prstGeom>
          <a:solidFill>
            <a:srgbClr val="17436B"/>
          </a:solidFill>
          <a:ln w="12700">
            <a:solidFill>
              <a:srgbClr val="17436B"/>
            </a:solidFill>
            <a:prstDash val="solid"/>
          </a:ln>
        </p:spPr>
      </p:sp>
      <p:sp>
        <p:nvSpPr>
          <p:cNvPr id="34" name="Shape 32"/>
          <p:cNvSpPr/>
          <p:nvPr/>
        </p:nvSpPr>
        <p:spPr>
          <a:xfrm>
            <a:off x="4498848" y="3657600"/>
            <a:ext cx="105156" cy="105156"/>
          </a:xfrm>
          <a:prstGeom prst="rect">
            <a:avLst/>
          </a:prstGeom>
          <a:solidFill>
            <a:srgbClr val="17436B"/>
          </a:solidFill>
          <a:ln w="12700">
            <a:solidFill>
              <a:srgbClr val="17436B"/>
            </a:solidFill>
            <a:prstDash val="solid"/>
          </a:ln>
        </p:spPr>
      </p:sp>
      <p:sp>
        <p:nvSpPr>
          <p:cNvPr id="35" name="Shape 33"/>
          <p:cNvSpPr/>
          <p:nvPr/>
        </p:nvSpPr>
        <p:spPr>
          <a:xfrm>
            <a:off x="4645152" y="3657600"/>
            <a:ext cx="105156" cy="105156"/>
          </a:xfrm>
          <a:prstGeom prst="rect">
            <a:avLst/>
          </a:prstGeom>
          <a:solidFill>
            <a:srgbClr val="17436B"/>
          </a:solidFill>
          <a:ln w="12700">
            <a:solidFill>
              <a:srgbClr val="17436B"/>
            </a:solidFill>
            <a:prstDash val="solid"/>
          </a:ln>
        </p:spPr>
      </p:sp>
      <p:sp>
        <p:nvSpPr>
          <p:cNvPr id="36" name="Shape 34"/>
          <p:cNvSpPr/>
          <p:nvPr/>
        </p:nvSpPr>
        <p:spPr>
          <a:xfrm>
            <a:off x="548640" y="3803904"/>
            <a:ext cx="105156" cy="105156"/>
          </a:xfrm>
          <a:prstGeom prst="rect">
            <a:avLst/>
          </a:prstGeom>
          <a:solidFill>
            <a:srgbClr val="17436B"/>
          </a:solidFill>
          <a:ln w="12700">
            <a:solidFill>
              <a:srgbClr val="17436B"/>
            </a:solidFill>
            <a:prstDash val="solid"/>
          </a:ln>
        </p:spPr>
      </p:sp>
      <p:sp>
        <p:nvSpPr>
          <p:cNvPr id="37" name="Shape 35"/>
          <p:cNvSpPr/>
          <p:nvPr/>
        </p:nvSpPr>
        <p:spPr>
          <a:xfrm>
            <a:off x="694944" y="3803904"/>
            <a:ext cx="105156" cy="105156"/>
          </a:xfrm>
          <a:prstGeom prst="rect">
            <a:avLst/>
          </a:prstGeom>
          <a:solidFill>
            <a:srgbClr val="17436B"/>
          </a:solidFill>
          <a:ln w="12700">
            <a:solidFill>
              <a:srgbClr val="17436B"/>
            </a:solidFill>
            <a:prstDash val="solid"/>
          </a:ln>
        </p:spPr>
      </p:sp>
      <p:sp>
        <p:nvSpPr>
          <p:cNvPr id="38" name="Shape 36"/>
          <p:cNvSpPr/>
          <p:nvPr/>
        </p:nvSpPr>
        <p:spPr>
          <a:xfrm>
            <a:off x="841248" y="3803904"/>
            <a:ext cx="105156" cy="105156"/>
          </a:xfrm>
          <a:prstGeom prst="rect">
            <a:avLst/>
          </a:prstGeom>
          <a:solidFill>
            <a:srgbClr val="17436B"/>
          </a:solidFill>
          <a:ln w="12700">
            <a:solidFill>
              <a:srgbClr val="17436B"/>
            </a:solidFill>
            <a:prstDash val="solid"/>
          </a:ln>
        </p:spPr>
      </p:sp>
      <p:sp>
        <p:nvSpPr>
          <p:cNvPr id="39" name="Shape 37"/>
          <p:cNvSpPr/>
          <p:nvPr/>
        </p:nvSpPr>
        <p:spPr>
          <a:xfrm>
            <a:off x="987552" y="3803904"/>
            <a:ext cx="105156" cy="105156"/>
          </a:xfrm>
          <a:prstGeom prst="rect">
            <a:avLst/>
          </a:prstGeom>
          <a:solidFill>
            <a:srgbClr val="17436B"/>
          </a:solidFill>
          <a:ln w="12700">
            <a:solidFill>
              <a:srgbClr val="17436B"/>
            </a:solidFill>
            <a:prstDash val="solid"/>
          </a:ln>
        </p:spPr>
      </p:sp>
      <p:sp>
        <p:nvSpPr>
          <p:cNvPr id="40" name="Shape 38"/>
          <p:cNvSpPr/>
          <p:nvPr/>
        </p:nvSpPr>
        <p:spPr>
          <a:xfrm>
            <a:off x="1133856" y="3803904"/>
            <a:ext cx="105156" cy="105156"/>
          </a:xfrm>
          <a:prstGeom prst="rect">
            <a:avLst/>
          </a:prstGeom>
          <a:solidFill>
            <a:srgbClr val="17436B"/>
          </a:solidFill>
          <a:ln w="12700">
            <a:solidFill>
              <a:srgbClr val="17436B"/>
            </a:solidFill>
            <a:prstDash val="solid"/>
          </a:ln>
        </p:spPr>
      </p:sp>
      <p:sp>
        <p:nvSpPr>
          <p:cNvPr id="41" name="Shape 39"/>
          <p:cNvSpPr/>
          <p:nvPr/>
        </p:nvSpPr>
        <p:spPr>
          <a:xfrm>
            <a:off x="1280160" y="3803904"/>
            <a:ext cx="105156" cy="105156"/>
          </a:xfrm>
          <a:prstGeom prst="rect">
            <a:avLst/>
          </a:prstGeom>
          <a:solidFill>
            <a:srgbClr val="17436B"/>
          </a:solidFill>
          <a:ln w="12700">
            <a:solidFill>
              <a:srgbClr val="17436B"/>
            </a:solidFill>
            <a:prstDash val="solid"/>
          </a:ln>
        </p:spPr>
      </p:sp>
      <p:sp>
        <p:nvSpPr>
          <p:cNvPr id="42" name="Shape 40"/>
          <p:cNvSpPr/>
          <p:nvPr/>
        </p:nvSpPr>
        <p:spPr>
          <a:xfrm>
            <a:off x="1426464" y="3803904"/>
            <a:ext cx="105156" cy="105156"/>
          </a:xfrm>
          <a:prstGeom prst="rect">
            <a:avLst/>
          </a:prstGeom>
          <a:solidFill>
            <a:srgbClr val="17436B"/>
          </a:solidFill>
          <a:ln w="12700">
            <a:solidFill>
              <a:srgbClr val="17436B"/>
            </a:solidFill>
            <a:prstDash val="solid"/>
          </a:ln>
        </p:spPr>
      </p:sp>
      <p:sp>
        <p:nvSpPr>
          <p:cNvPr id="43" name="Shape 41"/>
          <p:cNvSpPr/>
          <p:nvPr/>
        </p:nvSpPr>
        <p:spPr>
          <a:xfrm>
            <a:off x="1572768" y="3803904"/>
            <a:ext cx="105156" cy="105156"/>
          </a:xfrm>
          <a:prstGeom prst="rect">
            <a:avLst/>
          </a:prstGeom>
          <a:solidFill>
            <a:srgbClr val="17436B"/>
          </a:solidFill>
          <a:ln w="12700">
            <a:solidFill>
              <a:srgbClr val="17436B"/>
            </a:solidFill>
            <a:prstDash val="solid"/>
          </a:ln>
        </p:spPr>
      </p:sp>
      <p:sp>
        <p:nvSpPr>
          <p:cNvPr id="44" name="Shape 42"/>
          <p:cNvSpPr/>
          <p:nvPr/>
        </p:nvSpPr>
        <p:spPr>
          <a:xfrm>
            <a:off x="1719072" y="3803904"/>
            <a:ext cx="105156" cy="105156"/>
          </a:xfrm>
          <a:prstGeom prst="rect">
            <a:avLst/>
          </a:prstGeom>
          <a:solidFill>
            <a:srgbClr val="17436B"/>
          </a:solidFill>
          <a:ln w="12700">
            <a:solidFill>
              <a:srgbClr val="17436B"/>
            </a:solidFill>
            <a:prstDash val="solid"/>
          </a:ln>
        </p:spPr>
      </p:sp>
      <p:sp>
        <p:nvSpPr>
          <p:cNvPr id="45" name="Shape 43"/>
          <p:cNvSpPr/>
          <p:nvPr/>
        </p:nvSpPr>
        <p:spPr>
          <a:xfrm>
            <a:off x="1865376" y="3803904"/>
            <a:ext cx="105156" cy="105156"/>
          </a:xfrm>
          <a:prstGeom prst="rect">
            <a:avLst/>
          </a:prstGeom>
          <a:solidFill>
            <a:srgbClr val="17436B"/>
          </a:solidFill>
          <a:ln w="12700">
            <a:solidFill>
              <a:srgbClr val="17436B"/>
            </a:solidFill>
            <a:prstDash val="solid"/>
          </a:ln>
        </p:spPr>
      </p:sp>
      <p:sp>
        <p:nvSpPr>
          <p:cNvPr id="46" name="Shape 44"/>
          <p:cNvSpPr/>
          <p:nvPr/>
        </p:nvSpPr>
        <p:spPr>
          <a:xfrm>
            <a:off x="2011680" y="3803904"/>
            <a:ext cx="105156" cy="105156"/>
          </a:xfrm>
          <a:prstGeom prst="rect">
            <a:avLst/>
          </a:prstGeom>
          <a:solidFill>
            <a:srgbClr val="17436B"/>
          </a:solidFill>
          <a:ln w="12700">
            <a:solidFill>
              <a:srgbClr val="17436B"/>
            </a:solidFill>
            <a:prstDash val="solid"/>
          </a:ln>
        </p:spPr>
      </p:sp>
      <p:sp>
        <p:nvSpPr>
          <p:cNvPr id="47" name="Shape 45"/>
          <p:cNvSpPr/>
          <p:nvPr/>
        </p:nvSpPr>
        <p:spPr>
          <a:xfrm>
            <a:off x="2157984" y="3803904"/>
            <a:ext cx="105156" cy="105156"/>
          </a:xfrm>
          <a:prstGeom prst="rect">
            <a:avLst/>
          </a:prstGeom>
          <a:solidFill>
            <a:srgbClr val="17436B"/>
          </a:solidFill>
          <a:ln w="12700">
            <a:solidFill>
              <a:srgbClr val="17436B"/>
            </a:solidFill>
            <a:prstDash val="solid"/>
          </a:ln>
        </p:spPr>
      </p:sp>
      <p:sp>
        <p:nvSpPr>
          <p:cNvPr id="48" name="Shape 46"/>
          <p:cNvSpPr/>
          <p:nvPr/>
        </p:nvSpPr>
        <p:spPr>
          <a:xfrm>
            <a:off x="2304288" y="3803904"/>
            <a:ext cx="105156" cy="105156"/>
          </a:xfrm>
          <a:prstGeom prst="rect">
            <a:avLst/>
          </a:prstGeom>
          <a:solidFill>
            <a:srgbClr val="17436B"/>
          </a:solidFill>
          <a:ln w="12700">
            <a:solidFill>
              <a:srgbClr val="17436B"/>
            </a:solidFill>
            <a:prstDash val="solid"/>
          </a:ln>
        </p:spPr>
      </p:sp>
      <p:sp>
        <p:nvSpPr>
          <p:cNvPr id="49" name="Shape 47"/>
          <p:cNvSpPr/>
          <p:nvPr/>
        </p:nvSpPr>
        <p:spPr>
          <a:xfrm>
            <a:off x="2450592" y="3803904"/>
            <a:ext cx="105156" cy="105156"/>
          </a:xfrm>
          <a:prstGeom prst="rect">
            <a:avLst/>
          </a:prstGeom>
          <a:solidFill>
            <a:srgbClr val="17436B"/>
          </a:solidFill>
          <a:ln w="12700">
            <a:solidFill>
              <a:srgbClr val="17436B"/>
            </a:solidFill>
            <a:prstDash val="solid"/>
          </a:ln>
        </p:spPr>
      </p:sp>
      <p:sp>
        <p:nvSpPr>
          <p:cNvPr id="50" name="Shape 48"/>
          <p:cNvSpPr/>
          <p:nvPr/>
        </p:nvSpPr>
        <p:spPr>
          <a:xfrm>
            <a:off x="2596896" y="3803904"/>
            <a:ext cx="105156" cy="105156"/>
          </a:xfrm>
          <a:prstGeom prst="rect">
            <a:avLst/>
          </a:prstGeom>
          <a:solidFill>
            <a:srgbClr val="17436B"/>
          </a:solidFill>
          <a:ln w="12700">
            <a:solidFill>
              <a:srgbClr val="17436B"/>
            </a:solidFill>
            <a:prstDash val="solid"/>
          </a:ln>
        </p:spPr>
      </p:sp>
      <p:sp>
        <p:nvSpPr>
          <p:cNvPr id="51" name="Shape 49"/>
          <p:cNvSpPr/>
          <p:nvPr/>
        </p:nvSpPr>
        <p:spPr>
          <a:xfrm>
            <a:off x="2743200" y="3803904"/>
            <a:ext cx="105156" cy="105156"/>
          </a:xfrm>
          <a:prstGeom prst="rect">
            <a:avLst/>
          </a:prstGeom>
          <a:solidFill>
            <a:srgbClr val="17436B"/>
          </a:solidFill>
          <a:ln w="12700">
            <a:solidFill>
              <a:srgbClr val="17436B"/>
            </a:solidFill>
            <a:prstDash val="solid"/>
          </a:ln>
        </p:spPr>
      </p:sp>
      <p:sp>
        <p:nvSpPr>
          <p:cNvPr id="52" name="Shape 50"/>
          <p:cNvSpPr/>
          <p:nvPr/>
        </p:nvSpPr>
        <p:spPr>
          <a:xfrm>
            <a:off x="2889504" y="3803904"/>
            <a:ext cx="105156" cy="105156"/>
          </a:xfrm>
          <a:prstGeom prst="rect">
            <a:avLst/>
          </a:prstGeom>
          <a:solidFill>
            <a:srgbClr val="17436B"/>
          </a:solidFill>
          <a:ln w="12700">
            <a:solidFill>
              <a:srgbClr val="17436B"/>
            </a:solidFill>
            <a:prstDash val="solid"/>
          </a:ln>
        </p:spPr>
      </p:sp>
      <p:sp>
        <p:nvSpPr>
          <p:cNvPr id="53" name="Shape 51"/>
          <p:cNvSpPr/>
          <p:nvPr/>
        </p:nvSpPr>
        <p:spPr>
          <a:xfrm>
            <a:off x="3035808" y="3803904"/>
            <a:ext cx="105156" cy="105156"/>
          </a:xfrm>
          <a:prstGeom prst="rect">
            <a:avLst/>
          </a:prstGeom>
          <a:solidFill>
            <a:srgbClr val="17436B"/>
          </a:solidFill>
          <a:ln w="12700">
            <a:solidFill>
              <a:srgbClr val="17436B"/>
            </a:solidFill>
            <a:prstDash val="solid"/>
          </a:ln>
        </p:spPr>
      </p:sp>
      <p:sp>
        <p:nvSpPr>
          <p:cNvPr id="54" name="Shape 52"/>
          <p:cNvSpPr/>
          <p:nvPr/>
        </p:nvSpPr>
        <p:spPr>
          <a:xfrm>
            <a:off x="3182112" y="3803904"/>
            <a:ext cx="105156" cy="105156"/>
          </a:xfrm>
          <a:prstGeom prst="rect">
            <a:avLst/>
          </a:prstGeom>
          <a:solidFill>
            <a:srgbClr val="17436B"/>
          </a:solidFill>
          <a:ln w="12700">
            <a:solidFill>
              <a:srgbClr val="17436B"/>
            </a:solidFill>
            <a:prstDash val="solid"/>
          </a:ln>
        </p:spPr>
      </p:sp>
      <p:sp>
        <p:nvSpPr>
          <p:cNvPr id="55" name="Shape 53"/>
          <p:cNvSpPr/>
          <p:nvPr/>
        </p:nvSpPr>
        <p:spPr>
          <a:xfrm>
            <a:off x="3328416" y="3803904"/>
            <a:ext cx="105156" cy="105156"/>
          </a:xfrm>
          <a:prstGeom prst="rect">
            <a:avLst/>
          </a:prstGeom>
          <a:solidFill>
            <a:srgbClr val="17436B"/>
          </a:solidFill>
          <a:ln w="12700">
            <a:solidFill>
              <a:srgbClr val="17436B"/>
            </a:solidFill>
            <a:prstDash val="solid"/>
          </a:ln>
        </p:spPr>
      </p:sp>
      <p:sp>
        <p:nvSpPr>
          <p:cNvPr id="56" name="Shape 54"/>
          <p:cNvSpPr/>
          <p:nvPr/>
        </p:nvSpPr>
        <p:spPr>
          <a:xfrm>
            <a:off x="3474720" y="3803904"/>
            <a:ext cx="105156" cy="105156"/>
          </a:xfrm>
          <a:prstGeom prst="rect">
            <a:avLst/>
          </a:prstGeom>
          <a:solidFill>
            <a:srgbClr val="17436B"/>
          </a:solidFill>
          <a:ln w="12700">
            <a:solidFill>
              <a:srgbClr val="17436B"/>
            </a:solidFill>
            <a:prstDash val="solid"/>
          </a:ln>
        </p:spPr>
      </p:sp>
      <p:sp>
        <p:nvSpPr>
          <p:cNvPr id="57" name="Shape 55"/>
          <p:cNvSpPr/>
          <p:nvPr/>
        </p:nvSpPr>
        <p:spPr>
          <a:xfrm>
            <a:off x="3621024" y="3803904"/>
            <a:ext cx="105156" cy="105156"/>
          </a:xfrm>
          <a:prstGeom prst="rect">
            <a:avLst/>
          </a:prstGeom>
          <a:solidFill>
            <a:srgbClr val="17436B"/>
          </a:solidFill>
          <a:ln w="12700">
            <a:solidFill>
              <a:srgbClr val="17436B"/>
            </a:solidFill>
            <a:prstDash val="solid"/>
          </a:ln>
        </p:spPr>
      </p:sp>
      <p:sp>
        <p:nvSpPr>
          <p:cNvPr id="58" name="Shape 56"/>
          <p:cNvSpPr/>
          <p:nvPr/>
        </p:nvSpPr>
        <p:spPr>
          <a:xfrm>
            <a:off x="3767328" y="3803904"/>
            <a:ext cx="105156" cy="105156"/>
          </a:xfrm>
          <a:prstGeom prst="rect">
            <a:avLst/>
          </a:prstGeom>
          <a:solidFill>
            <a:srgbClr val="17436B"/>
          </a:solidFill>
          <a:ln w="12700">
            <a:solidFill>
              <a:srgbClr val="17436B"/>
            </a:solidFill>
            <a:prstDash val="solid"/>
          </a:ln>
        </p:spPr>
      </p:sp>
      <p:sp>
        <p:nvSpPr>
          <p:cNvPr id="59" name="Shape 57"/>
          <p:cNvSpPr/>
          <p:nvPr/>
        </p:nvSpPr>
        <p:spPr>
          <a:xfrm>
            <a:off x="3913632" y="3803904"/>
            <a:ext cx="105156" cy="105156"/>
          </a:xfrm>
          <a:prstGeom prst="rect">
            <a:avLst/>
          </a:prstGeom>
          <a:solidFill>
            <a:srgbClr val="17436B"/>
          </a:solidFill>
          <a:ln w="12700">
            <a:solidFill>
              <a:srgbClr val="17436B"/>
            </a:solidFill>
            <a:prstDash val="solid"/>
          </a:ln>
        </p:spPr>
      </p:sp>
      <p:sp>
        <p:nvSpPr>
          <p:cNvPr id="60" name="Shape 58"/>
          <p:cNvSpPr/>
          <p:nvPr/>
        </p:nvSpPr>
        <p:spPr>
          <a:xfrm>
            <a:off x="4059936" y="3803904"/>
            <a:ext cx="105156" cy="105156"/>
          </a:xfrm>
          <a:prstGeom prst="rect">
            <a:avLst/>
          </a:prstGeom>
          <a:solidFill>
            <a:srgbClr val="17436B"/>
          </a:solidFill>
          <a:ln w="12700">
            <a:solidFill>
              <a:srgbClr val="17436B"/>
            </a:solidFill>
            <a:prstDash val="solid"/>
          </a:ln>
        </p:spPr>
      </p:sp>
      <p:sp>
        <p:nvSpPr>
          <p:cNvPr id="61" name="Shape 59"/>
          <p:cNvSpPr/>
          <p:nvPr/>
        </p:nvSpPr>
        <p:spPr>
          <a:xfrm>
            <a:off x="4206240" y="3803904"/>
            <a:ext cx="105156" cy="105156"/>
          </a:xfrm>
          <a:prstGeom prst="rect">
            <a:avLst/>
          </a:prstGeom>
          <a:solidFill>
            <a:srgbClr val="17436B"/>
          </a:solidFill>
          <a:ln w="12700">
            <a:solidFill>
              <a:srgbClr val="17436B"/>
            </a:solidFill>
            <a:prstDash val="solid"/>
          </a:ln>
        </p:spPr>
      </p:sp>
      <p:sp>
        <p:nvSpPr>
          <p:cNvPr id="62" name="Shape 60"/>
          <p:cNvSpPr/>
          <p:nvPr/>
        </p:nvSpPr>
        <p:spPr>
          <a:xfrm>
            <a:off x="4352544" y="3803904"/>
            <a:ext cx="105156" cy="105156"/>
          </a:xfrm>
          <a:prstGeom prst="rect">
            <a:avLst/>
          </a:prstGeom>
          <a:solidFill>
            <a:srgbClr val="17436B"/>
          </a:solidFill>
          <a:ln w="12700">
            <a:solidFill>
              <a:srgbClr val="17436B"/>
            </a:solidFill>
            <a:prstDash val="solid"/>
          </a:ln>
        </p:spPr>
      </p:sp>
      <p:sp>
        <p:nvSpPr>
          <p:cNvPr id="63" name="Shape 61"/>
          <p:cNvSpPr/>
          <p:nvPr/>
        </p:nvSpPr>
        <p:spPr>
          <a:xfrm>
            <a:off x="4498848" y="3803904"/>
            <a:ext cx="105156" cy="105156"/>
          </a:xfrm>
          <a:prstGeom prst="rect">
            <a:avLst/>
          </a:prstGeom>
          <a:solidFill>
            <a:srgbClr val="17436B"/>
          </a:solidFill>
          <a:ln w="12700">
            <a:solidFill>
              <a:srgbClr val="17436B"/>
            </a:solidFill>
            <a:prstDash val="solid"/>
          </a:ln>
        </p:spPr>
      </p:sp>
      <p:sp>
        <p:nvSpPr>
          <p:cNvPr id="64" name="Shape 62"/>
          <p:cNvSpPr/>
          <p:nvPr/>
        </p:nvSpPr>
        <p:spPr>
          <a:xfrm>
            <a:off x="4645152" y="3803904"/>
            <a:ext cx="105156" cy="105156"/>
          </a:xfrm>
          <a:prstGeom prst="rect">
            <a:avLst/>
          </a:prstGeom>
          <a:solidFill>
            <a:srgbClr val="17436B"/>
          </a:solidFill>
          <a:ln w="12700">
            <a:solidFill>
              <a:srgbClr val="17436B"/>
            </a:solidFill>
            <a:prstDash val="solid"/>
          </a:ln>
        </p:spPr>
      </p:sp>
      <p:sp>
        <p:nvSpPr>
          <p:cNvPr id="65" name="Shape 63"/>
          <p:cNvSpPr/>
          <p:nvPr/>
        </p:nvSpPr>
        <p:spPr>
          <a:xfrm>
            <a:off x="548640" y="3950208"/>
            <a:ext cx="105156" cy="105156"/>
          </a:xfrm>
          <a:prstGeom prst="rect">
            <a:avLst/>
          </a:prstGeom>
          <a:solidFill>
            <a:srgbClr val="17436B"/>
          </a:solidFill>
          <a:ln w="12700">
            <a:solidFill>
              <a:srgbClr val="17436B"/>
            </a:solidFill>
            <a:prstDash val="solid"/>
          </a:ln>
        </p:spPr>
      </p:sp>
      <p:sp>
        <p:nvSpPr>
          <p:cNvPr id="66" name="Shape 64"/>
          <p:cNvSpPr/>
          <p:nvPr/>
        </p:nvSpPr>
        <p:spPr>
          <a:xfrm>
            <a:off x="694944" y="3950208"/>
            <a:ext cx="105156" cy="105156"/>
          </a:xfrm>
          <a:prstGeom prst="rect">
            <a:avLst/>
          </a:prstGeom>
          <a:solidFill>
            <a:srgbClr val="17436B"/>
          </a:solidFill>
          <a:ln w="12700">
            <a:solidFill>
              <a:srgbClr val="17436B"/>
            </a:solidFill>
            <a:prstDash val="solid"/>
          </a:ln>
        </p:spPr>
      </p:sp>
      <p:sp>
        <p:nvSpPr>
          <p:cNvPr id="67" name="Shape 65"/>
          <p:cNvSpPr/>
          <p:nvPr/>
        </p:nvSpPr>
        <p:spPr>
          <a:xfrm>
            <a:off x="841248" y="3950208"/>
            <a:ext cx="105156" cy="105156"/>
          </a:xfrm>
          <a:prstGeom prst="rect">
            <a:avLst/>
          </a:prstGeom>
          <a:solidFill>
            <a:srgbClr val="17436B"/>
          </a:solidFill>
          <a:ln w="12700">
            <a:solidFill>
              <a:srgbClr val="17436B"/>
            </a:solidFill>
            <a:prstDash val="solid"/>
          </a:ln>
        </p:spPr>
      </p:sp>
      <p:sp>
        <p:nvSpPr>
          <p:cNvPr id="68" name="Shape 66"/>
          <p:cNvSpPr/>
          <p:nvPr/>
        </p:nvSpPr>
        <p:spPr>
          <a:xfrm>
            <a:off x="987552" y="3950208"/>
            <a:ext cx="105156" cy="105156"/>
          </a:xfrm>
          <a:prstGeom prst="rect">
            <a:avLst/>
          </a:prstGeom>
          <a:solidFill>
            <a:srgbClr val="17436B"/>
          </a:solidFill>
          <a:ln w="12700">
            <a:solidFill>
              <a:srgbClr val="17436B"/>
            </a:solidFill>
            <a:prstDash val="solid"/>
          </a:ln>
        </p:spPr>
      </p:sp>
      <p:sp>
        <p:nvSpPr>
          <p:cNvPr id="69" name="Shape 67"/>
          <p:cNvSpPr/>
          <p:nvPr/>
        </p:nvSpPr>
        <p:spPr>
          <a:xfrm>
            <a:off x="1133856" y="3950208"/>
            <a:ext cx="105156" cy="105156"/>
          </a:xfrm>
          <a:prstGeom prst="rect">
            <a:avLst/>
          </a:prstGeom>
          <a:solidFill>
            <a:srgbClr val="17436B"/>
          </a:solidFill>
          <a:ln w="12700">
            <a:solidFill>
              <a:srgbClr val="17436B"/>
            </a:solidFill>
            <a:prstDash val="solid"/>
          </a:ln>
        </p:spPr>
      </p:sp>
      <p:sp>
        <p:nvSpPr>
          <p:cNvPr id="70" name="Shape 68"/>
          <p:cNvSpPr/>
          <p:nvPr/>
        </p:nvSpPr>
        <p:spPr>
          <a:xfrm>
            <a:off x="1280160" y="3950208"/>
            <a:ext cx="105156" cy="105156"/>
          </a:xfrm>
          <a:prstGeom prst="rect">
            <a:avLst/>
          </a:prstGeom>
          <a:solidFill>
            <a:srgbClr val="17436B"/>
          </a:solidFill>
          <a:ln w="12700">
            <a:solidFill>
              <a:srgbClr val="17436B"/>
            </a:solidFill>
            <a:prstDash val="solid"/>
          </a:ln>
        </p:spPr>
      </p:sp>
      <p:sp>
        <p:nvSpPr>
          <p:cNvPr id="71" name="Shape 69"/>
          <p:cNvSpPr/>
          <p:nvPr/>
        </p:nvSpPr>
        <p:spPr>
          <a:xfrm>
            <a:off x="1426464" y="3950208"/>
            <a:ext cx="105156" cy="105156"/>
          </a:xfrm>
          <a:prstGeom prst="rect">
            <a:avLst/>
          </a:prstGeom>
          <a:solidFill>
            <a:srgbClr val="17436B"/>
          </a:solidFill>
          <a:ln w="12700">
            <a:solidFill>
              <a:srgbClr val="17436B"/>
            </a:solidFill>
            <a:prstDash val="solid"/>
          </a:ln>
        </p:spPr>
      </p:sp>
      <p:sp>
        <p:nvSpPr>
          <p:cNvPr id="72" name="Shape 70"/>
          <p:cNvSpPr/>
          <p:nvPr/>
        </p:nvSpPr>
        <p:spPr>
          <a:xfrm>
            <a:off x="1572768" y="3950208"/>
            <a:ext cx="105156" cy="105156"/>
          </a:xfrm>
          <a:prstGeom prst="rect">
            <a:avLst/>
          </a:prstGeom>
          <a:solidFill>
            <a:srgbClr val="17436B"/>
          </a:solidFill>
          <a:ln w="12700">
            <a:solidFill>
              <a:srgbClr val="17436B"/>
            </a:solidFill>
            <a:prstDash val="solid"/>
          </a:ln>
        </p:spPr>
      </p:sp>
      <p:sp>
        <p:nvSpPr>
          <p:cNvPr id="73" name="Shape 71"/>
          <p:cNvSpPr/>
          <p:nvPr/>
        </p:nvSpPr>
        <p:spPr>
          <a:xfrm>
            <a:off x="1719072" y="3950208"/>
            <a:ext cx="105156" cy="105156"/>
          </a:xfrm>
          <a:prstGeom prst="rect">
            <a:avLst/>
          </a:prstGeom>
          <a:solidFill>
            <a:srgbClr val="17436B"/>
          </a:solidFill>
          <a:ln w="12700">
            <a:solidFill>
              <a:srgbClr val="17436B"/>
            </a:solidFill>
            <a:prstDash val="solid"/>
          </a:ln>
        </p:spPr>
      </p:sp>
      <p:sp>
        <p:nvSpPr>
          <p:cNvPr id="74" name="Shape 72"/>
          <p:cNvSpPr/>
          <p:nvPr/>
        </p:nvSpPr>
        <p:spPr>
          <a:xfrm>
            <a:off x="1865376" y="3950208"/>
            <a:ext cx="105156" cy="105156"/>
          </a:xfrm>
          <a:prstGeom prst="rect">
            <a:avLst/>
          </a:prstGeom>
          <a:solidFill>
            <a:srgbClr val="17436B"/>
          </a:solidFill>
          <a:ln w="12700">
            <a:solidFill>
              <a:srgbClr val="17436B"/>
            </a:solidFill>
            <a:prstDash val="solid"/>
          </a:ln>
        </p:spPr>
      </p:sp>
      <p:sp>
        <p:nvSpPr>
          <p:cNvPr id="75" name="Shape 73"/>
          <p:cNvSpPr/>
          <p:nvPr/>
        </p:nvSpPr>
        <p:spPr>
          <a:xfrm>
            <a:off x="2011680" y="3950208"/>
            <a:ext cx="105156" cy="105156"/>
          </a:xfrm>
          <a:prstGeom prst="rect">
            <a:avLst/>
          </a:prstGeom>
          <a:solidFill>
            <a:srgbClr val="17436B"/>
          </a:solidFill>
          <a:ln w="12700">
            <a:solidFill>
              <a:srgbClr val="17436B"/>
            </a:solidFill>
            <a:prstDash val="solid"/>
          </a:ln>
        </p:spPr>
      </p:sp>
      <p:sp>
        <p:nvSpPr>
          <p:cNvPr id="76" name="Shape 74"/>
          <p:cNvSpPr/>
          <p:nvPr/>
        </p:nvSpPr>
        <p:spPr>
          <a:xfrm>
            <a:off x="2157984" y="3950208"/>
            <a:ext cx="105156" cy="105156"/>
          </a:xfrm>
          <a:prstGeom prst="rect">
            <a:avLst/>
          </a:prstGeom>
          <a:solidFill>
            <a:srgbClr val="17436B"/>
          </a:solidFill>
          <a:ln w="12700">
            <a:solidFill>
              <a:srgbClr val="17436B"/>
            </a:solidFill>
            <a:prstDash val="solid"/>
          </a:ln>
        </p:spPr>
      </p:sp>
      <p:sp>
        <p:nvSpPr>
          <p:cNvPr id="77" name="Shape 75"/>
          <p:cNvSpPr/>
          <p:nvPr/>
        </p:nvSpPr>
        <p:spPr>
          <a:xfrm>
            <a:off x="2304288" y="3950208"/>
            <a:ext cx="105156" cy="105156"/>
          </a:xfrm>
          <a:prstGeom prst="rect">
            <a:avLst/>
          </a:prstGeom>
          <a:solidFill>
            <a:srgbClr val="17436B"/>
          </a:solidFill>
          <a:ln w="12700">
            <a:solidFill>
              <a:srgbClr val="17436B"/>
            </a:solidFill>
            <a:prstDash val="solid"/>
          </a:ln>
        </p:spPr>
      </p:sp>
      <p:sp>
        <p:nvSpPr>
          <p:cNvPr id="78" name="Shape 76"/>
          <p:cNvSpPr/>
          <p:nvPr/>
        </p:nvSpPr>
        <p:spPr>
          <a:xfrm>
            <a:off x="2450592" y="3950208"/>
            <a:ext cx="105156" cy="105156"/>
          </a:xfrm>
          <a:prstGeom prst="rect">
            <a:avLst/>
          </a:prstGeom>
          <a:solidFill>
            <a:srgbClr val="17436B"/>
          </a:solidFill>
          <a:ln w="12700">
            <a:solidFill>
              <a:srgbClr val="17436B"/>
            </a:solidFill>
            <a:prstDash val="solid"/>
          </a:ln>
        </p:spPr>
      </p:sp>
      <p:sp>
        <p:nvSpPr>
          <p:cNvPr id="79" name="Shape 77"/>
          <p:cNvSpPr/>
          <p:nvPr/>
        </p:nvSpPr>
        <p:spPr>
          <a:xfrm>
            <a:off x="2596896" y="3950208"/>
            <a:ext cx="105156" cy="105156"/>
          </a:xfrm>
          <a:prstGeom prst="rect">
            <a:avLst/>
          </a:prstGeom>
          <a:solidFill>
            <a:srgbClr val="17436B"/>
          </a:solidFill>
          <a:ln w="12700">
            <a:solidFill>
              <a:srgbClr val="17436B"/>
            </a:solidFill>
            <a:prstDash val="solid"/>
          </a:ln>
        </p:spPr>
      </p:sp>
      <p:sp>
        <p:nvSpPr>
          <p:cNvPr id="80" name="Shape 78"/>
          <p:cNvSpPr/>
          <p:nvPr/>
        </p:nvSpPr>
        <p:spPr>
          <a:xfrm>
            <a:off x="2743200" y="3950208"/>
            <a:ext cx="105156" cy="105156"/>
          </a:xfrm>
          <a:prstGeom prst="rect">
            <a:avLst/>
          </a:prstGeom>
          <a:solidFill>
            <a:srgbClr val="17436B"/>
          </a:solidFill>
          <a:ln w="12700">
            <a:solidFill>
              <a:srgbClr val="17436B"/>
            </a:solidFill>
            <a:prstDash val="solid"/>
          </a:ln>
        </p:spPr>
      </p:sp>
      <p:sp>
        <p:nvSpPr>
          <p:cNvPr id="81" name="Shape 79"/>
          <p:cNvSpPr/>
          <p:nvPr/>
        </p:nvSpPr>
        <p:spPr>
          <a:xfrm>
            <a:off x="2889504" y="3950208"/>
            <a:ext cx="105156" cy="105156"/>
          </a:xfrm>
          <a:prstGeom prst="rect">
            <a:avLst/>
          </a:prstGeom>
          <a:solidFill>
            <a:srgbClr val="17436B"/>
          </a:solidFill>
          <a:ln w="12700">
            <a:solidFill>
              <a:srgbClr val="17436B"/>
            </a:solidFill>
            <a:prstDash val="solid"/>
          </a:ln>
        </p:spPr>
      </p:sp>
      <p:sp>
        <p:nvSpPr>
          <p:cNvPr id="82" name="Shape 80"/>
          <p:cNvSpPr/>
          <p:nvPr/>
        </p:nvSpPr>
        <p:spPr>
          <a:xfrm>
            <a:off x="3035808" y="3950208"/>
            <a:ext cx="105156" cy="105156"/>
          </a:xfrm>
          <a:prstGeom prst="rect">
            <a:avLst/>
          </a:prstGeom>
          <a:solidFill>
            <a:srgbClr val="17436B"/>
          </a:solidFill>
          <a:ln w="12700">
            <a:solidFill>
              <a:srgbClr val="17436B"/>
            </a:solidFill>
            <a:prstDash val="solid"/>
          </a:ln>
        </p:spPr>
      </p:sp>
      <p:sp>
        <p:nvSpPr>
          <p:cNvPr id="83" name="Shape 81"/>
          <p:cNvSpPr/>
          <p:nvPr/>
        </p:nvSpPr>
        <p:spPr>
          <a:xfrm>
            <a:off x="3182112" y="3950208"/>
            <a:ext cx="105156" cy="105156"/>
          </a:xfrm>
          <a:prstGeom prst="rect">
            <a:avLst/>
          </a:prstGeom>
          <a:solidFill>
            <a:srgbClr val="17436B"/>
          </a:solidFill>
          <a:ln w="12700">
            <a:solidFill>
              <a:srgbClr val="17436B"/>
            </a:solidFill>
            <a:prstDash val="solid"/>
          </a:ln>
        </p:spPr>
      </p:sp>
      <p:sp>
        <p:nvSpPr>
          <p:cNvPr id="84" name="Shape 82"/>
          <p:cNvSpPr/>
          <p:nvPr/>
        </p:nvSpPr>
        <p:spPr>
          <a:xfrm>
            <a:off x="3328416" y="3950208"/>
            <a:ext cx="105156" cy="105156"/>
          </a:xfrm>
          <a:prstGeom prst="rect">
            <a:avLst/>
          </a:prstGeom>
          <a:solidFill>
            <a:srgbClr val="17436B"/>
          </a:solidFill>
          <a:ln w="12700">
            <a:solidFill>
              <a:srgbClr val="17436B"/>
            </a:solidFill>
            <a:prstDash val="solid"/>
          </a:ln>
        </p:spPr>
      </p:sp>
      <p:sp>
        <p:nvSpPr>
          <p:cNvPr id="85" name="Shape 83"/>
          <p:cNvSpPr/>
          <p:nvPr/>
        </p:nvSpPr>
        <p:spPr>
          <a:xfrm>
            <a:off x="3474720" y="3950208"/>
            <a:ext cx="105156" cy="105156"/>
          </a:xfrm>
          <a:prstGeom prst="rect">
            <a:avLst/>
          </a:prstGeom>
          <a:solidFill>
            <a:srgbClr val="17436B"/>
          </a:solidFill>
          <a:ln w="12700">
            <a:solidFill>
              <a:srgbClr val="17436B"/>
            </a:solidFill>
            <a:prstDash val="solid"/>
          </a:ln>
        </p:spPr>
      </p:sp>
      <p:sp>
        <p:nvSpPr>
          <p:cNvPr id="86" name="Shape 84"/>
          <p:cNvSpPr/>
          <p:nvPr/>
        </p:nvSpPr>
        <p:spPr>
          <a:xfrm>
            <a:off x="3621024" y="3950208"/>
            <a:ext cx="105156" cy="105156"/>
          </a:xfrm>
          <a:prstGeom prst="rect">
            <a:avLst/>
          </a:prstGeom>
          <a:solidFill>
            <a:srgbClr val="17436B"/>
          </a:solidFill>
          <a:ln w="12700">
            <a:solidFill>
              <a:srgbClr val="17436B"/>
            </a:solidFill>
            <a:prstDash val="solid"/>
          </a:ln>
        </p:spPr>
      </p:sp>
      <p:sp>
        <p:nvSpPr>
          <p:cNvPr id="87" name="Shape 85"/>
          <p:cNvSpPr/>
          <p:nvPr/>
        </p:nvSpPr>
        <p:spPr>
          <a:xfrm>
            <a:off x="3767328" y="3950208"/>
            <a:ext cx="105156" cy="105156"/>
          </a:xfrm>
          <a:prstGeom prst="rect">
            <a:avLst/>
          </a:prstGeom>
          <a:solidFill>
            <a:srgbClr val="17436B"/>
          </a:solidFill>
          <a:ln w="12700">
            <a:solidFill>
              <a:srgbClr val="17436B"/>
            </a:solidFill>
            <a:prstDash val="solid"/>
          </a:ln>
        </p:spPr>
      </p:sp>
      <p:sp>
        <p:nvSpPr>
          <p:cNvPr id="88" name="Shape 86"/>
          <p:cNvSpPr/>
          <p:nvPr/>
        </p:nvSpPr>
        <p:spPr>
          <a:xfrm>
            <a:off x="3913632" y="3950208"/>
            <a:ext cx="105156" cy="105156"/>
          </a:xfrm>
          <a:prstGeom prst="rect">
            <a:avLst/>
          </a:prstGeom>
          <a:solidFill>
            <a:srgbClr val="17436B"/>
          </a:solidFill>
          <a:ln w="12700">
            <a:solidFill>
              <a:srgbClr val="17436B"/>
            </a:solidFill>
            <a:prstDash val="solid"/>
          </a:ln>
        </p:spPr>
      </p:sp>
      <p:sp>
        <p:nvSpPr>
          <p:cNvPr id="89" name="Shape 87"/>
          <p:cNvSpPr/>
          <p:nvPr/>
        </p:nvSpPr>
        <p:spPr>
          <a:xfrm>
            <a:off x="4059936" y="3950208"/>
            <a:ext cx="105156" cy="105156"/>
          </a:xfrm>
          <a:prstGeom prst="rect">
            <a:avLst/>
          </a:prstGeom>
          <a:solidFill>
            <a:srgbClr val="17436B"/>
          </a:solidFill>
          <a:ln w="12700">
            <a:solidFill>
              <a:srgbClr val="17436B"/>
            </a:solidFill>
            <a:prstDash val="solid"/>
          </a:ln>
        </p:spPr>
      </p:sp>
      <p:sp>
        <p:nvSpPr>
          <p:cNvPr id="90" name="Shape 88"/>
          <p:cNvSpPr/>
          <p:nvPr/>
        </p:nvSpPr>
        <p:spPr>
          <a:xfrm>
            <a:off x="4206240" y="3950208"/>
            <a:ext cx="105156" cy="105156"/>
          </a:xfrm>
          <a:prstGeom prst="rect">
            <a:avLst/>
          </a:prstGeom>
          <a:solidFill>
            <a:srgbClr val="17436B"/>
          </a:solidFill>
          <a:ln w="12700">
            <a:solidFill>
              <a:srgbClr val="17436B"/>
            </a:solidFill>
            <a:prstDash val="solid"/>
          </a:ln>
        </p:spPr>
      </p:sp>
      <p:sp>
        <p:nvSpPr>
          <p:cNvPr id="91" name="Shape 89"/>
          <p:cNvSpPr/>
          <p:nvPr/>
        </p:nvSpPr>
        <p:spPr>
          <a:xfrm>
            <a:off x="4352544" y="3950208"/>
            <a:ext cx="105156" cy="105156"/>
          </a:xfrm>
          <a:prstGeom prst="rect">
            <a:avLst/>
          </a:prstGeom>
          <a:solidFill>
            <a:srgbClr val="17436B"/>
          </a:solidFill>
          <a:ln w="12700">
            <a:solidFill>
              <a:srgbClr val="17436B"/>
            </a:solidFill>
            <a:prstDash val="solid"/>
          </a:ln>
        </p:spPr>
      </p:sp>
      <p:sp>
        <p:nvSpPr>
          <p:cNvPr id="92" name="Shape 90"/>
          <p:cNvSpPr/>
          <p:nvPr/>
        </p:nvSpPr>
        <p:spPr>
          <a:xfrm>
            <a:off x="4498848" y="3950208"/>
            <a:ext cx="105156" cy="105156"/>
          </a:xfrm>
          <a:prstGeom prst="rect">
            <a:avLst/>
          </a:prstGeom>
          <a:solidFill>
            <a:srgbClr val="17436B"/>
          </a:solidFill>
          <a:ln w="12700">
            <a:solidFill>
              <a:srgbClr val="17436B"/>
            </a:solidFill>
            <a:prstDash val="solid"/>
          </a:ln>
        </p:spPr>
      </p:sp>
      <p:sp>
        <p:nvSpPr>
          <p:cNvPr id="93" name="Shape 91"/>
          <p:cNvSpPr/>
          <p:nvPr/>
        </p:nvSpPr>
        <p:spPr>
          <a:xfrm>
            <a:off x="4645152" y="3950208"/>
            <a:ext cx="105156" cy="105156"/>
          </a:xfrm>
          <a:prstGeom prst="rect">
            <a:avLst/>
          </a:prstGeom>
          <a:solidFill>
            <a:srgbClr val="17436B"/>
          </a:solidFill>
          <a:ln w="12700">
            <a:solidFill>
              <a:srgbClr val="17436B"/>
            </a:solidFill>
            <a:prstDash val="solid"/>
          </a:ln>
        </p:spPr>
      </p:sp>
      <p:sp>
        <p:nvSpPr>
          <p:cNvPr id="94" name="Shape 92"/>
          <p:cNvSpPr/>
          <p:nvPr/>
        </p:nvSpPr>
        <p:spPr>
          <a:xfrm>
            <a:off x="548640" y="4096512"/>
            <a:ext cx="105156" cy="105156"/>
          </a:xfrm>
          <a:prstGeom prst="rect">
            <a:avLst/>
          </a:prstGeom>
          <a:solidFill>
            <a:srgbClr val="17436B"/>
          </a:solidFill>
          <a:ln w="12700">
            <a:solidFill>
              <a:srgbClr val="17436B"/>
            </a:solidFill>
            <a:prstDash val="solid"/>
          </a:ln>
        </p:spPr>
      </p:sp>
      <p:sp>
        <p:nvSpPr>
          <p:cNvPr id="95" name="Shape 93"/>
          <p:cNvSpPr/>
          <p:nvPr/>
        </p:nvSpPr>
        <p:spPr>
          <a:xfrm>
            <a:off x="694944" y="4096512"/>
            <a:ext cx="105156" cy="105156"/>
          </a:xfrm>
          <a:prstGeom prst="rect">
            <a:avLst/>
          </a:prstGeom>
          <a:solidFill>
            <a:srgbClr val="17436B"/>
          </a:solidFill>
          <a:ln w="12700">
            <a:solidFill>
              <a:srgbClr val="17436B"/>
            </a:solidFill>
            <a:prstDash val="solid"/>
          </a:ln>
        </p:spPr>
      </p:sp>
      <p:sp>
        <p:nvSpPr>
          <p:cNvPr id="96" name="Shape 94"/>
          <p:cNvSpPr/>
          <p:nvPr/>
        </p:nvSpPr>
        <p:spPr>
          <a:xfrm>
            <a:off x="841248" y="4096512"/>
            <a:ext cx="105156" cy="105156"/>
          </a:xfrm>
          <a:prstGeom prst="rect">
            <a:avLst/>
          </a:prstGeom>
          <a:solidFill>
            <a:srgbClr val="17436B"/>
          </a:solidFill>
          <a:ln w="12700">
            <a:solidFill>
              <a:srgbClr val="17436B"/>
            </a:solidFill>
            <a:prstDash val="solid"/>
          </a:ln>
        </p:spPr>
      </p:sp>
      <p:sp>
        <p:nvSpPr>
          <p:cNvPr id="97" name="Shape 95"/>
          <p:cNvSpPr/>
          <p:nvPr/>
        </p:nvSpPr>
        <p:spPr>
          <a:xfrm>
            <a:off x="987552" y="4096512"/>
            <a:ext cx="105156" cy="105156"/>
          </a:xfrm>
          <a:prstGeom prst="rect">
            <a:avLst/>
          </a:prstGeom>
          <a:solidFill>
            <a:srgbClr val="17436B"/>
          </a:solidFill>
          <a:ln w="12700">
            <a:solidFill>
              <a:srgbClr val="17436B"/>
            </a:solidFill>
            <a:prstDash val="solid"/>
          </a:ln>
        </p:spPr>
      </p:sp>
      <p:sp>
        <p:nvSpPr>
          <p:cNvPr id="98" name="Shape 96"/>
          <p:cNvSpPr/>
          <p:nvPr/>
        </p:nvSpPr>
        <p:spPr>
          <a:xfrm>
            <a:off x="1133856" y="4096512"/>
            <a:ext cx="105156" cy="105156"/>
          </a:xfrm>
          <a:prstGeom prst="rect">
            <a:avLst/>
          </a:prstGeom>
          <a:solidFill>
            <a:srgbClr val="17436B"/>
          </a:solidFill>
          <a:ln w="12700">
            <a:solidFill>
              <a:srgbClr val="17436B"/>
            </a:solidFill>
            <a:prstDash val="solid"/>
          </a:ln>
        </p:spPr>
      </p:sp>
      <p:sp>
        <p:nvSpPr>
          <p:cNvPr id="99" name="Shape 97"/>
          <p:cNvSpPr/>
          <p:nvPr/>
        </p:nvSpPr>
        <p:spPr>
          <a:xfrm>
            <a:off x="1280160" y="4096512"/>
            <a:ext cx="105156" cy="105156"/>
          </a:xfrm>
          <a:prstGeom prst="rect">
            <a:avLst/>
          </a:prstGeom>
          <a:solidFill>
            <a:srgbClr val="17436B"/>
          </a:solidFill>
          <a:ln w="12700">
            <a:solidFill>
              <a:srgbClr val="17436B"/>
            </a:solidFill>
            <a:prstDash val="solid"/>
          </a:ln>
        </p:spPr>
      </p:sp>
      <p:sp>
        <p:nvSpPr>
          <p:cNvPr id="100" name="Shape 98"/>
          <p:cNvSpPr/>
          <p:nvPr/>
        </p:nvSpPr>
        <p:spPr>
          <a:xfrm>
            <a:off x="1426464" y="4096512"/>
            <a:ext cx="105156" cy="105156"/>
          </a:xfrm>
          <a:prstGeom prst="rect">
            <a:avLst/>
          </a:prstGeom>
          <a:solidFill>
            <a:srgbClr val="17436B"/>
          </a:solidFill>
          <a:ln w="12700">
            <a:solidFill>
              <a:srgbClr val="17436B"/>
            </a:solidFill>
            <a:prstDash val="solid"/>
          </a:ln>
        </p:spPr>
      </p:sp>
      <p:sp>
        <p:nvSpPr>
          <p:cNvPr id="101" name="Shape 99"/>
          <p:cNvSpPr/>
          <p:nvPr/>
        </p:nvSpPr>
        <p:spPr>
          <a:xfrm>
            <a:off x="1572768" y="4096512"/>
            <a:ext cx="105156" cy="105156"/>
          </a:xfrm>
          <a:prstGeom prst="rect">
            <a:avLst/>
          </a:prstGeom>
          <a:solidFill>
            <a:srgbClr val="17436B"/>
          </a:solidFill>
          <a:ln w="12700">
            <a:solidFill>
              <a:srgbClr val="17436B"/>
            </a:solidFill>
            <a:prstDash val="solid"/>
          </a:ln>
        </p:spPr>
      </p:sp>
      <p:sp>
        <p:nvSpPr>
          <p:cNvPr id="102" name="Shape 100"/>
          <p:cNvSpPr/>
          <p:nvPr/>
        </p:nvSpPr>
        <p:spPr>
          <a:xfrm>
            <a:off x="1719072" y="4096512"/>
            <a:ext cx="105156" cy="105156"/>
          </a:xfrm>
          <a:prstGeom prst="rect">
            <a:avLst/>
          </a:prstGeom>
          <a:solidFill>
            <a:srgbClr val="17436B"/>
          </a:solidFill>
          <a:ln w="12700">
            <a:solidFill>
              <a:srgbClr val="17436B"/>
            </a:solidFill>
            <a:prstDash val="solid"/>
          </a:ln>
        </p:spPr>
      </p:sp>
      <p:sp>
        <p:nvSpPr>
          <p:cNvPr id="103" name="Shape 101"/>
          <p:cNvSpPr/>
          <p:nvPr/>
        </p:nvSpPr>
        <p:spPr>
          <a:xfrm>
            <a:off x="1865376" y="4096512"/>
            <a:ext cx="105156" cy="105156"/>
          </a:xfrm>
          <a:prstGeom prst="rect">
            <a:avLst/>
          </a:prstGeom>
          <a:solidFill>
            <a:srgbClr val="17436B"/>
          </a:solidFill>
          <a:ln w="12700">
            <a:solidFill>
              <a:srgbClr val="17436B"/>
            </a:solidFill>
            <a:prstDash val="solid"/>
          </a:ln>
        </p:spPr>
      </p:sp>
      <p:sp>
        <p:nvSpPr>
          <p:cNvPr id="104" name="Shape 102"/>
          <p:cNvSpPr/>
          <p:nvPr/>
        </p:nvSpPr>
        <p:spPr>
          <a:xfrm>
            <a:off x="2011680" y="4096512"/>
            <a:ext cx="105156" cy="105156"/>
          </a:xfrm>
          <a:prstGeom prst="rect">
            <a:avLst/>
          </a:prstGeom>
          <a:solidFill>
            <a:srgbClr val="17436B"/>
          </a:solidFill>
          <a:ln w="12700">
            <a:solidFill>
              <a:srgbClr val="17436B"/>
            </a:solidFill>
            <a:prstDash val="solid"/>
          </a:ln>
        </p:spPr>
      </p:sp>
      <p:sp>
        <p:nvSpPr>
          <p:cNvPr id="105" name="Shape 103"/>
          <p:cNvSpPr/>
          <p:nvPr/>
        </p:nvSpPr>
        <p:spPr>
          <a:xfrm>
            <a:off x="2157984" y="4096512"/>
            <a:ext cx="105156" cy="105156"/>
          </a:xfrm>
          <a:prstGeom prst="rect">
            <a:avLst/>
          </a:prstGeom>
          <a:solidFill>
            <a:srgbClr val="17436B"/>
          </a:solidFill>
          <a:ln w="12700">
            <a:solidFill>
              <a:srgbClr val="17436B"/>
            </a:solidFill>
            <a:prstDash val="solid"/>
          </a:ln>
        </p:spPr>
      </p:sp>
      <p:sp>
        <p:nvSpPr>
          <p:cNvPr id="106" name="Shape 104"/>
          <p:cNvSpPr/>
          <p:nvPr/>
        </p:nvSpPr>
        <p:spPr>
          <a:xfrm>
            <a:off x="2304288" y="4096512"/>
            <a:ext cx="105156" cy="105156"/>
          </a:xfrm>
          <a:prstGeom prst="rect">
            <a:avLst/>
          </a:prstGeom>
          <a:solidFill>
            <a:srgbClr val="17436B"/>
          </a:solidFill>
          <a:ln w="12700">
            <a:solidFill>
              <a:srgbClr val="17436B"/>
            </a:solidFill>
            <a:prstDash val="solid"/>
          </a:ln>
        </p:spPr>
      </p:sp>
      <p:sp>
        <p:nvSpPr>
          <p:cNvPr id="107" name="Shape 105"/>
          <p:cNvSpPr/>
          <p:nvPr/>
        </p:nvSpPr>
        <p:spPr>
          <a:xfrm>
            <a:off x="2450592" y="4096512"/>
            <a:ext cx="105156" cy="105156"/>
          </a:xfrm>
          <a:prstGeom prst="rect">
            <a:avLst/>
          </a:prstGeom>
          <a:solidFill>
            <a:srgbClr val="17436B"/>
          </a:solidFill>
          <a:ln w="12700">
            <a:solidFill>
              <a:srgbClr val="17436B"/>
            </a:solidFill>
            <a:prstDash val="solid"/>
          </a:ln>
        </p:spPr>
      </p:sp>
      <p:sp>
        <p:nvSpPr>
          <p:cNvPr id="108" name="Shape 106"/>
          <p:cNvSpPr/>
          <p:nvPr/>
        </p:nvSpPr>
        <p:spPr>
          <a:xfrm>
            <a:off x="2596896" y="4096512"/>
            <a:ext cx="105156" cy="105156"/>
          </a:xfrm>
          <a:prstGeom prst="rect">
            <a:avLst/>
          </a:prstGeom>
          <a:solidFill>
            <a:srgbClr val="17436B"/>
          </a:solidFill>
          <a:ln w="12700">
            <a:solidFill>
              <a:srgbClr val="17436B"/>
            </a:solidFill>
            <a:prstDash val="solid"/>
          </a:ln>
        </p:spPr>
      </p:sp>
      <p:sp>
        <p:nvSpPr>
          <p:cNvPr id="109" name="Shape 107"/>
          <p:cNvSpPr/>
          <p:nvPr/>
        </p:nvSpPr>
        <p:spPr>
          <a:xfrm>
            <a:off x="2743200" y="4096512"/>
            <a:ext cx="105156" cy="105156"/>
          </a:xfrm>
          <a:prstGeom prst="rect">
            <a:avLst/>
          </a:prstGeom>
          <a:solidFill>
            <a:srgbClr val="17436B"/>
          </a:solidFill>
          <a:ln w="12700">
            <a:solidFill>
              <a:srgbClr val="17436B"/>
            </a:solidFill>
            <a:prstDash val="solid"/>
          </a:ln>
        </p:spPr>
      </p:sp>
      <p:sp>
        <p:nvSpPr>
          <p:cNvPr id="110" name="Shape 108"/>
          <p:cNvSpPr/>
          <p:nvPr/>
        </p:nvSpPr>
        <p:spPr>
          <a:xfrm>
            <a:off x="2889504" y="4096512"/>
            <a:ext cx="105156" cy="105156"/>
          </a:xfrm>
          <a:prstGeom prst="rect">
            <a:avLst/>
          </a:prstGeom>
          <a:solidFill>
            <a:srgbClr val="17436B"/>
          </a:solidFill>
          <a:ln w="12700">
            <a:solidFill>
              <a:srgbClr val="17436B"/>
            </a:solidFill>
            <a:prstDash val="solid"/>
          </a:ln>
        </p:spPr>
      </p:sp>
      <p:sp>
        <p:nvSpPr>
          <p:cNvPr id="111" name="Shape 109"/>
          <p:cNvSpPr/>
          <p:nvPr/>
        </p:nvSpPr>
        <p:spPr>
          <a:xfrm>
            <a:off x="3035808" y="4096512"/>
            <a:ext cx="105156" cy="105156"/>
          </a:xfrm>
          <a:prstGeom prst="rect">
            <a:avLst/>
          </a:prstGeom>
          <a:solidFill>
            <a:srgbClr val="17436B"/>
          </a:solidFill>
          <a:ln w="12700">
            <a:solidFill>
              <a:srgbClr val="17436B"/>
            </a:solidFill>
            <a:prstDash val="solid"/>
          </a:ln>
        </p:spPr>
      </p:sp>
      <p:sp>
        <p:nvSpPr>
          <p:cNvPr id="112" name="Shape 110"/>
          <p:cNvSpPr/>
          <p:nvPr/>
        </p:nvSpPr>
        <p:spPr>
          <a:xfrm>
            <a:off x="3182112" y="4096512"/>
            <a:ext cx="105156" cy="105156"/>
          </a:xfrm>
          <a:prstGeom prst="rect">
            <a:avLst/>
          </a:prstGeom>
          <a:solidFill>
            <a:srgbClr val="17436B"/>
          </a:solidFill>
          <a:ln w="12700">
            <a:solidFill>
              <a:srgbClr val="17436B"/>
            </a:solidFill>
            <a:prstDash val="solid"/>
          </a:ln>
        </p:spPr>
      </p:sp>
      <p:sp>
        <p:nvSpPr>
          <p:cNvPr id="113" name="Shape 111"/>
          <p:cNvSpPr/>
          <p:nvPr/>
        </p:nvSpPr>
        <p:spPr>
          <a:xfrm>
            <a:off x="3328416" y="4096512"/>
            <a:ext cx="105156" cy="105156"/>
          </a:xfrm>
          <a:prstGeom prst="rect">
            <a:avLst/>
          </a:prstGeom>
          <a:solidFill>
            <a:srgbClr val="17436B"/>
          </a:solidFill>
          <a:ln w="12700">
            <a:solidFill>
              <a:srgbClr val="17436B"/>
            </a:solidFill>
            <a:prstDash val="solid"/>
          </a:ln>
        </p:spPr>
      </p:sp>
      <p:sp>
        <p:nvSpPr>
          <p:cNvPr id="114" name="Shape 112"/>
          <p:cNvSpPr/>
          <p:nvPr/>
        </p:nvSpPr>
        <p:spPr>
          <a:xfrm>
            <a:off x="3474720" y="4096512"/>
            <a:ext cx="105156" cy="105156"/>
          </a:xfrm>
          <a:prstGeom prst="rect">
            <a:avLst/>
          </a:prstGeom>
          <a:solidFill>
            <a:srgbClr val="17436B"/>
          </a:solidFill>
          <a:ln w="12700">
            <a:solidFill>
              <a:srgbClr val="17436B"/>
            </a:solidFill>
            <a:prstDash val="solid"/>
          </a:ln>
        </p:spPr>
      </p:sp>
      <p:sp>
        <p:nvSpPr>
          <p:cNvPr id="115" name="Shape 113"/>
          <p:cNvSpPr/>
          <p:nvPr/>
        </p:nvSpPr>
        <p:spPr>
          <a:xfrm>
            <a:off x="3621024" y="4096512"/>
            <a:ext cx="105156" cy="105156"/>
          </a:xfrm>
          <a:prstGeom prst="rect">
            <a:avLst/>
          </a:prstGeom>
          <a:solidFill>
            <a:srgbClr val="17436B"/>
          </a:solidFill>
          <a:ln w="12700">
            <a:solidFill>
              <a:srgbClr val="17436B"/>
            </a:solidFill>
            <a:prstDash val="solid"/>
          </a:ln>
        </p:spPr>
      </p:sp>
      <p:sp>
        <p:nvSpPr>
          <p:cNvPr id="116" name="Shape 114"/>
          <p:cNvSpPr/>
          <p:nvPr/>
        </p:nvSpPr>
        <p:spPr>
          <a:xfrm>
            <a:off x="3767328" y="4096512"/>
            <a:ext cx="105156" cy="105156"/>
          </a:xfrm>
          <a:prstGeom prst="rect">
            <a:avLst/>
          </a:prstGeom>
          <a:solidFill>
            <a:srgbClr val="17436B"/>
          </a:solidFill>
          <a:ln w="12700">
            <a:solidFill>
              <a:srgbClr val="17436B"/>
            </a:solidFill>
            <a:prstDash val="solid"/>
          </a:ln>
        </p:spPr>
      </p:sp>
      <p:sp>
        <p:nvSpPr>
          <p:cNvPr id="117" name="Shape 115"/>
          <p:cNvSpPr/>
          <p:nvPr/>
        </p:nvSpPr>
        <p:spPr>
          <a:xfrm>
            <a:off x="3913632" y="4096512"/>
            <a:ext cx="105156" cy="105156"/>
          </a:xfrm>
          <a:prstGeom prst="rect">
            <a:avLst/>
          </a:prstGeom>
          <a:solidFill>
            <a:srgbClr val="17436B"/>
          </a:solidFill>
          <a:ln w="12700">
            <a:solidFill>
              <a:srgbClr val="17436B"/>
            </a:solidFill>
            <a:prstDash val="solid"/>
          </a:ln>
        </p:spPr>
      </p:sp>
      <p:sp>
        <p:nvSpPr>
          <p:cNvPr id="118" name="Shape 116"/>
          <p:cNvSpPr/>
          <p:nvPr/>
        </p:nvSpPr>
        <p:spPr>
          <a:xfrm>
            <a:off x="4059936" y="4096512"/>
            <a:ext cx="105156" cy="105156"/>
          </a:xfrm>
          <a:prstGeom prst="rect">
            <a:avLst/>
          </a:prstGeom>
          <a:solidFill>
            <a:srgbClr val="17436B"/>
          </a:solidFill>
          <a:ln w="12700">
            <a:solidFill>
              <a:srgbClr val="17436B"/>
            </a:solidFill>
            <a:prstDash val="solid"/>
          </a:ln>
        </p:spPr>
      </p:sp>
      <p:sp>
        <p:nvSpPr>
          <p:cNvPr id="119" name="Shape 117"/>
          <p:cNvSpPr/>
          <p:nvPr/>
        </p:nvSpPr>
        <p:spPr>
          <a:xfrm>
            <a:off x="4206240" y="4096512"/>
            <a:ext cx="105156" cy="105156"/>
          </a:xfrm>
          <a:prstGeom prst="rect">
            <a:avLst/>
          </a:prstGeom>
          <a:solidFill>
            <a:srgbClr val="17436B"/>
          </a:solidFill>
          <a:ln w="12700">
            <a:solidFill>
              <a:srgbClr val="17436B"/>
            </a:solidFill>
            <a:prstDash val="solid"/>
          </a:ln>
        </p:spPr>
      </p:sp>
      <p:sp>
        <p:nvSpPr>
          <p:cNvPr id="120" name="Shape 118"/>
          <p:cNvSpPr/>
          <p:nvPr/>
        </p:nvSpPr>
        <p:spPr>
          <a:xfrm>
            <a:off x="4352544" y="4096512"/>
            <a:ext cx="105156" cy="105156"/>
          </a:xfrm>
          <a:prstGeom prst="rect">
            <a:avLst/>
          </a:prstGeom>
          <a:solidFill>
            <a:srgbClr val="17436B"/>
          </a:solidFill>
          <a:ln w="12700">
            <a:solidFill>
              <a:srgbClr val="17436B"/>
            </a:solidFill>
            <a:prstDash val="solid"/>
          </a:ln>
        </p:spPr>
      </p:sp>
      <p:sp>
        <p:nvSpPr>
          <p:cNvPr id="121" name="Shape 119"/>
          <p:cNvSpPr/>
          <p:nvPr/>
        </p:nvSpPr>
        <p:spPr>
          <a:xfrm>
            <a:off x="4498848" y="4096512"/>
            <a:ext cx="105156" cy="105156"/>
          </a:xfrm>
          <a:prstGeom prst="rect">
            <a:avLst/>
          </a:prstGeom>
          <a:solidFill>
            <a:srgbClr val="17436B"/>
          </a:solidFill>
          <a:ln w="12700">
            <a:solidFill>
              <a:srgbClr val="17436B"/>
            </a:solidFill>
            <a:prstDash val="solid"/>
          </a:ln>
        </p:spPr>
      </p:sp>
      <p:sp>
        <p:nvSpPr>
          <p:cNvPr id="122" name="Shape 120"/>
          <p:cNvSpPr/>
          <p:nvPr/>
        </p:nvSpPr>
        <p:spPr>
          <a:xfrm>
            <a:off x="4645152" y="4096512"/>
            <a:ext cx="105156" cy="105156"/>
          </a:xfrm>
          <a:prstGeom prst="rect">
            <a:avLst/>
          </a:prstGeom>
          <a:solidFill>
            <a:srgbClr val="17436B"/>
          </a:solidFill>
          <a:ln w="12700">
            <a:solidFill>
              <a:srgbClr val="17436B"/>
            </a:solidFill>
            <a:prstDash val="solid"/>
          </a:ln>
        </p:spPr>
      </p:sp>
      <p:sp>
        <p:nvSpPr>
          <p:cNvPr id="123" name="Shape 121"/>
          <p:cNvSpPr/>
          <p:nvPr/>
        </p:nvSpPr>
        <p:spPr>
          <a:xfrm>
            <a:off x="548640" y="4242816"/>
            <a:ext cx="105156" cy="105156"/>
          </a:xfrm>
          <a:prstGeom prst="rect">
            <a:avLst/>
          </a:prstGeom>
          <a:solidFill>
            <a:srgbClr val="17436B"/>
          </a:solidFill>
          <a:ln w="12700">
            <a:solidFill>
              <a:srgbClr val="17436B"/>
            </a:solidFill>
            <a:prstDash val="solid"/>
          </a:ln>
        </p:spPr>
      </p:sp>
      <p:sp>
        <p:nvSpPr>
          <p:cNvPr id="124" name="Shape 122"/>
          <p:cNvSpPr/>
          <p:nvPr/>
        </p:nvSpPr>
        <p:spPr>
          <a:xfrm>
            <a:off x="694944" y="4242816"/>
            <a:ext cx="105156" cy="105156"/>
          </a:xfrm>
          <a:prstGeom prst="rect">
            <a:avLst/>
          </a:prstGeom>
          <a:solidFill>
            <a:srgbClr val="17436B"/>
          </a:solidFill>
          <a:ln w="12700">
            <a:solidFill>
              <a:srgbClr val="17436B"/>
            </a:solidFill>
            <a:prstDash val="solid"/>
          </a:ln>
        </p:spPr>
      </p:sp>
      <p:sp>
        <p:nvSpPr>
          <p:cNvPr id="125" name="Shape 123"/>
          <p:cNvSpPr/>
          <p:nvPr/>
        </p:nvSpPr>
        <p:spPr>
          <a:xfrm>
            <a:off x="841248" y="4242816"/>
            <a:ext cx="105156" cy="105156"/>
          </a:xfrm>
          <a:prstGeom prst="rect">
            <a:avLst/>
          </a:prstGeom>
          <a:solidFill>
            <a:srgbClr val="17436B"/>
          </a:solidFill>
          <a:ln w="12700">
            <a:solidFill>
              <a:srgbClr val="17436B"/>
            </a:solidFill>
            <a:prstDash val="solid"/>
          </a:ln>
        </p:spPr>
      </p:sp>
      <p:sp>
        <p:nvSpPr>
          <p:cNvPr id="126" name="Shape 124"/>
          <p:cNvSpPr/>
          <p:nvPr/>
        </p:nvSpPr>
        <p:spPr>
          <a:xfrm>
            <a:off x="987552" y="4242816"/>
            <a:ext cx="105156" cy="105156"/>
          </a:xfrm>
          <a:prstGeom prst="rect">
            <a:avLst/>
          </a:prstGeom>
          <a:solidFill>
            <a:srgbClr val="17436B"/>
          </a:solidFill>
          <a:ln w="12700">
            <a:solidFill>
              <a:srgbClr val="17436B"/>
            </a:solidFill>
            <a:prstDash val="solid"/>
          </a:ln>
        </p:spPr>
      </p:sp>
      <p:sp>
        <p:nvSpPr>
          <p:cNvPr id="127" name="Shape 125"/>
          <p:cNvSpPr/>
          <p:nvPr/>
        </p:nvSpPr>
        <p:spPr>
          <a:xfrm>
            <a:off x="1133856" y="4242816"/>
            <a:ext cx="105156" cy="105156"/>
          </a:xfrm>
          <a:prstGeom prst="rect">
            <a:avLst/>
          </a:prstGeom>
          <a:solidFill>
            <a:srgbClr val="17436B"/>
          </a:solidFill>
          <a:ln w="12700">
            <a:solidFill>
              <a:srgbClr val="17436B"/>
            </a:solidFill>
            <a:prstDash val="solid"/>
          </a:ln>
        </p:spPr>
      </p:sp>
      <p:sp>
        <p:nvSpPr>
          <p:cNvPr id="128" name="Shape 126"/>
          <p:cNvSpPr/>
          <p:nvPr/>
        </p:nvSpPr>
        <p:spPr>
          <a:xfrm>
            <a:off x="1280160" y="4242816"/>
            <a:ext cx="105156" cy="105156"/>
          </a:xfrm>
          <a:prstGeom prst="rect">
            <a:avLst/>
          </a:prstGeom>
          <a:solidFill>
            <a:srgbClr val="17436B"/>
          </a:solidFill>
          <a:ln w="12700">
            <a:solidFill>
              <a:srgbClr val="17436B"/>
            </a:solidFill>
            <a:prstDash val="solid"/>
          </a:ln>
        </p:spPr>
      </p:sp>
      <p:sp>
        <p:nvSpPr>
          <p:cNvPr id="129" name="Shape 127"/>
          <p:cNvSpPr/>
          <p:nvPr/>
        </p:nvSpPr>
        <p:spPr>
          <a:xfrm>
            <a:off x="1426464" y="4242816"/>
            <a:ext cx="105156" cy="105156"/>
          </a:xfrm>
          <a:prstGeom prst="rect">
            <a:avLst/>
          </a:prstGeom>
          <a:solidFill>
            <a:srgbClr val="17436B"/>
          </a:solidFill>
          <a:ln w="12700">
            <a:solidFill>
              <a:srgbClr val="17436B"/>
            </a:solidFill>
            <a:prstDash val="solid"/>
          </a:ln>
        </p:spPr>
      </p:sp>
      <p:sp>
        <p:nvSpPr>
          <p:cNvPr id="130" name="Shape 128"/>
          <p:cNvSpPr/>
          <p:nvPr/>
        </p:nvSpPr>
        <p:spPr>
          <a:xfrm>
            <a:off x="1572768" y="4242816"/>
            <a:ext cx="105156" cy="105156"/>
          </a:xfrm>
          <a:prstGeom prst="rect">
            <a:avLst/>
          </a:prstGeom>
          <a:solidFill>
            <a:srgbClr val="17436B"/>
          </a:solidFill>
          <a:ln w="12700">
            <a:solidFill>
              <a:srgbClr val="17436B"/>
            </a:solidFill>
            <a:prstDash val="solid"/>
          </a:ln>
        </p:spPr>
      </p:sp>
      <p:sp>
        <p:nvSpPr>
          <p:cNvPr id="131" name="Shape 129"/>
          <p:cNvSpPr/>
          <p:nvPr/>
        </p:nvSpPr>
        <p:spPr>
          <a:xfrm>
            <a:off x="1719072" y="4242816"/>
            <a:ext cx="105156" cy="105156"/>
          </a:xfrm>
          <a:prstGeom prst="rect">
            <a:avLst/>
          </a:prstGeom>
          <a:solidFill>
            <a:srgbClr val="17436B"/>
          </a:solidFill>
          <a:ln w="12700">
            <a:solidFill>
              <a:srgbClr val="17436B"/>
            </a:solidFill>
            <a:prstDash val="solid"/>
          </a:ln>
        </p:spPr>
      </p:sp>
      <p:sp>
        <p:nvSpPr>
          <p:cNvPr id="132" name="Shape 130"/>
          <p:cNvSpPr/>
          <p:nvPr/>
        </p:nvSpPr>
        <p:spPr>
          <a:xfrm>
            <a:off x="1865376" y="4242816"/>
            <a:ext cx="105156" cy="105156"/>
          </a:xfrm>
          <a:prstGeom prst="rect">
            <a:avLst/>
          </a:prstGeom>
          <a:solidFill>
            <a:srgbClr val="17436B"/>
          </a:solidFill>
          <a:ln w="12700">
            <a:solidFill>
              <a:srgbClr val="17436B"/>
            </a:solidFill>
            <a:prstDash val="solid"/>
          </a:ln>
        </p:spPr>
      </p:sp>
      <p:sp>
        <p:nvSpPr>
          <p:cNvPr id="133" name="Shape 131"/>
          <p:cNvSpPr/>
          <p:nvPr/>
        </p:nvSpPr>
        <p:spPr>
          <a:xfrm>
            <a:off x="2011680" y="4242816"/>
            <a:ext cx="105156" cy="105156"/>
          </a:xfrm>
          <a:prstGeom prst="rect">
            <a:avLst/>
          </a:prstGeom>
          <a:solidFill>
            <a:srgbClr val="17436B"/>
          </a:solidFill>
          <a:ln w="12700">
            <a:solidFill>
              <a:srgbClr val="17436B"/>
            </a:solidFill>
            <a:prstDash val="solid"/>
          </a:ln>
        </p:spPr>
      </p:sp>
      <p:sp>
        <p:nvSpPr>
          <p:cNvPr id="134" name="Shape 132"/>
          <p:cNvSpPr/>
          <p:nvPr/>
        </p:nvSpPr>
        <p:spPr>
          <a:xfrm>
            <a:off x="2157984" y="4242816"/>
            <a:ext cx="105156" cy="105156"/>
          </a:xfrm>
          <a:prstGeom prst="rect">
            <a:avLst/>
          </a:prstGeom>
          <a:solidFill>
            <a:srgbClr val="17436B"/>
          </a:solidFill>
          <a:ln w="12700">
            <a:solidFill>
              <a:srgbClr val="17436B"/>
            </a:solidFill>
            <a:prstDash val="solid"/>
          </a:ln>
        </p:spPr>
      </p:sp>
      <p:sp>
        <p:nvSpPr>
          <p:cNvPr id="135" name="Shape 133"/>
          <p:cNvSpPr/>
          <p:nvPr/>
        </p:nvSpPr>
        <p:spPr>
          <a:xfrm>
            <a:off x="2304288" y="4242816"/>
            <a:ext cx="105156" cy="105156"/>
          </a:xfrm>
          <a:prstGeom prst="rect">
            <a:avLst/>
          </a:prstGeom>
          <a:solidFill>
            <a:srgbClr val="17436B"/>
          </a:solidFill>
          <a:ln w="12700">
            <a:solidFill>
              <a:srgbClr val="17436B"/>
            </a:solidFill>
            <a:prstDash val="solid"/>
          </a:ln>
        </p:spPr>
      </p:sp>
      <p:sp>
        <p:nvSpPr>
          <p:cNvPr id="136" name="Shape 134"/>
          <p:cNvSpPr/>
          <p:nvPr/>
        </p:nvSpPr>
        <p:spPr>
          <a:xfrm>
            <a:off x="2450592" y="4242816"/>
            <a:ext cx="105156" cy="105156"/>
          </a:xfrm>
          <a:prstGeom prst="rect">
            <a:avLst/>
          </a:prstGeom>
          <a:solidFill>
            <a:srgbClr val="17436B"/>
          </a:solidFill>
          <a:ln w="12700">
            <a:solidFill>
              <a:srgbClr val="17436B"/>
            </a:solidFill>
            <a:prstDash val="solid"/>
          </a:ln>
        </p:spPr>
      </p:sp>
      <p:sp>
        <p:nvSpPr>
          <p:cNvPr id="137" name="Shape 135"/>
          <p:cNvSpPr/>
          <p:nvPr/>
        </p:nvSpPr>
        <p:spPr>
          <a:xfrm>
            <a:off x="2596896" y="4242816"/>
            <a:ext cx="105156" cy="105156"/>
          </a:xfrm>
          <a:prstGeom prst="rect">
            <a:avLst/>
          </a:prstGeom>
          <a:solidFill>
            <a:srgbClr val="17436B"/>
          </a:solidFill>
          <a:ln w="12700">
            <a:solidFill>
              <a:srgbClr val="17436B"/>
            </a:solidFill>
            <a:prstDash val="solid"/>
          </a:ln>
        </p:spPr>
      </p:sp>
      <p:sp>
        <p:nvSpPr>
          <p:cNvPr id="138" name="Shape 136"/>
          <p:cNvSpPr/>
          <p:nvPr/>
        </p:nvSpPr>
        <p:spPr>
          <a:xfrm>
            <a:off x="2743200" y="4242816"/>
            <a:ext cx="105156" cy="105156"/>
          </a:xfrm>
          <a:prstGeom prst="rect">
            <a:avLst/>
          </a:prstGeom>
          <a:solidFill>
            <a:srgbClr val="17436B"/>
          </a:solidFill>
          <a:ln w="12700">
            <a:solidFill>
              <a:srgbClr val="17436B"/>
            </a:solidFill>
            <a:prstDash val="solid"/>
          </a:ln>
        </p:spPr>
      </p:sp>
      <p:sp>
        <p:nvSpPr>
          <p:cNvPr id="139" name="Shape 137"/>
          <p:cNvSpPr/>
          <p:nvPr/>
        </p:nvSpPr>
        <p:spPr>
          <a:xfrm>
            <a:off x="2889504" y="4242816"/>
            <a:ext cx="105156" cy="105156"/>
          </a:xfrm>
          <a:prstGeom prst="rect">
            <a:avLst/>
          </a:prstGeom>
          <a:solidFill>
            <a:srgbClr val="17436B"/>
          </a:solidFill>
          <a:ln w="12700">
            <a:solidFill>
              <a:srgbClr val="17436B"/>
            </a:solidFill>
            <a:prstDash val="solid"/>
          </a:ln>
        </p:spPr>
      </p:sp>
      <p:sp>
        <p:nvSpPr>
          <p:cNvPr id="140" name="Shape 138"/>
          <p:cNvSpPr/>
          <p:nvPr/>
        </p:nvSpPr>
        <p:spPr>
          <a:xfrm>
            <a:off x="3035808" y="4242816"/>
            <a:ext cx="105156" cy="105156"/>
          </a:xfrm>
          <a:prstGeom prst="rect">
            <a:avLst/>
          </a:prstGeom>
          <a:solidFill>
            <a:srgbClr val="17436B"/>
          </a:solidFill>
          <a:ln w="12700">
            <a:solidFill>
              <a:srgbClr val="17436B"/>
            </a:solidFill>
            <a:prstDash val="solid"/>
          </a:ln>
        </p:spPr>
      </p:sp>
      <p:sp>
        <p:nvSpPr>
          <p:cNvPr id="141" name="Shape 139"/>
          <p:cNvSpPr/>
          <p:nvPr/>
        </p:nvSpPr>
        <p:spPr>
          <a:xfrm>
            <a:off x="3182112" y="4242816"/>
            <a:ext cx="105156" cy="105156"/>
          </a:xfrm>
          <a:prstGeom prst="rect">
            <a:avLst/>
          </a:prstGeom>
          <a:solidFill>
            <a:srgbClr val="17436B"/>
          </a:solidFill>
          <a:ln w="12700">
            <a:solidFill>
              <a:srgbClr val="17436B"/>
            </a:solidFill>
            <a:prstDash val="solid"/>
          </a:ln>
        </p:spPr>
      </p:sp>
      <p:sp>
        <p:nvSpPr>
          <p:cNvPr id="142" name="Shape 140"/>
          <p:cNvSpPr/>
          <p:nvPr/>
        </p:nvSpPr>
        <p:spPr>
          <a:xfrm>
            <a:off x="3328416" y="4242816"/>
            <a:ext cx="105156" cy="105156"/>
          </a:xfrm>
          <a:prstGeom prst="rect">
            <a:avLst/>
          </a:prstGeom>
          <a:solidFill>
            <a:srgbClr val="17436B"/>
          </a:solidFill>
          <a:ln w="12700">
            <a:solidFill>
              <a:srgbClr val="17436B"/>
            </a:solidFill>
            <a:prstDash val="solid"/>
          </a:ln>
        </p:spPr>
      </p:sp>
      <p:sp>
        <p:nvSpPr>
          <p:cNvPr id="143" name="Shape 141"/>
          <p:cNvSpPr/>
          <p:nvPr/>
        </p:nvSpPr>
        <p:spPr>
          <a:xfrm>
            <a:off x="3474720" y="4242816"/>
            <a:ext cx="105156" cy="105156"/>
          </a:xfrm>
          <a:prstGeom prst="rect">
            <a:avLst/>
          </a:prstGeom>
          <a:solidFill>
            <a:srgbClr val="17436B"/>
          </a:solidFill>
          <a:ln w="12700">
            <a:solidFill>
              <a:srgbClr val="17436B"/>
            </a:solidFill>
            <a:prstDash val="solid"/>
          </a:ln>
        </p:spPr>
      </p:sp>
      <p:sp>
        <p:nvSpPr>
          <p:cNvPr id="144" name="Shape 142"/>
          <p:cNvSpPr/>
          <p:nvPr/>
        </p:nvSpPr>
        <p:spPr>
          <a:xfrm>
            <a:off x="3621024" y="4242816"/>
            <a:ext cx="105156" cy="105156"/>
          </a:xfrm>
          <a:prstGeom prst="rect">
            <a:avLst/>
          </a:prstGeom>
          <a:solidFill>
            <a:srgbClr val="17436B"/>
          </a:solidFill>
          <a:ln w="12700">
            <a:solidFill>
              <a:srgbClr val="17436B"/>
            </a:solidFill>
            <a:prstDash val="solid"/>
          </a:ln>
        </p:spPr>
      </p:sp>
      <p:sp>
        <p:nvSpPr>
          <p:cNvPr id="145" name="Shape 143"/>
          <p:cNvSpPr/>
          <p:nvPr/>
        </p:nvSpPr>
        <p:spPr>
          <a:xfrm>
            <a:off x="3767328" y="4242816"/>
            <a:ext cx="105156" cy="105156"/>
          </a:xfrm>
          <a:prstGeom prst="rect">
            <a:avLst/>
          </a:prstGeom>
          <a:solidFill>
            <a:srgbClr val="17436B"/>
          </a:solidFill>
          <a:ln w="12700">
            <a:solidFill>
              <a:srgbClr val="17436B"/>
            </a:solidFill>
            <a:prstDash val="solid"/>
          </a:ln>
        </p:spPr>
      </p:sp>
      <p:sp>
        <p:nvSpPr>
          <p:cNvPr id="146" name="Shape 144"/>
          <p:cNvSpPr/>
          <p:nvPr/>
        </p:nvSpPr>
        <p:spPr>
          <a:xfrm>
            <a:off x="3913632" y="4242816"/>
            <a:ext cx="105156" cy="105156"/>
          </a:xfrm>
          <a:prstGeom prst="rect">
            <a:avLst/>
          </a:prstGeom>
          <a:solidFill>
            <a:srgbClr val="17436B"/>
          </a:solidFill>
          <a:ln w="12700">
            <a:solidFill>
              <a:srgbClr val="17436B"/>
            </a:solidFill>
            <a:prstDash val="solid"/>
          </a:ln>
        </p:spPr>
      </p:sp>
      <p:sp>
        <p:nvSpPr>
          <p:cNvPr id="147" name="Shape 145"/>
          <p:cNvSpPr/>
          <p:nvPr/>
        </p:nvSpPr>
        <p:spPr>
          <a:xfrm>
            <a:off x="4059936" y="4242816"/>
            <a:ext cx="105156" cy="105156"/>
          </a:xfrm>
          <a:prstGeom prst="rect">
            <a:avLst/>
          </a:prstGeom>
          <a:solidFill>
            <a:srgbClr val="17436B"/>
          </a:solidFill>
          <a:ln w="12700">
            <a:solidFill>
              <a:srgbClr val="17436B"/>
            </a:solidFill>
            <a:prstDash val="solid"/>
          </a:ln>
        </p:spPr>
      </p:sp>
      <p:sp>
        <p:nvSpPr>
          <p:cNvPr id="148" name="Shape 146"/>
          <p:cNvSpPr/>
          <p:nvPr/>
        </p:nvSpPr>
        <p:spPr>
          <a:xfrm>
            <a:off x="4206240" y="4242816"/>
            <a:ext cx="105156" cy="105156"/>
          </a:xfrm>
          <a:prstGeom prst="rect">
            <a:avLst/>
          </a:prstGeom>
          <a:solidFill>
            <a:srgbClr val="17436B"/>
          </a:solidFill>
          <a:ln w="12700">
            <a:solidFill>
              <a:srgbClr val="17436B"/>
            </a:solidFill>
            <a:prstDash val="solid"/>
          </a:ln>
        </p:spPr>
      </p:sp>
      <p:sp>
        <p:nvSpPr>
          <p:cNvPr id="149" name="Shape 147"/>
          <p:cNvSpPr/>
          <p:nvPr/>
        </p:nvSpPr>
        <p:spPr>
          <a:xfrm>
            <a:off x="4352544" y="4242816"/>
            <a:ext cx="105156" cy="105156"/>
          </a:xfrm>
          <a:prstGeom prst="rect">
            <a:avLst/>
          </a:prstGeom>
          <a:solidFill>
            <a:srgbClr val="17436B"/>
          </a:solidFill>
          <a:ln w="12700">
            <a:solidFill>
              <a:srgbClr val="17436B"/>
            </a:solidFill>
            <a:prstDash val="solid"/>
          </a:ln>
        </p:spPr>
      </p:sp>
      <p:sp>
        <p:nvSpPr>
          <p:cNvPr id="150" name="Shape 148"/>
          <p:cNvSpPr/>
          <p:nvPr/>
        </p:nvSpPr>
        <p:spPr>
          <a:xfrm>
            <a:off x="4498848" y="4242816"/>
            <a:ext cx="105156" cy="105156"/>
          </a:xfrm>
          <a:prstGeom prst="rect">
            <a:avLst/>
          </a:prstGeom>
          <a:solidFill>
            <a:srgbClr val="17436B"/>
          </a:solidFill>
          <a:ln w="12700">
            <a:solidFill>
              <a:srgbClr val="17436B"/>
            </a:solidFill>
            <a:prstDash val="solid"/>
          </a:ln>
        </p:spPr>
      </p:sp>
      <p:sp>
        <p:nvSpPr>
          <p:cNvPr id="151" name="Shape 149"/>
          <p:cNvSpPr/>
          <p:nvPr/>
        </p:nvSpPr>
        <p:spPr>
          <a:xfrm>
            <a:off x="4645152" y="4242816"/>
            <a:ext cx="105156" cy="105156"/>
          </a:xfrm>
          <a:prstGeom prst="rect">
            <a:avLst/>
          </a:prstGeom>
          <a:solidFill>
            <a:srgbClr val="17436B"/>
          </a:solidFill>
          <a:ln w="12700">
            <a:solidFill>
              <a:srgbClr val="17436B"/>
            </a:solidFill>
            <a:prstDash val="solid"/>
          </a:ln>
        </p:spPr>
      </p:sp>
      <p:sp>
        <p:nvSpPr>
          <p:cNvPr id="152" name="Shape 150"/>
          <p:cNvSpPr/>
          <p:nvPr/>
        </p:nvSpPr>
        <p:spPr>
          <a:xfrm>
            <a:off x="548640" y="4389120"/>
            <a:ext cx="105156" cy="105156"/>
          </a:xfrm>
          <a:prstGeom prst="rect">
            <a:avLst/>
          </a:prstGeom>
          <a:solidFill>
            <a:srgbClr val="17436B"/>
          </a:solidFill>
          <a:ln w="12700">
            <a:solidFill>
              <a:srgbClr val="17436B"/>
            </a:solidFill>
            <a:prstDash val="solid"/>
          </a:ln>
        </p:spPr>
      </p:sp>
      <p:sp>
        <p:nvSpPr>
          <p:cNvPr id="153" name="Shape 151"/>
          <p:cNvSpPr/>
          <p:nvPr/>
        </p:nvSpPr>
        <p:spPr>
          <a:xfrm>
            <a:off x="694944" y="4389120"/>
            <a:ext cx="105156" cy="105156"/>
          </a:xfrm>
          <a:prstGeom prst="rect">
            <a:avLst/>
          </a:prstGeom>
          <a:solidFill>
            <a:srgbClr val="17436B"/>
          </a:solidFill>
          <a:ln w="12700">
            <a:solidFill>
              <a:srgbClr val="17436B"/>
            </a:solidFill>
            <a:prstDash val="solid"/>
          </a:ln>
        </p:spPr>
      </p:sp>
      <p:sp>
        <p:nvSpPr>
          <p:cNvPr id="154" name="Shape 152"/>
          <p:cNvSpPr/>
          <p:nvPr/>
        </p:nvSpPr>
        <p:spPr>
          <a:xfrm>
            <a:off x="841248" y="4389120"/>
            <a:ext cx="105156" cy="105156"/>
          </a:xfrm>
          <a:prstGeom prst="rect">
            <a:avLst/>
          </a:prstGeom>
          <a:solidFill>
            <a:srgbClr val="17436B"/>
          </a:solidFill>
          <a:ln w="12700">
            <a:solidFill>
              <a:srgbClr val="17436B"/>
            </a:solidFill>
            <a:prstDash val="solid"/>
          </a:ln>
        </p:spPr>
      </p:sp>
      <p:sp>
        <p:nvSpPr>
          <p:cNvPr id="155" name="Shape 153"/>
          <p:cNvSpPr/>
          <p:nvPr/>
        </p:nvSpPr>
        <p:spPr>
          <a:xfrm>
            <a:off x="987552" y="4389120"/>
            <a:ext cx="105156" cy="105156"/>
          </a:xfrm>
          <a:prstGeom prst="rect">
            <a:avLst/>
          </a:prstGeom>
          <a:solidFill>
            <a:srgbClr val="17436B"/>
          </a:solidFill>
          <a:ln w="12700">
            <a:solidFill>
              <a:srgbClr val="17436B"/>
            </a:solidFill>
            <a:prstDash val="solid"/>
          </a:ln>
        </p:spPr>
      </p:sp>
      <p:sp>
        <p:nvSpPr>
          <p:cNvPr id="156" name="Shape 154"/>
          <p:cNvSpPr/>
          <p:nvPr/>
        </p:nvSpPr>
        <p:spPr>
          <a:xfrm>
            <a:off x="1133856" y="4389120"/>
            <a:ext cx="105156" cy="105156"/>
          </a:xfrm>
          <a:prstGeom prst="rect">
            <a:avLst/>
          </a:prstGeom>
          <a:solidFill>
            <a:srgbClr val="17436B"/>
          </a:solidFill>
          <a:ln w="12700">
            <a:solidFill>
              <a:srgbClr val="17436B"/>
            </a:solidFill>
            <a:prstDash val="solid"/>
          </a:ln>
        </p:spPr>
      </p:sp>
      <p:sp>
        <p:nvSpPr>
          <p:cNvPr id="157" name="Shape 155"/>
          <p:cNvSpPr/>
          <p:nvPr/>
        </p:nvSpPr>
        <p:spPr>
          <a:xfrm>
            <a:off x="1280160" y="4389120"/>
            <a:ext cx="105156" cy="105156"/>
          </a:xfrm>
          <a:prstGeom prst="rect">
            <a:avLst/>
          </a:prstGeom>
          <a:solidFill>
            <a:srgbClr val="17436B"/>
          </a:solidFill>
          <a:ln w="12700">
            <a:solidFill>
              <a:srgbClr val="17436B"/>
            </a:solidFill>
            <a:prstDash val="solid"/>
          </a:ln>
        </p:spPr>
      </p:sp>
      <p:sp>
        <p:nvSpPr>
          <p:cNvPr id="158" name="Shape 156"/>
          <p:cNvSpPr/>
          <p:nvPr/>
        </p:nvSpPr>
        <p:spPr>
          <a:xfrm>
            <a:off x="1426464" y="4389120"/>
            <a:ext cx="105156" cy="105156"/>
          </a:xfrm>
          <a:prstGeom prst="rect">
            <a:avLst/>
          </a:prstGeom>
          <a:solidFill>
            <a:srgbClr val="17436B"/>
          </a:solidFill>
          <a:ln w="12700">
            <a:solidFill>
              <a:srgbClr val="17436B"/>
            </a:solidFill>
            <a:prstDash val="solid"/>
          </a:ln>
        </p:spPr>
      </p:sp>
      <p:sp>
        <p:nvSpPr>
          <p:cNvPr id="159" name="Shape 157"/>
          <p:cNvSpPr/>
          <p:nvPr/>
        </p:nvSpPr>
        <p:spPr>
          <a:xfrm>
            <a:off x="1572768" y="4389120"/>
            <a:ext cx="105156" cy="105156"/>
          </a:xfrm>
          <a:prstGeom prst="rect">
            <a:avLst/>
          </a:prstGeom>
          <a:solidFill>
            <a:srgbClr val="17436B"/>
          </a:solidFill>
          <a:ln w="12700">
            <a:solidFill>
              <a:srgbClr val="17436B"/>
            </a:solidFill>
            <a:prstDash val="solid"/>
          </a:ln>
        </p:spPr>
      </p:sp>
      <p:sp>
        <p:nvSpPr>
          <p:cNvPr id="160" name="Shape 158"/>
          <p:cNvSpPr/>
          <p:nvPr/>
        </p:nvSpPr>
        <p:spPr>
          <a:xfrm>
            <a:off x="1719072" y="4389120"/>
            <a:ext cx="105156" cy="105156"/>
          </a:xfrm>
          <a:prstGeom prst="rect">
            <a:avLst/>
          </a:prstGeom>
          <a:solidFill>
            <a:srgbClr val="17436B"/>
          </a:solidFill>
          <a:ln w="12700">
            <a:solidFill>
              <a:srgbClr val="17436B"/>
            </a:solidFill>
            <a:prstDash val="solid"/>
          </a:ln>
        </p:spPr>
      </p:sp>
      <p:sp>
        <p:nvSpPr>
          <p:cNvPr id="161" name="Shape 159"/>
          <p:cNvSpPr/>
          <p:nvPr/>
        </p:nvSpPr>
        <p:spPr>
          <a:xfrm>
            <a:off x="1865376" y="4389120"/>
            <a:ext cx="105156" cy="105156"/>
          </a:xfrm>
          <a:prstGeom prst="rect">
            <a:avLst/>
          </a:prstGeom>
          <a:solidFill>
            <a:srgbClr val="17436B"/>
          </a:solidFill>
          <a:ln w="12700">
            <a:solidFill>
              <a:srgbClr val="17436B"/>
            </a:solidFill>
            <a:prstDash val="solid"/>
          </a:ln>
        </p:spPr>
      </p:sp>
      <p:sp>
        <p:nvSpPr>
          <p:cNvPr id="162" name="Shape 160"/>
          <p:cNvSpPr/>
          <p:nvPr/>
        </p:nvSpPr>
        <p:spPr>
          <a:xfrm>
            <a:off x="2011680" y="4389120"/>
            <a:ext cx="105156" cy="105156"/>
          </a:xfrm>
          <a:prstGeom prst="rect">
            <a:avLst/>
          </a:prstGeom>
          <a:solidFill>
            <a:srgbClr val="17436B"/>
          </a:solidFill>
          <a:ln w="12700">
            <a:solidFill>
              <a:srgbClr val="17436B"/>
            </a:solidFill>
            <a:prstDash val="solid"/>
          </a:ln>
        </p:spPr>
      </p:sp>
      <p:sp>
        <p:nvSpPr>
          <p:cNvPr id="163" name="Shape 161"/>
          <p:cNvSpPr/>
          <p:nvPr/>
        </p:nvSpPr>
        <p:spPr>
          <a:xfrm>
            <a:off x="2157984" y="4389120"/>
            <a:ext cx="105156" cy="105156"/>
          </a:xfrm>
          <a:prstGeom prst="rect">
            <a:avLst/>
          </a:prstGeom>
          <a:solidFill>
            <a:srgbClr val="17436B"/>
          </a:solidFill>
          <a:ln w="12700">
            <a:solidFill>
              <a:srgbClr val="17436B"/>
            </a:solidFill>
            <a:prstDash val="solid"/>
          </a:ln>
        </p:spPr>
      </p:sp>
      <p:sp>
        <p:nvSpPr>
          <p:cNvPr id="164" name="Shape 162"/>
          <p:cNvSpPr/>
          <p:nvPr/>
        </p:nvSpPr>
        <p:spPr>
          <a:xfrm>
            <a:off x="2304288" y="4389120"/>
            <a:ext cx="105156" cy="105156"/>
          </a:xfrm>
          <a:prstGeom prst="rect">
            <a:avLst/>
          </a:prstGeom>
          <a:solidFill>
            <a:srgbClr val="17436B"/>
          </a:solidFill>
          <a:ln w="12700">
            <a:solidFill>
              <a:srgbClr val="17436B"/>
            </a:solidFill>
            <a:prstDash val="solid"/>
          </a:ln>
        </p:spPr>
      </p:sp>
      <p:sp>
        <p:nvSpPr>
          <p:cNvPr id="165" name="Shape 163"/>
          <p:cNvSpPr/>
          <p:nvPr/>
        </p:nvSpPr>
        <p:spPr>
          <a:xfrm>
            <a:off x="2450592" y="4389120"/>
            <a:ext cx="105156" cy="105156"/>
          </a:xfrm>
          <a:prstGeom prst="rect">
            <a:avLst/>
          </a:prstGeom>
          <a:solidFill>
            <a:srgbClr val="17436B"/>
          </a:solidFill>
          <a:ln w="12700">
            <a:solidFill>
              <a:srgbClr val="17436B"/>
            </a:solidFill>
            <a:prstDash val="solid"/>
          </a:ln>
        </p:spPr>
      </p:sp>
      <p:sp>
        <p:nvSpPr>
          <p:cNvPr id="166" name="Shape 164"/>
          <p:cNvSpPr/>
          <p:nvPr/>
        </p:nvSpPr>
        <p:spPr>
          <a:xfrm>
            <a:off x="2596896" y="4389120"/>
            <a:ext cx="105156" cy="105156"/>
          </a:xfrm>
          <a:prstGeom prst="rect">
            <a:avLst/>
          </a:prstGeom>
          <a:solidFill>
            <a:srgbClr val="17436B"/>
          </a:solidFill>
          <a:ln w="12700">
            <a:solidFill>
              <a:srgbClr val="17436B"/>
            </a:solidFill>
            <a:prstDash val="solid"/>
          </a:ln>
        </p:spPr>
      </p:sp>
      <p:sp>
        <p:nvSpPr>
          <p:cNvPr id="167" name="Shape 165"/>
          <p:cNvSpPr/>
          <p:nvPr/>
        </p:nvSpPr>
        <p:spPr>
          <a:xfrm>
            <a:off x="2743200" y="4389120"/>
            <a:ext cx="105156" cy="105156"/>
          </a:xfrm>
          <a:prstGeom prst="rect">
            <a:avLst/>
          </a:prstGeom>
          <a:solidFill>
            <a:srgbClr val="17436B"/>
          </a:solidFill>
          <a:ln w="12700">
            <a:solidFill>
              <a:srgbClr val="17436B"/>
            </a:solidFill>
            <a:prstDash val="solid"/>
          </a:ln>
        </p:spPr>
      </p:sp>
      <p:sp>
        <p:nvSpPr>
          <p:cNvPr id="168" name="Shape 166"/>
          <p:cNvSpPr/>
          <p:nvPr/>
        </p:nvSpPr>
        <p:spPr>
          <a:xfrm>
            <a:off x="2889504" y="4389120"/>
            <a:ext cx="105156" cy="105156"/>
          </a:xfrm>
          <a:prstGeom prst="rect">
            <a:avLst/>
          </a:prstGeom>
          <a:solidFill>
            <a:srgbClr val="17436B"/>
          </a:solidFill>
          <a:ln w="12700">
            <a:solidFill>
              <a:srgbClr val="17436B"/>
            </a:solidFill>
            <a:prstDash val="solid"/>
          </a:ln>
        </p:spPr>
      </p:sp>
      <p:sp>
        <p:nvSpPr>
          <p:cNvPr id="169" name="Shape 167"/>
          <p:cNvSpPr/>
          <p:nvPr/>
        </p:nvSpPr>
        <p:spPr>
          <a:xfrm>
            <a:off x="3035808" y="4389120"/>
            <a:ext cx="105156" cy="105156"/>
          </a:xfrm>
          <a:prstGeom prst="rect">
            <a:avLst/>
          </a:prstGeom>
          <a:solidFill>
            <a:srgbClr val="17436B"/>
          </a:solidFill>
          <a:ln w="12700">
            <a:solidFill>
              <a:srgbClr val="17436B"/>
            </a:solidFill>
            <a:prstDash val="solid"/>
          </a:ln>
        </p:spPr>
      </p:sp>
      <p:sp>
        <p:nvSpPr>
          <p:cNvPr id="170" name="Shape 168"/>
          <p:cNvSpPr/>
          <p:nvPr/>
        </p:nvSpPr>
        <p:spPr>
          <a:xfrm>
            <a:off x="3182112" y="4389120"/>
            <a:ext cx="105156" cy="105156"/>
          </a:xfrm>
          <a:prstGeom prst="rect">
            <a:avLst/>
          </a:prstGeom>
          <a:solidFill>
            <a:srgbClr val="17436B"/>
          </a:solidFill>
          <a:ln w="12700">
            <a:solidFill>
              <a:srgbClr val="17436B"/>
            </a:solidFill>
            <a:prstDash val="solid"/>
          </a:ln>
        </p:spPr>
      </p:sp>
      <p:sp>
        <p:nvSpPr>
          <p:cNvPr id="171" name="Shape 169"/>
          <p:cNvSpPr/>
          <p:nvPr/>
        </p:nvSpPr>
        <p:spPr>
          <a:xfrm>
            <a:off x="3328416" y="4389120"/>
            <a:ext cx="105156" cy="105156"/>
          </a:xfrm>
          <a:prstGeom prst="rect">
            <a:avLst/>
          </a:prstGeom>
          <a:solidFill>
            <a:srgbClr val="17436B"/>
          </a:solidFill>
          <a:ln w="12700">
            <a:solidFill>
              <a:srgbClr val="17436B"/>
            </a:solidFill>
            <a:prstDash val="solid"/>
          </a:ln>
        </p:spPr>
      </p:sp>
      <p:sp>
        <p:nvSpPr>
          <p:cNvPr id="172" name="Shape 170"/>
          <p:cNvSpPr/>
          <p:nvPr/>
        </p:nvSpPr>
        <p:spPr>
          <a:xfrm>
            <a:off x="3474720" y="4389120"/>
            <a:ext cx="105156" cy="105156"/>
          </a:xfrm>
          <a:prstGeom prst="rect">
            <a:avLst/>
          </a:prstGeom>
          <a:solidFill>
            <a:srgbClr val="17436B"/>
          </a:solidFill>
          <a:ln w="12700">
            <a:solidFill>
              <a:srgbClr val="17436B"/>
            </a:solidFill>
            <a:prstDash val="solid"/>
          </a:ln>
        </p:spPr>
      </p:sp>
      <p:sp>
        <p:nvSpPr>
          <p:cNvPr id="173" name="Shape 171"/>
          <p:cNvSpPr/>
          <p:nvPr/>
        </p:nvSpPr>
        <p:spPr>
          <a:xfrm>
            <a:off x="3621024" y="4389120"/>
            <a:ext cx="105156" cy="105156"/>
          </a:xfrm>
          <a:prstGeom prst="rect">
            <a:avLst/>
          </a:prstGeom>
          <a:solidFill>
            <a:srgbClr val="17436B"/>
          </a:solidFill>
          <a:ln w="12700">
            <a:solidFill>
              <a:srgbClr val="17436B"/>
            </a:solidFill>
            <a:prstDash val="solid"/>
          </a:ln>
        </p:spPr>
      </p:sp>
      <p:sp>
        <p:nvSpPr>
          <p:cNvPr id="174" name="Shape 172"/>
          <p:cNvSpPr/>
          <p:nvPr/>
        </p:nvSpPr>
        <p:spPr>
          <a:xfrm>
            <a:off x="3767328" y="4389120"/>
            <a:ext cx="105156" cy="105156"/>
          </a:xfrm>
          <a:prstGeom prst="rect">
            <a:avLst/>
          </a:prstGeom>
          <a:solidFill>
            <a:srgbClr val="17436B"/>
          </a:solidFill>
          <a:ln w="12700">
            <a:solidFill>
              <a:srgbClr val="17436B"/>
            </a:solidFill>
            <a:prstDash val="solid"/>
          </a:ln>
        </p:spPr>
      </p:sp>
      <p:sp>
        <p:nvSpPr>
          <p:cNvPr id="175" name="Shape 173"/>
          <p:cNvSpPr/>
          <p:nvPr/>
        </p:nvSpPr>
        <p:spPr>
          <a:xfrm>
            <a:off x="3913632" y="4389120"/>
            <a:ext cx="105156" cy="105156"/>
          </a:xfrm>
          <a:prstGeom prst="rect">
            <a:avLst/>
          </a:prstGeom>
          <a:solidFill>
            <a:srgbClr val="17436B"/>
          </a:solidFill>
          <a:ln w="12700">
            <a:solidFill>
              <a:srgbClr val="17436B"/>
            </a:solidFill>
            <a:prstDash val="solid"/>
          </a:ln>
        </p:spPr>
      </p:sp>
      <p:sp>
        <p:nvSpPr>
          <p:cNvPr id="176" name="Shape 174"/>
          <p:cNvSpPr/>
          <p:nvPr/>
        </p:nvSpPr>
        <p:spPr>
          <a:xfrm>
            <a:off x="4059936" y="4389120"/>
            <a:ext cx="105156" cy="105156"/>
          </a:xfrm>
          <a:prstGeom prst="rect">
            <a:avLst/>
          </a:prstGeom>
          <a:solidFill>
            <a:srgbClr val="17436B"/>
          </a:solidFill>
          <a:ln w="12700">
            <a:solidFill>
              <a:srgbClr val="17436B"/>
            </a:solidFill>
            <a:prstDash val="solid"/>
          </a:ln>
        </p:spPr>
      </p:sp>
      <p:sp>
        <p:nvSpPr>
          <p:cNvPr id="177" name="Shape 175"/>
          <p:cNvSpPr/>
          <p:nvPr/>
        </p:nvSpPr>
        <p:spPr>
          <a:xfrm>
            <a:off x="4206240" y="4389120"/>
            <a:ext cx="105156" cy="105156"/>
          </a:xfrm>
          <a:prstGeom prst="rect">
            <a:avLst/>
          </a:prstGeom>
          <a:solidFill>
            <a:srgbClr val="17436B"/>
          </a:solidFill>
          <a:ln w="12700">
            <a:solidFill>
              <a:srgbClr val="17436B"/>
            </a:solidFill>
            <a:prstDash val="solid"/>
          </a:ln>
        </p:spPr>
      </p:sp>
      <p:sp>
        <p:nvSpPr>
          <p:cNvPr id="178" name="Shape 176"/>
          <p:cNvSpPr/>
          <p:nvPr/>
        </p:nvSpPr>
        <p:spPr>
          <a:xfrm>
            <a:off x="4352544" y="4389120"/>
            <a:ext cx="105156" cy="105156"/>
          </a:xfrm>
          <a:prstGeom prst="rect">
            <a:avLst/>
          </a:prstGeom>
          <a:solidFill>
            <a:srgbClr val="17436B"/>
          </a:solidFill>
          <a:ln w="12700">
            <a:solidFill>
              <a:srgbClr val="17436B"/>
            </a:solidFill>
            <a:prstDash val="solid"/>
          </a:ln>
        </p:spPr>
      </p:sp>
      <p:sp>
        <p:nvSpPr>
          <p:cNvPr id="179" name="Shape 177"/>
          <p:cNvSpPr/>
          <p:nvPr/>
        </p:nvSpPr>
        <p:spPr>
          <a:xfrm>
            <a:off x="4498848" y="4389120"/>
            <a:ext cx="105156" cy="105156"/>
          </a:xfrm>
          <a:prstGeom prst="rect">
            <a:avLst/>
          </a:prstGeom>
          <a:solidFill>
            <a:srgbClr val="17436B"/>
          </a:solidFill>
          <a:ln w="12700">
            <a:solidFill>
              <a:srgbClr val="17436B"/>
            </a:solidFill>
            <a:prstDash val="solid"/>
          </a:ln>
        </p:spPr>
      </p:sp>
      <p:sp>
        <p:nvSpPr>
          <p:cNvPr id="180" name="Shape 178"/>
          <p:cNvSpPr/>
          <p:nvPr/>
        </p:nvSpPr>
        <p:spPr>
          <a:xfrm>
            <a:off x="4645152" y="4389120"/>
            <a:ext cx="105156" cy="105156"/>
          </a:xfrm>
          <a:prstGeom prst="rect">
            <a:avLst/>
          </a:prstGeom>
          <a:solidFill>
            <a:srgbClr val="17436B"/>
          </a:solidFill>
          <a:ln w="12700">
            <a:solidFill>
              <a:srgbClr val="17436B"/>
            </a:solidFill>
            <a:prstDash val="solid"/>
          </a:ln>
        </p:spPr>
      </p:sp>
      <p:sp>
        <p:nvSpPr>
          <p:cNvPr id="181" name="Shape 179"/>
          <p:cNvSpPr/>
          <p:nvPr/>
        </p:nvSpPr>
        <p:spPr>
          <a:xfrm>
            <a:off x="548640" y="4535424"/>
            <a:ext cx="105156" cy="105156"/>
          </a:xfrm>
          <a:prstGeom prst="rect">
            <a:avLst/>
          </a:prstGeom>
          <a:solidFill>
            <a:srgbClr val="17436B"/>
          </a:solidFill>
          <a:ln w="12700">
            <a:solidFill>
              <a:srgbClr val="17436B"/>
            </a:solidFill>
            <a:prstDash val="solid"/>
          </a:ln>
        </p:spPr>
      </p:sp>
      <p:sp>
        <p:nvSpPr>
          <p:cNvPr id="182" name="Shape 180"/>
          <p:cNvSpPr/>
          <p:nvPr/>
        </p:nvSpPr>
        <p:spPr>
          <a:xfrm>
            <a:off x="694944" y="4535424"/>
            <a:ext cx="105156" cy="105156"/>
          </a:xfrm>
          <a:prstGeom prst="rect">
            <a:avLst/>
          </a:prstGeom>
          <a:solidFill>
            <a:srgbClr val="17436B"/>
          </a:solidFill>
          <a:ln w="12700">
            <a:solidFill>
              <a:srgbClr val="17436B"/>
            </a:solidFill>
            <a:prstDash val="solid"/>
          </a:ln>
        </p:spPr>
      </p:sp>
      <p:sp>
        <p:nvSpPr>
          <p:cNvPr id="183" name="Shape 181"/>
          <p:cNvSpPr/>
          <p:nvPr/>
        </p:nvSpPr>
        <p:spPr>
          <a:xfrm>
            <a:off x="841248" y="4535424"/>
            <a:ext cx="105156" cy="105156"/>
          </a:xfrm>
          <a:prstGeom prst="rect">
            <a:avLst/>
          </a:prstGeom>
          <a:solidFill>
            <a:srgbClr val="17436B"/>
          </a:solidFill>
          <a:ln w="12700">
            <a:solidFill>
              <a:srgbClr val="17436B"/>
            </a:solidFill>
            <a:prstDash val="solid"/>
          </a:ln>
        </p:spPr>
      </p:sp>
      <p:sp>
        <p:nvSpPr>
          <p:cNvPr id="184" name="Shape 182"/>
          <p:cNvSpPr/>
          <p:nvPr/>
        </p:nvSpPr>
        <p:spPr>
          <a:xfrm>
            <a:off x="987552" y="4535424"/>
            <a:ext cx="105156" cy="105156"/>
          </a:xfrm>
          <a:prstGeom prst="rect">
            <a:avLst/>
          </a:prstGeom>
          <a:solidFill>
            <a:srgbClr val="17436B"/>
          </a:solidFill>
          <a:ln w="12700">
            <a:solidFill>
              <a:srgbClr val="17436B"/>
            </a:solidFill>
            <a:prstDash val="solid"/>
          </a:ln>
        </p:spPr>
      </p:sp>
      <p:sp>
        <p:nvSpPr>
          <p:cNvPr id="185" name="Shape 183"/>
          <p:cNvSpPr/>
          <p:nvPr/>
        </p:nvSpPr>
        <p:spPr>
          <a:xfrm>
            <a:off x="1133856" y="4535424"/>
            <a:ext cx="105156" cy="105156"/>
          </a:xfrm>
          <a:prstGeom prst="rect">
            <a:avLst/>
          </a:prstGeom>
          <a:solidFill>
            <a:srgbClr val="17436B"/>
          </a:solidFill>
          <a:ln w="12700">
            <a:solidFill>
              <a:srgbClr val="17436B"/>
            </a:solidFill>
            <a:prstDash val="solid"/>
          </a:ln>
        </p:spPr>
      </p:sp>
      <p:sp>
        <p:nvSpPr>
          <p:cNvPr id="186" name="Shape 184"/>
          <p:cNvSpPr/>
          <p:nvPr/>
        </p:nvSpPr>
        <p:spPr>
          <a:xfrm>
            <a:off x="1280160" y="4535424"/>
            <a:ext cx="105156" cy="105156"/>
          </a:xfrm>
          <a:prstGeom prst="rect">
            <a:avLst/>
          </a:prstGeom>
          <a:solidFill>
            <a:srgbClr val="17436B"/>
          </a:solidFill>
          <a:ln w="12700">
            <a:solidFill>
              <a:srgbClr val="17436B"/>
            </a:solidFill>
            <a:prstDash val="solid"/>
          </a:ln>
        </p:spPr>
      </p:sp>
      <p:sp>
        <p:nvSpPr>
          <p:cNvPr id="187" name="Shape 185"/>
          <p:cNvSpPr/>
          <p:nvPr/>
        </p:nvSpPr>
        <p:spPr>
          <a:xfrm>
            <a:off x="1426464" y="4535424"/>
            <a:ext cx="105156" cy="105156"/>
          </a:xfrm>
          <a:prstGeom prst="rect">
            <a:avLst/>
          </a:prstGeom>
          <a:solidFill>
            <a:srgbClr val="17436B"/>
          </a:solidFill>
          <a:ln w="12700">
            <a:solidFill>
              <a:srgbClr val="17436B"/>
            </a:solidFill>
            <a:prstDash val="solid"/>
          </a:ln>
        </p:spPr>
      </p:sp>
      <p:sp>
        <p:nvSpPr>
          <p:cNvPr id="188" name="Shape 186"/>
          <p:cNvSpPr/>
          <p:nvPr/>
        </p:nvSpPr>
        <p:spPr>
          <a:xfrm>
            <a:off x="1572768" y="4535424"/>
            <a:ext cx="105156" cy="105156"/>
          </a:xfrm>
          <a:prstGeom prst="rect">
            <a:avLst/>
          </a:prstGeom>
          <a:solidFill>
            <a:srgbClr val="17436B"/>
          </a:solidFill>
          <a:ln w="12700">
            <a:solidFill>
              <a:srgbClr val="17436B"/>
            </a:solidFill>
            <a:prstDash val="solid"/>
          </a:ln>
        </p:spPr>
      </p:sp>
      <p:sp>
        <p:nvSpPr>
          <p:cNvPr id="189" name="Shape 187"/>
          <p:cNvSpPr/>
          <p:nvPr/>
        </p:nvSpPr>
        <p:spPr>
          <a:xfrm>
            <a:off x="1719072" y="4535424"/>
            <a:ext cx="105156" cy="105156"/>
          </a:xfrm>
          <a:prstGeom prst="rect">
            <a:avLst/>
          </a:prstGeom>
          <a:solidFill>
            <a:srgbClr val="17436B"/>
          </a:solidFill>
          <a:ln w="12700">
            <a:solidFill>
              <a:srgbClr val="17436B"/>
            </a:solidFill>
            <a:prstDash val="solid"/>
          </a:ln>
        </p:spPr>
      </p:sp>
      <p:sp>
        <p:nvSpPr>
          <p:cNvPr id="190" name="Shape 188"/>
          <p:cNvSpPr/>
          <p:nvPr/>
        </p:nvSpPr>
        <p:spPr>
          <a:xfrm>
            <a:off x="1865376" y="4535424"/>
            <a:ext cx="105156" cy="105156"/>
          </a:xfrm>
          <a:prstGeom prst="rect">
            <a:avLst/>
          </a:prstGeom>
          <a:solidFill>
            <a:srgbClr val="FDC700"/>
          </a:solidFill>
          <a:ln w="12700">
            <a:solidFill>
              <a:srgbClr val="FDC700"/>
            </a:solidFill>
            <a:prstDash val="solid"/>
          </a:ln>
        </p:spPr>
      </p:sp>
      <p:sp>
        <p:nvSpPr>
          <p:cNvPr id="191" name="Shape 189"/>
          <p:cNvSpPr/>
          <p:nvPr/>
        </p:nvSpPr>
        <p:spPr>
          <a:xfrm>
            <a:off x="2011680" y="4535424"/>
            <a:ext cx="105156" cy="105156"/>
          </a:xfrm>
          <a:prstGeom prst="rect">
            <a:avLst/>
          </a:prstGeom>
          <a:solidFill>
            <a:srgbClr val="17436B"/>
          </a:solidFill>
          <a:ln w="12700">
            <a:solidFill>
              <a:srgbClr val="17436B"/>
            </a:solidFill>
            <a:prstDash val="solid"/>
          </a:ln>
        </p:spPr>
      </p:sp>
      <p:sp>
        <p:nvSpPr>
          <p:cNvPr id="192" name="Shape 190"/>
          <p:cNvSpPr/>
          <p:nvPr/>
        </p:nvSpPr>
        <p:spPr>
          <a:xfrm>
            <a:off x="2157984" y="4535424"/>
            <a:ext cx="105156" cy="105156"/>
          </a:xfrm>
          <a:prstGeom prst="rect">
            <a:avLst/>
          </a:prstGeom>
          <a:solidFill>
            <a:srgbClr val="17436B"/>
          </a:solidFill>
          <a:ln w="12700">
            <a:solidFill>
              <a:srgbClr val="17436B"/>
            </a:solidFill>
            <a:prstDash val="solid"/>
          </a:ln>
        </p:spPr>
      </p:sp>
      <p:sp>
        <p:nvSpPr>
          <p:cNvPr id="193" name="Shape 191"/>
          <p:cNvSpPr/>
          <p:nvPr/>
        </p:nvSpPr>
        <p:spPr>
          <a:xfrm>
            <a:off x="2304288" y="4535424"/>
            <a:ext cx="105156" cy="105156"/>
          </a:xfrm>
          <a:prstGeom prst="rect">
            <a:avLst/>
          </a:prstGeom>
          <a:solidFill>
            <a:srgbClr val="17436B"/>
          </a:solidFill>
          <a:ln w="12700">
            <a:solidFill>
              <a:srgbClr val="17436B"/>
            </a:solidFill>
            <a:prstDash val="solid"/>
          </a:ln>
        </p:spPr>
      </p:sp>
      <p:sp>
        <p:nvSpPr>
          <p:cNvPr id="194" name="Shape 192"/>
          <p:cNvSpPr/>
          <p:nvPr/>
        </p:nvSpPr>
        <p:spPr>
          <a:xfrm>
            <a:off x="2450592" y="4535424"/>
            <a:ext cx="105156" cy="105156"/>
          </a:xfrm>
          <a:prstGeom prst="rect">
            <a:avLst/>
          </a:prstGeom>
          <a:solidFill>
            <a:srgbClr val="17436B"/>
          </a:solidFill>
          <a:ln w="12700">
            <a:solidFill>
              <a:srgbClr val="17436B"/>
            </a:solidFill>
            <a:prstDash val="solid"/>
          </a:ln>
        </p:spPr>
      </p:sp>
      <p:sp>
        <p:nvSpPr>
          <p:cNvPr id="195" name="Shape 193"/>
          <p:cNvSpPr/>
          <p:nvPr/>
        </p:nvSpPr>
        <p:spPr>
          <a:xfrm>
            <a:off x="2596896" y="4535424"/>
            <a:ext cx="105156" cy="105156"/>
          </a:xfrm>
          <a:prstGeom prst="rect">
            <a:avLst/>
          </a:prstGeom>
          <a:solidFill>
            <a:srgbClr val="17436B"/>
          </a:solidFill>
          <a:ln w="12700">
            <a:solidFill>
              <a:srgbClr val="17436B"/>
            </a:solidFill>
            <a:prstDash val="solid"/>
          </a:ln>
        </p:spPr>
      </p:sp>
      <p:sp>
        <p:nvSpPr>
          <p:cNvPr id="196" name="Shape 194"/>
          <p:cNvSpPr/>
          <p:nvPr/>
        </p:nvSpPr>
        <p:spPr>
          <a:xfrm>
            <a:off x="2743200" y="4535424"/>
            <a:ext cx="105156" cy="105156"/>
          </a:xfrm>
          <a:prstGeom prst="rect">
            <a:avLst/>
          </a:prstGeom>
          <a:solidFill>
            <a:srgbClr val="17436B"/>
          </a:solidFill>
          <a:ln w="12700">
            <a:solidFill>
              <a:srgbClr val="17436B"/>
            </a:solidFill>
            <a:prstDash val="solid"/>
          </a:ln>
        </p:spPr>
      </p:sp>
      <p:sp>
        <p:nvSpPr>
          <p:cNvPr id="197" name="Shape 195"/>
          <p:cNvSpPr/>
          <p:nvPr/>
        </p:nvSpPr>
        <p:spPr>
          <a:xfrm>
            <a:off x="2889504" y="4535424"/>
            <a:ext cx="105156" cy="105156"/>
          </a:xfrm>
          <a:prstGeom prst="rect">
            <a:avLst/>
          </a:prstGeom>
          <a:solidFill>
            <a:srgbClr val="17436B"/>
          </a:solidFill>
          <a:ln w="12700">
            <a:solidFill>
              <a:srgbClr val="17436B"/>
            </a:solidFill>
            <a:prstDash val="solid"/>
          </a:ln>
        </p:spPr>
      </p:sp>
      <p:sp>
        <p:nvSpPr>
          <p:cNvPr id="198" name="Shape 196"/>
          <p:cNvSpPr/>
          <p:nvPr/>
        </p:nvSpPr>
        <p:spPr>
          <a:xfrm>
            <a:off x="3035808" y="4535424"/>
            <a:ext cx="105156" cy="105156"/>
          </a:xfrm>
          <a:prstGeom prst="rect">
            <a:avLst/>
          </a:prstGeom>
          <a:solidFill>
            <a:srgbClr val="17436B"/>
          </a:solidFill>
          <a:ln w="12700">
            <a:solidFill>
              <a:srgbClr val="17436B"/>
            </a:solidFill>
            <a:prstDash val="solid"/>
          </a:ln>
        </p:spPr>
      </p:sp>
      <p:sp>
        <p:nvSpPr>
          <p:cNvPr id="199" name="Shape 197"/>
          <p:cNvSpPr/>
          <p:nvPr/>
        </p:nvSpPr>
        <p:spPr>
          <a:xfrm>
            <a:off x="3182112" y="4535424"/>
            <a:ext cx="105156" cy="105156"/>
          </a:xfrm>
          <a:prstGeom prst="rect">
            <a:avLst/>
          </a:prstGeom>
          <a:solidFill>
            <a:srgbClr val="17436B"/>
          </a:solidFill>
          <a:ln w="12700">
            <a:solidFill>
              <a:srgbClr val="17436B"/>
            </a:solidFill>
            <a:prstDash val="solid"/>
          </a:ln>
        </p:spPr>
      </p:sp>
      <p:sp>
        <p:nvSpPr>
          <p:cNvPr id="200" name="Shape 198"/>
          <p:cNvSpPr/>
          <p:nvPr/>
        </p:nvSpPr>
        <p:spPr>
          <a:xfrm>
            <a:off x="3328416" y="4535424"/>
            <a:ext cx="105156" cy="105156"/>
          </a:xfrm>
          <a:prstGeom prst="rect">
            <a:avLst/>
          </a:prstGeom>
          <a:solidFill>
            <a:srgbClr val="17436B"/>
          </a:solidFill>
          <a:ln w="12700">
            <a:solidFill>
              <a:srgbClr val="17436B"/>
            </a:solidFill>
            <a:prstDash val="solid"/>
          </a:ln>
        </p:spPr>
      </p:sp>
      <p:sp>
        <p:nvSpPr>
          <p:cNvPr id="201" name="Shape 199"/>
          <p:cNvSpPr/>
          <p:nvPr/>
        </p:nvSpPr>
        <p:spPr>
          <a:xfrm>
            <a:off x="3474720" y="4535424"/>
            <a:ext cx="105156" cy="105156"/>
          </a:xfrm>
          <a:prstGeom prst="rect">
            <a:avLst/>
          </a:prstGeom>
          <a:solidFill>
            <a:srgbClr val="17436B"/>
          </a:solidFill>
          <a:ln w="12700">
            <a:solidFill>
              <a:srgbClr val="17436B"/>
            </a:solidFill>
            <a:prstDash val="solid"/>
          </a:ln>
        </p:spPr>
      </p:sp>
      <p:sp>
        <p:nvSpPr>
          <p:cNvPr id="202" name="Shape 200"/>
          <p:cNvSpPr/>
          <p:nvPr/>
        </p:nvSpPr>
        <p:spPr>
          <a:xfrm>
            <a:off x="3621024" y="4535424"/>
            <a:ext cx="105156" cy="105156"/>
          </a:xfrm>
          <a:prstGeom prst="rect">
            <a:avLst/>
          </a:prstGeom>
          <a:solidFill>
            <a:srgbClr val="17436B"/>
          </a:solidFill>
          <a:ln w="12700">
            <a:solidFill>
              <a:srgbClr val="17436B"/>
            </a:solidFill>
            <a:prstDash val="solid"/>
          </a:ln>
        </p:spPr>
      </p:sp>
      <p:sp>
        <p:nvSpPr>
          <p:cNvPr id="203" name="Shape 201"/>
          <p:cNvSpPr/>
          <p:nvPr/>
        </p:nvSpPr>
        <p:spPr>
          <a:xfrm>
            <a:off x="3767328" y="4535424"/>
            <a:ext cx="105156" cy="105156"/>
          </a:xfrm>
          <a:prstGeom prst="rect">
            <a:avLst/>
          </a:prstGeom>
          <a:solidFill>
            <a:srgbClr val="17436B"/>
          </a:solidFill>
          <a:ln w="12700">
            <a:solidFill>
              <a:srgbClr val="17436B"/>
            </a:solidFill>
            <a:prstDash val="solid"/>
          </a:ln>
        </p:spPr>
      </p:sp>
      <p:sp>
        <p:nvSpPr>
          <p:cNvPr id="204" name="Shape 202"/>
          <p:cNvSpPr/>
          <p:nvPr/>
        </p:nvSpPr>
        <p:spPr>
          <a:xfrm>
            <a:off x="3913632" y="4535424"/>
            <a:ext cx="105156" cy="105156"/>
          </a:xfrm>
          <a:prstGeom prst="rect">
            <a:avLst/>
          </a:prstGeom>
          <a:solidFill>
            <a:srgbClr val="17436B"/>
          </a:solidFill>
          <a:ln w="12700">
            <a:solidFill>
              <a:srgbClr val="17436B"/>
            </a:solidFill>
            <a:prstDash val="solid"/>
          </a:ln>
        </p:spPr>
      </p:sp>
      <p:sp>
        <p:nvSpPr>
          <p:cNvPr id="205" name="Shape 203"/>
          <p:cNvSpPr/>
          <p:nvPr/>
        </p:nvSpPr>
        <p:spPr>
          <a:xfrm>
            <a:off x="4059936" y="4535424"/>
            <a:ext cx="105156" cy="105156"/>
          </a:xfrm>
          <a:prstGeom prst="rect">
            <a:avLst/>
          </a:prstGeom>
          <a:solidFill>
            <a:srgbClr val="17436B"/>
          </a:solidFill>
          <a:ln w="12700">
            <a:solidFill>
              <a:srgbClr val="17436B"/>
            </a:solidFill>
            <a:prstDash val="solid"/>
          </a:ln>
        </p:spPr>
      </p:sp>
      <p:sp>
        <p:nvSpPr>
          <p:cNvPr id="206" name="Shape 204"/>
          <p:cNvSpPr/>
          <p:nvPr/>
        </p:nvSpPr>
        <p:spPr>
          <a:xfrm>
            <a:off x="4206240" y="4535424"/>
            <a:ext cx="105156" cy="105156"/>
          </a:xfrm>
          <a:prstGeom prst="rect">
            <a:avLst/>
          </a:prstGeom>
          <a:solidFill>
            <a:srgbClr val="17436B"/>
          </a:solidFill>
          <a:ln w="12700">
            <a:solidFill>
              <a:srgbClr val="17436B"/>
            </a:solidFill>
            <a:prstDash val="solid"/>
          </a:ln>
        </p:spPr>
      </p:sp>
      <p:sp>
        <p:nvSpPr>
          <p:cNvPr id="207" name="Shape 205"/>
          <p:cNvSpPr/>
          <p:nvPr/>
        </p:nvSpPr>
        <p:spPr>
          <a:xfrm>
            <a:off x="4352544" y="4535424"/>
            <a:ext cx="105156" cy="105156"/>
          </a:xfrm>
          <a:prstGeom prst="rect">
            <a:avLst/>
          </a:prstGeom>
          <a:solidFill>
            <a:srgbClr val="17436B"/>
          </a:solidFill>
          <a:ln w="12700">
            <a:solidFill>
              <a:srgbClr val="17436B"/>
            </a:solidFill>
            <a:prstDash val="solid"/>
          </a:ln>
        </p:spPr>
      </p:sp>
      <p:sp>
        <p:nvSpPr>
          <p:cNvPr id="208" name="Shape 206"/>
          <p:cNvSpPr/>
          <p:nvPr/>
        </p:nvSpPr>
        <p:spPr>
          <a:xfrm>
            <a:off x="4498848" y="4535424"/>
            <a:ext cx="105156" cy="105156"/>
          </a:xfrm>
          <a:prstGeom prst="rect">
            <a:avLst/>
          </a:prstGeom>
          <a:solidFill>
            <a:srgbClr val="17436B"/>
          </a:solidFill>
          <a:ln w="12700">
            <a:solidFill>
              <a:srgbClr val="17436B"/>
            </a:solidFill>
            <a:prstDash val="solid"/>
          </a:ln>
        </p:spPr>
      </p:sp>
      <p:sp>
        <p:nvSpPr>
          <p:cNvPr id="209" name="Shape 207"/>
          <p:cNvSpPr/>
          <p:nvPr/>
        </p:nvSpPr>
        <p:spPr>
          <a:xfrm>
            <a:off x="4645152" y="4535424"/>
            <a:ext cx="105156" cy="105156"/>
          </a:xfrm>
          <a:prstGeom prst="rect">
            <a:avLst/>
          </a:prstGeom>
          <a:solidFill>
            <a:srgbClr val="17436B"/>
          </a:solidFill>
          <a:ln w="12700">
            <a:solidFill>
              <a:srgbClr val="17436B"/>
            </a:solidFill>
            <a:prstDash val="solid"/>
          </a:ln>
        </p:spPr>
      </p:sp>
      <p:sp>
        <p:nvSpPr>
          <p:cNvPr id="210" name="Shape 208"/>
          <p:cNvSpPr/>
          <p:nvPr/>
        </p:nvSpPr>
        <p:spPr>
          <a:xfrm>
            <a:off x="548640" y="4681728"/>
            <a:ext cx="105156" cy="105156"/>
          </a:xfrm>
          <a:prstGeom prst="rect">
            <a:avLst/>
          </a:prstGeom>
          <a:solidFill>
            <a:srgbClr val="17436B"/>
          </a:solidFill>
          <a:ln w="12700">
            <a:solidFill>
              <a:srgbClr val="17436B"/>
            </a:solidFill>
            <a:prstDash val="solid"/>
          </a:ln>
        </p:spPr>
      </p:sp>
      <p:sp>
        <p:nvSpPr>
          <p:cNvPr id="211" name="Shape 209"/>
          <p:cNvSpPr/>
          <p:nvPr/>
        </p:nvSpPr>
        <p:spPr>
          <a:xfrm>
            <a:off x="694944" y="4681728"/>
            <a:ext cx="105156" cy="105156"/>
          </a:xfrm>
          <a:prstGeom prst="rect">
            <a:avLst/>
          </a:prstGeom>
          <a:solidFill>
            <a:srgbClr val="17436B"/>
          </a:solidFill>
          <a:ln w="12700">
            <a:solidFill>
              <a:srgbClr val="17436B"/>
            </a:solidFill>
            <a:prstDash val="solid"/>
          </a:ln>
        </p:spPr>
      </p:sp>
      <p:sp>
        <p:nvSpPr>
          <p:cNvPr id="212" name="Shape 210"/>
          <p:cNvSpPr/>
          <p:nvPr/>
        </p:nvSpPr>
        <p:spPr>
          <a:xfrm>
            <a:off x="841248" y="4681728"/>
            <a:ext cx="105156" cy="105156"/>
          </a:xfrm>
          <a:prstGeom prst="rect">
            <a:avLst/>
          </a:prstGeom>
          <a:solidFill>
            <a:srgbClr val="17436B"/>
          </a:solidFill>
          <a:ln w="12700">
            <a:solidFill>
              <a:srgbClr val="17436B"/>
            </a:solidFill>
            <a:prstDash val="solid"/>
          </a:ln>
        </p:spPr>
      </p:sp>
      <p:sp>
        <p:nvSpPr>
          <p:cNvPr id="213" name="Shape 211"/>
          <p:cNvSpPr/>
          <p:nvPr/>
        </p:nvSpPr>
        <p:spPr>
          <a:xfrm>
            <a:off x="987552" y="4681728"/>
            <a:ext cx="105156" cy="105156"/>
          </a:xfrm>
          <a:prstGeom prst="rect">
            <a:avLst/>
          </a:prstGeom>
          <a:solidFill>
            <a:srgbClr val="17436B"/>
          </a:solidFill>
          <a:ln w="12700">
            <a:solidFill>
              <a:srgbClr val="17436B"/>
            </a:solidFill>
            <a:prstDash val="solid"/>
          </a:ln>
        </p:spPr>
      </p:sp>
      <p:sp>
        <p:nvSpPr>
          <p:cNvPr id="214" name="Shape 212"/>
          <p:cNvSpPr/>
          <p:nvPr/>
        </p:nvSpPr>
        <p:spPr>
          <a:xfrm>
            <a:off x="1133856" y="4681728"/>
            <a:ext cx="105156" cy="105156"/>
          </a:xfrm>
          <a:prstGeom prst="rect">
            <a:avLst/>
          </a:prstGeom>
          <a:solidFill>
            <a:srgbClr val="17436B"/>
          </a:solidFill>
          <a:ln w="12700">
            <a:solidFill>
              <a:srgbClr val="17436B"/>
            </a:solidFill>
            <a:prstDash val="solid"/>
          </a:ln>
        </p:spPr>
      </p:sp>
      <p:sp>
        <p:nvSpPr>
          <p:cNvPr id="215" name="Shape 213"/>
          <p:cNvSpPr/>
          <p:nvPr/>
        </p:nvSpPr>
        <p:spPr>
          <a:xfrm>
            <a:off x="1280160" y="4681728"/>
            <a:ext cx="105156" cy="105156"/>
          </a:xfrm>
          <a:prstGeom prst="rect">
            <a:avLst/>
          </a:prstGeom>
          <a:solidFill>
            <a:srgbClr val="17436B"/>
          </a:solidFill>
          <a:ln w="12700">
            <a:solidFill>
              <a:srgbClr val="17436B"/>
            </a:solidFill>
            <a:prstDash val="solid"/>
          </a:ln>
        </p:spPr>
      </p:sp>
      <p:sp>
        <p:nvSpPr>
          <p:cNvPr id="216" name="Shape 214"/>
          <p:cNvSpPr/>
          <p:nvPr/>
        </p:nvSpPr>
        <p:spPr>
          <a:xfrm>
            <a:off x="1426464" y="4681728"/>
            <a:ext cx="105156" cy="105156"/>
          </a:xfrm>
          <a:prstGeom prst="rect">
            <a:avLst/>
          </a:prstGeom>
          <a:solidFill>
            <a:srgbClr val="17436B"/>
          </a:solidFill>
          <a:ln w="12700">
            <a:solidFill>
              <a:srgbClr val="17436B"/>
            </a:solidFill>
            <a:prstDash val="solid"/>
          </a:ln>
        </p:spPr>
      </p:sp>
      <p:sp>
        <p:nvSpPr>
          <p:cNvPr id="217" name="Shape 215"/>
          <p:cNvSpPr/>
          <p:nvPr/>
        </p:nvSpPr>
        <p:spPr>
          <a:xfrm>
            <a:off x="1572768" y="4681728"/>
            <a:ext cx="105156" cy="105156"/>
          </a:xfrm>
          <a:prstGeom prst="rect">
            <a:avLst/>
          </a:prstGeom>
          <a:solidFill>
            <a:srgbClr val="17436B"/>
          </a:solidFill>
          <a:ln w="12700">
            <a:solidFill>
              <a:srgbClr val="17436B"/>
            </a:solidFill>
            <a:prstDash val="solid"/>
          </a:ln>
        </p:spPr>
      </p:sp>
      <p:sp>
        <p:nvSpPr>
          <p:cNvPr id="218" name="Shape 216"/>
          <p:cNvSpPr/>
          <p:nvPr/>
        </p:nvSpPr>
        <p:spPr>
          <a:xfrm>
            <a:off x="1719072" y="4681728"/>
            <a:ext cx="105156" cy="105156"/>
          </a:xfrm>
          <a:prstGeom prst="rect">
            <a:avLst/>
          </a:prstGeom>
          <a:solidFill>
            <a:srgbClr val="17436B"/>
          </a:solidFill>
          <a:ln w="12700">
            <a:solidFill>
              <a:srgbClr val="17436B"/>
            </a:solidFill>
            <a:prstDash val="solid"/>
          </a:ln>
        </p:spPr>
      </p:sp>
      <p:sp>
        <p:nvSpPr>
          <p:cNvPr id="219" name="Shape 217"/>
          <p:cNvSpPr/>
          <p:nvPr/>
        </p:nvSpPr>
        <p:spPr>
          <a:xfrm>
            <a:off x="1865376" y="4681728"/>
            <a:ext cx="105156" cy="105156"/>
          </a:xfrm>
          <a:prstGeom prst="rect">
            <a:avLst/>
          </a:prstGeom>
          <a:solidFill>
            <a:srgbClr val="17436B"/>
          </a:solidFill>
          <a:ln w="12700">
            <a:solidFill>
              <a:srgbClr val="17436B"/>
            </a:solidFill>
            <a:prstDash val="solid"/>
          </a:ln>
        </p:spPr>
      </p:sp>
      <p:sp>
        <p:nvSpPr>
          <p:cNvPr id="220" name="Shape 218"/>
          <p:cNvSpPr/>
          <p:nvPr/>
        </p:nvSpPr>
        <p:spPr>
          <a:xfrm>
            <a:off x="2011680" y="4681728"/>
            <a:ext cx="105156" cy="105156"/>
          </a:xfrm>
          <a:prstGeom prst="rect">
            <a:avLst/>
          </a:prstGeom>
          <a:solidFill>
            <a:srgbClr val="17436B"/>
          </a:solidFill>
          <a:ln w="12700">
            <a:solidFill>
              <a:srgbClr val="17436B"/>
            </a:solidFill>
            <a:prstDash val="solid"/>
          </a:ln>
        </p:spPr>
      </p:sp>
      <p:sp>
        <p:nvSpPr>
          <p:cNvPr id="221" name="Shape 219"/>
          <p:cNvSpPr/>
          <p:nvPr/>
        </p:nvSpPr>
        <p:spPr>
          <a:xfrm>
            <a:off x="2157984" y="4681728"/>
            <a:ext cx="105156" cy="105156"/>
          </a:xfrm>
          <a:prstGeom prst="rect">
            <a:avLst/>
          </a:prstGeom>
          <a:solidFill>
            <a:srgbClr val="17436B"/>
          </a:solidFill>
          <a:ln w="12700">
            <a:solidFill>
              <a:srgbClr val="17436B"/>
            </a:solidFill>
            <a:prstDash val="solid"/>
          </a:ln>
        </p:spPr>
      </p:sp>
      <p:sp>
        <p:nvSpPr>
          <p:cNvPr id="222" name="Shape 220"/>
          <p:cNvSpPr/>
          <p:nvPr/>
        </p:nvSpPr>
        <p:spPr>
          <a:xfrm>
            <a:off x="2304288" y="4681728"/>
            <a:ext cx="105156" cy="105156"/>
          </a:xfrm>
          <a:prstGeom prst="rect">
            <a:avLst/>
          </a:prstGeom>
          <a:solidFill>
            <a:srgbClr val="17436B"/>
          </a:solidFill>
          <a:ln w="12700">
            <a:solidFill>
              <a:srgbClr val="17436B"/>
            </a:solidFill>
            <a:prstDash val="solid"/>
          </a:ln>
        </p:spPr>
      </p:sp>
      <p:sp>
        <p:nvSpPr>
          <p:cNvPr id="223" name="Shape 221"/>
          <p:cNvSpPr/>
          <p:nvPr/>
        </p:nvSpPr>
        <p:spPr>
          <a:xfrm>
            <a:off x="2450592" y="4681728"/>
            <a:ext cx="105156" cy="105156"/>
          </a:xfrm>
          <a:prstGeom prst="rect">
            <a:avLst/>
          </a:prstGeom>
          <a:solidFill>
            <a:srgbClr val="17436B"/>
          </a:solidFill>
          <a:ln w="12700">
            <a:solidFill>
              <a:srgbClr val="17436B"/>
            </a:solidFill>
            <a:prstDash val="solid"/>
          </a:ln>
        </p:spPr>
      </p:sp>
      <p:sp>
        <p:nvSpPr>
          <p:cNvPr id="224" name="Shape 222"/>
          <p:cNvSpPr/>
          <p:nvPr/>
        </p:nvSpPr>
        <p:spPr>
          <a:xfrm>
            <a:off x="2596896" y="4681728"/>
            <a:ext cx="105156" cy="105156"/>
          </a:xfrm>
          <a:prstGeom prst="rect">
            <a:avLst/>
          </a:prstGeom>
          <a:solidFill>
            <a:srgbClr val="17436B"/>
          </a:solidFill>
          <a:ln w="12700">
            <a:solidFill>
              <a:srgbClr val="17436B"/>
            </a:solidFill>
            <a:prstDash val="solid"/>
          </a:ln>
        </p:spPr>
      </p:sp>
      <p:sp>
        <p:nvSpPr>
          <p:cNvPr id="225" name="Shape 223"/>
          <p:cNvSpPr/>
          <p:nvPr/>
        </p:nvSpPr>
        <p:spPr>
          <a:xfrm>
            <a:off x="2743200" y="4681728"/>
            <a:ext cx="105156" cy="105156"/>
          </a:xfrm>
          <a:prstGeom prst="rect">
            <a:avLst/>
          </a:prstGeom>
          <a:solidFill>
            <a:srgbClr val="17436B"/>
          </a:solidFill>
          <a:ln w="12700">
            <a:solidFill>
              <a:srgbClr val="17436B"/>
            </a:solidFill>
            <a:prstDash val="solid"/>
          </a:ln>
        </p:spPr>
      </p:sp>
      <p:sp>
        <p:nvSpPr>
          <p:cNvPr id="226" name="Shape 224"/>
          <p:cNvSpPr/>
          <p:nvPr/>
        </p:nvSpPr>
        <p:spPr>
          <a:xfrm>
            <a:off x="2889504" y="4681728"/>
            <a:ext cx="105156" cy="105156"/>
          </a:xfrm>
          <a:prstGeom prst="rect">
            <a:avLst/>
          </a:prstGeom>
          <a:solidFill>
            <a:srgbClr val="17436B"/>
          </a:solidFill>
          <a:ln w="12700">
            <a:solidFill>
              <a:srgbClr val="17436B"/>
            </a:solidFill>
            <a:prstDash val="solid"/>
          </a:ln>
        </p:spPr>
      </p:sp>
      <p:sp>
        <p:nvSpPr>
          <p:cNvPr id="227" name="Shape 225"/>
          <p:cNvSpPr/>
          <p:nvPr/>
        </p:nvSpPr>
        <p:spPr>
          <a:xfrm>
            <a:off x="3035808" y="4681728"/>
            <a:ext cx="105156" cy="105156"/>
          </a:xfrm>
          <a:prstGeom prst="rect">
            <a:avLst/>
          </a:prstGeom>
          <a:solidFill>
            <a:srgbClr val="17436B"/>
          </a:solidFill>
          <a:ln w="12700">
            <a:solidFill>
              <a:srgbClr val="17436B"/>
            </a:solidFill>
            <a:prstDash val="solid"/>
          </a:ln>
        </p:spPr>
      </p:sp>
      <p:sp>
        <p:nvSpPr>
          <p:cNvPr id="228" name="Shape 226"/>
          <p:cNvSpPr/>
          <p:nvPr/>
        </p:nvSpPr>
        <p:spPr>
          <a:xfrm>
            <a:off x="3182112" y="4681728"/>
            <a:ext cx="105156" cy="105156"/>
          </a:xfrm>
          <a:prstGeom prst="rect">
            <a:avLst/>
          </a:prstGeom>
          <a:solidFill>
            <a:srgbClr val="17436B"/>
          </a:solidFill>
          <a:ln w="12700">
            <a:solidFill>
              <a:srgbClr val="17436B"/>
            </a:solidFill>
            <a:prstDash val="solid"/>
          </a:ln>
        </p:spPr>
      </p:sp>
      <p:sp>
        <p:nvSpPr>
          <p:cNvPr id="229" name="Shape 227"/>
          <p:cNvSpPr/>
          <p:nvPr/>
        </p:nvSpPr>
        <p:spPr>
          <a:xfrm>
            <a:off x="3328416" y="4681728"/>
            <a:ext cx="105156" cy="105156"/>
          </a:xfrm>
          <a:prstGeom prst="rect">
            <a:avLst/>
          </a:prstGeom>
          <a:solidFill>
            <a:srgbClr val="17436B"/>
          </a:solidFill>
          <a:ln w="12700">
            <a:solidFill>
              <a:srgbClr val="17436B"/>
            </a:solidFill>
            <a:prstDash val="solid"/>
          </a:ln>
        </p:spPr>
      </p:sp>
      <p:sp>
        <p:nvSpPr>
          <p:cNvPr id="230" name="Shape 228"/>
          <p:cNvSpPr/>
          <p:nvPr/>
        </p:nvSpPr>
        <p:spPr>
          <a:xfrm>
            <a:off x="3474720" y="4681728"/>
            <a:ext cx="105156" cy="105156"/>
          </a:xfrm>
          <a:prstGeom prst="rect">
            <a:avLst/>
          </a:prstGeom>
          <a:solidFill>
            <a:srgbClr val="17436B"/>
          </a:solidFill>
          <a:ln w="12700">
            <a:solidFill>
              <a:srgbClr val="17436B"/>
            </a:solidFill>
            <a:prstDash val="solid"/>
          </a:ln>
        </p:spPr>
      </p:sp>
      <p:sp>
        <p:nvSpPr>
          <p:cNvPr id="231" name="Shape 229"/>
          <p:cNvSpPr/>
          <p:nvPr/>
        </p:nvSpPr>
        <p:spPr>
          <a:xfrm>
            <a:off x="3621024" y="4681728"/>
            <a:ext cx="105156" cy="105156"/>
          </a:xfrm>
          <a:prstGeom prst="rect">
            <a:avLst/>
          </a:prstGeom>
          <a:solidFill>
            <a:srgbClr val="17436B"/>
          </a:solidFill>
          <a:ln w="12700">
            <a:solidFill>
              <a:srgbClr val="17436B"/>
            </a:solidFill>
            <a:prstDash val="solid"/>
          </a:ln>
        </p:spPr>
      </p:sp>
      <p:sp>
        <p:nvSpPr>
          <p:cNvPr id="232" name="Shape 230"/>
          <p:cNvSpPr/>
          <p:nvPr/>
        </p:nvSpPr>
        <p:spPr>
          <a:xfrm>
            <a:off x="3767328" y="4681728"/>
            <a:ext cx="105156" cy="105156"/>
          </a:xfrm>
          <a:prstGeom prst="rect">
            <a:avLst/>
          </a:prstGeom>
          <a:solidFill>
            <a:srgbClr val="17436B"/>
          </a:solidFill>
          <a:ln w="12700">
            <a:solidFill>
              <a:srgbClr val="17436B"/>
            </a:solidFill>
            <a:prstDash val="solid"/>
          </a:ln>
        </p:spPr>
      </p:sp>
      <p:sp>
        <p:nvSpPr>
          <p:cNvPr id="233" name="Shape 231"/>
          <p:cNvSpPr/>
          <p:nvPr/>
        </p:nvSpPr>
        <p:spPr>
          <a:xfrm>
            <a:off x="3913632" y="4681728"/>
            <a:ext cx="105156" cy="105156"/>
          </a:xfrm>
          <a:prstGeom prst="rect">
            <a:avLst/>
          </a:prstGeom>
          <a:solidFill>
            <a:srgbClr val="17436B"/>
          </a:solidFill>
          <a:ln w="12700">
            <a:solidFill>
              <a:srgbClr val="17436B"/>
            </a:solidFill>
            <a:prstDash val="solid"/>
          </a:ln>
        </p:spPr>
      </p:sp>
      <p:sp>
        <p:nvSpPr>
          <p:cNvPr id="234" name="Shape 232"/>
          <p:cNvSpPr/>
          <p:nvPr/>
        </p:nvSpPr>
        <p:spPr>
          <a:xfrm>
            <a:off x="4059936" y="4681728"/>
            <a:ext cx="105156" cy="105156"/>
          </a:xfrm>
          <a:prstGeom prst="rect">
            <a:avLst/>
          </a:prstGeom>
          <a:solidFill>
            <a:srgbClr val="17436B"/>
          </a:solidFill>
          <a:ln w="12700">
            <a:solidFill>
              <a:srgbClr val="17436B"/>
            </a:solidFill>
            <a:prstDash val="solid"/>
          </a:ln>
        </p:spPr>
      </p:sp>
      <p:sp>
        <p:nvSpPr>
          <p:cNvPr id="235" name="Shape 233"/>
          <p:cNvSpPr/>
          <p:nvPr/>
        </p:nvSpPr>
        <p:spPr>
          <a:xfrm>
            <a:off x="4206240" y="4681728"/>
            <a:ext cx="105156" cy="105156"/>
          </a:xfrm>
          <a:prstGeom prst="rect">
            <a:avLst/>
          </a:prstGeom>
          <a:solidFill>
            <a:srgbClr val="17436B"/>
          </a:solidFill>
          <a:ln w="12700">
            <a:solidFill>
              <a:srgbClr val="17436B"/>
            </a:solidFill>
            <a:prstDash val="solid"/>
          </a:ln>
        </p:spPr>
      </p:sp>
      <p:sp>
        <p:nvSpPr>
          <p:cNvPr id="236" name="Shape 234"/>
          <p:cNvSpPr/>
          <p:nvPr/>
        </p:nvSpPr>
        <p:spPr>
          <a:xfrm>
            <a:off x="4352544" y="4681728"/>
            <a:ext cx="105156" cy="105156"/>
          </a:xfrm>
          <a:prstGeom prst="rect">
            <a:avLst/>
          </a:prstGeom>
          <a:solidFill>
            <a:srgbClr val="17436B"/>
          </a:solidFill>
          <a:ln w="12700">
            <a:solidFill>
              <a:srgbClr val="17436B"/>
            </a:solidFill>
            <a:prstDash val="solid"/>
          </a:ln>
        </p:spPr>
      </p:sp>
      <p:sp>
        <p:nvSpPr>
          <p:cNvPr id="237" name="Shape 235"/>
          <p:cNvSpPr/>
          <p:nvPr/>
        </p:nvSpPr>
        <p:spPr>
          <a:xfrm>
            <a:off x="4498848" y="4681728"/>
            <a:ext cx="105156" cy="105156"/>
          </a:xfrm>
          <a:prstGeom prst="rect">
            <a:avLst/>
          </a:prstGeom>
          <a:solidFill>
            <a:srgbClr val="17436B"/>
          </a:solidFill>
          <a:ln w="12700">
            <a:solidFill>
              <a:srgbClr val="17436B"/>
            </a:solidFill>
            <a:prstDash val="solid"/>
          </a:ln>
        </p:spPr>
      </p:sp>
      <p:sp>
        <p:nvSpPr>
          <p:cNvPr id="238" name="Shape 236"/>
          <p:cNvSpPr/>
          <p:nvPr/>
        </p:nvSpPr>
        <p:spPr>
          <a:xfrm>
            <a:off x="4645152" y="4681728"/>
            <a:ext cx="105156" cy="105156"/>
          </a:xfrm>
          <a:prstGeom prst="rect">
            <a:avLst/>
          </a:prstGeom>
          <a:solidFill>
            <a:srgbClr val="17436B"/>
          </a:solidFill>
          <a:ln w="12700">
            <a:solidFill>
              <a:srgbClr val="17436B"/>
            </a:solidFill>
            <a:prstDash val="solid"/>
          </a:ln>
        </p:spPr>
      </p:sp>
      <p:sp>
        <p:nvSpPr>
          <p:cNvPr id="239" name="Shape 237"/>
          <p:cNvSpPr/>
          <p:nvPr/>
        </p:nvSpPr>
        <p:spPr>
          <a:xfrm>
            <a:off x="548640" y="4828032"/>
            <a:ext cx="105156" cy="105156"/>
          </a:xfrm>
          <a:prstGeom prst="rect">
            <a:avLst/>
          </a:prstGeom>
          <a:solidFill>
            <a:srgbClr val="17436B"/>
          </a:solidFill>
          <a:ln w="12700">
            <a:solidFill>
              <a:srgbClr val="17436B"/>
            </a:solidFill>
            <a:prstDash val="solid"/>
          </a:ln>
        </p:spPr>
      </p:sp>
      <p:sp>
        <p:nvSpPr>
          <p:cNvPr id="240" name="Shape 238"/>
          <p:cNvSpPr/>
          <p:nvPr/>
        </p:nvSpPr>
        <p:spPr>
          <a:xfrm>
            <a:off x="694944" y="4828032"/>
            <a:ext cx="105156" cy="105156"/>
          </a:xfrm>
          <a:prstGeom prst="rect">
            <a:avLst/>
          </a:prstGeom>
          <a:solidFill>
            <a:srgbClr val="17436B"/>
          </a:solidFill>
          <a:ln w="12700">
            <a:solidFill>
              <a:srgbClr val="17436B"/>
            </a:solidFill>
            <a:prstDash val="solid"/>
          </a:ln>
        </p:spPr>
      </p:sp>
      <p:sp>
        <p:nvSpPr>
          <p:cNvPr id="241" name="Shape 239"/>
          <p:cNvSpPr/>
          <p:nvPr/>
        </p:nvSpPr>
        <p:spPr>
          <a:xfrm>
            <a:off x="841248" y="4828032"/>
            <a:ext cx="105156" cy="105156"/>
          </a:xfrm>
          <a:prstGeom prst="rect">
            <a:avLst/>
          </a:prstGeom>
          <a:solidFill>
            <a:srgbClr val="17436B"/>
          </a:solidFill>
          <a:ln w="12700">
            <a:solidFill>
              <a:srgbClr val="17436B"/>
            </a:solidFill>
            <a:prstDash val="solid"/>
          </a:ln>
        </p:spPr>
      </p:sp>
      <p:sp>
        <p:nvSpPr>
          <p:cNvPr id="242" name="Shape 240"/>
          <p:cNvSpPr/>
          <p:nvPr/>
        </p:nvSpPr>
        <p:spPr>
          <a:xfrm>
            <a:off x="987552" y="4828032"/>
            <a:ext cx="105156" cy="105156"/>
          </a:xfrm>
          <a:prstGeom prst="rect">
            <a:avLst/>
          </a:prstGeom>
          <a:solidFill>
            <a:srgbClr val="17436B"/>
          </a:solidFill>
          <a:ln w="12700">
            <a:solidFill>
              <a:srgbClr val="17436B"/>
            </a:solidFill>
            <a:prstDash val="solid"/>
          </a:ln>
        </p:spPr>
      </p:sp>
      <p:sp>
        <p:nvSpPr>
          <p:cNvPr id="243" name="Shape 241"/>
          <p:cNvSpPr/>
          <p:nvPr/>
        </p:nvSpPr>
        <p:spPr>
          <a:xfrm>
            <a:off x="1133856" y="4828032"/>
            <a:ext cx="105156" cy="105156"/>
          </a:xfrm>
          <a:prstGeom prst="rect">
            <a:avLst/>
          </a:prstGeom>
          <a:solidFill>
            <a:srgbClr val="17436B"/>
          </a:solidFill>
          <a:ln w="12700">
            <a:solidFill>
              <a:srgbClr val="17436B"/>
            </a:solidFill>
            <a:prstDash val="solid"/>
          </a:ln>
        </p:spPr>
      </p:sp>
      <p:sp>
        <p:nvSpPr>
          <p:cNvPr id="244" name="Shape 242"/>
          <p:cNvSpPr/>
          <p:nvPr/>
        </p:nvSpPr>
        <p:spPr>
          <a:xfrm>
            <a:off x="1280160" y="4828032"/>
            <a:ext cx="105156" cy="105156"/>
          </a:xfrm>
          <a:prstGeom prst="rect">
            <a:avLst/>
          </a:prstGeom>
          <a:solidFill>
            <a:srgbClr val="17436B"/>
          </a:solidFill>
          <a:ln w="12700">
            <a:solidFill>
              <a:srgbClr val="17436B"/>
            </a:solidFill>
            <a:prstDash val="solid"/>
          </a:ln>
        </p:spPr>
      </p:sp>
      <p:sp>
        <p:nvSpPr>
          <p:cNvPr id="245" name="Shape 243"/>
          <p:cNvSpPr/>
          <p:nvPr/>
        </p:nvSpPr>
        <p:spPr>
          <a:xfrm>
            <a:off x="1426464" y="4828032"/>
            <a:ext cx="105156" cy="105156"/>
          </a:xfrm>
          <a:prstGeom prst="rect">
            <a:avLst/>
          </a:prstGeom>
          <a:solidFill>
            <a:srgbClr val="17436B"/>
          </a:solidFill>
          <a:ln w="12700">
            <a:solidFill>
              <a:srgbClr val="17436B"/>
            </a:solidFill>
            <a:prstDash val="solid"/>
          </a:ln>
        </p:spPr>
      </p:sp>
      <p:sp>
        <p:nvSpPr>
          <p:cNvPr id="246" name="Shape 244"/>
          <p:cNvSpPr/>
          <p:nvPr/>
        </p:nvSpPr>
        <p:spPr>
          <a:xfrm>
            <a:off x="1572768" y="4828032"/>
            <a:ext cx="105156" cy="105156"/>
          </a:xfrm>
          <a:prstGeom prst="rect">
            <a:avLst/>
          </a:prstGeom>
          <a:solidFill>
            <a:srgbClr val="17436B"/>
          </a:solidFill>
          <a:ln w="12700">
            <a:solidFill>
              <a:srgbClr val="17436B"/>
            </a:solidFill>
            <a:prstDash val="solid"/>
          </a:ln>
        </p:spPr>
      </p:sp>
      <p:sp>
        <p:nvSpPr>
          <p:cNvPr id="247" name="Shape 245"/>
          <p:cNvSpPr/>
          <p:nvPr/>
        </p:nvSpPr>
        <p:spPr>
          <a:xfrm>
            <a:off x="1719072" y="4828032"/>
            <a:ext cx="105156" cy="105156"/>
          </a:xfrm>
          <a:prstGeom prst="rect">
            <a:avLst/>
          </a:prstGeom>
          <a:solidFill>
            <a:srgbClr val="17436B"/>
          </a:solidFill>
          <a:ln w="12700">
            <a:solidFill>
              <a:srgbClr val="17436B"/>
            </a:solidFill>
            <a:prstDash val="solid"/>
          </a:ln>
        </p:spPr>
      </p:sp>
      <p:sp>
        <p:nvSpPr>
          <p:cNvPr id="248" name="Shape 246"/>
          <p:cNvSpPr/>
          <p:nvPr/>
        </p:nvSpPr>
        <p:spPr>
          <a:xfrm>
            <a:off x="1865376" y="4828032"/>
            <a:ext cx="105156" cy="105156"/>
          </a:xfrm>
          <a:prstGeom prst="rect">
            <a:avLst/>
          </a:prstGeom>
          <a:solidFill>
            <a:srgbClr val="17436B"/>
          </a:solidFill>
          <a:ln w="12700">
            <a:solidFill>
              <a:srgbClr val="17436B"/>
            </a:solidFill>
            <a:prstDash val="solid"/>
          </a:ln>
        </p:spPr>
      </p:sp>
      <p:sp>
        <p:nvSpPr>
          <p:cNvPr id="249" name="Shape 247"/>
          <p:cNvSpPr/>
          <p:nvPr/>
        </p:nvSpPr>
        <p:spPr>
          <a:xfrm>
            <a:off x="2011680" y="4828032"/>
            <a:ext cx="105156" cy="105156"/>
          </a:xfrm>
          <a:prstGeom prst="rect">
            <a:avLst/>
          </a:prstGeom>
          <a:solidFill>
            <a:srgbClr val="17436B"/>
          </a:solidFill>
          <a:ln w="12700">
            <a:solidFill>
              <a:srgbClr val="17436B"/>
            </a:solidFill>
            <a:prstDash val="solid"/>
          </a:ln>
        </p:spPr>
      </p:sp>
      <p:sp>
        <p:nvSpPr>
          <p:cNvPr id="250" name="Shape 248"/>
          <p:cNvSpPr/>
          <p:nvPr/>
        </p:nvSpPr>
        <p:spPr>
          <a:xfrm>
            <a:off x="2157984" y="4828032"/>
            <a:ext cx="105156" cy="105156"/>
          </a:xfrm>
          <a:prstGeom prst="rect">
            <a:avLst/>
          </a:prstGeom>
          <a:solidFill>
            <a:srgbClr val="17436B"/>
          </a:solidFill>
          <a:ln w="12700">
            <a:solidFill>
              <a:srgbClr val="17436B"/>
            </a:solidFill>
            <a:prstDash val="solid"/>
          </a:ln>
        </p:spPr>
      </p:sp>
      <p:sp>
        <p:nvSpPr>
          <p:cNvPr id="251" name="Shape 249"/>
          <p:cNvSpPr/>
          <p:nvPr/>
        </p:nvSpPr>
        <p:spPr>
          <a:xfrm>
            <a:off x="2304288" y="4828032"/>
            <a:ext cx="105156" cy="105156"/>
          </a:xfrm>
          <a:prstGeom prst="rect">
            <a:avLst/>
          </a:prstGeom>
          <a:solidFill>
            <a:srgbClr val="17436B"/>
          </a:solidFill>
          <a:ln w="12700">
            <a:solidFill>
              <a:srgbClr val="17436B"/>
            </a:solidFill>
            <a:prstDash val="solid"/>
          </a:ln>
        </p:spPr>
      </p:sp>
      <p:sp>
        <p:nvSpPr>
          <p:cNvPr id="252" name="Shape 250"/>
          <p:cNvSpPr/>
          <p:nvPr/>
        </p:nvSpPr>
        <p:spPr>
          <a:xfrm>
            <a:off x="2450592" y="4828032"/>
            <a:ext cx="105156" cy="105156"/>
          </a:xfrm>
          <a:prstGeom prst="rect">
            <a:avLst/>
          </a:prstGeom>
          <a:solidFill>
            <a:srgbClr val="17436B"/>
          </a:solidFill>
          <a:ln w="12700">
            <a:solidFill>
              <a:srgbClr val="17436B"/>
            </a:solidFill>
            <a:prstDash val="solid"/>
          </a:ln>
        </p:spPr>
      </p:sp>
      <p:sp>
        <p:nvSpPr>
          <p:cNvPr id="253" name="Shape 251"/>
          <p:cNvSpPr/>
          <p:nvPr/>
        </p:nvSpPr>
        <p:spPr>
          <a:xfrm>
            <a:off x="2596896" y="4828032"/>
            <a:ext cx="105156" cy="105156"/>
          </a:xfrm>
          <a:prstGeom prst="rect">
            <a:avLst/>
          </a:prstGeom>
          <a:solidFill>
            <a:srgbClr val="17436B"/>
          </a:solidFill>
          <a:ln w="12700">
            <a:solidFill>
              <a:srgbClr val="17436B"/>
            </a:solidFill>
            <a:prstDash val="solid"/>
          </a:ln>
        </p:spPr>
      </p:sp>
      <p:sp>
        <p:nvSpPr>
          <p:cNvPr id="254" name="Shape 252"/>
          <p:cNvSpPr/>
          <p:nvPr/>
        </p:nvSpPr>
        <p:spPr>
          <a:xfrm>
            <a:off x="2743200" y="4828032"/>
            <a:ext cx="105156" cy="105156"/>
          </a:xfrm>
          <a:prstGeom prst="rect">
            <a:avLst/>
          </a:prstGeom>
          <a:solidFill>
            <a:srgbClr val="17436B"/>
          </a:solidFill>
          <a:ln w="12700">
            <a:solidFill>
              <a:srgbClr val="17436B"/>
            </a:solidFill>
            <a:prstDash val="solid"/>
          </a:ln>
        </p:spPr>
      </p:sp>
      <p:sp>
        <p:nvSpPr>
          <p:cNvPr id="255" name="Shape 253"/>
          <p:cNvSpPr/>
          <p:nvPr/>
        </p:nvSpPr>
        <p:spPr>
          <a:xfrm>
            <a:off x="2889504" y="4828032"/>
            <a:ext cx="105156" cy="105156"/>
          </a:xfrm>
          <a:prstGeom prst="rect">
            <a:avLst/>
          </a:prstGeom>
          <a:solidFill>
            <a:srgbClr val="17436B"/>
          </a:solidFill>
          <a:ln w="12700">
            <a:solidFill>
              <a:srgbClr val="17436B"/>
            </a:solidFill>
            <a:prstDash val="solid"/>
          </a:ln>
        </p:spPr>
      </p:sp>
      <p:sp>
        <p:nvSpPr>
          <p:cNvPr id="256" name="Shape 254"/>
          <p:cNvSpPr/>
          <p:nvPr/>
        </p:nvSpPr>
        <p:spPr>
          <a:xfrm>
            <a:off x="3035808" y="4828032"/>
            <a:ext cx="105156" cy="105156"/>
          </a:xfrm>
          <a:prstGeom prst="rect">
            <a:avLst/>
          </a:prstGeom>
          <a:solidFill>
            <a:srgbClr val="17436B"/>
          </a:solidFill>
          <a:ln w="12700">
            <a:solidFill>
              <a:srgbClr val="17436B"/>
            </a:solidFill>
            <a:prstDash val="solid"/>
          </a:ln>
        </p:spPr>
      </p:sp>
      <p:sp>
        <p:nvSpPr>
          <p:cNvPr id="257" name="Shape 255"/>
          <p:cNvSpPr/>
          <p:nvPr/>
        </p:nvSpPr>
        <p:spPr>
          <a:xfrm>
            <a:off x="3182112" y="4828032"/>
            <a:ext cx="105156" cy="105156"/>
          </a:xfrm>
          <a:prstGeom prst="rect">
            <a:avLst/>
          </a:prstGeom>
          <a:solidFill>
            <a:srgbClr val="17436B"/>
          </a:solidFill>
          <a:ln w="12700">
            <a:solidFill>
              <a:srgbClr val="17436B"/>
            </a:solidFill>
            <a:prstDash val="solid"/>
          </a:ln>
        </p:spPr>
      </p:sp>
      <p:sp>
        <p:nvSpPr>
          <p:cNvPr id="258" name="Shape 256"/>
          <p:cNvSpPr/>
          <p:nvPr/>
        </p:nvSpPr>
        <p:spPr>
          <a:xfrm>
            <a:off x="3328416" y="4828032"/>
            <a:ext cx="105156" cy="105156"/>
          </a:xfrm>
          <a:prstGeom prst="rect">
            <a:avLst/>
          </a:prstGeom>
          <a:solidFill>
            <a:srgbClr val="17436B"/>
          </a:solidFill>
          <a:ln w="12700">
            <a:solidFill>
              <a:srgbClr val="17436B"/>
            </a:solidFill>
            <a:prstDash val="solid"/>
          </a:ln>
        </p:spPr>
      </p:sp>
      <p:sp>
        <p:nvSpPr>
          <p:cNvPr id="259" name="Shape 257"/>
          <p:cNvSpPr/>
          <p:nvPr/>
        </p:nvSpPr>
        <p:spPr>
          <a:xfrm>
            <a:off x="3474720" y="4828032"/>
            <a:ext cx="105156" cy="105156"/>
          </a:xfrm>
          <a:prstGeom prst="rect">
            <a:avLst/>
          </a:prstGeom>
          <a:solidFill>
            <a:srgbClr val="17436B"/>
          </a:solidFill>
          <a:ln w="12700">
            <a:solidFill>
              <a:srgbClr val="17436B"/>
            </a:solidFill>
            <a:prstDash val="solid"/>
          </a:ln>
        </p:spPr>
      </p:sp>
      <p:sp>
        <p:nvSpPr>
          <p:cNvPr id="260" name="Shape 258"/>
          <p:cNvSpPr/>
          <p:nvPr/>
        </p:nvSpPr>
        <p:spPr>
          <a:xfrm>
            <a:off x="3621024" y="4828032"/>
            <a:ext cx="105156" cy="105156"/>
          </a:xfrm>
          <a:prstGeom prst="rect">
            <a:avLst/>
          </a:prstGeom>
          <a:solidFill>
            <a:srgbClr val="17436B"/>
          </a:solidFill>
          <a:ln w="12700">
            <a:solidFill>
              <a:srgbClr val="17436B"/>
            </a:solidFill>
            <a:prstDash val="solid"/>
          </a:ln>
        </p:spPr>
      </p:sp>
      <p:sp>
        <p:nvSpPr>
          <p:cNvPr id="261" name="Shape 259"/>
          <p:cNvSpPr/>
          <p:nvPr/>
        </p:nvSpPr>
        <p:spPr>
          <a:xfrm>
            <a:off x="3767328" y="4828032"/>
            <a:ext cx="105156" cy="105156"/>
          </a:xfrm>
          <a:prstGeom prst="rect">
            <a:avLst/>
          </a:prstGeom>
          <a:solidFill>
            <a:srgbClr val="17436B"/>
          </a:solidFill>
          <a:ln w="12700">
            <a:solidFill>
              <a:srgbClr val="17436B"/>
            </a:solidFill>
            <a:prstDash val="solid"/>
          </a:ln>
        </p:spPr>
      </p:sp>
      <p:sp>
        <p:nvSpPr>
          <p:cNvPr id="262" name="Shape 260"/>
          <p:cNvSpPr/>
          <p:nvPr/>
        </p:nvSpPr>
        <p:spPr>
          <a:xfrm>
            <a:off x="3913632" y="4828032"/>
            <a:ext cx="105156" cy="105156"/>
          </a:xfrm>
          <a:prstGeom prst="rect">
            <a:avLst/>
          </a:prstGeom>
          <a:solidFill>
            <a:srgbClr val="17436B"/>
          </a:solidFill>
          <a:ln w="12700">
            <a:solidFill>
              <a:srgbClr val="17436B"/>
            </a:solidFill>
            <a:prstDash val="solid"/>
          </a:ln>
        </p:spPr>
      </p:sp>
      <p:sp>
        <p:nvSpPr>
          <p:cNvPr id="263" name="Shape 261"/>
          <p:cNvSpPr/>
          <p:nvPr/>
        </p:nvSpPr>
        <p:spPr>
          <a:xfrm>
            <a:off x="4059936" y="4828032"/>
            <a:ext cx="105156" cy="105156"/>
          </a:xfrm>
          <a:prstGeom prst="rect">
            <a:avLst/>
          </a:prstGeom>
          <a:solidFill>
            <a:srgbClr val="17436B"/>
          </a:solidFill>
          <a:ln w="12700">
            <a:solidFill>
              <a:srgbClr val="17436B"/>
            </a:solidFill>
            <a:prstDash val="solid"/>
          </a:ln>
        </p:spPr>
      </p:sp>
      <p:sp>
        <p:nvSpPr>
          <p:cNvPr id="264" name="Shape 262"/>
          <p:cNvSpPr/>
          <p:nvPr/>
        </p:nvSpPr>
        <p:spPr>
          <a:xfrm>
            <a:off x="4206240" y="4828032"/>
            <a:ext cx="105156" cy="105156"/>
          </a:xfrm>
          <a:prstGeom prst="rect">
            <a:avLst/>
          </a:prstGeom>
          <a:solidFill>
            <a:srgbClr val="17436B"/>
          </a:solidFill>
          <a:ln w="12700">
            <a:solidFill>
              <a:srgbClr val="17436B"/>
            </a:solidFill>
            <a:prstDash val="solid"/>
          </a:ln>
        </p:spPr>
      </p:sp>
      <p:sp>
        <p:nvSpPr>
          <p:cNvPr id="265" name="Shape 263"/>
          <p:cNvSpPr/>
          <p:nvPr/>
        </p:nvSpPr>
        <p:spPr>
          <a:xfrm>
            <a:off x="4352544" y="4828032"/>
            <a:ext cx="105156" cy="105156"/>
          </a:xfrm>
          <a:prstGeom prst="rect">
            <a:avLst/>
          </a:prstGeom>
          <a:solidFill>
            <a:srgbClr val="17436B"/>
          </a:solidFill>
          <a:ln w="12700">
            <a:solidFill>
              <a:srgbClr val="17436B"/>
            </a:solidFill>
            <a:prstDash val="solid"/>
          </a:ln>
        </p:spPr>
      </p:sp>
      <p:sp>
        <p:nvSpPr>
          <p:cNvPr id="266" name="Shape 264"/>
          <p:cNvSpPr/>
          <p:nvPr/>
        </p:nvSpPr>
        <p:spPr>
          <a:xfrm>
            <a:off x="4498848" y="4828032"/>
            <a:ext cx="105156" cy="105156"/>
          </a:xfrm>
          <a:prstGeom prst="rect">
            <a:avLst/>
          </a:prstGeom>
          <a:solidFill>
            <a:srgbClr val="17436B"/>
          </a:solidFill>
          <a:ln w="12700">
            <a:solidFill>
              <a:srgbClr val="17436B"/>
            </a:solidFill>
            <a:prstDash val="solid"/>
          </a:ln>
        </p:spPr>
      </p:sp>
      <p:sp>
        <p:nvSpPr>
          <p:cNvPr id="267" name="Shape 265"/>
          <p:cNvSpPr/>
          <p:nvPr/>
        </p:nvSpPr>
        <p:spPr>
          <a:xfrm>
            <a:off x="4645152" y="4828032"/>
            <a:ext cx="105156" cy="105156"/>
          </a:xfrm>
          <a:prstGeom prst="rect">
            <a:avLst/>
          </a:prstGeom>
          <a:solidFill>
            <a:srgbClr val="17436B"/>
          </a:solidFill>
          <a:ln w="12700">
            <a:solidFill>
              <a:srgbClr val="17436B"/>
            </a:solidFill>
            <a:prstDash val="solid"/>
          </a:ln>
        </p:spPr>
      </p:sp>
      <p:sp>
        <p:nvSpPr>
          <p:cNvPr id="268" name="Shape 266"/>
          <p:cNvSpPr/>
          <p:nvPr/>
        </p:nvSpPr>
        <p:spPr>
          <a:xfrm>
            <a:off x="548640" y="4974336"/>
            <a:ext cx="105156" cy="105156"/>
          </a:xfrm>
          <a:prstGeom prst="rect">
            <a:avLst/>
          </a:prstGeom>
          <a:solidFill>
            <a:srgbClr val="17436B"/>
          </a:solidFill>
          <a:ln w="12700">
            <a:solidFill>
              <a:srgbClr val="17436B"/>
            </a:solidFill>
            <a:prstDash val="solid"/>
          </a:ln>
        </p:spPr>
      </p:sp>
      <p:sp>
        <p:nvSpPr>
          <p:cNvPr id="269" name="Shape 267"/>
          <p:cNvSpPr/>
          <p:nvPr/>
        </p:nvSpPr>
        <p:spPr>
          <a:xfrm>
            <a:off x="694944" y="4974336"/>
            <a:ext cx="105156" cy="105156"/>
          </a:xfrm>
          <a:prstGeom prst="rect">
            <a:avLst/>
          </a:prstGeom>
          <a:solidFill>
            <a:srgbClr val="17436B"/>
          </a:solidFill>
          <a:ln w="12700">
            <a:solidFill>
              <a:srgbClr val="17436B"/>
            </a:solidFill>
            <a:prstDash val="solid"/>
          </a:ln>
        </p:spPr>
      </p:sp>
      <p:sp>
        <p:nvSpPr>
          <p:cNvPr id="270" name="Shape 268"/>
          <p:cNvSpPr/>
          <p:nvPr/>
        </p:nvSpPr>
        <p:spPr>
          <a:xfrm>
            <a:off x="841248" y="4974336"/>
            <a:ext cx="105156" cy="105156"/>
          </a:xfrm>
          <a:prstGeom prst="rect">
            <a:avLst/>
          </a:prstGeom>
          <a:solidFill>
            <a:srgbClr val="17436B"/>
          </a:solidFill>
          <a:ln w="12700">
            <a:solidFill>
              <a:srgbClr val="17436B"/>
            </a:solidFill>
            <a:prstDash val="solid"/>
          </a:ln>
        </p:spPr>
      </p:sp>
      <p:sp>
        <p:nvSpPr>
          <p:cNvPr id="271" name="Shape 269"/>
          <p:cNvSpPr/>
          <p:nvPr/>
        </p:nvSpPr>
        <p:spPr>
          <a:xfrm>
            <a:off x="987552" y="4974336"/>
            <a:ext cx="105156" cy="105156"/>
          </a:xfrm>
          <a:prstGeom prst="rect">
            <a:avLst/>
          </a:prstGeom>
          <a:solidFill>
            <a:srgbClr val="17436B"/>
          </a:solidFill>
          <a:ln w="12700">
            <a:solidFill>
              <a:srgbClr val="17436B"/>
            </a:solidFill>
            <a:prstDash val="solid"/>
          </a:ln>
        </p:spPr>
      </p:sp>
      <p:sp>
        <p:nvSpPr>
          <p:cNvPr id="272" name="Shape 270"/>
          <p:cNvSpPr/>
          <p:nvPr/>
        </p:nvSpPr>
        <p:spPr>
          <a:xfrm>
            <a:off x="1133856" y="4974336"/>
            <a:ext cx="105156" cy="105156"/>
          </a:xfrm>
          <a:prstGeom prst="rect">
            <a:avLst/>
          </a:prstGeom>
          <a:solidFill>
            <a:srgbClr val="17436B"/>
          </a:solidFill>
          <a:ln w="12700">
            <a:solidFill>
              <a:srgbClr val="17436B"/>
            </a:solidFill>
            <a:prstDash val="solid"/>
          </a:ln>
        </p:spPr>
      </p:sp>
      <p:sp>
        <p:nvSpPr>
          <p:cNvPr id="273" name="Shape 271"/>
          <p:cNvSpPr/>
          <p:nvPr/>
        </p:nvSpPr>
        <p:spPr>
          <a:xfrm>
            <a:off x="1280160" y="4974336"/>
            <a:ext cx="105156" cy="105156"/>
          </a:xfrm>
          <a:prstGeom prst="rect">
            <a:avLst/>
          </a:prstGeom>
          <a:solidFill>
            <a:srgbClr val="17436B"/>
          </a:solidFill>
          <a:ln w="12700">
            <a:solidFill>
              <a:srgbClr val="17436B"/>
            </a:solidFill>
            <a:prstDash val="solid"/>
          </a:ln>
        </p:spPr>
      </p:sp>
      <p:sp>
        <p:nvSpPr>
          <p:cNvPr id="274" name="Shape 272"/>
          <p:cNvSpPr/>
          <p:nvPr/>
        </p:nvSpPr>
        <p:spPr>
          <a:xfrm>
            <a:off x="1426464" y="4974336"/>
            <a:ext cx="105156" cy="105156"/>
          </a:xfrm>
          <a:prstGeom prst="rect">
            <a:avLst/>
          </a:prstGeom>
          <a:solidFill>
            <a:srgbClr val="17436B"/>
          </a:solidFill>
          <a:ln w="12700">
            <a:solidFill>
              <a:srgbClr val="17436B"/>
            </a:solidFill>
            <a:prstDash val="solid"/>
          </a:ln>
        </p:spPr>
      </p:sp>
      <p:sp>
        <p:nvSpPr>
          <p:cNvPr id="275" name="Shape 273"/>
          <p:cNvSpPr/>
          <p:nvPr/>
        </p:nvSpPr>
        <p:spPr>
          <a:xfrm>
            <a:off x="1572768" y="4974336"/>
            <a:ext cx="105156" cy="105156"/>
          </a:xfrm>
          <a:prstGeom prst="rect">
            <a:avLst/>
          </a:prstGeom>
          <a:solidFill>
            <a:srgbClr val="17436B"/>
          </a:solidFill>
          <a:ln w="12700">
            <a:solidFill>
              <a:srgbClr val="17436B"/>
            </a:solidFill>
            <a:prstDash val="solid"/>
          </a:ln>
        </p:spPr>
      </p:sp>
      <p:sp>
        <p:nvSpPr>
          <p:cNvPr id="276" name="Shape 274"/>
          <p:cNvSpPr/>
          <p:nvPr/>
        </p:nvSpPr>
        <p:spPr>
          <a:xfrm>
            <a:off x="1719072" y="4974336"/>
            <a:ext cx="105156" cy="105156"/>
          </a:xfrm>
          <a:prstGeom prst="rect">
            <a:avLst/>
          </a:prstGeom>
          <a:solidFill>
            <a:srgbClr val="17436B"/>
          </a:solidFill>
          <a:ln w="12700">
            <a:solidFill>
              <a:srgbClr val="17436B"/>
            </a:solidFill>
            <a:prstDash val="solid"/>
          </a:ln>
        </p:spPr>
      </p:sp>
      <p:sp>
        <p:nvSpPr>
          <p:cNvPr id="277" name="Shape 275"/>
          <p:cNvSpPr/>
          <p:nvPr/>
        </p:nvSpPr>
        <p:spPr>
          <a:xfrm>
            <a:off x="1865376" y="4974336"/>
            <a:ext cx="105156" cy="105156"/>
          </a:xfrm>
          <a:prstGeom prst="rect">
            <a:avLst/>
          </a:prstGeom>
          <a:solidFill>
            <a:srgbClr val="17436B"/>
          </a:solidFill>
          <a:ln w="12700">
            <a:solidFill>
              <a:srgbClr val="17436B"/>
            </a:solidFill>
            <a:prstDash val="solid"/>
          </a:ln>
        </p:spPr>
      </p:sp>
      <p:sp>
        <p:nvSpPr>
          <p:cNvPr id="278" name="Shape 276"/>
          <p:cNvSpPr/>
          <p:nvPr/>
        </p:nvSpPr>
        <p:spPr>
          <a:xfrm>
            <a:off x="2011680" y="4974336"/>
            <a:ext cx="105156" cy="105156"/>
          </a:xfrm>
          <a:prstGeom prst="rect">
            <a:avLst/>
          </a:prstGeom>
          <a:solidFill>
            <a:srgbClr val="17436B"/>
          </a:solidFill>
          <a:ln w="12700">
            <a:solidFill>
              <a:srgbClr val="17436B"/>
            </a:solidFill>
            <a:prstDash val="solid"/>
          </a:ln>
        </p:spPr>
      </p:sp>
      <p:sp>
        <p:nvSpPr>
          <p:cNvPr id="279" name="Shape 277"/>
          <p:cNvSpPr/>
          <p:nvPr/>
        </p:nvSpPr>
        <p:spPr>
          <a:xfrm>
            <a:off x="2157984" y="4974336"/>
            <a:ext cx="105156" cy="105156"/>
          </a:xfrm>
          <a:prstGeom prst="rect">
            <a:avLst/>
          </a:prstGeom>
          <a:solidFill>
            <a:srgbClr val="17436B"/>
          </a:solidFill>
          <a:ln w="12700">
            <a:solidFill>
              <a:srgbClr val="17436B"/>
            </a:solidFill>
            <a:prstDash val="solid"/>
          </a:ln>
        </p:spPr>
      </p:sp>
      <p:sp>
        <p:nvSpPr>
          <p:cNvPr id="280" name="Shape 278"/>
          <p:cNvSpPr/>
          <p:nvPr/>
        </p:nvSpPr>
        <p:spPr>
          <a:xfrm>
            <a:off x="2304288" y="4974336"/>
            <a:ext cx="105156" cy="105156"/>
          </a:xfrm>
          <a:prstGeom prst="rect">
            <a:avLst/>
          </a:prstGeom>
          <a:solidFill>
            <a:srgbClr val="17436B"/>
          </a:solidFill>
          <a:ln w="12700">
            <a:solidFill>
              <a:srgbClr val="17436B"/>
            </a:solidFill>
            <a:prstDash val="solid"/>
          </a:ln>
        </p:spPr>
      </p:sp>
      <p:sp>
        <p:nvSpPr>
          <p:cNvPr id="281" name="Shape 279"/>
          <p:cNvSpPr/>
          <p:nvPr/>
        </p:nvSpPr>
        <p:spPr>
          <a:xfrm>
            <a:off x="2450592" y="4974336"/>
            <a:ext cx="105156" cy="105156"/>
          </a:xfrm>
          <a:prstGeom prst="rect">
            <a:avLst/>
          </a:prstGeom>
          <a:solidFill>
            <a:srgbClr val="17436B"/>
          </a:solidFill>
          <a:ln w="12700">
            <a:solidFill>
              <a:srgbClr val="17436B"/>
            </a:solidFill>
            <a:prstDash val="solid"/>
          </a:ln>
        </p:spPr>
      </p:sp>
      <p:sp>
        <p:nvSpPr>
          <p:cNvPr id="282" name="Shape 280"/>
          <p:cNvSpPr/>
          <p:nvPr/>
        </p:nvSpPr>
        <p:spPr>
          <a:xfrm>
            <a:off x="2596896" y="4974336"/>
            <a:ext cx="105156" cy="105156"/>
          </a:xfrm>
          <a:prstGeom prst="rect">
            <a:avLst/>
          </a:prstGeom>
          <a:solidFill>
            <a:srgbClr val="17436B"/>
          </a:solidFill>
          <a:ln w="12700">
            <a:solidFill>
              <a:srgbClr val="17436B"/>
            </a:solidFill>
            <a:prstDash val="solid"/>
          </a:ln>
        </p:spPr>
      </p:sp>
      <p:sp>
        <p:nvSpPr>
          <p:cNvPr id="283" name="Shape 281"/>
          <p:cNvSpPr/>
          <p:nvPr/>
        </p:nvSpPr>
        <p:spPr>
          <a:xfrm>
            <a:off x="2743200" y="4974336"/>
            <a:ext cx="105156" cy="105156"/>
          </a:xfrm>
          <a:prstGeom prst="rect">
            <a:avLst/>
          </a:prstGeom>
          <a:solidFill>
            <a:srgbClr val="17436B"/>
          </a:solidFill>
          <a:ln w="12700">
            <a:solidFill>
              <a:srgbClr val="17436B"/>
            </a:solidFill>
            <a:prstDash val="solid"/>
          </a:ln>
        </p:spPr>
      </p:sp>
      <p:sp>
        <p:nvSpPr>
          <p:cNvPr id="284" name="Shape 282"/>
          <p:cNvSpPr/>
          <p:nvPr/>
        </p:nvSpPr>
        <p:spPr>
          <a:xfrm>
            <a:off x="2889504" y="4974336"/>
            <a:ext cx="105156" cy="105156"/>
          </a:xfrm>
          <a:prstGeom prst="rect">
            <a:avLst/>
          </a:prstGeom>
          <a:solidFill>
            <a:srgbClr val="17436B"/>
          </a:solidFill>
          <a:ln w="12700">
            <a:solidFill>
              <a:srgbClr val="17436B"/>
            </a:solidFill>
            <a:prstDash val="solid"/>
          </a:ln>
        </p:spPr>
      </p:sp>
      <p:sp>
        <p:nvSpPr>
          <p:cNvPr id="285" name="Shape 283"/>
          <p:cNvSpPr/>
          <p:nvPr/>
        </p:nvSpPr>
        <p:spPr>
          <a:xfrm>
            <a:off x="3035808" y="4974336"/>
            <a:ext cx="105156" cy="105156"/>
          </a:xfrm>
          <a:prstGeom prst="rect">
            <a:avLst/>
          </a:prstGeom>
          <a:solidFill>
            <a:srgbClr val="17436B"/>
          </a:solidFill>
          <a:ln w="12700">
            <a:solidFill>
              <a:srgbClr val="17436B"/>
            </a:solidFill>
            <a:prstDash val="solid"/>
          </a:ln>
        </p:spPr>
      </p:sp>
      <p:sp>
        <p:nvSpPr>
          <p:cNvPr id="286" name="Shape 284"/>
          <p:cNvSpPr/>
          <p:nvPr/>
        </p:nvSpPr>
        <p:spPr>
          <a:xfrm>
            <a:off x="3182112" y="4974336"/>
            <a:ext cx="105156" cy="105156"/>
          </a:xfrm>
          <a:prstGeom prst="rect">
            <a:avLst/>
          </a:prstGeom>
          <a:solidFill>
            <a:srgbClr val="FDC700"/>
          </a:solidFill>
          <a:ln w="12700">
            <a:solidFill>
              <a:srgbClr val="FDC700"/>
            </a:solidFill>
            <a:prstDash val="solid"/>
          </a:ln>
        </p:spPr>
      </p:sp>
      <p:sp>
        <p:nvSpPr>
          <p:cNvPr id="287" name="Shape 285"/>
          <p:cNvSpPr/>
          <p:nvPr/>
        </p:nvSpPr>
        <p:spPr>
          <a:xfrm>
            <a:off x="3328416" y="4974336"/>
            <a:ext cx="105156" cy="105156"/>
          </a:xfrm>
          <a:prstGeom prst="rect">
            <a:avLst/>
          </a:prstGeom>
          <a:solidFill>
            <a:srgbClr val="17436B"/>
          </a:solidFill>
          <a:ln w="12700">
            <a:solidFill>
              <a:srgbClr val="17436B"/>
            </a:solidFill>
            <a:prstDash val="solid"/>
          </a:ln>
        </p:spPr>
      </p:sp>
      <p:sp>
        <p:nvSpPr>
          <p:cNvPr id="288" name="Shape 286"/>
          <p:cNvSpPr/>
          <p:nvPr/>
        </p:nvSpPr>
        <p:spPr>
          <a:xfrm>
            <a:off x="3474720" y="4974336"/>
            <a:ext cx="105156" cy="105156"/>
          </a:xfrm>
          <a:prstGeom prst="rect">
            <a:avLst/>
          </a:prstGeom>
          <a:solidFill>
            <a:srgbClr val="17436B"/>
          </a:solidFill>
          <a:ln w="12700">
            <a:solidFill>
              <a:srgbClr val="17436B"/>
            </a:solidFill>
            <a:prstDash val="solid"/>
          </a:ln>
        </p:spPr>
      </p:sp>
      <p:sp>
        <p:nvSpPr>
          <p:cNvPr id="289" name="Shape 287"/>
          <p:cNvSpPr/>
          <p:nvPr/>
        </p:nvSpPr>
        <p:spPr>
          <a:xfrm>
            <a:off x="3621024" y="4974336"/>
            <a:ext cx="105156" cy="105156"/>
          </a:xfrm>
          <a:prstGeom prst="rect">
            <a:avLst/>
          </a:prstGeom>
          <a:solidFill>
            <a:srgbClr val="17436B"/>
          </a:solidFill>
          <a:ln w="12700">
            <a:solidFill>
              <a:srgbClr val="17436B"/>
            </a:solidFill>
            <a:prstDash val="solid"/>
          </a:ln>
        </p:spPr>
      </p:sp>
      <p:sp>
        <p:nvSpPr>
          <p:cNvPr id="290" name="Shape 288"/>
          <p:cNvSpPr/>
          <p:nvPr/>
        </p:nvSpPr>
        <p:spPr>
          <a:xfrm>
            <a:off x="3767328" y="4974336"/>
            <a:ext cx="105156" cy="105156"/>
          </a:xfrm>
          <a:prstGeom prst="rect">
            <a:avLst/>
          </a:prstGeom>
          <a:solidFill>
            <a:srgbClr val="17436B"/>
          </a:solidFill>
          <a:ln w="12700">
            <a:solidFill>
              <a:srgbClr val="17436B"/>
            </a:solidFill>
            <a:prstDash val="solid"/>
          </a:ln>
        </p:spPr>
      </p:sp>
      <p:sp>
        <p:nvSpPr>
          <p:cNvPr id="291" name="Shape 289"/>
          <p:cNvSpPr/>
          <p:nvPr/>
        </p:nvSpPr>
        <p:spPr>
          <a:xfrm>
            <a:off x="3913632" y="4974336"/>
            <a:ext cx="105156" cy="105156"/>
          </a:xfrm>
          <a:prstGeom prst="rect">
            <a:avLst/>
          </a:prstGeom>
          <a:solidFill>
            <a:srgbClr val="17436B"/>
          </a:solidFill>
          <a:ln w="12700">
            <a:solidFill>
              <a:srgbClr val="17436B"/>
            </a:solidFill>
            <a:prstDash val="solid"/>
          </a:ln>
        </p:spPr>
      </p:sp>
      <p:sp>
        <p:nvSpPr>
          <p:cNvPr id="292" name="Shape 290"/>
          <p:cNvSpPr/>
          <p:nvPr/>
        </p:nvSpPr>
        <p:spPr>
          <a:xfrm>
            <a:off x="4059936" y="4974336"/>
            <a:ext cx="105156" cy="105156"/>
          </a:xfrm>
          <a:prstGeom prst="rect">
            <a:avLst/>
          </a:prstGeom>
          <a:solidFill>
            <a:srgbClr val="17436B"/>
          </a:solidFill>
          <a:ln w="12700">
            <a:solidFill>
              <a:srgbClr val="17436B"/>
            </a:solidFill>
            <a:prstDash val="solid"/>
          </a:ln>
        </p:spPr>
      </p:sp>
      <p:sp>
        <p:nvSpPr>
          <p:cNvPr id="293" name="Shape 291"/>
          <p:cNvSpPr/>
          <p:nvPr/>
        </p:nvSpPr>
        <p:spPr>
          <a:xfrm>
            <a:off x="4206240" y="4974336"/>
            <a:ext cx="105156" cy="105156"/>
          </a:xfrm>
          <a:prstGeom prst="rect">
            <a:avLst/>
          </a:prstGeom>
          <a:solidFill>
            <a:srgbClr val="17436B"/>
          </a:solidFill>
          <a:ln w="12700">
            <a:solidFill>
              <a:srgbClr val="17436B"/>
            </a:solidFill>
            <a:prstDash val="solid"/>
          </a:ln>
        </p:spPr>
      </p:sp>
      <p:sp>
        <p:nvSpPr>
          <p:cNvPr id="294" name="Shape 292"/>
          <p:cNvSpPr/>
          <p:nvPr/>
        </p:nvSpPr>
        <p:spPr>
          <a:xfrm>
            <a:off x="4352544" y="4974336"/>
            <a:ext cx="105156" cy="105156"/>
          </a:xfrm>
          <a:prstGeom prst="rect">
            <a:avLst/>
          </a:prstGeom>
          <a:solidFill>
            <a:srgbClr val="17436B"/>
          </a:solidFill>
          <a:ln w="12700">
            <a:solidFill>
              <a:srgbClr val="17436B"/>
            </a:solidFill>
            <a:prstDash val="solid"/>
          </a:ln>
        </p:spPr>
      </p:sp>
      <p:sp>
        <p:nvSpPr>
          <p:cNvPr id="295" name="Shape 293"/>
          <p:cNvSpPr/>
          <p:nvPr/>
        </p:nvSpPr>
        <p:spPr>
          <a:xfrm>
            <a:off x="4498848" y="4974336"/>
            <a:ext cx="105156" cy="105156"/>
          </a:xfrm>
          <a:prstGeom prst="rect">
            <a:avLst/>
          </a:prstGeom>
          <a:solidFill>
            <a:srgbClr val="17436B"/>
          </a:solidFill>
          <a:ln w="12700">
            <a:solidFill>
              <a:srgbClr val="17436B"/>
            </a:solidFill>
            <a:prstDash val="solid"/>
          </a:ln>
        </p:spPr>
      </p:sp>
      <p:sp>
        <p:nvSpPr>
          <p:cNvPr id="296" name="Shape 294"/>
          <p:cNvSpPr/>
          <p:nvPr/>
        </p:nvSpPr>
        <p:spPr>
          <a:xfrm>
            <a:off x="4645152" y="4974336"/>
            <a:ext cx="105156" cy="105156"/>
          </a:xfrm>
          <a:prstGeom prst="rect">
            <a:avLst/>
          </a:prstGeom>
          <a:solidFill>
            <a:srgbClr val="17436B"/>
          </a:solidFill>
          <a:ln w="12700">
            <a:solidFill>
              <a:srgbClr val="17436B"/>
            </a:solidFill>
            <a:prstDash val="solid"/>
          </a:ln>
        </p:spPr>
      </p:sp>
      <p:sp>
        <p:nvSpPr>
          <p:cNvPr id="297" name="Shape 295"/>
          <p:cNvSpPr/>
          <p:nvPr/>
        </p:nvSpPr>
        <p:spPr>
          <a:xfrm>
            <a:off x="548640" y="5120640"/>
            <a:ext cx="105156" cy="105156"/>
          </a:xfrm>
          <a:prstGeom prst="rect">
            <a:avLst/>
          </a:prstGeom>
          <a:solidFill>
            <a:srgbClr val="17436B"/>
          </a:solidFill>
          <a:ln w="12700">
            <a:solidFill>
              <a:srgbClr val="17436B"/>
            </a:solidFill>
            <a:prstDash val="solid"/>
          </a:ln>
        </p:spPr>
      </p:sp>
      <p:sp>
        <p:nvSpPr>
          <p:cNvPr id="298" name="Shape 296"/>
          <p:cNvSpPr/>
          <p:nvPr/>
        </p:nvSpPr>
        <p:spPr>
          <a:xfrm>
            <a:off x="694944" y="5120640"/>
            <a:ext cx="105156" cy="105156"/>
          </a:xfrm>
          <a:prstGeom prst="rect">
            <a:avLst/>
          </a:prstGeom>
          <a:solidFill>
            <a:srgbClr val="17436B"/>
          </a:solidFill>
          <a:ln w="12700">
            <a:solidFill>
              <a:srgbClr val="17436B"/>
            </a:solidFill>
            <a:prstDash val="solid"/>
          </a:ln>
        </p:spPr>
      </p:sp>
      <p:sp>
        <p:nvSpPr>
          <p:cNvPr id="299" name="Shape 297"/>
          <p:cNvSpPr/>
          <p:nvPr/>
        </p:nvSpPr>
        <p:spPr>
          <a:xfrm>
            <a:off x="841248" y="5120640"/>
            <a:ext cx="105156" cy="105156"/>
          </a:xfrm>
          <a:prstGeom prst="rect">
            <a:avLst/>
          </a:prstGeom>
          <a:solidFill>
            <a:srgbClr val="17436B"/>
          </a:solidFill>
          <a:ln w="12700">
            <a:solidFill>
              <a:srgbClr val="17436B"/>
            </a:solidFill>
            <a:prstDash val="solid"/>
          </a:ln>
        </p:spPr>
      </p:sp>
      <p:sp>
        <p:nvSpPr>
          <p:cNvPr id="300" name="Shape 298"/>
          <p:cNvSpPr/>
          <p:nvPr/>
        </p:nvSpPr>
        <p:spPr>
          <a:xfrm>
            <a:off x="987552" y="5120640"/>
            <a:ext cx="105156" cy="105156"/>
          </a:xfrm>
          <a:prstGeom prst="rect">
            <a:avLst/>
          </a:prstGeom>
          <a:solidFill>
            <a:srgbClr val="17436B"/>
          </a:solidFill>
          <a:ln w="12700">
            <a:solidFill>
              <a:srgbClr val="17436B"/>
            </a:solidFill>
            <a:prstDash val="solid"/>
          </a:ln>
        </p:spPr>
      </p:sp>
      <p:sp>
        <p:nvSpPr>
          <p:cNvPr id="301" name="Shape 299"/>
          <p:cNvSpPr/>
          <p:nvPr/>
        </p:nvSpPr>
        <p:spPr>
          <a:xfrm>
            <a:off x="1133856" y="5120640"/>
            <a:ext cx="105156" cy="105156"/>
          </a:xfrm>
          <a:prstGeom prst="rect">
            <a:avLst/>
          </a:prstGeom>
          <a:solidFill>
            <a:srgbClr val="17436B"/>
          </a:solidFill>
          <a:ln w="12700">
            <a:solidFill>
              <a:srgbClr val="17436B"/>
            </a:solidFill>
            <a:prstDash val="solid"/>
          </a:ln>
        </p:spPr>
      </p:sp>
      <p:sp>
        <p:nvSpPr>
          <p:cNvPr id="302" name="Shape 300"/>
          <p:cNvSpPr/>
          <p:nvPr/>
        </p:nvSpPr>
        <p:spPr>
          <a:xfrm>
            <a:off x="1280160" y="5120640"/>
            <a:ext cx="105156" cy="105156"/>
          </a:xfrm>
          <a:prstGeom prst="rect">
            <a:avLst/>
          </a:prstGeom>
          <a:solidFill>
            <a:srgbClr val="17436B"/>
          </a:solidFill>
          <a:ln w="12700">
            <a:solidFill>
              <a:srgbClr val="17436B"/>
            </a:solidFill>
            <a:prstDash val="solid"/>
          </a:ln>
        </p:spPr>
      </p:sp>
      <p:sp>
        <p:nvSpPr>
          <p:cNvPr id="303" name="Shape 301"/>
          <p:cNvSpPr/>
          <p:nvPr/>
        </p:nvSpPr>
        <p:spPr>
          <a:xfrm>
            <a:off x="1426464" y="5120640"/>
            <a:ext cx="105156" cy="105156"/>
          </a:xfrm>
          <a:prstGeom prst="rect">
            <a:avLst/>
          </a:prstGeom>
          <a:solidFill>
            <a:srgbClr val="17436B"/>
          </a:solidFill>
          <a:ln w="12700">
            <a:solidFill>
              <a:srgbClr val="17436B"/>
            </a:solidFill>
            <a:prstDash val="solid"/>
          </a:ln>
        </p:spPr>
      </p:sp>
      <p:sp>
        <p:nvSpPr>
          <p:cNvPr id="304" name="Shape 302"/>
          <p:cNvSpPr/>
          <p:nvPr/>
        </p:nvSpPr>
        <p:spPr>
          <a:xfrm>
            <a:off x="1572768" y="5120640"/>
            <a:ext cx="105156" cy="105156"/>
          </a:xfrm>
          <a:prstGeom prst="rect">
            <a:avLst/>
          </a:prstGeom>
          <a:solidFill>
            <a:srgbClr val="17436B"/>
          </a:solidFill>
          <a:ln w="12700">
            <a:solidFill>
              <a:srgbClr val="17436B"/>
            </a:solidFill>
            <a:prstDash val="solid"/>
          </a:ln>
        </p:spPr>
      </p:sp>
      <p:sp>
        <p:nvSpPr>
          <p:cNvPr id="305" name="Shape 303"/>
          <p:cNvSpPr/>
          <p:nvPr/>
        </p:nvSpPr>
        <p:spPr>
          <a:xfrm>
            <a:off x="1719072" y="5120640"/>
            <a:ext cx="105156" cy="105156"/>
          </a:xfrm>
          <a:prstGeom prst="rect">
            <a:avLst/>
          </a:prstGeom>
          <a:solidFill>
            <a:srgbClr val="17436B"/>
          </a:solidFill>
          <a:ln w="12700">
            <a:solidFill>
              <a:srgbClr val="17436B"/>
            </a:solidFill>
            <a:prstDash val="solid"/>
          </a:ln>
        </p:spPr>
      </p:sp>
      <p:sp>
        <p:nvSpPr>
          <p:cNvPr id="306" name="Shape 304"/>
          <p:cNvSpPr/>
          <p:nvPr/>
        </p:nvSpPr>
        <p:spPr>
          <a:xfrm>
            <a:off x="1865376" y="5120640"/>
            <a:ext cx="105156" cy="105156"/>
          </a:xfrm>
          <a:prstGeom prst="rect">
            <a:avLst/>
          </a:prstGeom>
          <a:solidFill>
            <a:srgbClr val="17436B"/>
          </a:solidFill>
          <a:ln w="12700">
            <a:solidFill>
              <a:srgbClr val="17436B"/>
            </a:solidFill>
            <a:prstDash val="solid"/>
          </a:ln>
        </p:spPr>
      </p:sp>
      <p:sp>
        <p:nvSpPr>
          <p:cNvPr id="307" name="Shape 305"/>
          <p:cNvSpPr/>
          <p:nvPr/>
        </p:nvSpPr>
        <p:spPr>
          <a:xfrm>
            <a:off x="2011680" y="5120640"/>
            <a:ext cx="105156" cy="105156"/>
          </a:xfrm>
          <a:prstGeom prst="rect">
            <a:avLst/>
          </a:prstGeom>
          <a:solidFill>
            <a:srgbClr val="17436B"/>
          </a:solidFill>
          <a:ln w="12700">
            <a:solidFill>
              <a:srgbClr val="17436B"/>
            </a:solidFill>
            <a:prstDash val="solid"/>
          </a:ln>
        </p:spPr>
      </p:sp>
      <p:sp>
        <p:nvSpPr>
          <p:cNvPr id="308" name="Shape 306"/>
          <p:cNvSpPr/>
          <p:nvPr/>
        </p:nvSpPr>
        <p:spPr>
          <a:xfrm>
            <a:off x="2157984" y="5120640"/>
            <a:ext cx="105156" cy="105156"/>
          </a:xfrm>
          <a:prstGeom prst="rect">
            <a:avLst/>
          </a:prstGeom>
          <a:solidFill>
            <a:srgbClr val="17436B"/>
          </a:solidFill>
          <a:ln w="12700">
            <a:solidFill>
              <a:srgbClr val="17436B"/>
            </a:solidFill>
            <a:prstDash val="solid"/>
          </a:ln>
        </p:spPr>
      </p:sp>
      <p:sp>
        <p:nvSpPr>
          <p:cNvPr id="309" name="Shape 307"/>
          <p:cNvSpPr/>
          <p:nvPr/>
        </p:nvSpPr>
        <p:spPr>
          <a:xfrm>
            <a:off x="2304288" y="5120640"/>
            <a:ext cx="105156" cy="105156"/>
          </a:xfrm>
          <a:prstGeom prst="rect">
            <a:avLst/>
          </a:prstGeom>
          <a:solidFill>
            <a:srgbClr val="17436B"/>
          </a:solidFill>
          <a:ln w="12700">
            <a:solidFill>
              <a:srgbClr val="17436B"/>
            </a:solidFill>
            <a:prstDash val="solid"/>
          </a:ln>
        </p:spPr>
      </p:sp>
      <p:sp>
        <p:nvSpPr>
          <p:cNvPr id="310" name="Shape 308"/>
          <p:cNvSpPr/>
          <p:nvPr/>
        </p:nvSpPr>
        <p:spPr>
          <a:xfrm>
            <a:off x="2450592" y="5120640"/>
            <a:ext cx="105156" cy="105156"/>
          </a:xfrm>
          <a:prstGeom prst="rect">
            <a:avLst/>
          </a:prstGeom>
          <a:solidFill>
            <a:srgbClr val="17436B"/>
          </a:solidFill>
          <a:ln w="12700">
            <a:solidFill>
              <a:srgbClr val="17436B"/>
            </a:solidFill>
            <a:prstDash val="solid"/>
          </a:ln>
        </p:spPr>
      </p:sp>
      <p:sp>
        <p:nvSpPr>
          <p:cNvPr id="311" name="Shape 309"/>
          <p:cNvSpPr/>
          <p:nvPr/>
        </p:nvSpPr>
        <p:spPr>
          <a:xfrm>
            <a:off x="2596896" y="5120640"/>
            <a:ext cx="105156" cy="105156"/>
          </a:xfrm>
          <a:prstGeom prst="rect">
            <a:avLst/>
          </a:prstGeom>
          <a:solidFill>
            <a:srgbClr val="17436B"/>
          </a:solidFill>
          <a:ln w="12700">
            <a:solidFill>
              <a:srgbClr val="17436B"/>
            </a:solidFill>
            <a:prstDash val="solid"/>
          </a:ln>
        </p:spPr>
      </p:sp>
      <p:sp>
        <p:nvSpPr>
          <p:cNvPr id="312" name="Shape 310"/>
          <p:cNvSpPr/>
          <p:nvPr/>
        </p:nvSpPr>
        <p:spPr>
          <a:xfrm>
            <a:off x="2743200" y="5120640"/>
            <a:ext cx="105156" cy="105156"/>
          </a:xfrm>
          <a:prstGeom prst="rect">
            <a:avLst/>
          </a:prstGeom>
          <a:solidFill>
            <a:srgbClr val="17436B"/>
          </a:solidFill>
          <a:ln w="12700">
            <a:solidFill>
              <a:srgbClr val="17436B"/>
            </a:solidFill>
            <a:prstDash val="solid"/>
          </a:ln>
        </p:spPr>
      </p:sp>
      <p:sp>
        <p:nvSpPr>
          <p:cNvPr id="313" name="Shape 311"/>
          <p:cNvSpPr/>
          <p:nvPr/>
        </p:nvSpPr>
        <p:spPr>
          <a:xfrm>
            <a:off x="2889504" y="5120640"/>
            <a:ext cx="105156" cy="105156"/>
          </a:xfrm>
          <a:prstGeom prst="rect">
            <a:avLst/>
          </a:prstGeom>
          <a:solidFill>
            <a:srgbClr val="17436B"/>
          </a:solidFill>
          <a:ln w="12700">
            <a:solidFill>
              <a:srgbClr val="17436B"/>
            </a:solidFill>
            <a:prstDash val="solid"/>
          </a:ln>
        </p:spPr>
      </p:sp>
      <p:sp>
        <p:nvSpPr>
          <p:cNvPr id="314" name="Shape 312"/>
          <p:cNvSpPr/>
          <p:nvPr/>
        </p:nvSpPr>
        <p:spPr>
          <a:xfrm>
            <a:off x="3035808" y="5120640"/>
            <a:ext cx="105156" cy="105156"/>
          </a:xfrm>
          <a:prstGeom prst="rect">
            <a:avLst/>
          </a:prstGeom>
          <a:solidFill>
            <a:srgbClr val="17436B"/>
          </a:solidFill>
          <a:ln w="12700">
            <a:solidFill>
              <a:srgbClr val="17436B"/>
            </a:solidFill>
            <a:prstDash val="solid"/>
          </a:ln>
        </p:spPr>
      </p:sp>
      <p:sp>
        <p:nvSpPr>
          <p:cNvPr id="315" name="Shape 313"/>
          <p:cNvSpPr/>
          <p:nvPr/>
        </p:nvSpPr>
        <p:spPr>
          <a:xfrm>
            <a:off x="3182112" y="5120640"/>
            <a:ext cx="105156" cy="105156"/>
          </a:xfrm>
          <a:prstGeom prst="rect">
            <a:avLst/>
          </a:prstGeom>
          <a:solidFill>
            <a:srgbClr val="17436B"/>
          </a:solidFill>
          <a:ln w="12700">
            <a:solidFill>
              <a:srgbClr val="17436B"/>
            </a:solidFill>
            <a:prstDash val="solid"/>
          </a:ln>
        </p:spPr>
      </p:sp>
      <p:sp>
        <p:nvSpPr>
          <p:cNvPr id="316" name="Shape 314"/>
          <p:cNvSpPr/>
          <p:nvPr/>
        </p:nvSpPr>
        <p:spPr>
          <a:xfrm>
            <a:off x="3328416" y="5120640"/>
            <a:ext cx="105156" cy="105156"/>
          </a:xfrm>
          <a:prstGeom prst="rect">
            <a:avLst/>
          </a:prstGeom>
          <a:solidFill>
            <a:srgbClr val="17436B"/>
          </a:solidFill>
          <a:ln w="12700">
            <a:solidFill>
              <a:srgbClr val="17436B"/>
            </a:solidFill>
            <a:prstDash val="solid"/>
          </a:ln>
        </p:spPr>
      </p:sp>
      <p:sp>
        <p:nvSpPr>
          <p:cNvPr id="317" name="Shape 315"/>
          <p:cNvSpPr/>
          <p:nvPr/>
        </p:nvSpPr>
        <p:spPr>
          <a:xfrm>
            <a:off x="3474720" y="5120640"/>
            <a:ext cx="105156" cy="105156"/>
          </a:xfrm>
          <a:prstGeom prst="rect">
            <a:avLst/>
          </a:prstGeom>
          <a:solidFill>
            <a:srgbClr val="17436B"/>
          </a:solidFill>
          <a:ln w="12700">
            <a:solidFill>
              <a:srgbClr val="17436B"/>
            </a:solidFill>
            <a:prstDash val="solid"/>
          </a:ln>
        </p:spPr>
      </p:sp>
      <p:sp>
        <p:nvSpPr>
          <p:cNvPr id="318" name="Shape 316"/>
          <p:cNvSpPr/>
          <p:nvPr/>
        </p:nvSpPr>
        <p:spPr>
          <a:xfrm>
            <a:off x="3621024" y="5120640"/>
            <a:ext cx="105156" cy="105156"/>
          </a:xfrm>
          <a:prstGeom prst="rect">
            <a:avLst/>
          </a:prstGeom>
          <a:solidFill>
            <a:srgbClr val="17436B"/>
          </a:solidFill>
          <a:ln w="12700">
            <a:solidFill>
              <a:srgbClr val="17436B"/>
            </a:solidFill>
            <a:prstDash val="solid"/>
          </a:ln>
        </p:spPr>
      </p:sp>
      <p:sp>
        <p:nvSpPr>
          <p:cNvPr id="319" name="Shape 317"/>
          <p:cNvSpPr/>
          <p:nvPr/>
        </p:nvSpPr>
        <p:spPr>
          <a:xfrm>
            <a:off x="3767328" y="5120640"/>
            <a:ext cx="105156" cy="105156"/>
          </a:xfrm>
          <a:prstGeom prst="rect">
            <a:avLst/>
          </a:prstGeom>
          <a:solidFill>
            <a:srgbClr val="17436B"/>
          </a:solidFill>
          <a:ln w="12700">
            <a:solidFill>
              <a:srgbClr val="17436B"/>
            </a:solidFill>
            <a:prstDash val="solid"/>
          </a:ln>
        </p:spPr>
      </p:sp>
      <p:sp>
        <p:nvSpPr>
          <p:cNvPr id="320" name="Shape 318"/>
          <p:cNvSpPr/>
          <p:nvPr/>
        </p:nvSpPr>
        <p:spPr>
          <a:xfrm>
            <a:off x="3913632" y="5120640"/>
            <a:ext cx="105156" cy="105156"/>
          </a:xfrm>
          <a:prstGeom prst="rect">
            <a:avLst/>
          </a:prstGeom>
          <a:solidFill>
            <a:srgbClr val="17436B"/>
          </a:solidFill>
          <a:ln w="12700">
            <a:solidFill>
              <a:srgbClr val="17436B"/>
            </a:solidFill>
            <a:prstDash val="solid"/>
          </a:ln>
        </p:spPr>
      </p:sp>
      <p:sp>
        <p:nvSpPr>
          <p:cNvPr id="321" name="Shape 319"/>
          <p:cNvSpPr/>
          <p:nvPr/>
        </p:nvSpPr>
        <p:spPr>
          <a:xfrm>
            <a:off x="4059936" y="5120640"/>
            <a:ext cx="105156" cy="105156"/>
          </a:xfrm>
          <a:prstGeom prst="rect">
            <a:avLst/>
          </a:prstGeom>
          <a:solidFill>
            <a:srgbClr val="17436B"/>
          </a:solidFill>
          <a:ln w="12700">
            <a:solidFill>
              <a:srgbClr val="17436B"/>
            </a:solidFill>
            <a:prstDash val="solid"/>
          </a:ln>
        </p:spPr>
      </p:sp>
      <p:sp>
        <p:nvSpPr>
          <p:cNvPr id="322" name="Shape 320"/>
          <p:cNvSpPr/>
          <p:nvPr/>
        </p:nvSpPr>
        <p:spPr>
          <a:xfrm>
            <a:off x="4206240" y="5120640"/>
            <a:ext cx="105156" cy="105156"/>
          </a:xfrm>
          <a:prstGeom prst="rect">
            <a:avLst/>
          </a:prstGeom>
          <a:solidFill>
            <a:srgbClr val="17436B"/>
          </a:solidFill>
          <a:ln w="12700">
            <a:solidFill>
              <a:srgbClr val="17436B"/>
            </a:solidFill>
            <a:prstDash val="solid"/>
          </a:ln>
        </p:spPr>
      </p:sp>
      <p:sp>
        <p:nvSpPr>
          <p:cNvPr id="323" name="Shape 321"/>
          <p:cNvSpPr/>
          <p:nvPr/>
        </p:nvSpPr>
        <p:spPr>
          <a:xfrm>
            <a:off x="4352544" y="5120640"/>
            <a:ext cx="105156" cy="105156"/>
          </a:xfrm>
          <a:prstGeom prst="rect">
            <a:avLst/>
          </a:prstGeom>
          <a:solidFill>
            <a:srgbClr val="17436B"/>
          </a:solidFill>
          <a:ln w="12700">
            <a:solidFill>
              <a:srgbClr val="17436B"/>
            </a:solidFill>
            <a:prstDash val="solid"/>
          </a:ln>
        </p:spPr>
      </p:sp>
      <p:sp>
        <p:nvSpPr>
          <p:cNvPr id="324" name="Shape 322"/>
          <p:cNvSpPr/>
          <p:nvPr/>
        </p:nvSpPr>
        <p:spPr>
          <a:xfrm>
            <a:off x="4498848" y="5120640"/>
            <a:ext cx="105156" cy="105156"/>
          </a:xfrm>
          <a:prstGeom prst="rect">
            <a:avLst/>
          </a:prstGeom>
          <a:solidFill>
            <a:srgbClr val="17436B"/>
          </a:solidFill>
          <a:ln w="12700">
            <a:solidFill>
              <a:srgbClr val="17436B"/>
            </a:solidFill>
            <a:prstDash val="solid"/>
          </a:ln>
        </p:spPr>
      </p:sp>
      <p:sp>
        <p:nvSpPr>
          <p:cNvPr id="325" name="Shape 323"/>
          <p:cNvSpPr/>
          <p:nvPr/>
        </p:nvSpPr>
        <p:spPr>
          <a:xfrm>
            <a:off x="4645152" y="5120640"/>
            <a:ext cx="105156" cy="105156"/>
          </a:xfrm>
          <a:prstGeom prst="rect">
            <a:avLst/>
          </a:prstGeom>
          <a:solidFill>
            <a:srgbClr val="17436B"/>
          </a:solidFill>
          <a:ln w="12700">
            <a:solidFill>
              <a:srgbClr val="17436B"/>
            </a:solidFill>
            <a:prstDash val="solid"/>
          </a:ln>
        </p:spPr>
      </p:sp>
      <p:sp>
        <p:nvSpPr>
          <p:cNvPr id="326" name="Shape 324"/>
          <p:cNvSpPr/>
          <p:nvPr/>
        </p:nvSpPr>
        <p:spPr>
          <a:xfrm>
            <a:off x="548640" y="5266944"/>
            <a:ext cx="105156" cy="105156"/>
          </a:xfrm>
          <a:prstGeom prst="rect">
            <a:avLst/>
          </a:prstGeom>
          <a:solidFill>
            <a:srgbClr val="17436B"/>
          </a:solidFill>
          <a:ln w="12700">
            <a:solidFill>
              <a:srgbClr val="17436B"/>
            </a:solidFill>
            <a:prstDash val="solid"/>
          </a:ln>
        </p:spPr>
      </p:sp>
      <p:sp>
        <p:nvSpPr>
          <p:cNvPr id="327" name="Shape 325"/>
          <p:cNvSpPr/>
          <p:nvPr/>
        </p:nvSpPr>
        <p:spPr>
          <a:xfrm>
            <a:off x="694944" y="5266944"/>
            <a:ext cx="105156" cy="105156"/>
          </a:xfrm>
          <a:prstGeom prst="rect">
            <a:avLst/>
          </a:prstGeom>
          <a:solidFill>
            <a:srgbClr val="17436B"/>
          </a:solidFill>
          <a:ln w="12700">
            <a:solidFill>
              <a:srgbClr val="17436B"/>
            </a:solidFill>
            <a:prstDash val="solid"/>
          </a:ln>
        </p:spPr>
      </p:sp>
      <p:sp>
        <p:nvSpPr>
          <p:cNvPr id="328" name="Shape 326"/>
          <p:cNvSpPr/>
          <p:nvPr/>
        </p:nvSpPr>
        <p:spPr>
          <a:xfrm>
            <a:off x="841248" y="5266944"/>
            <a:ext cx="105156" cy="105156"/>
          </a:xfrm>
          <a:prstGeom prst="rect">
            <a:avLst/>
          </a:prstGeom>
          <a:solidFill>
            <a:srgbClr val="17436B"/>
          </a:solidFill>
          <a:ln w="12700">
            <a:solidFill>
              <a:srgbClr val="17436B"/>
            </a:solidFill>
            <a:prstDash val="solid"/>
          </a:ln>
        </p:spPr>
      </p:sp>
      <p:sp>
        <p:nvSpPr>
          <p:cNvPr id="329" name="Shape 327"/>
          <p:cNvSpPr/>
          <p:nvPr/>
        </p:nvSpPr>
        <p:spPr>
          <a:xfrm>
            <a:off x="987552" y="5266944"/>
            <a:ext cx="105156" cy="105156"/>
          </a:xfrm>
          <a:prstGeom prst="rect">
            <a:avLst/>
          </a:prstGeom>
          <a:solidFill>
            <a:srgbClr val="17436B"/>
          </a:solidFill>
          <a:ln w="12700">
            <a:solidFill>
              <a:srgbClr val="17436B"/>
            </a:solidFill>
            <a:prstDash val="solid"/>
          </a:ln>
        </p:spPr>
      </p:sp>
      <p:sp>
        <p:nvSpPr>
          <p:cNvPr id="330" name="Shape 328"/>
          <p:cNvSpPr/>
          <p:nvPr/>
        </p:nvSpPr>
        <p:spPr>
          <a:xfrm>
            <a:off x="1133856" y="5266944"/>
            <a:ext cx="105156" cy="105156"/>
          </a:xfrm>
          <a:prstGeom prst="rect">
            <a:avLst/>
          </a:prstGeom>
          <a:solidFill>
            <a:srgbClr val="17436B"/>
          </a:solidFill>
          <a:ln w="12700">
            <a:solidFill>
              <a:srgbClr val="17436B"/>
            </a:solidFill>
            <a:prstDash val="solid"/>
          </a:ln>
        </p:spPr>
      </p:sp>
      <p:sp>
        <p:nvSpPr>
          <p:cNvPr id="331" name="Shape 329"/>
          <p:cNvSpPr/>
          <p:nvPr/>
        </p:nvSpPr>
        <p:spPr>
          <a:xfrm>
            <a:off x="1280160" y="5266944"/>
            <a:ext cx="105156" cy="105156"/>
          </a:xfrm>
          <a:prstGeom prst="rect">
            <a:avLst/>
          </a:prstGeom>
          <a:solidFill>
            <a:srgbClr val="17436B"/>
          </a:solidFill>
          <a:ln w="12700">
            <a:solidFill>
              <a:srgbClr val="17436B"/>
            </a:solidFill>
            <a:prstDash val="solid"/>
          </a:ln>
        </p:spPr>
      </p:sp>
      <p:sp>
        <p:nvSpPr>
          <p:cNvPr id="332" name="Shape 330"/>
          <p:cNvSpPr/>
          <p:nvPr/>
        </p:nvSpPr>
        <p:spPr>
          <a:xfrm>
            <a:off x="1426464" y="5266944"/>
            <a:ext cx="105156" cy="105156"/>
          </a:xfrm>
          <a:prstGeom prst="rect">
            <a:avLst/>
          </a:prstGeom>
          <a:solidFill>
            <a:srgbClr val="17436B"/>
          </a:solidFill>
          <a:ln w="12700">
            <a:solidFill>
              <a:srgbClr val="17436B"/>
            </a:solidFill>
            <a:prstDash val="solid"/>
          </a:ln>
        </p:spPr>
      </p:sp>
      <p:sp>
        <p:nvSpPr>
          <p:cNvPr id="333" name="Shape 331"/>
          <p:cNvSpPr/>
          <p:nvPr/>
        </p:nvSpPr>
        <p:spPr>
          <a:xfrm>
            <a:off x="1572768" y="5266944"/>
            <a:ext cx="105156" cy="105156"/>
          </a:xfrm>
          <a:prstGeom prst="rect">
            <a:avLst/>
          </a:prstGeom>
          <a:solidFill>
            <a:srgbClr val="17436B"/>
          </a:solidFill>
          <a:ln w="12700">
            <a:solidFill>
              <a:srgbClr val="17436B"/>
            </a:solidFill>
            <a:prstDash val="solid"/>
          </a:ln>
        </p:spPr>
      </p:sp>
      <p:sp>
        <p:nvSpPr>
          <p:cNvPr id="334" name="Shape 332"/>
          <p:cNvSpPr/>
          <p:nvPr/>
        </p:nvSpPr>
        <p:spPr>
          <a:xfrm>
            <a:off x="1719072" y="5266944"/>
            <a:ext cx="105156" cy="105156"/>
          </a:xfrm>
          <a:prstGeom prst="rect">
            <a:avLst/>
          </a:prstGeom>
          <a:solidFill>
            <a:srgbClr val="17436B"/>
          </a:solidFill>
          <a:ln w="12700">
            <a:solidFill>
              <a:srgbClr val="17436B"/>
            </a:solidFill>
            <a:prstDash val="solid"/>
          </a:ln>
        </p:spPr>
      </p:sp>
      <p:sp>
        <p:nvSpPr>
          <p:cNvPr id="335" name="Shape 333"/>
          <p:cNvSpPr/>
          <p:nvPr/>
        </p:nvSpPr>
        <p:spPr>
          <a:xfrm>
            <a:off x="1865376" y="5266944"/>
            <a:ext cx="105156" cy="105156"/>
          </a:xfrm>
          <a:prstGeom prst="rect">
            <a:avLst/>
          </a:prstGeom>
          <a:solidFill>
            <a:srgbClr val="17436B"/>
          </a:solidFill>
          <a:ln w="12700">
            <a:solidFill>
              <a:srgbClr val="17436B"/>
            </a:solidFill>
            <a:prstDash val="solid"/>
          </a:ln>
        </p:spPr>
      </p:sp>
      <p:sp>
        <p:nvSpPr>
          <p:cNvPr id="336" name="Shape 334"/>
          <p:cNvSpPr/>
          <p:nvPr/>
        </p:nvSpPr>
        <p:spPr>
          <a:xfrm>
            <a:off x="2011680" y="5266944"/>
            <a:ext cx="105156" cy="105156"/>
          </a:xfrm>
          <a:prstGeom prst="rect">
            <a:avLst/>
          </a:prstGeom>
          <a:solidFill>
            <a:srgbClr val="17436B"/>
          </a:solidFill>
          <a:ln w="12700">
            <a:solidFill>
              <a:srgbClr val="17436B"/>
            </a:solidFill>
            <a:prstDash val="solid"/>
          </a:ln>
        </p:spPr>
      </p:sp>
      <p:sp>
        <p:nvSpPr>
          <p:cNvPr id="337" name="Shape 335"/>
          <p:cNvSpPr/>
          <p:nvPr/>
        </p:nvSpPr>
        <p:spPr>
          <a:xfrm>
            <a:off x="2157984" y="5266944"/>
            <a:ext cx="105156" cy="105156"/>
          </a:xfrm>
          <a:prstGeom prst="rect">
            <a:avLst/>
          </a:prstGeom>
          <a:solidFill>
            <a:srgbClr val="17436B"/>
          </a:solidFill>
          <a:ln w="12700">
            <a:solidFill>
              <a:srgbClr val="17436B"/>
            </a:solidFill>
            <a:prstDash val="solid"/>
          </a:ln>
        </p:spPr>
      </p:sp>
      <p:sp>
        <p:nvSpPr>
          <p:cNvPr id="338" name="Shape 336"/>
          <p:cNvSpPr/>
          <p:nvPr/>
        </p:nvSpPr>
        <p:spPr>
          <a:xfrm>
            <a:off x="2304288" y="5266944"/>
            <a:ext cx="105156" cy="105156"/>
          </a:xfrm>
          <a:prstGeom prst="rect">
            <a:avLst/>
          </a:prstGeom>
          <a:solidFill>
            <a:srgbClr val="17436B"/>
          </a:solidFill>
          <a:ln w="12700">
            <a:solidFill>
              <a:srgbClr val="17436B"/>
            </a:solidFill>
            <a:prstDash val="solid"/>
          </a:ln>
        </p:spPr>
      </p:sp>
      <p:sp>
        <p:nvSpPr>
          <p:cNvPr id="339" name="Shape 337"/>
          <p:cNvSpPr/>
          <p:nvPr/>
        </p:nvSpPr>
        <p:spPr>
          <a:xfrm>
            <a:off x="2450592" y="5266944"/>
            <a:ext cx="105156" cy="105156"/>
          </a:xfrm>
          <a:prstGeom prst="rect">
            <a:avLst/>
          </a:prstGeom>
          <a:solidFill>
            <a:srgbClr val="17436B"/>
          </a:solidFill>
          <a:ln w="12700">
            <a:solidFill>
              <a:srgbClr val="17436B"/>
            </a:solidFill>
            <a:prstDash val="solid"/>
          </a:ln>
        </p:spPr>
      </p:sp>
      <p:sp>
        <p:nvSpPr>
          <p:cNvPr id="340" name="Shape 338"/>
          <p:cNvSpPr/>
          <p:nvPr/>
        </p:nvSpPr>
        <p:spPr>
          <a:xfrm>
            <a:off x="2596896" y="5266944"/>
            <a:ext cx="105156" cy="105156"/>
          </a:xfrm>
          <a:prstGeom prst="rect">
            <a:avLst/>
          </a:prstGeom>
          <a:solidFill>
            <a:srgbClr val="17436B"/>
          </a:solidFill>
          <a:ln w="12700">
            <a:solidFill>
              <a:srgbClr val="17436B"/>
            </a:solidFill>
            <a:prstDash val="solid"/>
          </a:ln>
        </p:spPr>
      </p:sp>
      <p:sp>
        <p:nvSpPr>
          <p:cNvPr id="341" name="Shape 339"/>
          <p:cNvSpPr/>
          <p:nvPr/>
        </p:nvSpPr>
        <p:spPr>
          <a:xfrm>
            <a:off x="2743200" y="5266944"/>
            <a:ext cx="105156" cy="105156"/>
          </a:xfrm>
          <a:prstGeom prst="rect">
            <a:avLst/>
          </a:prstGeom>
          <a:solidFill>
            <a:srgbClr val="17436B"/>
          </a:solidFill>
          <a:ln w="12700">
            <a:solidFill>
              <a:srgbClr val="17436B"/>
            </a:solidFill>
            <a:prstDash val="solid"/>
          </a:ln>
        </p:spPr>
      </p:sp>
      <p:sp>
        <p:nvSpPr>
          <p:cNvPr id="342" name="Shape 340"/>
          <p:cNvSpPr/>
          <p:nvPr/>
        </p:nvSpPr>
        <p:spPr>
          <a:xfrm>
            <a:off x="2889504" y="5266944"/>
            <a:ext cx="105156" cy="105156"/>
          </a:xfrm>
          <a:prstGeom prst="rect">
            <a:avLst/>
          </a:prstGeom>
          <a:solidFill>
            <a:srgbClr val="17436B"/>
          </a:solidFill>
          <a:ln w="12700">
            <a:solidFill>
              <a:srgbClr val="17436B"/>
            </a:solidFill>
            <a:prstDash val="solid"/>
          </a:ln>
        </p:spPr>
      </p:sp>
      <p:sp>
        <p:nvSpPr>
          <p:cNvPr id="343" name="Shape 341"/>
          <p:cNvSpPr/>
          <p:nvPr/>
        </p:nvSpPr>
        <p:spPr>
          <a:xfrm>
            <a:off x="3035808" y="5266944"/>
            <a:ext cx="105156" cy="105156"/>
          </a:xfrm>
          <a:prstGeom prst="rect">
            <a:avLst/>
          </a:prstGeom>
          <a:solidFill>
            <a:srgbClr val="17436B"/>
          </a:solidFill>
          <a:ln w="12700">
            <a:solidFill>
              <a:srgbClr val="17436B"/>
            </a:solidFill>
            <a:prstDash val="solid"/>
          </a:ln>
        </p:spPr>
      </p:sp>
      <p:sp>
        <p:nvSpPr>
          <p:cNvPr id="344" name="Shape 342"/>
          <p:cNvSpPr/>
          <p:nvPr/>
        </p:nvSpPr>
        <p:spPr>
          <a:xfrm>
            <a:off x="3182112" y="5266944"/>
            <a:ext cx="105156" cy="105156"/>
          </a:xfrm>
          <a:prstGeom prst="rect">
            <a:avLst/>
          </a:prstGeom>
          <a:solidFill>
            <a:srgbClr val="17436B"/>
          </a:solidFill>
          <a:ln w="12700">
            <a:solidFill>
              <a:srgbClr val="17436B"/>
            </a:solidFill>
            <a:prstDash val="solid"/>
          </a:ln>
        </p:spPr>
      </p:sp>
      <p:sp>
        <p:nvSpPr>
          <p:cNvPr id="345" name="Shape 343"/>
          <p:cNvSpPr/>
          <p:nvPr/>
        </p:nvSpPr>
        <p:spPr>
          <a:xfrm>
            <a:off x="3328416" y="5266944"/>
            <a:ext cx="105156" cy="105156"/>
          </a:xfrm>
          <a:prstGeom prst="rect">
            <a:avLst/>
          </a:prstGeom>
          <a:solidFill>
            <a:srgbClr val="17436B"/>
          </a:solidFill>
          <a:ln w="12700">
            <a:solidFill>
              <a:srgbClr val="17436B"/>
            </a:solidFill>
            <a:prstDash val="solid"/>
          </a:ln>
        </p:spPr>
      </p:sp>
      <p:sp>
        <p:nvSpPr>
          <p:cNvPr id="346" name="Shape 344"/>
          <p:cNvSpPr/>
          <p:nvPr/>
        </p:nvSpPr>
        <p:spPr>
          <a:xfrm>
            <a:off x="3474720" y="5266944"/>
            <a:ext cx="105156" cy="105156"/>
          </a:xfrm>
          <a:prstGeom prst="rect">
            <a:avLst/>
          </a:prstGeom>
          <a:solidFill>
            <a:srgbClr val="17436B"/>
          </a:solidFill>
          <a:ln w="12700">
            <a:solidFill>
              <a:srgbClr val="17436B"/>
            </a:solidFill>
            <a:prstDash val="solid"/>
          </a:ln>
        </p:spPr>
      </p:sp>
      <p:sp>
        <p:nvSpPr>
          <p:cNvPr id="347" name="Shape 345"/>
          <p:cNvSpPr/>
          <p:nvPr/>
        </p:nvSpPr>
        <p:spPr>
          <a:xfrm>
            <a:off x="3621024" y="5266944"/>
            <a:ext cx="105156" cy="105156"/>
          </a:xfrm>
          <a:prstGeom prst="rect">
            <a:avLst/>
          </a:prstGeom>
          <a:solidFill>
            <a:srgbClr val="17436B"/>
          </a:solidFill>
          <a:ln w="12700">
            <a:solidFill>
              <a:srgbClr val="17436B"/>
            </a:solidFill>
            <a:prstDash val="solid"/>
          </a:ln>
        </p:spPr>
      </p:sp>
      <p:sp>
        <p:nvSpPr>
          <p:cNvPr id="348" name="Shape 346"/>
          <p:cNvSpPr/>
          <p:nvPr/>
        </p:nvSpPr>
        <p:spPr>
          <a:xfrm>
            <a:off x="3767328" y="5266944"/>
            <a:ext cx="105156" cy="105156"/>
          </a:xfrm>
          <a:prstGeom prst="rect">
            <a:avLst/>
          </a:prstGeom>
          <a:solidFill>
            <a:srgbClr val="17436B"/>
          </a:solidFill>
          <a:ln w="12700">
            <a:solidFill>
              <a:srgbClr val="17436B"/>
            </a:solidFill>
            <a:prstDash val="solid"/>
          </a:ln>
        </p:spPr>
      </p:sp>
      <p:sp>
        <p:nvSpPr>
          <p:cNvPr id="349" name="Shape 347"/>
          <p:cNvSpPr/>
          <p:nvPr/>
        </p:nvSpPr>
        <p:spPr>
          <a:xfrm>
            <a:off x="3913632" y="5266944"/>
            <a:ext cx="105156" cy="105156"/>
          </a:xfrm>
          <a:prstGeom prst="rect">
            <a:avLst/>
          </a:prstGeom>
          <a:solidFill>
            <a:srgbClr val="17436B"/>
          </a:solidFill>
          <a:ln w="12700">
            <a:solidFill>
              <a:srgbClr val="17436B"/>
            </a:solidFill>
            <a:prstDash val="solid"/>
          </a:ln>
        </p:spPr>
      </p:sp>
      <p:sp>
        <p:nvSpPr>
          <p:cNvPr id="350" name="Shape 348"/>
          <p:cNvSpPr/>
          <p:nvPr/>
        </p:nvSpPr>
        <p:spPr>
          <a:xfrm>
            <a:off x="4059936" y="5266944"/>
            <a:ext cx="105156" cy="105156"/>
          </a:xfrm>
          <a:prstGeom prst="rect">
            <a:avLst/>
          </a:prstGeom>
          <a:solidFill>
            <a:srgbClr val="17436B"/>
          </a:solidFill>
          <a:ln w="12700">
            <a:solidFill>
              <a:srgbClr val="17436B"/>
            </a:solidFill>
            <a:prstDash val="solid"/>
          </a:ln>
        </p:spPr>
      </p:sp>
      <p:sp>
        <p:nvSpPr>
          <p:cNvPr id="351" name="Shape 349"/>
          <p:cNvSpPr/>
          <p:nvPr/>
        </p:nvSpPr>
        <p:spPr>
          <a:xfrm>
            <a:off x="4206240" y="5266944"/>
            <a:ext cx="105156" cy="105156"/>
          </a:xfrm>
          <a:prstGeom prst="rect">
            <a:avLst/>
          </a:prstGeom>
          <a:solidFill>
            <a:srgbClr val="17436B"/>
          </a:solidFill>
          <a:ln w="12700">
            <a:solidFill>
              <a:srgbClr val="17436B"/>
            </a:solidFill>
            <a:prstDash val="solid"/>
          </a:ln>
        </p:spPr>
      </p:sp>
      <p:sp>
        <p:nvSpPr>
          <p:cNvPr id="352" name="Shape 350"/>
          <p:cNvSpPr/>
          <p:nvPr/>
        </p:nvSpPr>
        <p:spPr>
          <a:xfrm>
            <a:off x="4352544" y="5266944"/>
            <a:ext cx="105156" cy="105156"/>
          </a:xfrm>
          <a:prstGeom prst="rect">
            <a:avLst/>
          </a:prstGeom>
          <a:solidFill>
            <a:srgbClr val="17436B"/>
          </a:solidFill>
          <a:ln w="12700">
            <a:solidFill>
              <a:srgbClr val="17436B"/>
            </a:solidFill>
            <a:prstDash val="solid"/>
          </a:ln>
        </p:spPr>
      </p:sp>
      <p:sp>
        <p:nvSpPr>
          <p:cNvPr id="353" name="Shape 351"/>
          <p:cNvSpPr/>
          <p:nvPr/>
        </p:nvSpPr>
        <p:spPr>
          <a:xfrm>
            <a:off x="4498848" y="5266944"/>
            <a:ext cx="105156" cy="105156"/>
          </a:xfrm>
          <a:prstGeom prst="rect">
            <a:avLst/>
          </a:prstGeom>
          <a:solidFill>
            <a:srgbClr val="17436B"/>
          </a:solidFill>
          <a:ln w="12700">
            <a:solidFill>
              <a:srgbClr val="17436B"/>
            </a:solidFill>
            <a:prstDash val="solid"/>
          </a:ln>
        </p:spPr>
      </p:sp>
      <p:sp>
        <p:nvSpPr>
          <p:cNvPr id="354" name="Shape 352"/>
          <p:cNvSpPr/>
          <p:nvPr/>
        </p:nvSpPr>
        <p:spPr>
          <a:xfrm>
            <a:off x="4645152" y="5266944"/>
            <a:ext cx="105156" cy="105156"/>
          </a:xfrm>
          <a:prstGeom prst="rect">
            <a:avLst/>
          </a:prstGeom>
          <a:solidFill>
            <a:srgbClr val="17436B"/>
          </a:solidFill>
          <a:ln w="12700">
            <a:solidFill>
              <a:srgbClr val="17436B"/>
            </a:solidFill>
            <a:prstDash val="solid"/>
          </a:ln>
        </p:spPr>
      </p:sp>
      <p:sp>
        <p:nvSpPr>
          <p:cNvPr id="355" name="Shape 353"/>
          <p:cNvSpPr/>
          <p:nvPr/>
        </p:nvSpPr>
        <p:spPr>
          <a:xfrm>
            <a:off x="548640" y="5413248"/>
            <a:ext cx="105156" cy="105156"/>
          </a:xfrm>
          <a:prstGeom prst="rect">
            <a:avLst/>
          </a:prstGeom>
          <a:solidFill>
            <a:srgbClr val="17436B"/>
          </a:solidFill>
          <a:ln w="12700">
            <a:solidFill>
              <a:srgbClr val="17436B"/>
            </a:solidFill>
            <a:prstDash val="solid"/>
          </a:ln>
        </p:spPr>
      </p:sp>
      <p:sp>
        <p:nvSpPr>
          <p:cNvPr id="356" name="Shape 354"/>
          <p:cNvSpPr/>
          <p:nvPr/>
        </p:nvSpPr>
        <p:spPr>
          <a:xfrm>
            <a:off x="694944" y="5413248"/>
            <a:ext cx="105156" cy="105156"/>
          </a:xfrm>
          <a:prstGeom prst="rect">
            <a:avLst/>
          </a:prstGeom>
          <a:solidFill>
            <a:srgbClr val="17436B"/>
          </a:solidFill>
          <a:ln w="12700">
            <a:solidFill>
              <a:srgbClr val="17436B"/>
            </a:solidFill>
            <a:prstDash val="solid"/>
          </a:ln>
        </p:spPr>
      </p:sp>
      <p:sp>
        <p:nvSpPr>
          <p:cNvPr id="357" name="Shape 355"/>
          <p:cNvSpPr/>
          <p:nvPr/>
        </p:nvSpPr>
        <p:spPr>
          <a:xfrm>
            <a:off x="841248" y="5413248"/>
            <a:ext cx="105156" cy="105156"/>
          </a:xfrm>
          <a:prstGeom prst="rect">
            <a:avLst/>
          </a:prstGeom>
          <a:solidFill>
            <a:srgbClr val="17436B"/>
          </a:solidFill>
          <a:ln w="12700">
            <a:solidFill>
              <a:srgbClr val="17436B"/>
            </a:solidFill>
            <a:prstDash val="solid"/>
          </a:ln>
        </p:spPr>
      </p:sp>
      <p:sp>
        <p:nvSpPr>
          <p:cNvPr id="358" name="Shape 356"/>
          <p:cNvSpPr/>
          <p:nvPr/>
        </p:nvSpPr>
        <p:spPr>
          <a:xfrm>
            <a:off x="987552" y="5413248"/>
            <a:ext cx="105156" cy="105156"/>
          </a:xfrm>
          <a:prstGeom prst="rect">
            <a:avLst/>
          </a:prstGeom>
          <a:solidFill>
            <a:srgbClr val="17436B"/>
          </a:solidFill>
          <a:ln w="12700">
            <a:solidFill>
              <a:srgbClr val="17436B"/>
            </a:solidFill>
            <a:prstDash val="solid"/>
          </a:ln>
        </p:spPr>
      </p:sp>
      <p:sp>
        <p:nvSpPr>
          <p:cNvPr id="359" name="Shape 357"/>
          <p:cNvSpPr/>
          <p:nvPr/>
        </p:nvSpPr>
        <p:spPr>
          <a:xfrm>
            <a:off x="1133856" y="5413248"/>
            <a:ext cx="105156" cy="105156"/>
          </a:xfrm>
          <a:prstGeom prst="rect">
            <a:avLst/>
          </a:prstGeom>
          <a:solidFill>
            <a:srgbClr val="17436B"/>
          </a:solidFill>
          <a:ln w="12700">
            <a:solidFill>
              <a:srgbClr val="17436B"/>
            </a:solidFill>
            <a:prstDash val="solid"/>
          </a:ln>
        </p:spPr>
      </p:sp>
      <p:sp>
        <p:nvSpPr>
          <p:cNvPr id="360" name="Shape 358"/>
          <p:cNvSpPr/>
          <p:nvPr/>
        </p:nvSpPr>
        <p:spPr>
          <a:xfrm>
            <a:off x="1280160" y="5413248"/>
            <a:ext cx="105156" cy="105156"/>
          </a:xfrm>
          <a:prstGeom prst="rect">
            <a:avLst/>
          </a:prstGeom>
          <a:solidFill>
            <a:srgbClr val="17436B"/>
          </a:solidFill>
          <a:ln w="12700">
            <a:solidFill>
              <a:srgbClr val="17436B"/>
            </a:solidFill>
            <a:prstDash val="solid"/>
          </a:ln>
        </p:spPr>
      </p:sp>
      <p:sp>
        <p:nvSpPr>
          <p:cNvPr id="361" name="Shape 359"/>
          <p:cNvSpPr/>
          <p:nvPr/>
        </p:nvSpPr>
        <p:spPr>
          <a:xfrm>
            <a:off x="1426464" y="5413248"/>
            <a:ext cx="105156" cy="105156"/>
          </a:xfrm>
          <a:prstGeom prst="rect">
            <a:avLst/>
          </a:prstGeom>
          <a:solidFill>
            <a:srgbClr val="17436B"/>
          </a:solidFill>
          <a:ln w="12700">
            <a:solidFill>
              <a:srgbClr val="17436B"/>
            </a:solidFill>
            <a:prstDash val="solid"/>
          </a:ln>
        </p:spPr>
      </p:sp>
      <p:sp>
        <p:nvSpPr>
          <p:cNvPr id="362" name="Shape 360"/>
          <p:cNvSpPr/>
          <p:nvPr/>
        </p:nvSpPr>
        <p:spPr>
          <a:xfrm>
            <a:off x="1572768" y="5413248"/>
            <a:ext cx="105156" cy="105156"/>
          </a:xfrm>
          <a:prstGeom prst="rect">
            <a:avLst/>
          </a:prstGeom>
          <a:solidFill>
            <a:srgbClr val="17436B"/>
          </a:solidFill>
          <a:ln w="12700">
            <a:solidFill>
              <a:srgbClr val="17436B"/>
            </a:solidFill>
            <a:prstDash val="solid"/>
          </a:ln>
        </p:spPr>
      </p:sp>
      <p:sp>
        <p:nvSpPr>
          <p:cNvPr id="363" name="Shape 361"/>
          <p:cNvSpPr/>
          <p:nvPr/>
        </p:nvSpPr>
        <p:spPr>
          <a:xfrm>
            <a:off x="1719072" y="5413248"/>
            <a:ext cx="105156" cy="105156"/>
          </a:xfrm>
          <a:prstGeom prst="rect">
            <a:avLst/>
          </a:prstGeom>
          <a:solidFill>
            <a:srgbClr val="17436B"/>
          </a:solidFill>
          <a:ln w="12700">
            <a:solidFill>
              <a:srgbClr val="17436B"/>
            </a:solidFill>
            <a:prstDash val="solid"/>
          </a:ln>
        </p:spPr>
      </p:sp>
      <p:sp>
        <p:nvSpPr>
          <p:cNvPr id="364" name="Shape 362"/>
          <p:cNvSpPr/>
          <p:nvPr/>
        </p:nvSpPr>
        <p:spPr>
          <a:xfrm>
            <a:off x="1865376" y="5413248"/>
            <a:ext cx="105156" cy="105156"/>
          </a:xfrm>
          <a:prstGeom prst="rect">
            <a:avLst/>
          </a:prstGeom>
          <a:solidFill>
            <a:srgbClr val="17436B"/>
          </a:solidFill>
          <a:ln w="12700">
            <a:solidFill>
              <a:srgbClr val="17436B"/>
            </a:solidFill>
            <a:prstDash val="solid"/>
          </a:ln>
        </p:spPr>
      </p:sp>
      <p:sp>
        <p:nvSpPr>
          <p:cNvPr id="365" name="Shape 363"/>
          <p:cNvSpPr/>
          <p:nvPr/>
        </p:nvSpPr>
        <p:spPr>
          <a:xfrm>
            <a:off x="2011680" y="5413248"/>
            <a:ext cx="105156" cy="105156"/>
          </a:xfrm>
          <a:prstGeom prst="rect">
            <a:avLst/>
          </a:prstGeom>
          <a:solidFill>
            <a:srgbClr val="17436B"/>
          </a:solidFill>
          <a:ln w="12700">
            <a:solidFill>
              <a:srgbClr val="17436B"/>
            </a:solidFill>
            <a:prstDash val="solid"/>
          </a:ln>
        </p:spPr>
      </p:sp>
      <p:sp>
        <p:nvSpPr>
          <p:cNvPr id="366" name="Shape 364"/>
          <p:cNvSpPr/>
          <p:nvPr/>
        </p:nvSpPr>
        <p:spPr>
          <a:xfrm>
            <a:off x="2157984" y="5413248"/>
            <a:ext cx="105156" cy="105156"/>
          </a:xfrm>
          <a:prstGeom prst="rect">
            <a:avLst/>
          </a:prstGeom>
          <a:solidFill>
            <a:srgbClr val="17436B"/>
          </a:solidFill>
          <a:ln w="12700">
            <a:solidFill>
              <a:srgbClr val="17436B"/>
            </a:solidFill>
            <a:prstDash val="solid"/>
          </a:ln>
        </p:spPr>
      </p:sp>
      <p:sp>
        <p:nvSpPr>
          <p:cNvPr id="367" name="Shape 365"/>
          <p:cNvSpPr/>
          <p:nvPr/>
        </p:nvSpPr>
        <p:spPr>
          <a:xfrm>
            <a:off x="2304288" y="5413248"/>
            <a:ext cx="105156" cy="105156"/>
          </a:xfrm>
          <a:prstGeom prst="rect">
            <a:avLst/>
          </a:prstGeom>
          <a:solidFill>
            <a:srgbClr val="17436B"/>
          </a:solidFill>
          <a:ln w="12700">
            <a:solidFill>
              <a:srgbClr val="17436B"/>
            </a:solidFill>
            <a:prstDash val="solid"/>
          </a:ln>
        </p:spPr>
      </p:sp>
      <p:sp>
        <p:nvSpPr>
          <p:cNvPr id="368" name="Shape 366"/>
          <p:cNvSpPr/>
          <p:nvPr/>
        </p:nvSpPr>
        <p:spPr>
          <a:xfrm>
            <a:off x="2450592" y="5413248"/>
            <a:ext cx="105156" cy="105156"/>
          </a:xfrm>
          <a:prstGeom prst="rect">
            <a:avLst/>
          </a:prstGeom>
          <a:solidFill>
            <a:srgbClr val="17436B"/>
          </a:solidFill>
          <a:ln w="12700">
            <a:solidFill>
              <a:srgbClr val="17436B"/>
            </a:solidFill>
            <a:prstDash val="solid"/>
          </a:ln>
        </p:spPr>
      </p:sp>
      <p:sp>
        <p:nvSpPr>
          <p:cNvPr id="369" name="Shape 367"/>
          <p:cNvSpPr/>
          <p:nvPr/>
        </p:nvSpPr>
        <p:spPr>
          <a:xfrm>
            <a:off x="2596896" y="5413248"/>
            <a:ext cx="105156" cy="105156"/>
          </a:xfrm>
          <a:prstGeom prst="rect">
            <a:avLst/>
          </a:prstGeom>
          <a:solidFill>
            <a:srgbClr val="17436B"/>
          </a:solidFill>
          <a:ln w="12700">
            <a:solidFill>
              <a:srgbClr val="17436B"/>
            </a:solidFill>
            <a:prstDash val="solid"/>
          </a:ln>
        </p:spPr>
      </p:sp>
      <p:sp>
        <p:nvSpPr>
          <p:cNvPr id="370" name="Shape 368"/>
          <p:cNvSpPr/>
          <p:nvPr/>
        </p:nvSpPr>
        <p:spPr>
          <a:xfrm>
            <a:off x="2743200" y="5413248"/>
            <a:ext cx="105156" cy="105156"/>
          </a:xfrm>
          <a:prstGeom prst="rect">
            <a:avLst/>
          </a:prstGeom>
          <a:solidFill>
            <a:srgbClr val="17436B"/>
          </a:solidFill>
          <a:ln w="12700">
            <a:solidFill>
              <a:srgbClr val="17436B"/>
            </a:solidFill>
            <a:prstDash val="solid"/>
          </a:ln>
        </p:spPr>
      </p:sp>
      <p:sp>
        <p:nvSpPr>
          <p:cNvPr id="371" name="Shape 369"/>
          <p:cNvSpPr/>
          <p:nvPr/>
        </p:nvSpPr>
        <p:spPr>
          <a:xfrm>
            <a:off x="2889504" y="5413248"/>
            <a:ext cx="105156" cy="105156"/>
          </a:xfrm>
          <a:prstGeom prst="rect">
            <a:avLst/>
          </a:prstGeom>
          <a:solidFill>
            <a:srgbClr val="17436B"/>
          </a:solidFill>
          <a:ln w="12700">
            <a:solidFill>
              <a:srgbClr val="17436B"/>
            </a:solidFill>
            <a:prstDash val="solid"/>
          </a:ln>
        </p:spPr>
      </p:sp>
      <p:sp>
        <p:nvSpPr>
          <p:cNvPr id="372" name="Shape 370"/>
          <p:cNvSpPr/>
          <p:nvPr/>
        </p:nvSpPr>
        <p:spPr>
          <a:xfrm>
            <a:off x="3035808" y="5413248"/>
            <a:ext cx="105156" cy="105156"/>
          </a:xfrm>
          <a:prstGeom prst="rect">
            <a:avLst/>
          </a:prstGeom>
          <a:solidFill>
            <a:srgbClr val="17436B"/>
          </a:solidFill>
          <a:ln w="12700">
            <a:solidFill>
              <a:srgbClr val="17436B"/>
            </a:solidFill>
            <a:prstDash val="solid"/>
          </a:ln>
        </p:spPr>
      </p:sp>
      <p:sp>
        <p:nvSpPr>
          <p:cNvPr id="373" name="Shape 371"/>
          <p:cNvSpPr/>
          <p:nvPr/>
        </p:nvSpPr>
        <p:spPr>
          <a:xfrm>
            <a:off x="3182112" y="5413248"/>
            <a:ext cx="105156" cy="105156"/>
          </a:xfrm>
          <a:prstGeom prst="rect">
            <a:avLst/>
          </a:prstGeom>
          <a:solidFill>
            <a:srgbClr val="17436B"/>
          </a:solidFill>
          <a:ln w="12700">
            <a:solidFill>
              <a:srgbClr val="17436B"/>
            </a:solidFill>
            <a:prstDash val="solid"/>
          </a:ln>
        </p:spPr>
      </p:sp>
      <p:sp>
        <p:nvSpPr>
          <p:cNvPr id="374" name="Shape 372"/>
          <p:cNvSpPr/>
          <p:nvPr/>
        </p:nvSpPr>
        <p:spPr>
          <a:xfrm>
            <a:off x="3328416" y="5413248"/>
            <a:ext cx="105156" cy="105156"/>
          </a:xfrm>
          <a:prstGeom prst="rect">
            <a:avLst/>
          </a:prstGeom>
          <a:solidFill>
            <a:srgbClr val="17436B"/>
          </a:solidFill>
          <a:ln w="12700">
            <a:solidFill>
              <a:srgbClr val="17436B"/>
            </a:solidFill>
            <a:prstDash val="solid"/>
          </a:ln>
        </p:spPr>
      </p:sp>
      <p:sp>
        <p:nvSpPr>
          <p:cNvPr id="375" name="Shape 373"/>
          <p:cNvSpPr/>
          <p:nvPr/>
        </p:nvSpPr>
        <p:spPr>
          <a:xfrm>
            <a:off x="3474720" y="5413248"/>
            <a:ext cx="105156" cy="105156"/>
          </a:xfrm>
          <a:prstGeom prst="rect">
            <a:avLst/>
          </a:prstGeom>
          <a:solidFill>
            <a:srgbClr val="17436B"/>
          </a:solidFill>
          <a:ln w="12700">
            <a:solidFill>
              <a:srgbClr val="17436B"/>
            </a:solidFill>
            <a:prstDash val="solid"/>
          </a:ln>
        </p:spPr>
      </p:sp>
      <p:sp>
        <p:nvSpPr>
          <p:cNvPr id="376" name="Shape 374"/>
          <p:cNvSpPr/>
          <p:nvPr/>
        </p:nvSpPr>
        <p:spPr>
          <a:xfrm>
            <a:off x="3621024" y="5413248"/>
            <a:ext cx="105156" cy="105156"/>
          </a:xfrm>
          <a:prstGeom prst="rect">
            <a:avLst/>
          </a:prstGeom>
          <a:solidFill>
            <a:srgbClr val="17436B"/>
          </a:solidFill>
          <a:ln w="12700">
            <a:solidFill>
              <a:srgbClr val="17436B"/>
            </a:solidFill>
            <a:prstDash val="solid"/>
          </a:ln>
        </p:spPr>
      </p:sp>
      <p:sp>
        <p:nvSpPr>
          <p:cNvPr id="377" name="Shape 375"/>
          <p:cNvSpPr/>
          <p:nvPr/>
        </p:nvSpPr>
        <p:spPr>
          <a:xfrm>
            <a:off x="3767328" y="5413248"/>
            <a:ext cx="105156" cy="105156"/>
          </a:xfrm>
          <a:prstGeom prst="rect">
            <a:avLst/>
          </a:prstGeom>
          <a:solidFill>
            <a:srgbClr val="17436B"/>
          </a:solidFill>
          <a:ln w="12700">
            <a:solidFill>
              <a:srgbClr val="17436B"/>
            </a:solidFill>
            <a:prstDash val="solid"/>
          </a:ln>
        </p:spPr>
      </p:sp>
      <p:sp>
        <p:nvSpPr>
          <p:cNvPr id="378" name="Shape 376"/>
          <p:cNvSpPr/>
          <p:nvPr/>
        </p:nvSpPr>
        <p:spPr>
          <a:xfrm>
            <a:off x="3913632" y="5413248"/>
            <a:ext cx="105156" cy="105156"/>
          </a:xfrm>
          <a:prstGeom prst="rect">
            <a:avLst/>
          </a:prstGeom>
          <a:solidFill>
            <a:srgbClr val="17436B"/>
          </a:solidFill>
          <a:ln w="12700">
            <a:solidFill>
              <a:srgbClr val="17436B"/>
            </a:solidFill>
            <a:prstDash val="solid"/>
          </a:ln>
        </p:spPr>
      </p:sp>
      <p:sp>
        <p:nvSpPr>
          <p:cNvPr id="379" name="Shape 377"/>
          <p:cNvSpPr/>
          <p:nvPr/>
        </p:nvSpPr>
        <p:spPr>
          <a:xfrm>
            <a:off x="4059936" y="5413248"/>
            <a:ext cx="105156" cy="105156"/>
          </a:xfrm>
          <a:prstGeom prst="rect">
            <a:avLst/>
          </a:prstGeom>
          <a:solidFill>
            <a:srgbClr val="17436B"/>
          </a:solidFill>
          <a:ln w="12700">
            <a:solidFill>
              <a:srgbClr val="17436B"/>
            </a:solidFill>
            <a:prstDash val="solid"/>
          </a:ln>
        </p:spPr>
      </p:sp>
      <p:sp>
        <p:nvSpPr>
          <p:cNvPr id="380" name="Shape 378"/>
          <p:cNvSpPr/>
          <p:nvPr/>
        </p:nvSpPr>
        <p:spPr>
          <a:xfrm>
            <a:off x="4206240" y="5413248"/>
            <a:ext cx="105156" cy="105156"/>
          </a:xfrm>
          <a:prstGeom prst="rect">
            <a:avLst/>
          </a:prstGeom>
          <a:solidFill>
            <a:srgbClr val="17436B"/>
          </a:solidFill>
          <a:ln w="12700">
            <a:solidFill>
              <a:srgbClr val="17436B"/>
            </a:solidFill>
            <a:prstDash val="solid"/>
          </a:ln>
        </p:spPr>
      </p:sp>
      <p:sp>
        <p:nvSpPr>
          <p:cNvPr id="381" name="Shape 379"/>
          <p:cNvSpPr/>
          <p:nvPr/>
        </p:nvSpPr>
        <p:spPr>
          <a:xfrm>
            <a:off x="4352544" y="5413248"/>
            <a:ext cx="105156" cy="105156"/>
          </a:xfrm>
          <a:prstGeom prst="rect">
            <a:avLst/>
          </a:prstGeom>
          <a:solidFill>
            <a:srgbClr val="17436B"/>
          </a:solidFill>
          <a:ln w="12700">
            <a:solidFill>
              <a:srgbClr val="17436B"/>
            </a:solidFill>
            <a:prstDash val="solid"/>
          </a:ln>
        </p:spPr>
      </p:sp>
      <p:sp>
        <p:nvSpPr>
          <p:cNvPr id="382" name="Shape 380"/>
          <p:cNvSpPr/>
          <p:nvPr/>
        </p:nvSpPr>
        <p:spPr>
          <a:xfrm>
            <a:off x="4498848" y="5413248"/>
            <a:ext cx="105156" cy="105156"/>
          </a:xfrm>
          <a:prstGeom prst="rect">
            <a:avLst/>
          </a:prstGeom>
          <a:solidFill>
            <a:srgbClr val="17436B"/>
          </a:solidFill>
          <a:ln w="12700">
            <a:solidFill>
              <a:srgbClr val="17436B"/>
            </a:solidFill>
            <a:prstDash val="solid"/>
          </a:ln>
        </p:spPr>
      </p:sp>
      <p:sp>
        <p:nvSpPr>
          <p:cNvPr id="383" name="Shape 381"/>
          <p:cNvSpPr/>
          <p:nvPr/>
        </p:nvSpPr>
        <p:spPr>
          <a:xfrm>
            <a:off x="4645152" y="5413248"/>
            <a:ext cx="105156" cy="105156"/>
          </a:xfrm>
          <a:prstGeom prst="rect">
            <a:avLst/>
          </a:prstGeom>
          <a:solidFill>
            <a:srgbClr val="17436B"/>
          </a:solidFill>
          <a:ln w="12700">
            <a:solidFill>
              <a:srgbClr val="17436B"/>
            </a:solidFill>
            <a:prstDash val="solid"/>
          </a:ln>
        </p:spPr>
      </p:sp>
      <p:sp>
        <p:nvSpPr>
          <p:cNvPr id="384" name="Shape 382"/>
          <p:cNvSpPr/>
          <p:nvPr/>
        </p:nvSpPr>
        <p:spPr>
          <a:xfrm>
            <a:off x="548640" y="5559552"/>
            <a:ext cx="105156" cy="105156"/>
          </a:xfrm>
          <a:prstGeom prst="rect">
            <a:avLst/>
          </a:prstGeom>
          <a:solidFill>
            <a:srgbClr val="17436B"/>
          </a:solidFill>
          <a:ln w="12700">
            <a:solidFill>
              <a:srgbClr val="17436B"/>
            </a:solidFill>
            <a:prstDash val="solid"/>
          </a:ln>
        </p:spPr>
      </p:sp>
      <p:sp>
        <p:nvSpPr>
          <p:cNvPr id="385" name="Shape 383"/>
          <p:cNvSpPr/>
          <p:nvPr/>
        </p:nvSpPr>
        <p:spPr>
          <a:xfrm>
            <a:off x="694944" y="5559552"/>
            <a:ext cx="105156" cy="105156"/>
          </a:xfrm>
          <a:prstGeom prst="rect">
            <a:avLst/>
          </a:prstGeom>
          <a:solidFill>
            <a:srgbClr val="17436B"/>
          </a:solidFill>
          <a:ln w="12700">
            <a:solidFill>
              <a:srgbClr val="17436B"/>
            </a:solidFill>
            <a:prstDash val="solid"/>
          </a:ln>
        </p:spPr>
      </p:sp>
      <p:sp>
        <p:nvSpPr>
          <p:cNvPr id="386" name="Shape 384"/>
          <p:cNvSpPr/>
          <p:nvPr/>
        </p:nvSpPr>
        <p:spPr>
          <a:xfrm>
            <a:off x="841248" y="5559552"/>
            <a:ext cx="105156" cy="105156"/>
          </a:xfrm>
          <a:prstGeom prst="rect">
            <a:avLst/>
          </a:prstGeom>
          <a:solidFill>
            <a:srgbClr val="17436B"/>
          </a:solidFill>
          <a:ln w="12700">
            <a:solidFill>
              <a:srgbClr val="17436B"/>
            </a:solidFill>
            <a:prstDash val="solid"/>
          </a:ln>
        </p:spPr>
      </p:sp>
      <p:sp>
        <p:nvSpPr>
          <p:cNvPr id="387" name="Shape 385"/>
          <p:cNvSpPr/>
          <p:nvPr/>
        </p:nvSpPr>
        <p:spPr>
          <a:xfrm>
            <a:off x="987552" y="5559552"/>
            <a:ext cx="105156" cy="105156"/>
          </a:xfrm>
          <a:prstGeom prst="rect">
            <a:avLst/>
          </a:prstGeom>
          <a:solidFill>
            <a:srgbClr val="17436B"/>
          </a:solidFill>
          <a:ln w="12700">
            <a:solidFill>
              <a:srgbClr val="17436B"/>
            </a:solidFill>
            <a:prstDash val="solid"/>
          </a:ln>
        </p:spPr>
      </p:sp>
      <p:sp>
        <p:nvSpPr>
          <p:cNvPr id="388" name="Shape 386"/>
          <p:cNvSpPr/>
          <p:nvPr/>
        </p:nvSpPr>
        <p:spPr>
          <a:xfrm>
            <a:off x="1133856" y="5559552"/>
            <a:ext cx="105156" cy="105156"/>
          </a:xfrm>
          <a:prstGeom prst="rect">
            <a:avLst/>
          </a:prstGeom>
          <a:solidFill>
            <a:srgbClr val="17436B"/>
          </a:solidFill>
          <a:ln w="12700">
            <a:solidFill>
              <a:srgbClr val="17436B"/>
            </a:solidFill>
            <a:prstDash val="solid"/>
          </a:ln>
        </p:spPr>
      </p:sp>
      <p:sp>
        <p:nvSpPr>
          <p:cNvPr id="389" name="Shape 387"/>
          <p:cNvSpPr/>
          <p:nvPr/>
        </p:nvSpPr>
        <p:spPr>
          <a:xfrm>
            <a:off x="1280160" y="5559552"/>
            <a:ext cx="105156" cy="105156"/>
          </a:xfrm>
          <a:prstGeom prst="rect">
            <a:avLst/>
          </a:prstGeom>
          <a:solidFill>
            <a:srgbClr val="17436B"/>
          </a:solidFill>
          <a:ln w="12700">
            <a:solidFill>
              <a:srgbClr val="17436B"/>
            </a:solidFill>
            <a:prstDash val="solid"/>
          </a:ln>
        </p:spPr>
      </p:sp>
      <p:sp>
        <p:nvSpPr>
          <p:cNvPr id="390" name="Shape 388"/>
          <p:cNvSpPr/>
          <p:nvPr/>
        </p:nvSpPr>
        <p:spPr>
          <a:xfrm>
            <a:off x="1426464" y="5559552"/>
            <a:ext cx="105156" cy="105156"/>
          </a:xfrm>
          <a:prstGeom prst="rect">
            <a:avLst/>
          </a:prstGeom>
          <a:solidFill>
            <a:srgbClr val="17436B"/>
          </a:solidFill>
          <a:ln w="12700">
            <a:solidFill>
              <a:srgbClr val="17436B"/>
            </a:solidFill>
            <a:prstDash val="solid"/>
          </a:ln>
        </p:spPr>
      </p:sp>
      <p:sp>
        <p:nvSpPr>
          <p:cNvPr id="391" name="Shape 389"/>
          <p:cNvSpPr/>
          <p:nvPr/>
        </p:nvSpPr>
        <p:spPr>
          <a:xfrm>
            <a:off x="1572768" y="5559552"/>
            <a:ext cx="105156" cy="105156"/>
          </a:xfrm>
          <a:prstGeom prst="rect">
            <a:avLst/>
          </a:prstGeom>
          <a:solidFill>
            <a:srgbClr val="17436B"/>
          </a:solidFill>
          <a:ln w="12700">
            <a:solidFill>
              <a:srgbClr val="17436B"/>
            </a:solidFill>
            <a:prstDash val="solid"/>
          </a:ln>
        </p:spPr>
      </p:sp>
      <p:sp>
        <p:nvSpPr>
          <p:cNvPr id="392" name="Shape 390"/>
          <p:cNvSpPr/>
          <p:nvPr/>
        </p:nvSpPr>
        <p:spPr>
          <a:xfrm>
            <a:off x="1719072" y="5559552"/>
            <a:ext cx="105156" cy="105156"/>
          </a:xfrm>
          <a:prstGeom prst="rect">
            <a:avLst/>
          </a:prstGeom>
          <a:solidFill>
            <a:srgbClr val="17436B"/>
          </a:solidFill>
          <a:ln w="12700">
            <a:solidFill>
              <a:srgbClr val="17436B"/>
            </a:solidFill>
            <a:prstDash val="solid"/>
          </a:ln>
        </p:spPr>
      </p:sp>
      <p:sp>
        <p:nvSpPr>
          <p:cNvPr id="393" name="Shape 391"/>
          <p:cNvSpPr/>
          <p:nvPr/>
        </p:nvSpPr>
        <p:spPr>
          <a:xfrm>
            <a:off x="1865376" y="5559552"/>
            <a:ext cx="105156" cy="105156"/>
          </a:xfrm>
          <a:prstGeom prst="rect">
            <a:avLst/>
          </a:prstGeom>
          <a:solidFill>
            <a:srgbClr val="17436B"/>
          </a:solidFill>
          <a:ln w="12700">
            <a:solidFill>
              <a:srgbClr val="17436B"/>
            </a:solidFill>
            <a:prstDash val="solid"/>
          </a:ln>
        </p:spPr>
      </p:sp>
      <p:sp>
        <p:nvSpPr>
          <p:cNvPr id="394" name="Shape 392"/>
          <p:cNvSpPr/>
          <p:nvPr/>
        </p:nvSpPr>
        <p:spPr>
          <a:xfrm>
            <a:off x="2011680" y="5559552"/>
            <a:ext cx="105156" cy="105156"/>
          </a:xfrm>
          <a:prstGeom prst="rect">
            <a:avLst/>
          </a:prstGeom>
          <a:solidFill>
            <a:srgbClr val="17436B"/>
          </a:solidFill>
          <a:ln w="12700">
            <a:solidFill>
              <a:srgbClr val="17436B"/>
            </a:solidFill>
            <a:prstDash val="solid"/>
          </a:ln>
        </p:spPr>
      </p:sp>
      <p:sp>
        <p:nvSpPr>
          <p:cNvPr id="395" name="Shape 393"/>
          <p:cNvSpPr/>
          <p:nvPr/>
        </p:nvSpPr>
        <p:spPr>
          <a:xfrm>
            <a:off x="2157984" y="5559552"/>
            <a:ext cx="105156" cy="105156"/>
          </a:xfrm>
          <a:prstGeom prst="rect">
            <a:avLst/>
          </a:prstGeom>
          <a:solidFill>
            <a:srgbClr val="17436B"/>
          </a:solidFill>
          <a:ln w="12700">
            <a:solidFill>
              <a:srgbClr val="17436B"/>
            </a:solidFill>
            <a:prstDash val="solid"/>
          </a:ln>
        </p:spPr>
      </p:sp>
      <p:sp>
        <p:nvSpPr>
          <p:cNvPr id="396" name="Shape 394"/>
          <p:cNvSpPr/>
          <p:nvPr/>
        </p:nvSpPr>
        <p:spPr>
          <a:xfrm>
            <a:off x="2304288" y="5559552"/>
            <a:ext cx="105156" cy="105156"/>
          </a:xfrm>
          <a:prstGeom prst="rect">
            <a:avLst/>
          </a:prstGeom>
          <a:solidFill>
            <a:srgbClr val="17436B"/>
          </a:solidFill>
          <a:ln w="12700">
            <a:solidFill>
              <a:srgbClr val="17436B"/>
            </a:solidFill>
            <a:prstDash val="solid"/>
          </a:ln>
        </p:spPr>
      </p:sp>
      <p:sp>
        <p:nvSpPr>
          <p:cNvPr id="397" name="Shape 395"/>
          <p:cNvSpPr/>
          <p:nvPr/>
        </p:nvSpPr>
        <p:spPr>
          <a:xfrm>
            <a:off x="2450592" y="5559552"/>
            <a:ext cx="105156" cy="105156"/>
          </a:xfrm>
          <a:prstGeom prst="rect">
            <a:avLst/>
          </a:prstGeom>
          <a:solidFill>
            <a:srgbClr val="17436B"/>
          </a:solidFill>
          <a:ln w="12700">
            <a:solidFill>
              <a:srgbClr val="17436B"/>
            </a:solidFill>
            <a:prstDash val="solid"/>
          </a:ln>
        </p:spPr>
      </p:sp>
      <p:sp>
        <p:nvSpPr>
          <p:cNvPr id="398" name="Shape 396"/>
          <p:cNvSpPr/>
          <p:nvPr/>
        </p:nvSpPr>
        <p:spPr>
          <a:xfrm>
            <a:off x="2596896" y="5559552"/>
            <a:ext cx="105156" cy="105156"/>
          </a:xfrm>
          <a:prstGeom prst="rect">
            <a:avLst/>
          </a:prstGeom>
          <a:solidFill>
            <a:srgbClr val="17436B"/>
          </a:solidFill>
          <a:ln w="12700">
            <a:solidFill>
              <a:srgbClr val="17436B"/>
            </a:solidFill>
            <a:prstDash val="solid"/>
          </a:ln>
        </p:spPr>
      </p:sp>
      <p:sp>
        <p:nvSpPr>
          <p:cNvPr id="399" name="Shape 397"/>
          <p:cNvSpPr/>
          <p:nvPr/>
        </p:nvSpPr>
        <p:spPr>
          <a:xfrm>
            <a:off x="2743200" y="5559552"/>
            <a:ext cx="105156" cy="105156"/>
          </a:xfrm>
          <a:prstGeom prst="rect">
            <a:avLst/>
          </a:prstGeom>
          <a:solidFill>
            <a:srgbClr val="17436B"/>
          </a:solidFill>
          <a:ln w="12700">
            <a:solidFill>
              <a:srgbClr val="17436B"/>
            </a:solidFill>
            <a:prstDash val="solid"/>
          </a:ln>
        </p:spPr>
      </p:sp>
      <p:sp>
        <p:nvSpPr>
          <p:cNvPr id="400" name="Shape 398"/>
          <p:cNvSpPr/>
          <p:nvPr/>
        </p:nvSpPr>
        <p:spPr>
          <a:xfrm>
            <a:off x="2889504" y="5559552"/>
            <a:ext cx="105156" cy="105156"/>
          </a:xfrm>
          <a:prstGeom prst="rect">
            <a:avLst/>
          </a:prstGeom>
          <a:solidFill>
            <a:srgbClr val="17436B"/>
          </a:solidFill>
          <a:ln w="12700">
            <a:solidFill>
              <a:srgbClr val="17436B"/>
            </a:solidFill>
            <a:prstDash val="solid"/>
          </a:ln>
        </p:spPr>
      </p:sp>
      <p:sp>
        <p:nvSpPr>
          <p:cNvPr id="401" name="Shape 399"/>
          <p:cNvSpPr/>
          <p:nvPr/>
        </p:nvSpPr>
        <p:spPr>
          <a:xfrm>
            <a:off x="3035808" y="5559552"/>
            <a:ext cx="105156" cy="105156"/>
          </a:xfrm>
          <a:prstGeom prst="rect">
            <a:avLst/>
          </a:prstGeom>
          <a:solidFill>
            <a:srgbClr val="17436B"/>
          </a:solidFill>
          <a:ln w="12700">
            <a:solidFill>
              <a:srgbClr val="17436B"/>
            </a:solidFill>
            <a:prstDash val="solid"/>
          </a:ln>
        </p:spPr>
      </p:sp>
      <p:sp>
        <p:nvSpPr>
          <p:cNvPr id="402" name="Shape 400"/>
          <p:cNvSpPr/>
          <p:nvPr/>
        </p:nvSpPr>
        <p:spPr>
          <a:xfrm>
            <a:off x="3182112" y="5559552"/>
            <a:ext cx="105156" cy="105156"/>
          </a:xfrm>
          <a:prstGeom prst="rect">
            <a:avLst/>
          </a:prstGeom>
          <a:solidFill>
            <a:srgbClr val="17436B"/>
          </a:solidFill>
          <a:ln w="12700">
            <a:solidFill>
              <a:srgbClr val="17436B"/>
            </a:solidFill>
            <a:prstDash val="solid"/>
          </a:ln>
        </p:spPr>
      </p:sp>
      <p:sp>
        <p:nvSpPr>
          <p:cNvPr id="403" name="Shape 401"/>
          <p:cNvSpPr/>
          <p:nvPr/>
        </p:nvSpPr>
        <p:spPr>
          <a:xfrm>
            <a:off x="3328416" y="5559552"/>
            <a:ext cx="105156" cy="105156"/>
          </a:xfrm>
          <a:prstGeom prst="rect">
            <a:avLst/>
          </a:prstGeom>
          <a:solidFill>
            <a:srgbClr val="17436B"/>
          </a:solidFill>
          <a:ln w="12700">
            <a:solidFill>
              <a:srgbClr val="17436B"/>
            </a:solidFill>
            <a:prstDash val="solid"/>
          </a:ln>
        </p:spPr>
      </p:sp>
      <p:sp>
        <p:nvSpPr>
          <p:cNvPr id="404" name="Shape 402"/>
          <p:cNvSpPr/>
          <p:nvPr/>
        </p:nvSpPr>
        <p:spPr>
          <a:xfrm>
            <a:off x="3474720" y="5559552"/>
            <a:ext cx="105156" cy="105156"/>
          </a:xfrm>
          <a:prstGeom prst="rect">
            <a:avLst/>
          </a:prstGeom>
          <a:solidFill>
            <a:srgbClr val="17436B"/>
          </a:solidFill>
          <a:ln w="12700">
            <a:solidFill>
              <a:srgbClr val="17436B"/>
            </a:solidFill>
            <a:prstDash val="solid"/>
          </a:ln>
        </p:spPr>
      </p:sp>
      <p:sp>
        <p:nvSpPr>
          <p:cNvPr id="405" name="Shape 403"/>
          <p:cNvSpPr/>
          <p:nvPr/>
        </p:nvSpPr>
        <p:spPr>
          <a:xfrm>
            <a:off x="3621024" y="5559552"/>
            <a:ext cx="105156" cy="105156"/>
          </a:xfrm>
          <a:prstGeom prst="rect">
            <a:avLst/>
          </a:prstGeom>
          <a:solidFill>
            <a:srgbClr val="17436B"/>
          </a:solidFill>
          <a:ln w="12700">
            <a:solidFill>
              <a:srgbClr val="17436B"/>
            </a:solidFill>
            <a:prstDash val="solid"/>
          </a:ln>
        </p:spPr>
      </p:sp>
      <p:sp>
        <p:nvSpPr>
          <p:cNvPr id="406" name="Shape 404"/>
          <p:cNvSpPr/>
          <p:nvPr/>
        </p:nvSpPr>
        <p:spPr>
          <a:xfrm>
            <a:off x="3767328" y="5559552"/>
            <a:ext cx="105156" cy="105156"/>
          </a:xfrm>
          <a:prstGeom prst="rect">
            <a:avLst/>
          </a:prstGeom>
          <a:solidFill>
            <a:srgbClr val="17436B"/>
          </a:solidFill>
          <a:ln w="12700">
            <a:solidFill>
              <a:srgbClr val="17436B"/>
            </a:solidFill>
            <a:prstDash val="solid"/>
          </a:ln>
        </p:spPr>
      </p:sp>
      <p:sp>
        <p:nvSpPr>
          <p:cNvPr id="407" name="Shape 405"/>
          <p:cNvSpPr/>
          <p:nvPr/>
        </p:nvSpPr>
        <p:spPr>
          <a:xfrm>
            <a:off x="3913632" y="5559552"/>
            <a:ext cx="105156" cy="105156"/>
          </a:xfrm>
          <a:prstGeom prst="rect">
            <a:avLst/>
          </a:prstGeom>
          <a:solidFill>
            <a:srgbClr val="17436B"/>
          </a:solidFill>
          <a:ln w="12700">
            <a:solidFill>
              <a:srgbClr val="17436B"/>
            </a:solidFill>
            <a:prstDash val="solid"/>
          </a:ln>
        </p:spPr>
      </p:sp>
      <p:sp>
        <p:nvSpPr>
          <p:cNvPr id="408" name="Shape 406"/>
          <p:cNvSpPr/>
          <p:nvPr/>
        </p:nvSpPr>
        <p:spPr>
          <a:xfrm>
            <a:off x="4059936" y="5559552"/>
            <a:ext cx="105156" cy="105156"/>
          </a:xfrm>
          <a:prstGeom prst="rect">
            <a:avLst/>
          </a:prstGeom>
          <a:solidFill>
            <a:srgbClr val="17436B"/>
          </a:solidFill>
          <a:ln w="12700">
            <a:solidFill>
              <a:srgbClr val="17436B"/>
            </a:solidFill>
            <a:prstDash val="solid"/>
          </a:ln>
        </p:spPr>
      </p:sp>
      <p:sp>
        <p:nvSpPr>
          <p:cNvPr id="409" name="Shape 407"/>
          <p:cNvSpPr/>
          <p:nvPr/>
        </p:nvSpPr>
        <p:spPr>
          <a:xfrm>
            <a:off x="4206240" y="5559552"/>
            <a:ext cx="105156" cy="105156"/>
          </a:xfrm>
          <a:prstGeom prst="rect">
            <a:avLst/>
          </a:prstGeom>
          <a:solidFill>
            <a:srgbClr val="17436B"/>
          </a:solidFill>
          <a:ln w="12700">
            <a:solidFill>
              <a:srgbClr val="17436B"/>
            </a:solidFill>
            <a:prstDash val="solid"/>
          </a:ln>
        </p:spPr>
      </p:sp>
      <p:sp>
        <p:nvSpPr>
          <p:cNvPr id="410" name="Shape 408"/>
          <p:cNvSpPr/>
          <p:nvPr/>
        </p:nvSpPr>
        <p:spPr>
          <a:xfrm>
            <a:off x="4352544" y="5559552"/>
            <a:ext cx="105156" cy="105156"/>
          </a:xfrm>
          <a:prstGeom prst="rect">
            <a:avLst/>
          </a:prstGeom>
          <a:solidFill>
            <a:srgbClr val="17436B"/>
          </a:solidFill>
          <a:ln w="12700">
            <a:solidFill>
              <a:srgbClr val="17436B"/>
            </a:solidFill>
            <a:prstDash val="solid"/>
          </a:ln>
        </p:spPr>
      </p:sp>
      <p:sp>
        <p:nvSpPr>
          <p:cNvPr id="411" name="Shape 409"/>
          <p:cNvSpPr/>
          <p:nvPr/>
        </p:nvSpPr>
        <p:spPr>
          <a:xfrm>
            <a:off x="4498848" y="5559552"/>
            <a:ext cx="105156" cy="105156"/>
          </a:xfrm>
          <a:prstGeom prst="rect">
            <a:avLst/>
          </a:prstGeom>
          <a:solidFill>
            <a:srgbClr val="17436B"/>
          </a:solidFill>
          <a:ln w="12700">
            <a:solidFill>
              <a:srgbClr val="17436B"/>
            </a:solidFill>
            <a:prstDash val="solid"/>
          </a:ln>
        </p:spPr>
      </p:sp>
      <p:sp>
        <p:nvSpPr>
          <p:cNvPr id="412" name="Shape 410"/>
          <p:cNvSpPr/>
          <p:nvPr/>
        </p:nvSpPr>
        <p:spPr>
          <a:xfrm>
            <a:off x="4645152" y="5559552"/>
            <a:ext cx="105156" cy="105156"/>
          </a:xfrm>
          <a:prstGeom prst="rect">
            <a:avLst/>
          </a:prstGeom>
          <a:solidFill>
            <a:srgbClr val="17436B"/>
          </a:solidFill>
          <a:ln w="12700">
            <a:solidFill>
              <a:srgbClr val="17436B"/>
            </a:solidFill>
            <a:prstDash val="solid"/>
          </a:ln>
        </p:spPr>
      </p:sp>
      <p:sp>
        <p:nvSpPr>
          <p:cNvPr id="413" name="Shape 411"/>
          <p:cNvSpPr/>
          <p:nvPr/>
        </p:nvSpPr>
        <p:spPr>
          <a:xfrm>
            <a:off x="548640" y="5705856"/>
            <a:ext cx="105156" cy="105156"/>
          </a:xfrm>
          <a:prstGeom prst="rect">
            <a:avLst/>
          </a:prstGeom>
          <a:solidFill>
            <a:srgbClr val="17436B"/>
          </a:solidFill>
          <a:ln w="12700">
            <a:solidFill>
              <a:srgbClr val="17436B"/>
            </a:solidFill>
            <a:prstDash val="solid"/>
          </a:ln>
        </p:spPr>
      </p:sp>
      <p:sp>
        <p:nvSpPr>
          <p:cNvPr id="414" name="Shape 412"/>
          <p:cNvSpPr/>
          <p:nvPr/>
        </p:nvSpPr>
        <p:spPr>
          <a:xfrm>
            <a:off x="694944" y="5705856"/>
            <a:ext cx="105156" cy="105156"/>
          </a:xfrm>
          <a:prstGeom prst="rect">
            <a:avLst/>
          </a:prstGeom>
          <a:solidFill>
            <a:srgbClr val="17436B"/>
          </a:solidFill>
          <a:ln w="12700">
            <a:solidFill>
              <a:srgbClr val="17436B"/>
            </a:solidFill>
            <a:prstDash val="solid"/>
          </a:ln>
        </p:spPr>
      </p:sp>
      <p:sp>
        <p:nvSpPr>
          <p:cNvPr id="415" name="Shape 413"/>
          <p:cNvSpPr/>
          <p:nvPr/>
        </p:nvSpPr>
        <p:spPr>
          <a:xfrm>
            <a:off x="841248" y="5705856"/>
            <a:ext cx="105156" cy="105156"/>
          </a:xfrm>
          <a:prstGeom prst="rect">
            <a:avLst/>
          </a:prstGeom>
          <a:solidFill>
            <a:srgbClr val="17436B"/>
          </a:solidFill>
          <a:ln w="12700">
            <a:solidFill>
              <a:srgbClr val="17436B"/>
            </a:solidFill>
            <a:prstDash val="solid"/>
          </a:ln>
        </p:spPr>
      </p:sp>
      <p:sp>
        <p:nvSpPr>
          <p:cNvPr id="416" name="Shape 414"/>
          <p:cNvSpPr/>
          <p:nvPr/>
        </p:nvSpPr>
        <p:spPr>
          <a:xfrm>
            <a:off x="987552" y="5705856"/>
            <a:ext cx="105156" cy="105156"/>
          </a:xfrm>
          <a:prstGeom prst="rect">
            <a:avLst/>
          </a:prstGeom>
          <a:solidFill>
            <a:srgbClr val="17436B"/>
          </a:solidFill>
          <a:ln w="12700">
            <a:solidFill>
              <a:srgbClr val="17436B"/>
            </a:solidFill>
            <a:prstDash val="solid"/>
          </a:ln>
        </p:spPr>
      </p:sp>
      <p:sp>
        <p:nvSpPr>
          <p:cNvPr id="417" name="Shape 415"/>
          <p:cNvSpPr/>
          <p:nvPr/>
        </p:nvSpPr>
        <p:spPr>
          <a:xfrm>
            <a:off x="1133856" y="5705856"/>
            <a:ext cx="105156" cy="105156"/>
          </a:xfrm>
          <a:prstGeom prst="rect">
            <a:avLst/>
          </a:prstGeom>
          <a:solidFill>
            <a:srgbClr val="17436B"/>
          </a:solidFill>
          <a:ln w="12700">
            <a:solidFill>
              <a:srgbClr val="17436B"/>
            </a:solidFill>
            <a:prstDash val="solid"/>
          </a:ln>
        </p:spPr>
      </p:sp>
      <p:sp>
        <p:nvSpPr>
          <p:cNvPr id="418" name="Shape 416"/>
          <p:cNvSpPr/>
          <p:nvPr/>
        </p:nvSpPr>
        <p:spPr>
          <a:xfrm>
            <a:off x="1280160" y="5705856"/>
            <a:ext cx="105156" cy="105156"/>
          </a:xfrm>
          <a:prstGeom prst="rect">
            <a:avLst/>
          </a:prstGeom>
          <a:solidFill>
            <a:srgbClr val="17436B"/>
          </a:solidFill>
          <a:ln w="12700">
            <a:solidFill>
              <a:srgbClr val="17436B"/>
            </a:solidFill>
            <a:prstDash val="solid"/>
          </a:ln>
        </p:spPr>
      </p:sp>
      <p:sp>
        <p:nvSpPr>
          <p:cNvPr id="419" name="Shape 417"/>
          <p:cNvSpPr/>
          <p:nvPr/>
        </p:nvSpPr>
        <p:spPr>
          <a:xfrm>
            <a:off x="1426464" y="5705856"/>
            <a:ext cx="105156" cy="105156"/>
          </a:xfrm>
          <a:prstGeom prst="rect">
            <a:avLst/>
          </a:prstGeom>
          <a:solidFill>
            <a:srgbClr val="17436B"/>
          </a:solidFill>
          <a:ln w="12700">
            <a:solidFill>
              <a:srgbClr val="17436B"/>
            </a:solidFill>
            <a:prstDash val="solid"/>
          </a:ln>
        </p:spPr>
      </p:sp>
      <p:sp>
        <p:nvSpPr>
          <p:cNvPr id="420" name="Shape 418"/>
          <p:cNvSpPr/>
          <p:nvPr/>
        </p:nvSpPr>
        <p:spPr>
          <a:xfrm>
            <a:off x="1572768" y="5705856"/>
            <a:ext cx="105156" cy="105156"/>
          </a:xfrm>
          <a:prstGeom prst="rect">
            <a:avLst/>
          </a:prstGeom>
          <a:solidFill>
            <a:srgbClr val="17436B"/>
          </a:solidFill>
          <a:ln w="12700">
            <a:solidFill>
              <a:srgbClr val="17436B"/>
            </a:solidFill>
            <a:prstDash val="solid"/>
          </a:ln>
        </p:spPr>
      </p:sp>
      <p:sp>
        <p:nvSpPr>
          <p:cNvPr id="421" name="Shape 419"/>
          <p:cNvSpPr/>
          <p:nvPr/>
        </p:nvSpPr>
        <p:spPr>
          <a:xfrm>
            <a:off x="1719072" y="5705856"/>
            <a:ext cx="105156" cy="105156"/>
          </a:xfrm>
          <a:prstGeom prst="rect">
            <a:avLst/>
          </a:prstGeom>
          <a:solidFill>
            <a:srgbClr val="17436B"/>
          </a:solidFill>
          <a:ln w="12700">
            <a:solidFill>
              <a:srgbClr val="17436B"/>
            </a:solidFill>
            <a:prstDash val="solid"/>
          </a:ln>
        </p:spPr>
      </p:sp>
      <p:sp>
        <p:nvSpPr>
          <p:cNvPr id="422" name="Shape 420"/>
          <p:cNvSpPr/>
          <p:nvPr/>
        </p:nvSpPr>
        <p:spPr>
          <a:xfrm>
            <a:off x="1865376" y="5705856"/>
            <a:ext cx="105156" cy="105156"/>
          </a:xfrm>
          <a:prstGeom prst="rect">
            <a:avLst/>
          </a:prstGeom>
          <a:solidFill>
            <a:srgbClr val="17436B"/>
          </a:solidFill>
          <a:ln w="12700">
            <a:solidFill>
              <a:srgbClr val="17436B"/>
            </a:solidFill>
            <a:prstDash val="solid"/>
          </a:ln>
        </p:spPr>
      </p:sp>
      <p:sp>
        <p:nvSpPr>
          <p:cNvPr id="423" name="Shape 421"/>
          <p:cNvSpPr/>
          <p:nvPr/>
        </p:nvSpPr>
        <p:spPr>
          <a:xfrm>
            <a:off x="2011680" y="5705856"/>
            <a:ext cx="105156" cy="105156"/>
          </a:xfrm>
          <a:prstGeom prst="rect">
            <a:avLst/>
          </a:prstGeom>
          <a:solidFill>
            <a:srgbClr val="17436B"/>
          </a:solidFill>
          <a:ln w="12700">
            <a:solidFill>
              <a:srgbClr val="17436B"/>
            </a:solidFill>
            <a:prstDash val="solid"/>
          </a:ln>
        </p:spPr>
      </p:sp>
      <p:sp>
        <p:nvSpPr>
          <p:cNvPr id="424" name="Shape 422"/>
          <p:cNvSpPr/>
          <p:nvPr/>
        </p:nvSpPr>
        <p:spPr>
          <a:xfrm>
            <a:off x="2157984" y="5705856"/>
            <a:ext cx="105156" cy="105156"/>
          </a:xfrm>
          <a:prstGeom prst="rect">
            <a:avLst/>
          </a:prstGeom>
          <a:solidFill>
            <a:srgbClr val="17436B"/>
          </a:solidFill>
          <a:ln w="12700">
            <a:solidFill>
              <a:srgbClr val="17436B"/>
            </a:solidFill>
            <a:prstDash val="solid"/>
          </a:ln>
        </p:spPr>
      </p:sp>
      <p:sp>
        <p:nvSpPr>
          <p:cNvPr id="425" name="Shape 423"/>
          <p:cNvSpPr/>
          <p:nvPr/>
        </p:nvSpPr>
        <p:spPr>
          <a:xfrm>
            <a:off x="2304288" y="5705856"/>
            <a:ext cx="105156" cy="105156"/>
          </a:xfrm>
          <a:prstGeom prst="rect">
            <a:avLst/>
          </a:prstGeom>
          <a:solidFill>
            <a:srgbClr val="17436B"/>
          </a:solidFill>
          <a:ln w="12700">
            <a:solidFill>
              <a:srgbClr val="17436B"/>
            </a:solidFill>
            <a:prstDash val="solid"/>
          </a:ln>
        </p:spPr>
      </p:sp>
      <p:sp>
        <p:nvSpPr>
          <p:cNvPr id="426" name="Shape 424"/>
          <p:cNvSpPr/>
          <p:nvPr/>
        </p:nvSpPr>
        <p:spPr>
          <a:xfrm>
            <a:off x="2450592" y="5705856"/>
            <a:ext cx="105156" cy="105156"/>
          </a:xfrm>
          <a:prstGeom prst="rect">
            <a:avLst/>
          </a:prstGeom>
          <a:solidFill>
            <a:srgbClr val="17436B"/>
          </a:solidFill>
          <a:ln w="12700">
            <a:solidFill>
              <a:srgbClr val="17436B"/>
            </a:solidFill>
            <a:prstDash val="solid"/>
          </a:ln>
        </p:spPr>
      </p:sp>
      <p:sp>
        <p:nvSpPr>
          <p:cNvPr id="427" name="Shape 425"/>
          <p:cNvSpPr/>
          <p:nvPr/>
        </p:nvSpPr>
        <p:spPr>
          <a:xfrm>
            <a:off x="2596896" y="5705856"/>
            <a:ext cx="105156" cy="105156"/>
          </a:xfrm>
          <a:prstGeom prst="rect">
            <a:avLst/>
          </a:prstGeom>
          <a:solidFill>
            <a:srgbClr val="17436B"/>
          </a:solidFill>
          <a:ln w="12700">
            <a:solidFill>
              <a:srgbClr val="17436B"/>
            </a:solidFill>
            <a:prstDash val="solid"/>
          </a:ln>
        </p:spPr>
      </p:sp>
      <p:sp>
        <p:nvSpPr>
          <p:cNvPr id="428" name="Shape 426"/>
          <p:cNvSpPr/>
          <p:nvPr/>
        </p:nvSpPr>
        <p:spPr>
          <a:xfrm>
            <a:off x="2743200" y="5705856"/>
            <a:ext cx="105156" cy="105156"/>
          </a:xfrm>
          <a:prstGeom prst="rect">
            <a:avLst/>
          </a:prstGeom>
          <a:solidFill>
            <a:srgbClr val="17436B"/>
          </a:solidFill>
          <a:ln w="12700">
            <a:solidFill>
              <a:srgbClr val="17436B"/>
            </a:solidFill>
            <a:prstDash val="solid"/>
          </a:ln>
        </p:spPr>
      </p:sp>
      <p:sp>
        <p:nvSpPr>
          <p:cNvPr id="429" name="Shape 427"/>
          <p:cNvSpPr/>
          <p:nvPr/>
        </p:nvSpPr>
        <p:spPr>
          <a:xfrm>
            <a:off x="2889504" y="5705856"/>
            <a:ext cx="105156" cy="105156"/>
          </a:xfrm>
          <a:prstGeom prst="rect">
            <a:avLst/>
          </a:prstGeom>
          <a:solidFill>
            <a:srgbClr val="17436B"/>
          </a:solidFill>
          <a:ln w="12700">
            <a:solidFill>
              <a:srgbClr val="17436B"/>
            </a:solidFill>
            <a:prstDash val="solid"/>
          </a:ln>
        </p:spPr>
      </p:sp>
      <p:sp>
        <p:nvSpPr>
          <p:cNvPr id="430" name="Shape 428"/>
          <p:cNvSpPr/>
          <p:nvPr/>
        </p:nvSpPr>
        <p:spPr>
          <a:xfrm>
            <a:off x="3035808" y="5705856"/>
            <a:ext cx="105156" cy="105156"/>
          </a:xfrm>
          <a:prstGeom prst="rect">
            <a:avLst/>
          </a:prstGeom>
          <a:solidFill>
            <a:srgbClr val="17436B"/>
          </a:solidFill>
          <a:ln w="12700">
            <a:solidFill>
              <a:srgbClr val="17436B"/>
            </a:solidFill>
            <a:prstDash val="solid"/>
          </a:ln>
        </p:spPr>
      </p:sp>
      <p:sp>
        <p:nvSpPr>
          <p:cNvPr id="431" name="Shape 429"/>
          <p:cNvSpPr/>
          <p:nvPr/>
        </p:nvSpPr>
        <p:spPr>
          <a:xfrm>
            <a:off x="3182112" y="5705856"/>
            <a:ext cx="105156" cy="105156"/>
          </a:xfrm>
          <a:prstGeom prst="rect">
            <a:avLst/>
          </a:prstGeom>
          <a:solidFill>
            <a:srgbClr val="17436B"/>
          </a:solidFill>
          <a:ln w="12700">
            <a:solidFill>
              <a:srgbClr val="17436B"/>
            </a:solidFill>
            <a:prstDash val="solid"/>
          </a:ln>
        </p:spPr>
      </p:sp>
      <p:sp>
        <p:nvSpPr>
          <p:cNvPr id="432" name="Shape 430"/>
          <p:cNvSpPr/>
          <p:nvPr/>
        </p:nvSpPr>
        <p:spPr>
          <a:xfrm>
            <a:off x="3328416" y="5705856"/>
            <a:ext cx="105156" cy="105156"/>
          </a:xfrm>
          <a:prstGeom prst="rect">
            <a:avLst/>
          </a:prstGeom>
          <a:solidFill>
            <a:srgbClr val="17436B"/>
          </a:solidFill>
          <a:ln w="12700">
            <a:solidFill>
              <a:srgbClr val="17436B"/>
            </a:solidFill>
            <a:prstDash val="solid"/>
          </a:ln>
        </p:spPr>
      </p:sp>
      <p:sp>
        <p:nvSpPr>
          <p:cNvPr id="433" name="Shape 431"/>
          <p:cNvSpPr/>
          <p:nvPr/>
        </p:nvSpPr>
        <p:spPr>
          <a:xfrm>
            <a:off x="3474720" y="5705856"/>
            <a:ext cx="105156" cy="105156"/>
          </a:xfrm>
          <a:prstGeom prst="rect">
            <a:avLst/>
          </a:prstGeom>
          <a:solidFill>
            <a:srgbClr val="17436B"/>
          </a:solidFill>
          <a:ln w="12700">
            <a:solidFill>
              <a:srgbClr val="17436B"/>
            </a:solidFill>
            <a:prstDash val="solid"/>
          </a:ln>
        </p:spPr>
      </p:sp>
      <p:sp>
        <p:nvSpPr>
          <p:cNvPr id="434" name="Shape 432"/>
          <p:cNvSpPr/>
          <p:nvPr/>
        </p:nvSpPr>
        <p:spPr>
          <a:xfrm>
            <a:off x="3621024" y="5705856"/>
            <a:ext cx="105156" cy="105156"/>
          </a:xfrm>
          <a:prstGeom prst="rect">
            <a:avLst/>
          </a:prstGeom>
          <a:solidFill>
            <a:srgbClr val="17436B"/>
          </a:solidFill>
          <a:ln w="12700">
            <a:solidFill>
              <a:srgbClr val="17436B"/>
            </a:solidFill>
            <a:prstDash val="solid"/>
          </a:ln>
        </p:spPr>
      </p:sp>
      <p:sp>
        <p:nvSpPr>
          <p:cNvPr id="435" name="Shape 433"/>
          <p:cNvSpPr/>
          <p:nvPr/>
        </p:nvSpPr>
        <p:spPr>
          <a:xfrm>
            <a:off x="3767328" y="5705856"/>
            <a:ext cx="105156" cy="105156"/>
          </a:xfrm>
          <a:prstGeom prst="rect">
            <a:avLst/>
          </a:prstGeom>
          <a:solidFill>
            <a:srgbClr val="17436B"/>
          </a:solidFill>
          <a:ln w="12700">
            <a:solidFill>
              <a:srgbClr val="17436B"/>
            </a:solidFill>
            <a:prstDash val="solid"/>
          </a:ln>
        </p:spPr>
      </p:sp>
      <p:sp>
        <p:nvSpPr>
          <p:cNvPr id="436" name="Shape 434"/>
          <p:cNvSpPr/>
          <p:nvPr/>
        </p:nvSpPr>
        <p:spPr>
          <a:xfrm>
            <a:off x="3913632" y="5705856"/>
            <a:ext cx="105156" cy="105156"/>
          </a:xfrm>
          <a:prstGeom prst="rect">
            <a:avLst/>
          </a:prstGeom>
          <a:solidFill>
            <a:srgbClr val="17436B"/>
          </a:solidFill>
          <a:ln w="12700">
            <a:solidFill>
              <a:srgbClr val="17436B"/>
            </a:solidFill>
            <a:prstDash val="solid"/>
          </a:ln>
        </p:spPr>
      </p:sp>
      <p:sp>
        <p:nvSpPr>
          <p:cNvPr id="437" name="Shape 435"/>
          <p:cNvSpPr/>
          <p:nvPr/>
        </p:nvSpPr>
        <p:spPr>
          <a:xfrm>
            <a:off x="4059936" y="5705856"/>
            <a:ext cx="105156" cy="105156"/>
          </a:xfrm>
          <a:prstGeom prst="rect">
            <a:avLst/>
          </a:prstGeom>
          <a:solidFill>
            <a:srgbClr val="17436B"/>
          </a:solidFill>
          <a:ln w="12700">
            <a:solidFill>
              <a:srgbClr val="17436B"/>
            </a:solidFill>
            <a:prstDash val="solid"/>
          </a:ln>
        </p:spPr>
      </p:sp>
      <p:sp>
        <p:nvSpPr>
          <p:cNvPr id="438" name="Shape 436"/>
          <p:cNvSpPr/>
          <p:nvPr/>
        </p:nvSpPr>
        <p:spPr>
          <a:xfrm>
            <a:off x="4206240" y="5705856"/>
            <a:ext cx="105156" cy="105156"/>
          </a:xfrm>
          <a:prstGeom prst="rect">
            <a:avLst/>
          </a:prstGeom>
          <a:solidFill>
            <a:srgbClr val="17436B"/>
          </a:solidFill>
          <a:ln w="12700">
            <a:solidFill>
              <a:srgbClr val="17436B"/>
            </a:solidFill>
            <a:prstDash val="solid"/>
          </a:ln>
        </p:spPr>
      </p:sp>
      <p:sp>
        <p:nvSpPr>
          <p:cNvPr id="439" name="Shape 437"/>
          <p:cNvSpPr/>
          <p:nvPr/>
        </p:nvSpPr>
        <p:spPr>
          <a:xfrm>
            <a:off x="4352544" y="5705856"/>
            <a:ext cx="105156" cy="105156"/>
          </a:xfrm>
          <a:prstGeom prst="rect">
            <a:avLst/>
          </a:prstGeom>
          <a:solidFill>
            <a:srgbClr val="17436B"/>
          </a:solidFill>
          <a:ln w="12700">
            <a:solidFill>
              <a:srgbClr val="17436B"/>
            </a:solidFill>
            <a:prstDash val="solid"/>
          </a:ln>
        </p:spPr>
      </p:sp>
      <p:sp>
        <p:nvSpPr>
          <p:cNvPr id="440" name="Shape 438"/>
          <p:cNvSpPr/>
          <p:nvPr/>
        </p:nvSpPr>
        <p:spPr>
          <a:xfrm>
            <a:off x="4498848" y="5705856"/>
            <a:ext cx="105156" cy="105156"/>
          </a:xfrm>
          <a:prstGeom prst="rect">
            <a:avLst/>
          </a:prstGeom>
          <a:solidFill>
            <a:srgbClr val="17436B"/>
          </a:solidFill>
          <a:ln w="12700">
            <a:solidFill>
              <a:srgbClr val="17436B"/>
            </a:solidFill>
            <a:prstDash val="solid"/>
          </a:ln>
        </p:spPr>
      </p:sp>
      <p:sp>
        <p:nvSpPr>
          <p:cNvPr id="441" name="Shape 439"/>
          <p:cNvSpPr/>
          <p:nvPr/>
        </p:nvSpPr>
        <p:spPr>
          <a:xfrm>
            <a:off x="4645152" y="5705856"/>
            <a:ext cx="105156" cy="105156"/>
          </a:xfrm>
          <a:prstGeom prst="rect">
            <a:avLst/>
          </a:prstGeom>
          <a:solidFill>
            <a:srgbClr val="17436B"/>
          </a:solidFill>
          <a:ln w="12700">
            <a:solidFill>
              <a:srgbClr val="17436B"/>
            </a:solidFill>
            <a:prstDash val="solid"/>
          </a:ln>
        </p:spPr>
      </p:sp>
      <p:sp>
        <p:nvSpPr>
          <p:cNvPr id="442" name="Shape 440"/>
          <p:cNvSpPr/>
          <p:nvPr/>
        </p:nvSpPr>
        <p:spPr>
          <a:xfrm>
            <a:off x="548640" y="5852160"/>
            <a:ext cx="105156" cy="105156"/>
          </a:xfrm>
          <a:prstGeom prst="rect">
            <a:avLst/>
          </a:prstGeom>
          <a:solidFill>
            <a:srgbClr val="17436B"/>
          </a:solidFill>
          <a:ln w="12700">
            <a:solidFill>
              <a:srgbClr val="17436B"/>
            </a:solidFill>
            <a:prstDash val="solid"/>
          </a:ln>
        </p:spPr>
      </p:sp>
      <p:sp>
        <p:nvSpPr>
          <p:cNvPr id="443" name="Shape 441"/>
          <p:cNvSpPr/>
          <p:nvPr/>
        </p:nvSpPr>
        <p:spPr>
          <a:xfrm>
            <a:off x="694944" y="5852160"/>
            <a:ext cx="105156" cy="105156"/>
          </a:xfrm>
          <a:prstGeom prst="rect">
            <a:avLst/>
          </a:prstGeom>
          <a:solidFill>
            <a:srgbClr val="17436B"/>
          </a:solidFill>
          <a:ln w="12700">
            <a:solidFill>
              <a:srgbClr val="17436B"/>
            </a:solidFill>
            <a:prstDash val="solid"/>
          </a:ln>
        </p:spPr>
      </p:sp>
      <p:sp>
        <p:nvSpPr>
          <p:cNvPr id="444" name="Shape 442"/>
          <p:cNvSpPr/>
          <p:nvPr/>
        </p:nvSpPr>
        <p:spPr>
          <a:xfrm>
            <a:off x="841248" y="5852160"/>
            <a:ext cx="105156" cy="105156"/>
          </a:xfrm>
          <a:prstGeom prst="rect">
            <a:avLst/>
          </a:prstGeom>
          <a:solidFill>
            <a:srgbClr val="17436B"/>
          </a:solidFill>
          <a:ln w="12700">
            <a:solidFill>
              <a:srgbClr val="17436B"/>
            </a:solidFill>
            <a:prstDash val="solid"/>
          </a:ln>
        </p:spPr>
      </p:sp>
      <p:sp>
        <p:nvSpPr>
          <p:cNvPr id="445" name="Shape 443"/>
          <p:cNvSpPr/>
          <p:nvPr/>
        </p:nvSpPr>
        <p:spPr>
          <a:xfrm>
            <a:off x="987552" y="5852160"/>
            <a:ext cx="105156" cy="105156"/>
          </a:xfrm>
          <a:prstGeom prst="rect">
            <a:avLst/>
          </a:prstGeom>
          <a:solidFill>
            <a:srgbClr val="17436B"/>
          </a:solidFill>
          <a:ln w="12700">
            <a:solidFill>
              <a:srgbClr val="17436B"/>
            </a:solidFill>
            <a:prstDash val="solid"/>
          </a:ln>
        </p:spPr>
      </p:sp>
      <p:sp>
        <p:nvSpPr>
          <p:cNvPr id="446" name="Shape 444"/>
          <p:cNvSpPr/>
          <p:nvPr/>
        </p:nvSpPr>
        <p:spPr>
          <a:xfrm>
            <a:off x="1133856" y="5852160"/>
            <a:ext cx="105156" cy="105156"/>
          </a:xfrm>
          <a:prstGeom prst="rect">
            <a:avLst/>
          </a:prstGeom>
          <a:solidFill>
            <a:srgbClr val="17436B"/>
          </a:solidFill>
          <a:ln w="12700">
            <a:solidFill>
              <a:srgbClr val="17436B"/>
            </a:solidFill>
            <a:prstDash val="solid"/>
          </a:ln>
        </p:spPr>
      </p:sp>
      <p:sp>
        <p:nvSpPr>
          <p:cNvPr id="447" name="Shape 445"/>
          <p:cNvSpPr/>
          <p:nvPr/>
        </p:nvSpPr>
        <p:spPr>
          <a:xfrm>
            <a:off x="1280160" y="5852160"/>
            <a:ext cx="105156" cy="105156"/>
          </a:xfrm>
          <a:prstGeom prst="rect">
            <a:avLst/>
          </a:prstGeom>
          <a:solidFill>
            <a:srgbClr val="17436B"/>
          </a:solidFill>
          <a:ln w="12700">
            <a:solidFill>
              <a:srgbClr val="17436B"/>
            </a:solidFill>
            <a:prstDash val="solid"/>
          </a:ln>
        </p:spPr>
      </p:sp>
      <p:sp>
        <p:nvSpPr>
          <p:cNvPr id="448" name="Shape 446"/>
          <p:cNvSpPr/>
          <p:nvPr/>
        </p:nvSpPr>
        <p:spPr>
          <a:xfrm>
            <a:off x="1426464" y="5852160"/>
            <a:ext cx="105156" cy="105156"/>
          </a:xfrm>
          <a:prstGeom prst="rect">
            <a:avLst/>
          </a:prstGeom>
          <a:solidFill>
            <a:srgbClr val="17436B"/>
          </a:solidFill>
          <a:ln w="12700">
            <a:solidFill>
              <a:srgbClr val="17436B"/>
            </a:solidFill>
            <a:prstDash val="solid"/>
          </a:ln>
        </p:spPr>
      </p:sp>
      <p:sp>
        <p:nvSpPr>
          <p:cNvPr id="449" name="Shape 447"/>
          <p:cNvSpPr/>
          <p:nvPr/>
        </p:nvSpPr>
        <p:spPr>
          <a:xfrm>
            <a:off x="1572768" y="5852160"/>
            <a:ext cx="105156" cy="105156"/>
          </a:xfrm>
          <a:prstGeom prst="rect">
            <a:avLst/>
          </a:prstGeom>
          <a:solidFill>
            <a:srgbClr val="17436B"/>
          </a:solidFill>
          <a:ln w="12700">
            <a:solidFill>
              <a:srgbClr val="17436B"/>
            </a:solidFill>
            <a:prstDash val="solid"/>
          </a:ln>
        </p:spPr>
      </p:sp>
      <p:sp>
        <p:nvSpPr>
          <p:cNvPr id="450" name="Shape 448"/>
          <p:cNvSpPr/>
          <p:nvPr/>
        </p:nvSpPr>
        <p:spPr>
          <a:xfrm>
            <a:off x="1719072" y="5852160"/>
            <a:ext cx="105156" cy="105156"/>
          </a:xfrm>
          <a:prstGeom prst="rect">
            <a:avLst/>
          </a:prstGeom>
          <a:solidFill>
            <a:srgbClr val="17436B"/>
          </a:solidFill>
          <a:ln w="12700">
            <a:solidFill>
              <a:srgbClr val="17436B"/>
            </a:solidFill>
            <a:prstDash val="solid"/>
          </a:ln>
        </p:spPr>
      </p:sp>
      <p:sp>
        <p:nvSpPr>
          <p:cNvPr id="451" name="Shape 449"/>
          <p:cNvSpPr/>
          <p:nvPr/>
        </p:nvSpPr>
        <p:spPr>
          <a:xfrm>
            <a:off x="1865376" y="5852160"/>
            <a:ext cx="105156" cy="105156"/>
          </a:xfrm>
          <a:prstGeom prst="rect">
            <a:avLst/>
          </a:prstGeom>
          <a:solidFill>
            <a:srgbClr val="17436B"/>
          </a:solidFill>
          <a:ln w="12700">
            <a:solidFill>
              <a:srgbClr val="17436B"/>
            </a:solidFill>
            <a:prstDash val="solid"/>
          </a:ln>
        </p:spPr>
      </p:sp>
      <p:sp>
        <p:nvSpPr>
          <p:cNvPr id="452" name="Shape 450"/>
          <p:cNvSpPr/>
          <p:nvPr/>
        </p:nvSpPr>
        <p:spPr>
          <a:xfrm>
            <a:off x="2011680" y="5852160"/>
            <a:ext cx="105156" cy="105156"/>
          </a:xfrm>
          <a:prstGeom prst="rect">
            <a:avLst/>
          </a:prstGeom>
          <a:solidFill>
            <a:srgbClr val="17436B"/>
          </a:solidFill>
          <a:ln w="12700">
            <a:solidFill>
              <a:srgbClr val="17436B"/>
            </a:solidFill>
            <a:prstDash val="solid"/>
          </a:ln>
        </p:spPr>
      </p:sp>
      <p:sp>
        <p:nvSpPr>
          <p:cNvPr id="453" name="Shape 451"/>
          <p:cNvSpPr/>
          <p:nvPr/>
        </p:nvSpPr>
        <p:spPr>
          <a:xfrm>
            <a:off x="2157984" y="5852160"/>
            <a:ext cx="105156" cy="105156"/>
          </a:xfrm>
          <a:prstGeom prst="rect">
            <a:avLst/>
          </a:prstGeom>
          <a:solidFill>
            <a:srgbClr val="17436B"/>
          </a:solidFill>
          <a:ln w="12700">
            <a:solidFill>
              <a:srgbClr val="17436B"/>
            </a:solidFill>
            <a:prstDash val="solid"/>
          </a:ln>
        </p:spPr>
      </p:sp>
      <p:sp>
        <p:nvSpPr>
          <p:cNvPr id="454" name="Shape 452"/>
          <p:cNvSpPr/>
          <p:nvPr/>
        </p:nvSpPr>
        <p:spPr>
          <a:xfrm>
            <a:off x="2304288" y="5852160"/>
            <a:ext cx="105156" cy="105156"/>
          </a:xfrm>
          <a:prstGeom prst="rect">
            <a:avLst/>
          </a:prstGeom>
          <a:solidFill>
            <a:srgbClr val="17436B"/>
          </a:solidFill>
          <a:ln w="12700">
            <a:solidFill>
              <a:srgbClr val="17436B"/>
            </a:solidFill>
            <a:prstDash val="solid"/>
          </a:ln>
        </p:spPr>
      </p:sp>
      <p:sp>
        <p:nvSpPr>
          <p:cNvPr id="455" name="Shape 453"/>
          <p:cNvSpPr/>
          <p:nvPr/>
        </p:nvSpPr>
        <p:spPr>
          <a:xfrm>
            <a:off x="2450592" y="5852160"/>
            <a:ext cx="105156" cy="105156"/>
          </a:xfrm>
          <a:prstGeom prst="rect">
            <a:avLst/>
          </a:prstGeom>
          <a:solidFill>
            <a:srgbClr val="17436B"/>
          </a:solidFill>
          <a:ln w="12700">
            <a:solidFill>
              <a:srgbClr val="17436B"/>
            </a:solidFill>
            <a:prstDash val="solid"/>
          </a:ln>
        </p:spPr>
      </p:sp>
      <p:sp>
        <p:nvSpPr>
          <p:cNvPr id="456" name="Shape 454"/>
          <p:cNvSpPr/>
          <p:nvPr/>
        </p:nvSpPr>
        <p:spPr>
          <a:xfrm>
            <a:off x="2596896" y="5852160"/>
            <a:ext cx="105156" cy="105156"/>
          </a:xfrm>
          <a:prstGeom prst="rect">
            <a:avLst/>
          </a:prstGeom>
          <a:solidFill>
            <a:srgbClr val="17436B"/>
          </a:solidFill>
          <a:ln w="12700">
            <a:solidFill>
              <a:srgbClr val="17436B"/>
            </a:solidFill>
            <a:prstDash val="solid"/>
          </a:ln>
        </p:spPr>
      </p:sp>
      <p:sp>
        <p:nvSpPr>
          <p:cNvPr id="457" name="Shape 455"/>
          <p:cNvSpPr/>
          <p:nvPr/>
        </p:nvSpPr>
        <p:spPr>
          <a:xfrm>
            <a:off x="2743200" y="5852160"/>
            <a:ext cx="105156" cy="105156"/>
          </a:xfrm>
          <a:prstGeom prst="rect">
            <a:avLst/>
          </a:prstGeom>
          <a:solidFill>
            <a:srgbClr val="17436B"/>
          </a:solidFill>
          <a:ln w="12700">
            <a:solidFill>
              <a:srgbClr val="17436B"/>
            </a:solidFill>
            <a:prstDash val="solid"/>
          </a:ln>
        </p:spPr>
      </p:sp>
      <p:sp>
        <p:nvSpPr>
          <p:cNvPr id="458" name="Shape 456"/>
          <p:cNvSpPr/>
          <p:nvPr/>
        </p:nvSpPr>
        <p:spPr>
          <a:xfrm>
            <a:off x="2889504" y="5852160"/>
            <a:ext cx="105156" cy="105156"/>
          </a:xfrm>
          <a:prstGeom prst="rect">
            <a:avLst/>
          </a:prstGeom>
          <a:solidFill>
            <a:srgbClr val="17436B"/>
          </a:solidFill>
          <a:ln w="12700">
            <a:solidFill>
              <a:srgbClr val="17436B"/>
            </a:solidFill>
            <a:prstDash val="solid"/>
          </a:ln>
        </p:spPr>
      </p:sp>
      <p:sp>
        <p:nvSpPr>
          <p:cNvPr id="459" name="Shape 457"/>
          <p:cNvSpPr/>
          <p:nvPr/>
        </p:nvSpPr>
        <p:spPr>
          <a:xfrm>
            <a:off x="3035808" y="5852160"/>
            <a:ext cx="105156" cy="105156"/>
          </a:xfrm>
          <a:prstGeom prst="rect">
            <a:avLst/>
          </a:prstGeom>
          <a:solidFill>
            <a:srgbClr val="17436B"/>
          </a:solidFill>
          <a:ln w="12700">
            <a:solidFill>
              <a:srgbClr val="17436B"/>
            </a:solidFill>
            <a:prstDash val="solid"/>
          </a:ln>
        </p:spPr>
      </p:sp>
      <p:sp>
        <p:nvSpPr>
          <p:cNvPr id="460" name="Shape 458"/>
          <p:cNvSpPr/>
          <p:nvPr/>
        </p:nvSpPr>
        <p:spPr>
          <a:xfrm>
            <a:off x="3182112" y="5852160"/>
            <a:ext cx="105156" cy="105156"/>
          </a:xfrm>
          <a:prstGeom prst="rect">
            <a:avLst/>
          </a:prstGeom>
          <a:solidFill>
            <a:srgbClr val="17436B"/>
          </a:solidFill>
          <a:ln w="12700">
            <a:solidFill>
              <a:srgbClr val="17436B"/>
            </a:solidFill>
            <a:prstDash val="solid"/>
          </a:ln>
        </p:spPr>
      </p:sp>
      <p:sp>
        <p:nvSpPr>
          <p:cNvPr id="461" name="Shape 459"/>
          <p:cNvSpPr/>
          <p:nvPr/>
        </p:nvSpPr>
        <p:spPr>
          <a:xfrm>
            <a:off x="3328416" y="5852160"/>
            <a:ext cx="105156" cy="105156"/>
          </a:xfrm>
          <a:prstGeom prst="rect">
            <a:avLst/>
          </a:prstGeom>
          <a:solidFill>
            <a:srgbClr val="17436B"/>
          </a:solidFill>
          <a:ln w="12700">
            <a:solidFill>
              <a:srgbClr val="17436B"/>
            </a:solidFill>
            <a:prstDash val="solid"/>
          </a:ln>
        </p:spPr>
      </p:sp>
      <p:sp>
        <p:nvSpPr>
          <p:cNvPr id="462" name="Shape 460"/>
          <p:cNvSpPr/>
          <p:nvPr/>
        </p:nvSpPr>
        <p:spPr>
          <a:xfrm>
            <a:off x="3474720" y="5852160"/>
            <a:ext cx="105156" cy="105156"/>
          </a:xfrm>
          <a:prstGeom prst="rect">
            <a:avLst/>
          </a:prstGeom>
          <a:solidFill>
            <a:srgbClr val="17436B"/>
          </a:solidFill>
          <a:ln w="12700">
            <a:solidFill>
              <a:srgbClr val="17436B"/>
            </a:solidFill>
            <a:prstDash val="solid"/>
          </a:ln>
        </p:spPr>
      </p:sp>
      <p:sp>
        <p:nvSpPr>
          <p:cNvPr id="463" name="Shape 461"/>
          <p:cNvSpPr/>
          <p:nvPr/>
        </p:nvSpPr>
        <p:spPr>
          <a:xfrm>
            <a:off x="3621024" y="5852160"/>
            <a:ext cx="105156" cy="105156"/>
          </a:xfrm>
          <a:prstGeom prst="rect">
            <a:avLst/>
          </a:prstGeom>
          <a:solidFill>
            <a:srgbClr val="17436B"/>
          </a:solidFill>
          <a:ln w="12700">
            <a:solidFill>
              <a:srgbClr val="17436B"/>
            </a:solidFill>
            <a:prstDash val="solid"/>
          </a:ln>
        </p:spPr>
      </p:sp>
      <p:sp>
        <p:nvSpPr>
          <p:cNvPr id="464" name="Shape 462"/>
          <p:cNvSpPr/>
          <p:nvPr/>
        </p:nvSpPr>
        <p:spPr>
          <a:xfrm>
            <a:off x="3767328" y="5852160"/>
            <a:ext cx="105156" cy="105156"/>
          </a:xfrm>
          <a:prstGeom prst="rect">
            <a:avLst/>
          </a:prstGeom>
          <a:solidFill>
            <a:srgbClr val="17436B"/>
          </a:solidFill>
          <a:ln w="12700">
            <a:solidFill>
              <a:srgbClr val="17436B"/>
            </a:solidFill>
            <a:prstDash val="solid"/>
          </a:ln>
        </p:spPr>
      </p:sp>
      <p:sp>
        <p:nvSpPr>
          <p:cNvPr id="465" name="Shape 463"/>
          <p:cNvSpPr/>
          <p:nvPr/>
        </p:nvSpPr>
        <p:spPr>
          <a:xfrm>
            <a:off x="3913632" y="5852160"/>
            <a:ext cx="105156" cy="105156"/>
          </a:xfrm>
          <a:prstGeom prst="rect">
            <a:avLst/>
          </a:prstGeom>
          <a:solidFill>
            <a:srgbClr val="17436B"/>
          </a:solidFill>
          <a:ln w="12700">
            <a:solidFill>
              <a:srgbClr val="17436B"/>
            </a:solidFill>
            <a:prstDash val="solid"/>
          </a:ln>
        </p:spPr>
      </p:sp>
      <p:sp>
        <p:nvSpPr>
          <p:cNvPr id="466" name="Shape 464"/>
          <p:cNvSpPr/>
          <p:nvPr/>
        </p:nvSpPr>
        <p:spPr>
          <a:xfrm>
            <a:off x="4059936" y="5852160"/>
            <a:ext cx="105156" cy="105156"/>
          </a:xfrm>
          <a:prstGeom prst="rect">
            <a:avLst/>
          </a:prstGeom>
          <a:solidFill>
            <a:srgbClr val="17436B"/>
          </a:solidFill>
          <a:ln w="12700">
            <a:solidFill>
              <a:srgbClr val="17436B"/>
            </a:solidFill>
            <a:prstDash val="solid"/>
          </a:ln>
        </p:spPr>
      </p:sp>
      <p:sp>
        <p:nvSpPr>
          <p:cNvPr id="467" name="Shape 465"/>
          <p:cNvSpPr/>
          <p:nvPr/>
        </p:nvSpPr>
        <p:spPr>
          <a:xfrm>
            <a:off x="4206240" y="5852160"/>
            <a:ext cx="105156" cy="105156"/>
          </a:xfrm>
          <a:prstGeom prst="rect">
            <a:avLst/>
          </a:prstGeom>
          <a:solidFill>
            <a:srgbClr val="17436B"/>
          </a:solidFill>
          <a:ln w="12700">
            <a:solidFill>
              <a:srgbClr val="17436B"/>
            </a:solidFill>
            <a:prstDash val="solid"/>
          </a:ln>
        </p:spPr>
      </p:sp>
      <p:sp>
        <p:nvSpPr>
          <p:cNvPr id="468" name="Shape 466"/>
          <p:cNvSpPr/>
          <p:nvPr/>
        </p:nvSpPr>
        <p:spPr>
          <a:xfrm>
            <a:off x="4352544" y="5852160"/>
            <a:ext cx="105156" cy="105156"/>
          </a:xfrm>
          <a:prstGeom prst="rect">
            <a:avLst/>
          </a:prstGeom>
          <a:solidFill>
            <a:srgbClr val="17436B"/>
          </a:solidFill>
          <a:ln w="12700">
            <a:solidFill>
              <a:srgbClr val="17436B"/>
            </a:solidFill>
            <a:prstDash val="solid"/>
          </a:ln>
        </p:spPr>
      </p:sp>
      <p:sp>
        <p:nvSpPr>
          <p:cNvPr id="469" name="Shape 467"/>
          <p:cNvSpPr/>
          <p:nvPr/>
        </p:nvSpPr>
        <p:spPr>
          <a:xfrm>
            <a:off x="4498848" y="5852160"/>
            <a:ext cx="105156" cy="105156"/>
          </a:xfrm>
          <a:prstGeom prst="rect">
            <a:avLst/>
          </a:prstGeom>
          <a:solidFill>
            <a:srgbClr val="17436B"/>
          </a:solidFill>
          <a:ln w="12700">
            <a:solidFill>
              <a:srgbClr val="17436B"/>
            </a:solidFill>
            <a:prstDash val="solid"/>
          </a:ln>
        </p:spPr>
      </p:sp>
      <p:sp>
        <p:nvSpPr>
          <p:cNvPr id="470" name="Shape 468"/>
          <p:cNvSpPr/>
          <p:nvPr/>
        </p:nvSpPr>
        <p:spPr>
          <a:xfrm>
            <a:off x="4645152" y="5852160"/>
            <a:ext cx="105156" cy="105156"/>
          </a:xfrm>
          <a:prstGeom prst="rect">
            <a:avLst/>
          </a:prstGeom>
          <a:solidFill>
            <a:srgbClr val="17436B"/>
          </a:solidFill>
          <a:ln w="12700">
            <a:solidFill>
              <a:srgbClr val="17436B"/>
            </a:solidFill>
            <a:prstDash val="solid"/>
          </a:ln>
        </p:spPr>
      </p:sp>
      <p:sp>
        <p:nvSpPr>
          <p:cNvPr id="471" name="Text 469"/>
          <p:cNvSpPr txBox="1"/>
          <p:nvPr/>
        </p:nvSpPr>
        <p:spPr>
          <a:xfrm>
            <a:off x="548640" y="6126480"/>
            <a:ext cx="5394960" cy="457200"/>
          </a:xfrm>
          <a:prstGeom prst="rect">
            <a:avLst/>
          </a:prstGeom>
          <a:noFill/>
          <a:ln/>
        </p:spPr>
        <p:txBody>
          <a:bodyPr wrap="square" lIns="0" tIns="0" rIns="0" bIns="0" rtlCol="0" anchor="t"/>
          <a:lstStyle/>
          <a:p>
            <a:pPr indent="0" marL="0">
              <a:buNone/>
            </a:pPr>
            <a:r>
              <a:rPr lang="en-US" sz="1500" dirty="0">
                <a:solidFill>
                  <a:srgbClr val="C6D3DF"/>
                </a:solidFill>
                <a:latin typeface="Calibri" pitchFamily="34" charset="0"/>
                <a:ea typeface="Calibri" pitchFamily="34" charset="-122"/>
                <a:cs typeface="Calibri" pitchFamily="34" charset="-120"/>
              </a:rPr>
              <a:t>464 coordinate systems; two carry the annotation</a:t>
            </a:r>
            <a:endParaRPr lang="en-US" sz="1500" dirty="0"/>
          </a:p>
        </p:txBody>
      </p:sp>
      <p:sp>
        <p:nvSpPr>
          <p:cNvPr id="472" name="Text 470"/>
          <p:cNvSpPr txBox="1"/>
          <p:nvPr/>
        </p:nvSpPr>
        <p:spPr>
          <a:xfrm>
            <a:off x="6400800" y="3703320"/>
            <a:ext cx="5212080" cy="1280160"/>
          </a:xfrm>
          <a:prstGeom prst="rect">
            <a:avLst/>
          </a:prstGeom>
          <a:noFill/>
          <a:ln/>
        </p:spPr>
        <p:txBody>
          <a:bodyPr wrap="square" lIns="0" tIns="0" rIns="0" bIns="0" rtlCol="0" anchor="t"/>
          <a:lstStyle/>
          <a:p>
            <a:pPr indent="0" marL="0">
              <a:buNone/>
            </a:pPr>
            <a:r>
              <a:rPr lang="en-US" sz="2100" dirty="0">
                <a:solidFill>
                  <a:srgbClr val="FFFFFF"/>
                </a:solidFill>
                <a:latin typeface="Calibri" pitchFamily="34" charset="0"/>
                <a:ea typeface="Calibri" pitchFamily="34" charset="-122"/>
                <a:cs typeface="Calibri" pitchFamily="34" charset="-120"/>
              </a:rPr>
              <a:t>Release 2 is the most complete picture of human variation we have, and the tools to work with it exist.</a:t>
            </a:r>
            <a:endParaRPr lang="en-US" sz="2100" dirty="0"/>
          </a:p>
        </p:txBody>
      </p:sp>
      <p:sp>
        <p:nvSpPr>
          <p:cNvPr id="473" name="Text 471"/>
          <p:cNvSpPr txBox="1"/>
          <p:nvPr/>
        </p:nvSpPr>
        <p:spPr>
          <a:xfrm>
            <a:off x="6400800" y="4937760"/>
            <a:ext cx="5212080" cy="1280160"/>
          </a:xfrm>
          <a:prstGeom prst="rect">
            <a:avLst/>
          </a:prstGeom>
          <a:noFill/>
          <a:ln/>
        </p:spPr>
        <p:txBody>
          <a:bodyPr wrap="square" lIns="0" tIns="0" rIns="0" bIns="0" rtlCol="0" anchor="t"/>
          <a:lstStyle/>
          <a:p>
            <a:pPr indent="0" marL="0">
              <a:buNone/>
            </a:pPr>
            <a:r>
              <a:rPr lang="en-US" sz="2100" i="1" dirty="0">
                <a:solidFill>
                  <a:srgbClr val="FDC700"/>
                </a:solidFill>
                <a:latin typeface="Calibri" pitchFamily="34" charset="0"/>
                <a:ea typeface="Calibri" pitchFamily="34" charset="-122"/>
                <a:cs typeface="Calibri" pitchFamily="34" charset="-120"/>
              </a:rPr>
              <a:t>Every one of them needs a large index, real compute, and a command-line workflow. Most clinicians and many researchers never get past that.</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Possible on release 2, only in a terminal</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3</a:t>
            </a:r>
            <a:endParaRPr lang="en-US" sz="1000" dirty="0"/>
          </a:p>
        </p:txBody>
      </p:sp>
      <p:sp>
        <p:nvSpPr>
          <p:cNvPr id="4" name="Shape 2"/>
          <p:cNvSpPr/>
          <p:nvPr/>
        </p:nvSpPr>
        <p:spPr>
          <a:xfrm>
            <a:off x="548640" y="1325880"/>
            <a:ext cx="3454298" cy="4160520"/>
          </a:xfrm>
          <a:prstGeom prst="roundRect">
            <a:avLst>
              <a:gd name="adj" fmla="val 3177"/>
            </a:avLst>
          </a:prstGeom>
          <a:solidFill>
            <a:srgbClr val="EDF1F6"/>
          </a:solidFill>
          <a:ln w="12700">
            <a:solidFill>
              <a:srgbClr val="DCE3EB"/>
            </a:solidFill>
            <a:prstDash val="solid"/>
          </a:ln>
        </p:spPr>
      </p:sp>
      <p:sp>
        <p:nvSpPr>
          <p:cNvPr id="5" name="Shape 3"/>
          <p:cNvSpPr/>
          <p:nvPr/>
        </p:nvSpPr>
        <p:spPr>
          <a:xfrm>
            <a:off x="868680" y="1645920"/>
            <a:ext cx="731520" cy="73152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58875" y="1836115"/>
            <a:ext cx="351130" cy="351130"/>
          </a:xfrm>
          <a:prstGeom prst="rect">
            <a:avLst/>
          </a:prstGeom>
        </p:spPr>
      </p:pic>
      <p:sp>
        <p:nvSpPr>
          <p:cNvPr id="7" name="Text 4"/>
          <p:cNvSpPr txBox="1"/>
          <p:nvPr/>
        </p:nvSpPr>
        <p:spPr>
          <a:xfrm>
            <a:off x="868680"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Place a sequence across haplotypes</a:t>
            </a:r>
            <a:endParaRPr lang="en-US" sz="2100" dirty="0"/>
          </a:p>
        </p:txBody>
      </p:sp>
      <p:sp>
        <p:nvSpPr>
          <p:cNvPr id="8" name="Text 5"/>
          <p:cNvSpPr txBox="1"/>
          <p:nvPr/>
        </p:nvSpPr>
        <p:spPr>
          <a:xfrm>
            <a:off x="868680"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Which of the 464 haplotypes carry a sequence, where, and what does each region look like? Today: a giraffe index, a mapping run, and a terminal session before the first answer.</a:t>
            </a:r>
            <a:endParaRPr lang="en-US" sz="1600" dirty="0"/>
          </a:p>
        </p:txBody>
      </p:sp>
      <p:sp>
        <p:nvSpPr>
          <p:cNvPr id="9" name="Shape 6"/>
          <p:cNvSpPr/>
          <p:nvPr/>
        </p:nvSpPr>
        <p:spPr>
          <a:xfrm>
            <a:off x="4368698" y="1325880"/>
            <a:ext cx="3454298" cy="4160520"/>
          </a:xfrm>
          <a:prstGeom prst="roundRect">
            <a:avLst>
              <a:gd name="adj" fmla="val 3177"/>
            </a:avLst>
          </a:prstGeom>
          <a:solidFill>
            <a:srgbClr val="EDF1F6"/>
          </a:solidFill>
          <a:ln w="12700">
            <a:solidFill>
              <a:srgbClr val="DCE3EB"/>
            </a:solidFill>
            <a:prstDash val="solid"/>
          </a:ln>
        </p:spPr>
      </p:sp>
      <p:sp>
        <p:nvSpPr>
          <p:cNvPr id="10" name="Shape 7"/>
          <p:cNvSpPr/>
          <p:nvPr/>
        </p:nvSpPr>
        <p:spPr>
          <a:xfrm>
            <a:off x="4688738" y="1645920"/>
            <a:ext cx="731520" cy="731520"/>
          </a:xfrm>
          <a:prstGeom prst="ellipse">
            <a:avLst/>
          </a:prstGeom>
          <a:solidFill>
            <a:srgbClr val="003C6C"/>
          </a:solidFill>
          <a:ln w="12700">
            <a:solidFill>
              <a:srgbClr val="003C6C"/>
            </a:solidFill>
            <a:prstDash val="solid"/>
          </a:ln>
        </p:spPr>
      </p:sp>
      <p:pic>
        <p:nvPicPr>
          <p:cNvPr id="11" name="Image 1" descr="preencoded.png">    </p:cNvPr>
          <p:cNvPicPr>
            <a:picLocks noChangeAspect="1"/>
          </p:cNvPicPr>
          <p:nvPr/>
        </p:nvPicPr>
        <p:blipFill>
          <a:blip r:embed="rId2"/>
          <a:stretch>
            <a:fillRect/>
          </a:stretch>
        </p:blipFill>
        <p:spPr>
          <a:xfrm>
            <a:off x="4878934" y="1836115"/>
            <a:ext cx="351130" cy="351130"/>
          </a:xfrm>
          <a:prstGeom prst="rect">
            <a:avLst/>
          </a:prstGeom>
        </p:spPr>
      </p:pic>
      <p:sp>
        <p:nvSpPr>
          <p:cNvPr id="12" name="Text 8"/>
          <p:cNvSpPr txBox="1"/>
          <p:nvPr/>
        </p:nvSpPr>
        <p:spPr>
          <a:xfrm>
            <a:off x="4688738"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Move a locus onto a haplotype</a:t>
            </a:r>
            <a:endParaRPr lang="en-US" sz="2100" dirty="0"/>
          </a:p>
        </p:txBody>
      </p:sp>
      <p:sp>
        <p:nvSpPr>
          <p:cNvPr id="13" name="Text 9"/>
          <p:cNvSpPr txBox="1"/>
          <p:nvPr/>
        </p:nvSpPr>
        <p:spPr>
          <a:xfrm>
            <a:off x="4688738"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Take coordinates known on GRCh38 or CHM13 to an arbitrary release 2 haplotype. Today: halLiftover or impg over the whole alignment, per request, or a ready-made chain for a handful of pairs.</a:t>
            </a:r>
            <a:endParaRPr lang="en-US" sz="1600" dirty="0"/>
          </a:p>
        </p:txBody>
      </p:sp>
      <p:sp>
        <p:nvSpPr>
          <p:cNvPr id="14" name="Shape 10"/>
          <p:cNvSpPr/>
          <p:nvPr/>
        </p:nvSpPr>
        <p:spPr>
          <a:xfrm>
            <a:off x="8188757" y="1325880"/>
            <a:ext cx="3454298" cy="4160520"/>
          </a:xfrm>
          <a:prstGeom prst="roundRect">
            <a:avLst>
              <a:gd name="adj" fmla="val 3177"/>
            </a:avLst>
          </a:prstGeom>
          <a:solidFill>
            <a:srgbClr val="EDF1F6"/>
          </a:solidFill>
          <a:ln w="12700">
            <a:solidFill>
              <a:srgbClr val="DCE3EB"/>
            </a:solidFill>
            <a:prstDash val="solid"/>
          </a:ln>
        </p:spPr>
      </p:sp>
      <p:sp>
        <p:nvSpPr>
          <p:cNvPr id="15" name="Shape 11"/>
          <p:cNvSpPr/>
          <p:nvPr/>
        </p:nvSpPr>
        <p:spPr>
          <a:xfrm>
            <a:off x="8508797" y="1645920"/>
            <a:ext cx="731520" cy="731520"/>
          </a:xfrm>
          <a:prstGeom prst="ellipse">
            <a:avLst/>
          </a:prstGeom>
          <a:solidFill>
            <a:srgbClr val="003C6C"/>
          </a:solidFill>
          <a:ln w="12700">
            <a:solidFill>
              <a:srgbClr val="003C6C"/>
            </a:solidFill>
            <a:prstDash val="solid"/>
          </a:ln>
        </p:spPr>
      </p:sp>
      <p:pic>
        <p:nvPicPr>
          <p:cNvPr id="16" name="Image 2" descr="preencoded.png">    </p:cNvPr>
          <p:cNvPicPr>
            <a:picLocks noChangeAspect="1"/>
          </p:cNvPicPr>
          <p:nvPr/>
        </p:nvPicPr>
        <p:blipFill>
          <a:blip r:embed="rId3"/>
          <a:stretch>
            <a:fillRect/>
          </a:stretch>
        </p:blipFill>
        <p:spPr>
          <a:xfrm>
            <a:off x="8698992" y="1836115"/>
            <a:ext cx="351130" cy="351130"/>
          </a:xfrm>
          <a:prstGeom prst="rect">
            <a:avLst/>
          </a:prstGeom>
        </p:spPr>
      </p:pic>
      <p:sp>
        <p:nvSpPr>
          <p:cNvPr id="17" name="Text 12"/>
          <p:cNvSpPr txBox="1"/>
          <p:nvPr/>
        </p:nvSpPr>
        <p:spPr>
          <a:xfrm>
            <a:off x="8508797"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Bring the annotation along</a:t>
            </a:r>
            <a:endParaRPr lang="en-US" sz="2100" dirty="0"/>
          </a:p>
        </p:txBody>
      </p:sp>
      <p:sp>
        <p:nvSpPr>
          <p:cNvPr id="18" name="Text 13"/>
          <p:cNvSpPr txBox="1"/>
          <p:nvPr/>
        </p:nvSpPr>
        <p:spPr>
          <a:xfrm>
            <a:off x="8508797"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See the reference's gene models, ClinVar, GWAS or one's own tracks on a release 2 haplotype. Today: lift every track yourself, per haplotype, before anyone can look.</a:t>
            </a:r>
            <a:endParaRPr lang="en-US" sz="1600" dirty="0"/>
          </a:p>
        </p:txBody>
      </p:sp>
      <p:sp>
        <p:nvSpPr>
          <p:cNvPr id="19" name="Text 14"/>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graph already holds the answers. Reaching them takes resources and expertise most clinicians and many researchers do not have.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Two use cases on the release 2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4</a:t>
            </a:r>
            <a:endParaRPr lang="en-US" sz="1000" dirty="0"/>
          </a:p>
        </p:txBody>
      </p:sp>
      <p:sp>
        <p:nvSpPr>
          <p:cNvPr id="4" name="Shape 2"/>
          <p:cNvSpPr/>
          <p:nvPr/>
        </p:nvSpPr>
        <p:spPr>
          <a:xfrm>
            <a:off x="548640" y="1325880"/>
            <a:ext cx="5364328" cy="4114800"/>
          </a:xfrm>
          <a:prstGeom prst="roundRect">
            <a:avLst>
              <a:gd name="adj" fmla="val 2667"/>
            </a:avLst>
          </a:prstGeom>
          <a:solidFill>
            <a:srgbClr val="EDF1F6"/>
          </a:solidFill>
          <a:ln w="12700">
            <a:solidFill>
              <a:srgbClr val="DCE3EB"/>
            </a:solidFill>
            <a:prstDash val="solid"/>
          </a:ln>
        </p:spPr>
      </p:sp>
      <p:sp>
        <p:nvSpPr>
          <p:cNvPr id="5" name="Shape 3"/>
          <p:cNvSpPr/>
          <p:nvPr/>
        </p:nvSpPr>
        <p:spPr>
          <a:xfrm>
            <a:off x="868680" y="1691640"/>
            <a:ext cx="777240" cy="77724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70762" y="1893722"/>
            <a:ext cx="373075" cy="373075"/>
          </a:xfrm>
          <a:prstGeom prst="rect">
            <a:avLst/>
          </a:prstGeom>
        </p:spPr>
      </p:pic>
      <p:sp>
        <p:nvSpPr>
          <p:cNvPr id="7" name="Text 4"/>
          <p:cNvSpPr txBox="1"/>
          <p:nvPr/>
        </p:nvSpPr>
        <p:spPr>
          <a:xfrm>
            <a:off x="1828800" y="1709928"/>
            <a:ext cx="3718408" cy="320040"/>
          </a:xfrm>
          <a:prstGeom prst="rect">
            <a:avLst/>
          </a:prstGeom>
          <a:noFill/>
          <a:ln/>
        </p:spPr>
        <p:txBody>
          <a:bodyPr wrap="square" lIns="0" tIns="0" rIns="0" bIns="0" rtlCol="0" anchor="t"/>
          <a:lstStyle/>
          <a:p>
            <a:pPr indent="0" marL="0">
              <a:buNone/>
            </a:pPr>
            <a:r>
              <a:rPr lang="en-US" sz="1400" b="1" spc="200" kern="0" dirty="0">
                <a:solidFill>
                  <a:srgbClr val="5B6B7C"/>
                </a:solidFill>
                <a:latin typeface="Calibri" pitchFamily="34" charset="0"/>
                <a:ea typeface="Calibri" pitchFamily="34" charset="-122"/>
                <a:cs typeface="Calibri" pitchFamily="34" charset="-120"/>
              </a:rPr>
              <a:t>Use case 1</a:t>
            </a:r>
            <a:endParaRPr lang="en-US" sz="1400" dirty="0"/>
          </a:p>
        </p:txBody>
      </p:sp>
      <p:sp>
        <p:nvSpPr>
          <p:cNvPr id="8" name="Text 5"/>
          <p:cNvSpPr txBox="1"/>
          <p:nvPr/>
        </p:nvSpPr>
        <p:spPr>
          <a:xfrm>
            <a:off x="1828800" y="2011680"/>
            <a:ext cx="371840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Sequence search</a:t>
            </a:r>
            <a:endParaRPr lang="en-US" sz="2200" dirty="0"/>
          </a:p>
        </p:txBody>
      </p:sp>
      <p:sp>
        <p:nvSpPr>
          <p:cNvPr id="9" name="Text 6"/>
          <p:cNvSpPr txBox="1"/>
          <p:nvPr/>
        </p:nvSpPr>
        <p:spPr>
          <a:xfrm>
            <a:off x="868680" y="2788920"/>
            <a:ext cx="4724248" cy="137160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A researcher has a sequence that is not in GRCh38: an insertion assembled from a sample, a probe, a contig. Which release 2 haplotypes carry it, and where?</a:t>
            </a:r>
            <a:endParaRPr lang="en-US" sz="1800" dirty="0"/>
          </a:p>
        </p:txBody>
      </p:sp>
      <p:sp>
        <p:nvSpPr>
          <p:cNvPr id="10" name="Text 7"/>
          <p:cNvSpPr txBox="1"/>
          <p:nvPr/>
        </p:nvSpPr>
        <p:spPr>
          <a:xfrm>
            <a:off x="868680" y="4251960"/>
            <a:ext cx="4724248" cy="3200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today</a:t>
            </a:r>
            <a:endParaRPr lang="en-US" sz="1600" dirty="0"/>
          </a:p>
        </p:txBody>
      </p:sp>
      <p:sp>
        <p:nvSpPr>
          <p:cNvPr id="11" name="Text 8"/>
          <p:cNvSpPr txBox="1"/>
          <p:nvPr/>
        </p:nvSpPr>
        <p:spPr>
          <a:xfrm>
            <a:off x="868680" y="4572000"/>
            <a:ext cx="4724248" cy="640080"/>
          </a:xfrm>
          <a:prstGeom prst="rect">
            <a:avLst/>
          </a:prstGeom>
          <a:noFill/>
          <a:ln/>
        </p:spPr>
        <p:txBody>
          <a:bodyPr wrap="square" lIns="0" tIns="0" rIns="0" bIns="0" rtlCol="0" anchor="ctr"/>
          <a:lstStyle/>
          <a:p>
            <a:pPr indent="0" marL="0">
              <a:buNone/>
            </a:pPr>
            <a:r>
              <a:rPr lang="en-US" sz="2200" b="1" dirty="0">
                <a:solidFill>
                  <a:srgbClr val="E4572E"/>
                </a:solidFill>
                <a:latin typeface="Calibri" pitchFamily="34" charset="0"/>
                <a:ea typeface="Calibri" pitchFamily="34" charset="-122"/>
                <a:cs typeface="Calibri" pitchFamily="34" charset="-120"/>
              </a:rPr>
              <a:t>a large index and a terminal</a:t>
            </a:r>
            <a:endParaRPr lang="en-US" sz="2200" dirty="0"/>
          </a:p>
        </p:txBody>
      </p:sp>
      <p:sp>
        <p:nvSpPr>
          <p:cNvPr id="12" name="Shape 9"/>
          <p:cNvSpPr/>
          <p:nvPr/>
        </p:nvSpPr>
        <p:spPr>
          <a:xfrm>
            <a:off x="6278728" y="1325880"/>
            <a:ext cx="5364328" cy="4114800"/>
          </a:xfrm>
          <a:prstGeom prst="roundRect">
            <a:avLst>
              <a:gd name="adj" fmla="val 2667"/>
            </a:avLst>
          </a:prstGeom>
          <a:solidFill>
            <a:srgbClr val="EDF1F6"/>
          </a:solidFill>
          <a:ln w="12700">
            <a:solidFill>
              <a:srgbClr val="DCE3EB"/>
            </a:solidFill>
            <a:prstDash val="solid"/>
          </a:ln>
        </p:spPr>
      </p:sp>
      <p:sp>
        <p:nvSpPr>
          <p:cNvPr id="13" name="Shape 10"/>
          <p:cNvSpPr/>
          <p:nvPr/>
        </p:nvSpPr>
        <p:spPr>
          <a:xfrm>
            <a:off x="6598768" y="1691640"/>
            <a:ext cx="777240" cy="777240"/>
          </a:xfrm>
          <a:prstGeom prst="ellipse">
            <a:avLst/>
          </a:prstGeom>
          <a:solidFill>
            <a:srgbClr val="003C6C"/>
          </a:solidFill>
          <a:ln w="12700">
            <a:solidFill>
              <a:srgbClr val="003C6C"/>
            </a:solidFill>
            <a:prstDash val="solid"/>
          </a:ln>
        </p:spPr>
      </p:sp>
      <p:pic>
        <p:nvPicPr>
          <p:cNvPr id="14" name="Image 1" descr="preencoded.png">    </p:cNvPr>
          <p:cNvPicPr>
            <a:picLocks noChangeAspect="1"/>
          </p:cNvPicPr>
          <p:nvPr/>
        </p:nvPicPr>
        <p:blipFill>
          <a:blip r:embed="rId2"/>
          <a:stretch>
            <a:fillRect/>
          </a:stretch>
        </p:blipFill>
        <p:spPr>
          <a:xfrm>
            <a:off x="6800850" y="1893722"/>
            <a:ext cx="373075" cy="373075"/>
          </a:xfrm>
          <a:prstGeom prst="rect">
            <a:avLst/>
          </a:prstGeom>
        </p:spPr>
      </p:pic>
      <p:sp>
        <p:nvSpPr>
          <p:cNvPr id="15" name="Text 11"/>
          <p:cNvSpPr txBox="1"/>
          <p:nvPr/>
        </p:nvSpPr>
        <p:spPr>
          <a:xfrm>
            <a:off x="7558888" y="1709928"/>
            <a:ext cx="3718408" cy="320040"/>
          </a:xfrm>
          <a:prstGeom prst="rect">
            <a:avLst/>
          </a:prstGeom>
          <a:noFill/>
          <a:ln/>
        </p:spPr>
        <p:txBody>
          <a:bodyPr wrap="square" lIns="0" tIns="0" rIns="0" bIns="0" rtlCol="0" anchor="t"/>
          <a:lstStyle/>
          <a:p>
            <a:pPr indent="0" marL="0">
              <a:buNone/>
            </a:pPr>
            <a:r>
              <a:rPr lang="en-US" sz="1400" b="1" spc="200" kern="0" dirty="0">
                <a:solidFill>
                  <a:srgbClr val="5B6B7C"/>
                </a:solidFill>
                <a:latin typeface="Calibri" pitchFamily="34" charset="0"/>
                <a:ea typeface="Calibri" pitchFamily="34" charset="-122"/>
                <a:cs typeface="Calibri" pitchFamily="34" charset="-120"/>
              </a:rPr>
              <a:t>Use case 2</a:t>
            </a:r>
            <a:endParaRPr lang="en-US" sz="1400" dirty="0"/>
          </a:p>
        </p:txBody>
      </p:sp>
      <p:sp>
        <p:nvSpPr>
          <p:cNvPr id="16" name="Text 12"/>
          <p:cNvSpPr txBox="1"/>
          <p:nvPr/>
        </p:nvSpPr>
        <p:spPr>
          <a:xfrm>
            <a:off x="7558888" y="2011680"/>
            <a:ext cx="371840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Coordinate translation</a:t>
            </a:r>
            <a:endParaRPr lang="en-US" sz="2200" dirty="0"/>
          </a:p>
        </p:txBody>
      </p:sp>
      <p:sp>
        <p:nvSpPr>
          <p:cNvPr id="17" name="Text 13"/>
          <p:cNvSpPr txBox="1"/>
          <p:nvPr/>
        </p:nvSpPr>
        <p:spPr>
          <a:xfrm>
            <a:off x="6598768" y="2788920"/>
            <a:ext cx="4724248" cy="137160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A researcher knows a gene on GRCh38 or CHM13 and wants to see it, with its annotation, on a specific release 2 haplotype.</a:t>
            </a:r>
            <a:endParaRPr lang="en-US" sz="1800" dirty="0"/>
          </a:p>
        </p:txBody>
      </p:sp>
      <p:sp>
        <p:nvSpPr>
          <p:cNvPr id="18" name="Text 14"/>
          <p:cNvSpPr txBox="1"/>
          <p:nvPr/>
        </p:nvSpPr>
        <p:spPr>
          <a:xfrm>
            <a:off x="6598768" y="4251960"/>
            <a:ext cx="4724248" cy="3200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today</a:t>
            </a:r>
            <a:endParaRPr lang="en-US" sz="1600" dirty="0"/>
          </a:p>
        </p:txBody>
      </p:sp>
      <p:sp>
        <p:nvSpPr>
          <p:cNvPr id="19" name="Text 15"/>
          <p:cNvSpPr txBox="1"/>
          <p:nvPr/>
        </p:nvSpPr>
        <p:spPr>
          <a:xfrm>
            <a:off x="6598768" y="4572000"/>
            <a:ext cx="4724248" cy="640080"/>
          </a:xfrm>
          <a:prstGeom prst="rect">
            <a:avLst/>
          </a:prstGeom>
          <a:noFill/>
          <a:ln/>
        </p:spPr>
        <p:txBody>
          <a:bodyPr wrap="square" lIns="0" tIns="0" rIns="0" bIns="0" rtlCol="0" anchor="ctr"/>
          <a:lstStyle/>
          <a:p>
            <a:pPr indent="0" marL="0">
              <a:buNone/>
            </a:pPr>
            <a:r>
              <a:rPr lang="en-US" sz="2200" b="1" dirty="0">
                <a:solidFill>
                  <a:srgbClr val="E4572E"/>
                </a:solidFill>
                <a:latin typeface="Calibri" pitchFamily="34" charset="0"/>
                <a:ea typeface="Calibri" pitchFamily="34" charset="-122"/>
                <a:cs typeface="Calibri" pitchFamily="34" charset="-120"/>
              </a:rPr>
              <a:t>a few chains; a script for the rest</a:t>
            </a:r>
            <a:endParaRPr lang="en-US" sz="2200" dirty="0"/>
          </a:p>
        </p:txBody>
      </p:sp>
      <p:sp>
        <p:nvSpPr>
          <p:cNvPr id="20" name="Text 16"/>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Both are shown live on the release 2 graph in this talk.</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Two questions, answered in milliseconds</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5</a:t>
            </a:r>
            <a:endParaRPr lang="en-US" sz="1000" dirty="0"/>
          </a:p>
        </p:txBody>
      </p:sp>
      <p:sp>
        <p:nvSpPr>
          <p:cNvPr id="4" name="Shape 2"/>
          <p:cNvSpPr/>
          <p:nvPr/>
        </p:nvSpPr>
        <p:spPr>
          <a:xfrm>
            <a:off x="548640" y="1417320"/>
            <a:ext cx="5364328" cy="2514600"/>
          </a:xfrm>
          <a:prstGeom prst="roundRect">
            <a:avLst>
              <a:gd name="adj" fmla="val 4364"/>
            </a:avLst>
          </a:prstGeom>
          <a:solidFill>
            <a:srgbClr val="EDF1F6"/>
          </a:solidFill>
          <a:ln w="12700">
            <a:solidFill>
              <a:srgbClr val="DCE3EB"/>
            </a:solidFill>
            <a:prstDash val="solid"/>
          </a:ln>
        </p:spPr>
      </p:sp>
      <p:sp>
        <p:nvSpPr>
          <p:cNvPr id="5" name="Shape 3"/>
          <p:cNvSpPr/>
          <p:nvPr/>
        </p:nvSpPr>
        <p:spPr>
          <a:xfrm>
            <a:off x="868680" y="1737360"/>
            <a:ext cx="731520" cy="73152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58875" y="1927555"/>
            <a:ext cx="351130" cy="351130"/>
          </a:xfrm>
          <a:prstGeom prst="rect">
            <a:avLst/>
          </a:prstGeom>
        </p:spPr>
      </p:pic>
      <p:sp>
        <p:nvSpPr>
          <p:cNvPr id="7" name="Text 4"/>
          <p:cNvSpPr txBox="1"/>
          <p:nvPr/>
        </p:nvSpPr>
        <p:spPr>
          <a:xfrm>
            <a:off x="1828800" y="1783080"/>
            <a:ext cx="3718408" cy="685800"/>
          </a:xfrm>
          <a:prstGeom prst="rect">
            <a:avLst/>
          </a:prstGeom>
          <a:noFill/>
          <a:ln/>
        </p:spPr>
        <p:txBody>
          <a:bodyPr wrap="square" lIns="0" tIns="0" rIns="0" bIns="0" rtlCol="0" anchor="ctr"/>
          <a:lstStyle/>
          <a:p>
            <a:pPr indent="0" marL="0">
              <a:buNone/>
            </a:pPr>
            <a:r>
              <a:rPr lang="en-US" sz="2000" b="1" dirty="0">
                <a:solidFill>
                  <a:srgbClr val="003C6C"/>
                </a:solidFill>
                <a:latin typeface="Calibri" pitchFamily="34" charset="0"/>
                <a:ea typeface="Calibri" pitchFamily="34" charset="-122"/>
                <a:cs typeface="Calibri" pitchFamily="34" charset="-120"/>
              </a:rPr>
              <a:t>Where in the graph is this sequence?</a:t>
            </a:r>
            <a:endParaRPr lang="en-US" sz="2000" dirty="0"/>
          </a:p>
        </p:txBody>
      </p:sp>
      <p:sp>
        <p:nvSpPr>
          <p:cNvPr id="8" name="Text 5"/>
          <p:cNvSpPr txBox="1"/>
          <p:nvPr/>
        </p:nvSpPr>
        <p:spPr>
          <a:xfrm>
            <a:off x="868680" y="2606040"/>
            <a:ext cx="4724248" cy="12344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Asked once against all 464 haplotypes, not 464 times against one assembly each. Any sequence, any length.</a:t>
            </a:r>
            <a:endParaRPr lang="en-US" sz="1700" dirty="0"/>
          </a:p>
        </p:txBody>
      </p:sp>
      <p:sp>
        <p:nvSpPr>
          <p:cNvPr id="9" name="Shape 6"/>
          <p:cNvSpPr/>
          <p:nvPr/>
        </p:nvSpPr>
        <p:spPr>
          <a:xfrm>
            <a:off x="3230804" y="4023360"/>
            <a:ext cx="0" cy="457200"/>
          </a:xfrm>
          <a:prstGeom prst="line">
            <a:avLst/>
          </a:prstGeom>
          <a:noFill/>
          <a:ln w="25400">
            <a:solidFill>
              <a:srgbClr val="003C6C"/>
            </a:solidFill>
            <a:prstDash val="solid"/>
            <a:tailEnd type="triangle"/>
          </a:ln>
        </p:spPr>
      </p:sp>
      <p:sp>
        <p:nvSpPr>
          <p:cNvPr id="10" name="Shape 7"/>
          <p:cNvSpPr/>
          <p:nvPr/>
        </p:nvSpPr>
        <p:spPr>
          <a:xfrm>
            <a:off x="6278728" y="1417320"/>
            <a:ext cx="5364328" cy="2514600"/>
          </a:xfrm>
          <a:prstGeom prst="roundRect">
            <a:avLst>
              <a:gd name="adj" fmla="val 4364"/>
            </a:avLst>
          </a:prstGeom>
          <a:solidFill>
            <a:srgbClr val="EDF1F6"/>
          </a:solidFill>
          <a:ln w="12700">
            <a:solidFill>
              <a:srgbClr val="DCE3EB"/>
            </a:solidFill>
            <a:prstDash val="solid"/>
          </a:ln>
        </p:spPr>
      </p:sp>
      <p:sp>
        <p:nvSpPr>
          <p:cNvPr id="11" name="Shape 8"/>
          <p:cNvSpPr/>
          <p:nvPr/>
        </p:nvSpPr>
        <p:spPr>
          <a:xfrm>
            <a:off x="6598768" y="1737360"/>
            <a:ext cx="731520" cy="731520"/>
          </a:xfrm>
          <a:prstGeom prst="ellipse">
            <a:avLst/>
          </a:prstGeom>
          <a:solidFill>
            <a:srgbClr val="003C6C"/>
          </a:solidFill>
          <a:ln w="12700">
            <a:solidFill>
              <a:srgbClr val="003C6C"/>
            </a:solidFill>
            <a:prstDash val="solid"/>
          </a:ln>
        </p:spPr>
      </p:sp>
      <p:pic>
        <p:nvPicPr>
          <p:cNvPr id="12" name="Image 1" descr="preencoded.png">    </p:cNvPr>
          <p:cNvPicPr>
            <a:picLocks noChangeAspect="1"/>
          </p:cNvPicPr>
          <p:nvPr/>
        </p:nvPicPr>
        <p:blipFill>
          <a:blip r:embed="rId2"/>
          <a:stretch>
            <a:fillRect/>
          </a:stretch>
        </p:blipFill>
        <p:spPr>
          <a:xfrm>
            <a:off x="6788963" y="1927555"/>
            <a:ext cx="351130" cy="351130"/>
          </a:xfrm>
          <a:prstGeom prst="rect">
            <a:avLst/>
          </a:prstGeom>
        </p:spPr>
      </p:pic>
      <p:sp>
        <p:nvSpPr>
          <p:cNvPr id="13" name="Text 9"/>
          <p:cNvSpPr txBox="1"/>
          <p:nvPr/>
        </p:nvSpPr>
        <p:spPr>
          <a:xfrm>
            <a:off x="7558888" y="1783080"/>
            <a:ext cx="3718408" cy="685800"/>
          </a:xfrm>
          <a:prstGeom prst="rect">
            <a:avLst/>
          </a:prstGeom>
          <a:noFill/>
          <a:ln/>
        </p:spPr>
        <p:txBody>
          <a:bodyPr wrap="square" lIns="0" tIns="0" rIns="0" bIns="0" rtlCol="0" anchor="ctr"/>
          <a:lstStyle/>
          <a:p>
            <a:pPr indent="0" marL="0">
              <a:buNone/>
            </a:pPr>
            <a:r>
              <a:rPr lang="en-US" sz="2000" b="1" dirty="0">
                <a:solidFill>
                  <a:srgbClr val="003C6C"/>
                </a:solidFill>
                <a:latin typeface="Calibri" pitchFamily="34" charset="0"/>
                <a:ea typeface="Calibri" pitchFamily="34" charset="-122"/>
                <a:cs typeface="Calibri" pitchFamily="34" charset="-120"/>
              </a:rPr>
              <a:t>Who passes through this node, and where?</a:t>
            </a:r>
            <a:endParaRPr lang="en-US" sz="2000" dirty="0"/>
          </a:p>
        </p:txBody>
      </p:sp>
      <p:sp>
        <p:nvSpPr>
          <p:cNvPr id="14" name="Text 10"/>
          <p:cNvSpPr txBox="1"/>
          <p:nvPr/>
        </p:nvSpPr>
        <p:spPr>
          <a:xfrm>
            <a:off x="6598768" y="2606040"/>
            <a:ext cx="4724248" cy="12344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Answered for any haplotype against any other, without a pairwise alignment prepared for each of the 200,000+ pairs.</a:t>
            </a:r>
            <a:endParaRPr lang="en-US" sz="1700" dirty="0"/>
          </a:p>
        </p:txBody>
      </p:sp>
      <p:sp>
        <p:nvSpPr>
          <p:cNvPr id="15" name="Shape 11"/>
          <p:cNvSpPr/>
          <p:nvPr/>
        </p:nvSpPr>
        <p:spPr>
          <a:xfrm>
            <a:off x="8960891" y="4023360"/>
            <a:ext cx="0" cy="457200"/>
          </a:xfrm>
          <a:prstGeom prst="line">
            <a:avLst/>
          </a:prstGeom>
          <a:noFill/>
          <a:ln w="25400">
            <a:solidFill>
              <a:srgbClr val="003C6C"/>
            </a:solidFill>
            <a:prstDash val="solid"/>
            <a:tailEnd type="triangle"/>
          </a:ln>
        </p:spPr>
      </p:sp>
      <p:sp>
        <p:nvSpPr>
          <p:cNvPr id="16" name="Shape 12"/>
          <p:cNvSpPr/>
          <p:nvPr/>
        </p:nvSpPr>
        <p:spPr>
          <a:xfrm>
            <a:off x="548640" y="4572000"/>
            <a:ext cx="11094415" cy="1325880"/>
          </a:xfrm>
          <a:prstGeom prst="roundRect">
            <a:avLst>
              <a:gd name="adj" fmla="val 8276"/>
            </a:avLst>
          </a:prstGeom>
          <a:solidFill>
            <a:srgbClr val="003C6C"/>
          </a:solidFill>
          <a:ln w="12700">
            <a:solidFill>
              <a:srgbClr val="003C6C"/>
            </a:solidFill>
            <a:prstDash val="solid"/>
          </a:ln>
        </p:spPr>
      </p:sp>
      <p:sp>
        <p:nvSpPr>
          <p:cNvPr id="17" name="Text 13"/>
          <p:cNvSpPr txBox="1"/>
          <p:nvPr/>
        </p:nvSpPr>
        <p:spPr>
          <a:xfrm>
            <a:off x="548640" y="4690872"/>
            <a:ext cx="11094415" cy="502920"/>
          </a:xfrm>
          <a:prstGeom prst="rect">
            <a:avLst/>
          </a:prstGeom>
          <a:noFill/>
          <a:ln/>
        </p:spPr>
        <p:txBody>
          <a:bodyPr wrap="square" lIns="0" tIns="0" rIns="0" bIns="0" rtlCol="0" anchor="t"/>
          <a:lstStyle/>
          <a:p>
            <a:pPr algn="ctr" indent="0" marL="0">
              <a:buNone/>
            </a:pPr>
            <a:r>
              <a:rPr lang="en-US" sz="2400" b="1" dirty="0">
                <a:solidFill>
                  <a:srgbClr val="FFFFFF"/>
                </a:solidFill>
                <a:latin typeface="Calibri" pitchFamily="34" charset="0"/>
                <a:ea typeface="Calibri" pitchFamily="34" charset="-122"/>
                <a:cs typeface="Calibri" pitchFamily="34" charset="-120"/>
              </a:rPr>
              <a:t>One index answers both: the tag array index</a:t>
            </a:r>
            <a:endParaRPr lang="en-US" sz="2400" dirty="0"/>
          </a:p>
        </p:txBody>
      </p:sp>
      <p:sp>
        <p:nvSpPr>
          <p:cNvPr id="18" name="Text 14"/>
          <p:cNvSpPr txBox="1"/>
          <p:nvPr/>
        </p:nvSpPr>
        <p:spPr>
          <a:xfrm>
            <a:off x="548640" y="5257800"/>
            <a:ext cx="11094415" cy="41148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Built once over the release 2 graph. Everything in the rest of this talk is a query against it.</a:t>
            </a:r>
            <a:endParaRPr lang="en-US" sz="1600" dirty="0"/>
          </a:p>
        </p:txBody>
      </p:sp>
      <p:sp>
        <p:nvSpPr>
          <p:cNvPr id="19" name="Text 15"/>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A web page can wait a second, not an hour. The index is what makes that possible.</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Tag arrays: an index that knows the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6</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Tag arrays</a:t>
            </a:r>
            <a:endParaRPr lang="en-US" sz="1600" dirty="0"/>
          </a:p>
        </p:txBody>
      </p:sp>
      <p:pic>
        <p:nvPicPr>
          <p:cNvPr id="5" name="Image 0" descr="/Users/seeskand/Documents/HPRC/2026/hprc_2026_poster/talk/figures/own/tag2_0.png">    </p:cNvPr>
          <p:cNvPicPr>
            <a:picLocks noChangeAspect="1"/>
          </p:cNvPicPr>
          <p:nvPr/>
        </p:nvPicPr>
        <p:blipFill>
          <a:blip r:embed="rId1"/>
          <a:stretch>
            <a:fillRect/>
          </a:stretch>
        </p:blipFill>
        <p:spPr>
          <a:xfrm>
            <a:off x="548640" y="1371600"/>
            <a:ext cx="5154182" cy="3429000"/>
          </a:xfrm>
          <a:prstGeom prst="rect">
            <a:avLst/>
          </a:prstGeom>
        </p:spPr>
      </p:pic>
      <p:pic>
        <p:nvPicPr>
          <p:cNvPr id="6" name="Image 1" descr="/Users/seeskand/Documents/HPRC/2026/hprc_2026_poster/talk/figures/bwt_col.png">    </p:cNvPr>
          <p:cNvPicPr>
            <a:picLocks noChangeAspect="1"/>
          </p:cNvPicPr>
          <p:nvPr/>
        </p:nvPicPr>
        <p:blipFill>
          <a:blip r:embed="rId2"/>
          <a:stretch>
            <a:fillRect/>
          </a:stretch>
        </p:blipFill>
        <p:spPr>
          <a:xfrm>
            <a:off x="6205742" y="1371600"/>
            <a:ext cx="1285219" cy="3429000"/>
          </a:xfrm>
          <a:prstGeom prst="rect">
            <a:avLst/>
          </a:prstGeom>
        </p:spPr>
      </p:pic>
      <p:pic>
        <p:nvPicPr>
          <p:cNvPr id="7" name="Image 2" descr="/Users/seeskand/Documents/HPRC/2026/hprc_2026_poster/talk/figures/tags_col.png">    </p:cNvPr>
          <p:cNvPicPr>
            <a:picLocks noChangeAspect="1"/>
          </p:cNvPicPr>
          <p:nvPr/>
        </p:nvPicPr>
        <p:blipFill>
          <a:blip r:embed="rId3"/>
          <a:stretch>
            <a:fillRect/>
          </a:stretch>
        </p:blipFill>
        <p:spPr>
          <a:xfrm>
            <a:off x="7628122" y="1371600"/>
            <a:ext cx="737908" cy="3429000"/>
          </a:xfrm>
          <a:prstGeom prst="rect">
            <a:avLst/>
          </a:prstGeom>
        </p:spPr>
      </p:pic>
      <p:sp>
        <p:nvSpPr>
          <p:cNvPr id="8" name="Text 3"/>
          <p:cNvSpPr txBox="1"/>
          <p:nvPr/>
        </p:nvSpPr>
        <p:spPr>
          <a:xfrm>
            <a:off x="5382782" y="4846320"/>
            <a:ext cx="3806207" cy="320040"/>
          </a:xfrm>
          <a:prstGeom prst="rect">
            <a:avLst/>
          </a:prstGeom>
          <a:noFill/>
          <a:ln/>
        </p:spPr>
        <p:txBody>
          <a:bodyPr wrap="square" lIns="0" tIns="0" rIns="0" bIns="0" rtlCol="0" anchor="t"/>
          <a:lstStyle/>
          <a:p>
            <a:pPr algn="ctr" indent="0" marL="0">
              <a:buNone/>
            </a:pPr>
            <a:r>
              <a:rPr lang="en-US" sz="1100" i="1" dirty="0">
                <a:solidFill>
                  <a:srgbClr val="5B6B7C"/>
                </a:solidFill>
                <a:latin typeface="Calibri" pitchFamily="34" charset="0"/>
                <a:ea typeface="Calibri" pitchFamily="34" charset="-122"/>
                <a:cs typeface="Calibri" pitchFamily="34" charset="-120"/>
              </a:rPr>
              <a:t>every BWT position carries a tag: its node and offset</a:t>
            </a:r>
            <a:endParaRPr lang="en-US" sz="1100" dirty="0"/>
          </a:p>
        </p:txBody>
      </p:sp>
      <p:sp>
        <p:nvSpPr>
          <p:cNvPr id="9" name="Shape 4"/>
          <p:cNvSpPr/>
          <p:nvPr/>
        </p:nvSpPr>
        <p:spPr>
          <a:xfrm>
            <a:off x="548640" y="5321808"/>
            <a:ext cx="365760" cy="365760"/>
          </a:xfrm>
          <a:prstGeom prst="roundRect">
            <a:avLst>
              <a:gd name="adj" fmla="val 22500"/>
            </a:avLst>
          </a:prstGeom>
          <a:solidFill>
            <a:srgbClr val="FDC700"/>
          </a:solidFill>
          <a:ln w="12700">
            <a:solidFill>
              <a:srgbClr val="FDC700"/>
            </a:solidFill>
            <a:prstDash val="solid"/>
          </a:ln>
        </p:spPr>
      </p:sp>
      <p:sp>
        <p:nvSpPr>
          <p:cNvPr id="10" name="Text 5"/>
          <p:cNvSpPr txBox="1"/>
          <p:nvPr/>
        </p:nvSpPr>
        <p:spPr>
          <a:xfrm>
            <a:off x="548640" y="5321808"/>
            <a:ext cx="365760" cy="365760"/>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1" name="Text 6"/>
          <p:cNvSpPr txBox="1"/>
          <p:nvPr/>
        </p:nvSpPr>
        <p:spPr>
          <a:xfrm>
            <a:off x="1051560" y="5303520"/>
            <a:ext cx="2951378" cy="411480"/>
          </a:xfrm>
          <a:prstGeom prst="rect">
            <a:avLst/>
          </a:prstGeom>
          <a:noFill/>
          <a:ln/>
        </p:spPr>
        <p:txBody>
          <a:bodyPr wrap="square" lIns="0" tIns="0" rIns="0" bIns="0" rtlCol="0" anchor="ctr"/>
          <a:lstStyle/>
          <a:p>
            <a:pPr indent="0" marL="0">
              <a:buNone/>
            </a:pPr>
            <a:r>
              <a:rPr lang="en-US" sz="1500" b="1" dirty="0">
                <a:solidFill>
                  <a:srgbClr val="003C6C"/>
                </a:solidFill>
                <a:latin typeface="Calibri" pitchFamily="34" charset="0"/>
                <a:ea typeface="Calibri" pitchFamily="34" charset="-122"/>
                <a:cs typeface="Calibri" pitchFamily="34" charset="-120"/>
              </a:rPr>
              <a:t>One index answers for every haplotype</a:t>
            </a:r>
            <a:endParaRPr lang="en-US" sz="1500" dirty="0"/>
          </a:p>
        </p:txBody>
      </p:sp>
      <p:sp>
        <p:nvSpPr>
          <p:cNvPr id="12" name="Text 7"/>
          <p:cNvSpPr txBox="1"/>
          <p:nvPr/>
        </p:nvSpPr>
        <p:spPr>
          <a:xfrm>
            <a:off x="1051560" y="5760720"/>
            <a:ext cx="2951378" cy="685800"/>
          </a:xfrm>
          <a:prstGeom prst="rect">
            <a:avLst/>
          </a:prstGeom>
          <a:noFill/>
          <a:ln/>
        </p:spPr>
        <p:txBody>
          <a:bodyPr wrap="square" lIns="0" tIns="0" rIns="0" bIns="0" rtlCol="0" anchor="t"/>
          <a:lstStyle/>
          <a:p>
            <a:pPr indent="0" marL="0">
              <a:buNone/>
            </a:pPr>
            <a:r>
              <a:rPr lang="en-US" sz="1250" dirty="0">
                <a:solidFill>
                  <a:srgbClr val="18293B"/>
                </a:solidFill>
                <a:latin typeface="Calibri" pitchFamily="34" charset="0"/>
                <a:ea typeface="Calibri" pitchFamily="34" charset="-122"/>
                <a:cs typeface="Calibri" pitchFamily="34" charset="-120"/>
              </a:rPr>
              <a:t>All 464 haplotypes are indexed together. A sequence is looked up once and found on every haplotype that carries it.</a:t>
            </a:r>
            <a:endParaRPr lang="en-US" sz="1250" dirty="0"/>
          </a:p>
        </p:txBody>
      </p:sp>
      <p:sp>
        <p:nvSpPr>
          <p:cNvPr id="13" name="Shape 8"/>
          <p:cNvSpPr/>
          <p:nvPr/>
        </p:nvSpPr>
        <p:spPr>
          <a:xfrm>
            <a:off x="4368698" y="5321808"/>
            <a:ext cx="365760" cy="365760"/>
          </a:xfrm>
          <a:prstGeom prst="roundRect">
            <a:avLst>
              <a:gd name="adj" fmla="val 22500"/>
            </a:avLst>
          </a:prstGeom>
          <a:solidFill>
            <a:srgbClr val="FDC700"/>
          </a:solidFill>
          <a:ln w="12700">
            <a:solidFill>
              <a:srgbClr val="FDC700"/>
            </a:solidFill>
            <a:prstDash val="solid"/>
          </a:ln>
        </p:spPr>
      </p:sp>
      <p:sp>
        <p:nvSpPr>
          <p:cNvPr id="14" name="Text 9"/>
          <p:cNvSpPr txBox="1"/>
          <p:nvPr/>
        </p:nvSpPr>
        <p:spPr>
          <a:xfrm>
            <a:off x="4368698" y="5321808"/>
            <a:ext cx="365760" cy="365760"/>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5" name="Text 10"/>
          <p:cNvSpPr txBox="1"/>
          <p:nvPr/>
        </p:nvSpPr>
        <p:spPr>
          <a:xfrm>
            <a:off x="4871618" y="5303520"/>
            <a:ext cx="2951378" cy="411480"/>
          </a:xfrm>
          <a:prstGeom prst="rect">
            <a:avLst/>
          </a:prstGeom>
          <a:noFill/>
          <a:ln/>
        </p:spPr>
        <p:txBody>
          <a:bodyPr wrap="square" lIns="0" tIns="0" rIns="0" bIns="0" rtlCol="0" anchor="ctr"/>
          <a:lstStyle/>
          <a:p>
            <a:pPr indent="0" marL="0">
              <a:buNone/>
            </a:pPr>
            <a:r>
              <a:rPr lang="en-US" sz="1500" b="1" dirty="0">
                <a:solidFill>
                  <a:srgbClr val="003C6C"/>
                </a:solidFill>
                <a:latin typeface="Calibri" pitchFamily="34" charset="0"/>
                <a:ea typeface="Calibri" pitchFamily="34" charset="-122"/>
                <a:cs typeface="Calibri" pitchFamily="34" charset="-120"/>
              </a:rPr>
              <a:t>Every match knows its place in the graph</a:t>
            </a:r>
            <a:endParaRPr lang="en-US" sz="1500" dirty="0"/>
          </a:p>
        </p:txBody>
      </p:sp>
      <p:sp>
        <p:nvSpPr>
          <p:cNvPr id="16" name="Text 11"/>
          <p:cNvSpPr txBox="1"/>
          <p:nvPr/>
        </p:nvSpPr>
        <p:spPr>
          <a:xfrm>
            <a:off x="4871618" y="5760720"/>
            <a:ext cx="2951378" cy="685800"/>
          </a:xfrm>
          <a:prstGeom prst="rect">
            <a:avLst/>
          </a:prstGeom>
          <a:noFill/>
          <a:ln/>
        </p:spPr>
        <p:txBody>
          <a:bodyPr wrap="square" lIns="0" tIns="0" rIns="0" bIns="0" rtlCol="0" anchor="t"/>
          <a:lstStyle/>
          <a:p>
            <a:pPr indent="0" marL="0">
              <a:buNone/>
            </a:pPr>
            <a:r>
              <a:rPr lang="en-US" sz="1250" dirty="0">
                <a:solidFill>
                  <a:srgbClr val="18293B"/>
                </a:solidFill>
                <a:latin typeface="Calibri" pitchFamily="34" charset="0"/>
                <a:ea typeface="Calibri" pitchFamily="34" charset="-122"/>
                <a:cs typeface="Calibri" pitchFamily="34" charset="-120"/>
              </a:rPr>
              <a:t>The tag on a BWT position is a node and an offset. A hit is a position in the graph, not a line in one assembly.</a:t>
            </a:r>
            <a:endParaRPr lang="en-US" sz="1250" dirty="0"/>
          </a:p>
        </p:txBody>
      </p:sp>
      <p:sp>
        <p:nvSpPr>
          <p:cNvPr id="17" name="Shape 12"/>
          <p:cNvSpPr/>
          <p:nvPr/>
        </p:nvSpPr>
        <p:spPr>
          <a:xfrm>
            <a:off x="8188757" y="5321808"/>
            <a:ext cx="365760" cy="365760"/>
          </a:xfrm>
          <a:prstGeom prst="roundRect">
            <a:avLst>
              <a:gd name="adj" fmla="val 22500"/>
            </a:avLst>
          </a:prstGeom>
          <a:solidFill>
            <a:srgbClr val="FDC700"/>
          </a:solidFill>
          <a:ln w="12700">
            <a:solidFill>
              <a:srgbClr val="FDC700"/>
            </a:solidFill>
            <a:prstDash val="solid"/>
          </a:ln>
        </p:spPr>
      </p:sp>
      <p:sp>
        <p:nvSpPr>
          <p:cNvPr id="18" name="Text 13"/>
          <p:cNvSpPr txBox="1"/>
          <p:nvPr/>
        </p:nvSpPr>
        <p:spPr>
          <a:xfrm>
            <a:off x="8188757" y="5321808"/>
            <a:ext cx="365760" cy="365760"/>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9" name="Text 14"/>
          <p:cNvSpPr txBox="1"/>
          <p:nvPr/>
        </p:nvSpPr>
        <p:spPr>
          <a:xfrm>
            <a:off x="8691677" y="5303520"/>
            <a:ext cx="2951378" cy="411480"/>
          </a:xfrm>
          <a:prstGeom prst="rect">
            <a:avLst/>
          </a:prstGeom>
          <a:noFill/>
          <a:ln/>
        </p:spPr>
        <p:txBody>
          <a:bodyPr wrap="square" lIns="0" tIns="0" rIns="0" bIns="0" rtlCol="0" anchor="ctr"/>
          <a:lstStyle/>
          <a:p>
            <a:pPr indent="0" marL="0">
              <a:buNone/>
            </a:pPr>
            <a:r>
              <a:rPr lang="en-US" sz="1500" b="1" dirty="0">
                <a:solidFill>
                  <a:srgbClr val="003C6C"/>
                </a:solidFill>
                <a:latin typeface="Calibri" pitchFamily="34" charset="0"/>
                <a:ea typeface="Calibri" pitchFamily="34" charset="-122"/>
                <a:cs typeface="Calibri" pitchFamily="34" charset="-120"/>
              </a:rPr>
              <a:t>Every node knows who visits it</a:t>
            </a:r>
            <a:endParaRPr lang="en-US" sz="1500" dirty="0"/>
          </a:p>
        </p:txBody>
      </p:sp>
      <p:sp>
        <p:nvSpPr>
          <p:cNvPr id="20" name="Text 15"/>
          <p:cNvSpPr txBox="1"/>
          <p:nvPr/>
        </p:nvSpPr>
        <p:spPr>
          <a:xfrm>
            <a:off x="8691677" y="5760720"/>
            <a:ext cx="2951378" cy="685800"/>
          </a:xfrm>
          <a:prstGeom prst="rect">
            <a:avLst/>
          </a:prstGeom>
          <a:noFill/>
          <a:ln/>
        </p:spPr>
        <p:txBody>
          <a:bodyPr wrap="square" lIns="0" tIns="0" rIns="0" bIns="0" rtlCol="0" anchor="t"/>
          <a:lstStyle/>
          <a:p>
            <a:pPr indent="0" marL="0">
              <a:buNone/>
            </a:pPr>
            <a:r>
              <a:rPr lang="en-US" sz="1250" dirty="0">
                <a:solidFill>
                  <a:srgbClr val="18293B"/>
                </a:solidFill>
                <a:latin typeface="Calibri" pitchFamily="34" charset="0"/>
                <a:ea typeface="Calibri" pitchFamily="34" charset="-122"/>
                <a:cs typeface="Calibri" pitchFamily="34" charset="-120"/>
              </a:rPr>
              <a:t>Ask a node, get every haplotype passing through it with its own coordinate. That is how a locus moves between haplotypes.</a:t>
            </a:r>
            <a:endParaRPr lang="en-US" sz="1250" dirty="0"/>
          </a:p>
        </p:txBody>
      </p:sp>
      <p:sp>
        <p:nvSpPr>
          <p:cNvPr id="21" name="Text 16"/>
          <p:cNvSpPr txBox="1"/>
          <p:nvPr/>
        </p:nvSpPr>
        <p:spPr>
          <a:xfrm>
            <a:off x="548640" y="6473952"/>
            <a:ext cx="11094415" cy="292608"/>
          </a:xfrm>
          <a:prstGeom prst="rect">
            <a:avLst/>
          </a:prstGeom>
          <a:noFill/>
          <a:ln/>
        </p:spPr>
        <p:txBody>
          <a:bodyPr wrap="square" lIns="0" tIns="0" rIns="0" bIns="0" rtlCol="0" anchor="t"/>
          <a:lstStyle/>
          <a:p>
            <a:pPr algn="ctr" indent="0" marL="0">
              <a:buNone/>
            </a:pPr>
            <a:r>
              <a:rPr lang="en-US" sz="1100" dirty="0">
                <a:solidFill>
                  <a:srgbClr val="5B6B7C"/>
                </a:solidFill>
                <a:latin typeface="Calibri" pitchFamily="34" charset="0"/>
                <a:ea typeface="Calibri" pitchFamily="34" charset="-122"/>
                <a:cs typeface="Calibri" pitchFamily="34" charset="-120"/>
              </a:rPr>
              <a:t>Eskandar, Paten, Sirén. Lossless pangenome indexing using tag arrays. WABI 2025; Algorithms for Molecular Biology 2026.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7</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1 of 4</a:t>
            </a:r>
            <a:endParaRPr lang="en-US" sz="1600" dirty="0"/>
          </a:p>
        </p:txBody>
      </p:sp>
      <p:pic>
        <p:nvPicPr>
          <p:cNvPr id="5" name="Image 0" descr="/Users/seeskand/Documents/HPRC/2026/hprc_2026_poster/talk/figures/translation_step1.png">    </p:cNvPr>
          <p:cNvPicPr>
            <a:picLocks noChangeAspect="1"/>
          </p:cNvPicPr>
          <p:nvPr/>
        </p:nvPicPr>
        <p:blipFill>
          <a:blip r:embed="rId1"/>
          <a:stretch>
            <a:fillRect/>
          </a:stretch>
        </p:blipFill>
        <p:spPr>
          <a:xfrm>
            <a:off x="548640" y="1417320"/>
            <a:ext cx="6949440" cy="4516749"/>
          </a:xfrm>
          <a:prstGeom prst="rect">
            <a:avLst/>
          </a:prstGeom>
        </p:spPr>
      </p:pic>
      <p:sp>
        <p:nvSpPr>
          <p:cNvPr id="6" name="Shape 3"/>
          <p:cNvSpPr/>
          <p:nvPr/>
        </p:nvSpPr>
        <p:spPr>
          <a:xfrm>
            <a:off x="7863840" y="1463040"/>
            <a:ext cx="420624" cy="420624"/>
          </a:xfrm>
          <a:prstGeom prst="roundRect">
            <a:avLst>
              <a:gd name="adj" fmla="val 19565"/>
            </a:avLst>
          </a:prstGeom>
          <a:solidFill>
            <a:srgbClr val="FDC700"/>
          </a:solidFill>
          <a:ln w="12700">
            <a:solidFill>
              <a:srgbClr val="FDC700"/>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Find the query's nodes on the source path.</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8</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2 of 4</a:t>
            </a:r>
            <a:endParaRPr lang="en-US" sz="1600" dirty="0"/>
          </a:p>
        </p:txBody>
      </p:sp>
      <p:pic>
        <p:nvPicPr>
          <p:cNvPr id="5" name="Image 0" descr="/Users/seeskand/Documents/HPRC/2026/hprc_2026_poster/talk/figures/translation_step2.png">    </p:cNvPr>
          <p:cNvPicPr>
            <a:picLocks noChangeAspect="1"/>
          </p:cNvPicPr>
          <p:nvPr/>
        </p:nvPicPr>
        <p:blipFill>
          <a:blip r:embed="rId1"/>
          <a:stretch>
            <a:fillRect/>
          </a:stretch>
        </p:blipFill>
        <p:spPr>
          <a:xfrm>
            <a:off x="548640" y="1417320"/>
            <a:ext cx="6949440" cy="4516749"/>
          </a:xfrm>
          <a:prstGeom prst="rect">
            <a:avLst/>
          </a:prstGeom>
        </p:spPr>
      </p:pic>
      <p:sp>
        <p:nvSpPr>
          <p:cNvPr id="6" name="Shape 3"/>
          <p:cNvSpPr/>
          <p:nvPr/>
        </p:nvSpPr>
        <p:spPr>
          <a:xfrm>
            <a:off x="7863840" y="1463040"/>
            <a:ext cx="420624" cy="420624"/>
          </a:xfrm>
          <a:prstGeom prst="roundRect">
            <a:avLst>
              <a:gd name="adj" fmla="val 19565"/>
            </a:avLst>
          </a:prstGeom>
          <a:solidFill>
            <a:srgbClr val="EDF1F6"/>
          </a:solidFill>
          <a:ln w="12700">
            <a:solidFill>
              <a:srgbClr val="DCE3EB"/>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Find the query's nodes on the source path.</a:t>
            </a:r>
            <a:endParaRPr lang="en-US" sz="1700" dirty="0"/>
          </a:p>
        </p:txBody>
      </p:sp>
      <p:sp>
        <p:nvSpPr>
          <p:cNvPr id="9" name="Shape 6"/>
          <p:cNvSpPr/>
          <p:nvPr/>
        </p:nvSpPr>
        <p:spPr>
          <a:xfrm>
            <a:off x="7863840" y="2560320"/>
            <a:ext cx="420624" cy="420624"/>
          </a:xfrm>
          <a:prstGeom prst="roundRect">
            <a:avLst>
              <a:gd name="adj" fmla="val 19565"/>
            </a:avLst>
          </a:prstGeom>
          <a:solidFill>
            <a:srgbClr val="FDC700"/>
          </a:solidFill>
          <a:ln w="12700">
            <a:solidFill>
              <a:srgbClr val="FDC700"/>
            </a:solidFill>
            <a:prstDash val="solid"/>
          </a:ln>
        </p:spPr>
      </p:sp>
      <p:sp>
        <p:nvSpPr>
          <p:cNvPr id="10" name="Text 7"/>
          <p:cNvSpPr txBox="1"/>
          <p:nvPr/>
        </p:nvSpPr>
        <p:spPr>
          <a:xfrm>
            <a:off x="7863840" y="2560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1" name="Text 8"/>
          <p:cNvSpPr txBox="1"/>
          <p:nvPr/>
        </p:nvSpPr>
        <p:spPr>
          <a:xfrm>
            <a:off x="8458200" y="254203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Ask the tag arrays who else is here.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9</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3 of 4</a:t>
            </a:r>
            <a:endParaRPr lang="en-US" sz="1600" dirty="0"/>
          </a:p>
        </p:txBody>
      </p:sp>
      <p:pic>
        <p:nvPicPr>
          <p:cNvPr id="5" name="Image 0" descr="/Users/seeskand/Documents/HPRC/2026/hprc_2026_poster/talk/figures/translation_step3.png">    </p:cNvPr>
          <p:cNvPicPr>
            <a:picLocks noChangeAspect="1"/>
          </p:cNvPicPr>
          <p:nvPr/>
        </p:nvPicPr>
        <p:blipFill>
          <a:blip r:embed="rId1"/>
          <a:stretch>
            <a:fillRect/>
          </a:stretch>
        </p:blipFill>
        <p:spPr>
          <a:xfrm>
            <a:off x="548640" y="1417320"/>
            <a:ext cx="6949440" cy="4516749"/>
          </a:xfrm>
          <a:prstGeom prst="rect">
            <a:avLst/>
          </a:prstGeom>
        </p:spPr>
      </p:pic>
      <p:sp>
        <p:nvSpPr>
          <p:cNvPr id="6" name="Shape 3"/>
          <p:cNvSpPr/>
          <p:nvPr/>
        </p:nvSpPr>
        <p:spPr>
          <a:xfrm>
            <a:off x="7863840" y="1463040"/>
            <a:ext cx="420624" cy="420624"/>
          </a:xfrm>
          <a:prstGeom prst="roundRect">
            <a:avLst>
              <a:gd name="adj" fmla="val 19565"/>
            </a:avLst>
          </a:prstGeom>
          <a:solidFill>
            <a:srgbClr val="EDF1F6"/>
          </a:solidFill>
          <a:ln w="12700">
            <a:solidFill>
              <a:srgbClr val="DCE3EB"/>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Find the query's nodes on the source path.</a:t>
            </a:r>
            <a:endParaRPr lang="en-US" sz="1700" dirty="0"/>
          </a:p>
        </p:txBody>
      </p:sp>
      <p:sp>
        <p:nvSpPr>
          <p:cNvPr id="9" name="Shape 6"/>
          <p:cNvSpPr/>
          <p:nvPr/>
        </p:nvSpPr>
        <p:spPr>
          <a:xfrm>
            <a:off x="7863840" y="2560320"/>
            <a:ext cx="420624" cy="420624"/>
          </a:xfrm>
          <a:prstGeom prst="roundRect">
            <a:avLst>
              <a:gd name="adj" fmla="val 19565"/>
            </a:avLst>
          </a:prstGeom>
          <a:solidFill>
            <a:srgbClr val="EDF1F6"/>
          </a:solidFill>
          <a:ln w="12700">
            <a:solidFill>
              <a:srgbClr val="DCE3EB"/>
            </a:solidFill>
            <a:prstDash val="solid"/>
          </a:ln>
        </p:spPr>
      </p:sp>
      <p:sp>
        <p:nvSpPr>
          <p:cNvPr id="10" name="Text 7"/>
          <p:cNvSpPr txBox="1"/>
          <p:nvPr/>
        </p:nvSpPr>
        <p:spPr>
          <a:xfrm>
            <a:off x="7863840" y="256032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2</a:t>
            </a:r>
            <a:endParaRPr lang="en-US" sz="1400" dirty="0"/>
          </a:p>
        </p:txBody>
      </p:sp>
      <p:sp>
        <p:nvSpPr>
          <p:cNvPr id="11" name="Text 8"/>
          <p:cNvSpPr txBox="1"/>
          <p:nvPr/>
        </p:nvSpPr>
        <p:spPr>
          <a:xfrm>
            <a:off x="8458200" y="254203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Ask the tag arrays who else is here.</a:t>
            </a:r>
            <a:endParaRPr lang="en-US" sz="1700" dirty="0"/>
          </a:p>
        </p:txBody>
      </p:sp>
      <p:sp>
        <p:nvSpPr>
          <p:cNvPr id="12" name="Shape 9"/>
          <p:cNvSpPr/>
          <p:nvPr/>
        </p:nvSpPr>
        <p:spPr>
          <a:xfrm>
            <a:off x="7863840" y="3657600"/>
            <a:ext cx="420624" cy="420624"/>
          </a:xfrm>
          <a:prstGeom prst="roundRect">
            <a:avLst>
              <a:gd name="adj" fmla="val 19565"/>
            </a:avLst>
          </a:prstGeom>
          <a:solidFill>
            <a:srgbClr val="FDC700"/>
          </a:solidFill>
          <a:ln w="12700">
            <a:solidFill>
              <a:srgbClr val="FDC700"/>
            </a:solidFill>
            <a:prstDash val="solid"/>
          </a:ln>
        </p:spPr>
      </p:sp>
      <p:sp>
        <p:nvSpPr>
          <p:cNvPr id="13" name="Text 10"/>
          <p:cNvSpPr txBox="1"/>
          <p:nvPr/>
        </p:nvSpPr>
        <p:spPr>
          <a:xfrm>
            <a:off x="7863840" y="365760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4" name="Text 11"/>
          <p:cNvSpPr txBox="1"/>
          <p:nvPr/>
        </p:nvSpPr>
        <p:spPr>
          <a:xfrm>
            <a:off x="8458200" y="363931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Nodes both visit exactly once: unambiguous anchors.</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10</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4 of 4</a:t>
            </a:r>
            <a:endParaRPr lang="en-US" sz="1600" dirty="0"/>
          </a:p>
        </p:txBody>
      </p:sp>
      <p:pic>
        <p:nvPicPr>
          <p:cNvPr id="5" name="Image 0" descr="/Users/seeskand/Documents/HPRC/2026/hprc_2026_poster/talk/figures/translation_step4.png">    </p:cNvPr>
          <p:cNvPicPr>
            <a:picLocks noChangeAspect="1"/>
          </p:cNvPicPr>
          <p:nvPr/>
        </p:nvPicPr>
        <p:blipFill>
          <a:blip r:embed="rId1"/>
          <a:stretch>
            <a:fillRect/>
          </a:stretch>
        </p:blipFill>
        <p:spPr>
          <a:xfrm>
            <a:off x="548640" y="1417320"/>
            <a:ext cx="6949440" cy="4516749"/>
          </a:xfrm>
          <a:prstGeom prst="rect">
            <a:avLst/>
          </a:prstGeom>
        </p:spPr>
      </p:pic>
      <p:sp>
        <p:nvSpPr>
          <p:cNvPr id="6" name="Shape 3"/>
          <p:cNvSpPr/>
          <p:nvPr/>
        </p:nvSpPr>
        <p:spPr>
          <a:xfrm>
            <a:off x="7863840" y="1463040"/>
            <a:ext cx="420624" cy="420624"/>
          </a:xfrm>
          <a:prstGeom prst="roundRect">
            <a:avLst>
              <a:gd name="adj" fmla="val 19565"/>
            </a:avLst>
          </a:prstGeom>
          <a:solidFill>
            <a:srgbClr val="EDF1F6"/>
          </a:solidFill>
          <a:ln w="12700">
            <a:solidFill>
              <a:srgbClr val="DCE3EB"/>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Find the query's nodes on the source path.</a:t>
            </a:r>
            <a:endParaRPr lang="en-US" sz="1700" dirty="0"/>
          </a:p>
        </p:txBody>
      </p:sp>
      <p:sp>
        <p:nvSpPr>
          <p:cNvPr id="9" name="Shape 6"/>
          <p:cNvSpPr/>
          <p:nvPr/>
        </p:nvSpPr>
        <p:spPr>
          <a:xfrm>
            <a:off x="7863840" y="2560320"/>
            <a:ext cx="420624" cy="420624"/>
          </a:xfrm>
          <a:prstGeom prst="roundRect">
            <a:avLst>
              <a:gd name="adj" fmla="val 19565"/>
            </a:avLst>
          </a:prstGeom>
          <a:solidFill>
            <a:srgbClr val="EDF1F6"/>
          </a:solidFill>
          <a:ln w="12700">
            <a:solidFill>
              <a:srgbClr val="DCE3EB"/>
            </a:solidFill>
            <a:prstDash val="solid"/>
          </a:ln>
        </p:spPr>
      </p:sp>
      <p:sp>
        <p:nvSpPr>
          <p:cNvPr id="10" name="Text 7"/>
          <p:cNvSpPr txBox="1"/>
          <p:nvPr/>
        </p:nvSpPr>
        <p:spPr>
          <a:xfrm>
            <a:off x="7863840" y="256032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2</a:t>
            </a:r>
            <a:endParaRPr lang="en-US" sz="1400" dirty="0"/>
          </a:p>
        </p:txBody>
      </p:sp>
      <p:sp>
        <p:nvSpPr>
          <p:cNvPr id="11" name="Text 8"/>
          <p:cNvSpPr txBox="1"/>
          <p:nvPr/>
        </p:nvSpPr>
        <p:spPr>
          <a:xfrm>
            <a:off x="8458200" y="254203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Ask the tag arrays who else is here.</a:t>
            </a:r>
            <a:endParaRPr lang="en-US" sz="1700" dirty="0"/>
          </a:p>
        </p:txBody>
      </p:sp>
      <p:sp>
        <p:nvSpPr>
          <p:cNvPr id="12" name="Shape 9"/>
          <p:cNvSpPr/>
          <p:nvPr/>
        </p:nvSpPr>
        <p:spPr>
          <a:xfrm>
            <a:off x="7863840" y="3657600"/>
            <a:ext cx="420624" cy="420624"/>
          </a:xfrm>
          <a:prstGeom prst="roundRect">
            <a:avLst>
              <a:gd name="adj" fmla="val 19565"/>
            </a:avLst>
          </a:prstGeom>
          <a:solidFill>
            <a:srgbClr val="EDF1F6"/>
          </a:solidFill>
          <a:ln w="12700">
            <a:solidFill>
              <a:srgbClr val="DCE3EB"/>
            </a:solidFill>
            <a:prstDash val="solid"/>
          </a:ln>
        </p:spPr>
      </p:sp>
      <p:sp>
        <p:nvSpPr>
          <p:cNvPr id="13" name="Text 10"/>
          <p:cNvSpPr txBox="1"/>
          <p:nvPr/>
        </p:nvSpPr>
        <p:spPr>
          <a:xfrm>
            <a:off x="7863840" y="365760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3</a:t>
            </a:r>
            <a:endParaRPr lang="en-US" sz="1400" dirty="0"/>
          </a:p>
        </p:txBody>
      </p:sp>
      <p:sp>
        <p:nvSpPr>
          <p:cNvPr id="14" name="Text 11"/>
          <p:cNvSpPr txBox="1"/>
          <p:nvPr/>
        </p:nvSpPr>
        <p:spPr>
          <a:xfrm>
            <a:off x="8458200" y="363931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Nodes both visit exactly once: unambiguous anchors.</a:t>
            </a:r>
            <a:endParaRPr lang="en-US" sz="1700" dirty="0"/>
          </a:p>
        </p:txBody>
      </p:sp>
      <p:sp>
        <p:nvSpPr>
          <p:cNvPr id="15" name="Shape 12"/>
          <p:cNvSpPr/>
          <p:nvPr/>
        </p:nvSpPr>
        <p:spPr>
          <a:xfrm>
            <a:off x="7863840" y="4754880"/>
            <a:ext cx="420624" cy="420624"/>
          </a:xfrm>
          <a:prstGeom prst="roundRect">
            <a:avLst>
              <a:gd name="adj" fmla="val 19565"/>
            </a:avLst>
          </a:prstGeom>
          <a:solidFill>
            <a:srgbClr val="FDC700"/>
          </a:solidFill>
          <a:ln w="12700">
            <a:solidFill>
              <a:srgbClr val="FDC700"/>
            </a:solidFill>
            <a:prstDash val="solid"/>
          </a:ln>
        </p:spPr>
      </p:sp>
      <p:sp>
        <p:nvSpPr>
          <p:cNvPr id="16" name="Text 13"/>
          <p:cNvSpPr txBox="1"/>
          <p:nvPr/>
        </p:nvSpPr>
        <p:spPr>
          <a:xfrm>
            <a:off x="7863840" y="47548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4</a:t>
            </a:r>
            <a:endParaRPr lang="en-US" sz="1800" dirty="0"/>
          </a:p>
        </p:txBody>
      </p:sp>
      <p:sp>
        <p:nvSpPr>
          <p:cNvPr id="17" name="Text 14"/>
          <p:cNvSpPr txBox="1"/>
          <p:nvPr/>
        </p:nvSpPr>
        <p:spPr>
          <a:xfrm>
            <a:off x="8458200" y="473659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Walk between anchors, base by base; group shared offsets into chain blocks.</a:t>
            </a:r>
            <a:endParaRPr lang="en-US" sz="1700" dirty="0"/>
          </a:p>
        </p:txBody>
      </p:sp>
      <p:sp>
        <p:nvSpPr>
          <p:cNvPr id="18" name="Text 15"/>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output is a chain. Orthology is the graph's. Missing positions are possible; a repeat cannot manufacture a wrong one.</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Use case 1: a sequence that is not in GRCh38</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11</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1</a:t>
            </a:r>
            <a:endParaRPr lang="en-US" sz="1600" dirty="0"/>
          </a:p>
        </p:txBody>
      </p:sp>
      <p:sp>
        <p:nvSpPr>
          <p:cNvPr id="5" name="Shape 3"/>
          <p:cNvSpPr/>
          <p:nvPr/>
        </p:nvSpPr>
        <p:spPr>
          <a:xfrm>
            <a:off x="548640" y="1325880"/>
            <a:ext cx="7772400" cy="4371975"/>
          </a:xfrm>
          <a:prstGeom prst="roundRect">
            <a:avLst>
              <a:gd name="adj" fmla="val 2510"/>
            </a:avLst>
          </a:prstGeom>
          <a:solidFill>
            <a:srgbClr val="06294A"/>
          </a:solidFill>
          <a:ln w="12700">
            <a:solidFill>
              <a:srgbClr val="06294A"/>
            </a:solidFill>
            <a:prstDash val="solid"/>
          </a:ln>
        </p:spPr>
      </p:sp>
      <p:sp>
        <p:nvSpPr>
          <p:cNvPr id="6" name="Shape 4"/>
          <p:cNvSpPr/>
          <p:nvPr/>
        </p:nvSpPr>
        <p:spPr>
          <a:xfrm>
            <a:off x="3977640" y="2963228"/>
            <a:ext cx="914400" cy="914400"/>
          </a:xfrm>
          <a:prstGeom prst="ellipse">
            <a:avLst/>
          </a:prstGeom>
          <a:solidFill>
            <a:srgbClr val="FDC700"/>
          </a:solidFill>
          <a:ln w="12700">
            <a:solidFill>
              <a:srgbClr val="FDC700"/>
            </a:solidFill>
            <a:prstDash val="solid"/>
          </a:ln>
        </p:spPr>
      </p:sp>
      <p:sp>
        <p:nvSpPr>
          <p:cNvPr id="7" name="Shape 5"/>
          <p:cNvSpPr/>
          <p:nvPr/>
        </p:nvSpPr>
        <p:spPr>
          <a:xfrm rot="5400000">
            <a:off x="4279392" y="3219260"/>
            <a:ext cx="384048" cy="402336"/>
          </a:xfrm>
          <a:prstGeom prst="triangle">
            <a:avLst/>
          </a:prstGeom>
          <a:solidFill>
            <a:srgbClr val="06294A"/>
          </a:solidFill>
          <a:ln w="12700">
            <a:solidFill>
              <a:srgbClr val="06294A"/>
            </a:solidFill>
            <a:prstDash val="solid"/>
          </a:ln>
        </p:spPr>
      </p:sp>
      <p:sp>
        <p:nvSpPr>
          <p:cNvPr id="8" name="Text 6"/>
          <p:cNvSpPr txBox="1"/>
          <p:nvPr/>
        </p:nvSpPr>
        <p:spPr>
          <a:xfrm>
            <a:off x="548640" y="4829175"/>
            <a:ext cx="7772400" cy="36576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Screen recording: Pangenome Mapping</a:t>
            </a:r>
            <a:endParaRPr lang="en-US" sz="1600" dirty="0"/>
          </a:p>
        </p:txBody>
      </p:sp>
      <p:sp>
        <p:nvSpPr>
          <p:cNvPr id="9" name="Text 7"/>
          <p:cNvSpPr txBox="1"/>
          <p:nvPr/>
        </p:nvSpPr>
        <p:spPr>
          <a:xfrm>
            <a:off x="548640" y="5194935"/>
            <a:ext cx="7772400" cy="320040"/>
          </a:xfrm>
          <a:prstGeom prst="rect">
            <a:avLst/>
          </a:prstGeom>
          <a:noFill/>
          <a:ln/>
        </p:spPr>
        <p:txBody>
          <a:bodyPr wrap="square" lIns="0" tIns="0" rIns="0" bIns="0" rtlCol="0" anchor="t"/>
          <a:lstStyle/>
          <a:p>
            <a:pPr algn="ctr" indent="0" marL="0">
              <a:buNone/>
            </a:pPr>
            <a:r>
              <a:rPr lang="en-US" sz="1100" dirty="0">
                <a:solidFill>
                  <a:srgbClr val="3D5A7A"/>
                </a:solidFill>
                <a:latin typeface="Calibri" pitchFamily="34" charset="0"/>
                <a:ea typeface="Calibri" pitchFamily="34" charset="-122"/>
                <a:cs typeface="Calibri" pitchFamily="34" charset="-120"/>
              </a:rPr>
              <a:t>drop scenario1.mp4 into talk/figures/videos and rebuild, or Insert &gt; Video here</a:t>
            </a:r>
            <a:endParaRPr lang="en-US" sz="1100" dirty="0"/>
          </a:p>
        </p:txBody>
      </p:sp>
      <p:sp>
        <p:nvSpPr>
          <p:cNvPr id="10" name="Shape 8"/>
          <p:cNvSpPr/>
          <p:nvPr/>
        </p:nvSpPr>
        <p:spPr>
          <a:xfrm>
            <a:off x="8732520" y="1417320"/>
            <a:ext cx="420624" cy="420624"/>
          </a:xfrm>
          <a:prstGeom prst="roundRect">
            <a:avLst>
              <a:gd name="adj" fmla="val 19565"/>
            </a:avLst>
          </a:prstGeom>
          <a:solidFill>
            <a:srgbClr val="FDC700"/>
          </a:solidFill>
          <a:ln w="12700">
            <a:solidFill>
              <a:srgbClr val="FDC700"/>
            </a:solidFill>
            <a:prstDash val="solid"/>
          </a:ln>
        </p:spPr>
      </p:sp>
      <p:sp>
        <p:nvSpPr>
          <p:cNvPr id="11" name="Text 9"/>
          <p:cNvSpPr txBox="1"/>
          <p:nvPr/>
        </p:nvSpPr>
        <p:spPr>
          <a:xfrm>
            <a:off x="8732520" y="1417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2" name="Text 10"/>
          <p:cNvSpPr txBox="1"/>
          <p:nvPr/>
        </p:nvSpPr>
        <p:spPr>
          <a:xfrm>
            <a:off x="9326880" y="13990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The sequence is pasted into Pangenome Mapping and mapped once, to the whole release 2 graph.</a:t>
            </a:r>
            <a:endParaRPr lang="en-US" sz="1600" dirty="0"/>
          </a:p>
        </p:txBody>
      </p:sp>
      <p:sp>
        <p:nvSpPr>
          <p:cNvPr id="13" name="Shape 11"/>
          <p:cNvSpPr/>
          <p:nvPr/>
        </p:nvSpPr>
        <p:spPr>
          <a:xfrm>
            <a:off x="8732520" y="2788920"/>
            <a:ext cx="420624" cy="420624"/>
          </a:xfrm>
          <a:prstGeom prst="roundRect">
            <a:avLst>
              <a:gd name="adj" fmla="val 19565"/>
            </a:avLst>
          </a:prstGeom>
          <a:solidFill>
            <a:srgbClr val="FDC700"/>
          </a:solidFill>
          <a:ln w="12700">
            <a:solidFill>
              <a:srgbClr val="FDC700"/>
            </a:solidFill>
            <a:prstDash val="solid"/>
          </a:ln>
        </p:spPr>
      </p:sp>
      <p:sp>
        <p:nvSpPr>
          <p:cNvPr id="14" name="Text 12"/>
          <p:cNvSpPr txBox="1"/>
          <p:nvPr/>
        </p:nvSpPr>
        <p:spPr>
          <a:xfrm>
            <a:off x="8732520" y="27889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5" name="Text 13"/>
          <p:cNvSpPr txBox="1"/>
          <p:nvPr/>
        </p:nvSpPr>
        <p:spPr>
          <a:xfrm>
            <a:off x="9326880" y="27706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Every haplotype that carries it is returned, ranked by identity: two of 464, and GRCh38 is not one of them.</a:t>
            </a:r>
            <a:endParaRPr lang="en-US" sz="1600" dirty="0"/>
          </a:p>
        </p:txBody>
      </p:sp>
      <p:sp>
        <p:nvSpPr>
          <p:cNvPr id="16" name="Shape 14"/>
          <p:cNvSpPr/>
          <p:nvPr/>
        </p:nvSpPr>
        <p:spPr>
          <a:xfrm>
            <a:off x="8732520" y="4160520"/>
            <a:ext cx="420624" cy="420624"/>
          </a:xfrm>
          <a:prstGeom prst="roundRect">
            <a:avLst>
              <a:gd name="adj" fmla="val 19565"/>
            </a:avLst>
          </a:prstGeom>
          <a:solidFill>
            <a:srgbClr val="FDC700"/>
          </a:solidFill>
          <a:ln w="12700">
            <a:solidFill>
              <a:srgbClr val="FDC700"/>
            </a:solidFill>
            <a:prstDash val="solid"/>
          </a:ln>
        </p:spPr>
      </p:sp>
      <p:sp>
        <p:nvSpPr>
          <p:cNvPr id="17" name="Text 15"/>
          <p:cNvSpPr txBox="1"/>
          <p:nvPr/>
        </p:nvSpPr>
        <p:spPr>
          <a:xfrm>
            <a:off x="8732520" y="41605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8" name="Text 16"/>
          <p:cNvSpPr txBox="1"/>
          <p:nvPr/>
        </p:nvSpPr>
        <p:spPr>
          <a:xfrm>
            <a:off x="9326880" y="41422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Selecting a carrier opens it in the browser with the sequence drawn as a track.</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this enables on release 2</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12</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1</a:t>
            </a:r>
            <a:endParaRPr lang="en-US" sz="1600" dirty="0"/>
          </a:p>
        </p:txBody>
      </p:sp>
      <p:sp>
        <p:nvSpPr>
          <p:cNvPr id="5" name="Shape 3"/>
          <p:cNvSpPr/>
          <p:nvPr/>
        </p:nvSpPr>
        <p:spPr>
          <a:xfrm>
            <a:off x="1465326" y="1325880"/>
            <a:ext cx="9261043" cy="3383280"/>
          </a:xfrm>
          <a:prstGeom prst="roundRect">
            <a:avLst>
              <a:gd name="adj" fmla="val 3243"/>
            </a:avLst>
          </a:prstGeom>
          <a:solidFill>
            <a:srgbClr val="EDF1F6"/>
          </a:solidFill>
          <a:ln w="12700">
            <a:solidFill>
              <a:srgbClr val="DCE3EB"/>
            </a:solidFill>
            <a:prstDash val="solid"/>
          </a:ln>
        </p:spPr>
      </p:sp>
      <p:sp>
        <p:nvSpPr>
          <p:cNvPr id="6" name="Shape 4"/>
          <p:cNvSpPr/>
          <p:nvPr/>
        </p:nvSpPr>
        <p:spPr>
          <a:xfrm>
            <a:off x="1611630"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1776222"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940814"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2242566"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mapping_result.png">    </p:cNvPr>
          <p:cNvPicPr>
            <a:picLocks noChangeAspect="1"/>
          </p:cNvPicPr>
          <p:nvPr/>
        </p:nvPicPr>
        <p:blipFill>
          <a:blip r:embed="rId1"/>
          <a:stretch>
            <a:fillRect/>
          </a:stretch>
        </p:blipFill>
        <p:spPr>
          <a:xfrm>
            <a:off x="1575054" y="1636776"/>
            <a:ext cx="9041587" cy="2962656"/>
          </a:xfrm>
          <a:prstGeom prst="rect">
            <a:avLst/>
          </a:prstGeom>
        </p:spPr>
      </p:pic>
      <p:sp>
        <p:nvSpPr>
          <p:cNvPr id="11" name="Shape 8"/>
          <p:cNvSpPr/>
          <p:nvPr/>
        </p:nvSpPr>
        <p:spPr>
          <a:xfrm>
            <a:off x="548640" y="4983480"/>
            <a:ext cx="420624" cy="420624"/>
          </a:xfrm>
          <a:prstGeom prst="roundRect">
            <a:avLst>
              <a:gd name="adj" fmla="val 19565"/>
            </a:avLst>
          </a:prstGeom>
          <a:solidFill>
            <a:srgbClr val="FDC700"/>
          </a:solidFill>
          <a:ln w="12700">
            <a:solidFill>
              <a:srgbClr val="FDC700"/>
            </a:solidFill>
            <a:prstDash val="solid"/>
          </a:ln>
        </p:spPr>
      </p:sp>
      <p:sp>
        <p:nvSpPr>
          <p:cNvPr id="12" name="Text 9"/>
          <p:cNvSpPr txBox="1"/>
          <p:nvPr/>
        </p:nvSpPr>
        <p:spPr>
          <a:xfrm>
            <a:off x="548640"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3" name="Text 10"/>
          <p:cNvSpPr txBox="1"/>
          <p:nvPr/>
        </p:nvSpPr>
        <p:spPr>
          <a:xfrm>
            <a:off x="1143000"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One search across all 464 haplotypes, instead of one assembly at a time.</a:t>
            </a:r>
            <a:endParaRPr lang="en-US" sz="1600" dirty="0"/>
          </a:p>
        </p:txBody>
      </p:sp>
      <p:sp>
        <p:nvSpPr>
          <p:cNvPr id="14" name="Shape 11"/>
          <p:cNvSpPr/>
          <p:nvPr/>
        </p:nvSpPr>
        <p:spPr>
          <a:xfrm>
            <a:off x="4368698" y="4983480"/>
            <a:ext cx="420624" cy="420624"/>
          </a:xfrm>
          <a:prstGeom prst="roundRect">
            <a:avLst>
              <a:gd name="adj" fmla="val 19565"/>
            </a:avLst>
          </a:prstGeom>
          <a:solidFill>
            <a:srgbClr val="FDC700"/>
          </a:solidFill>
          <a:ln w="12700">
            <a:solidFill>
              <a:srgbClr val="FDC700"/>
            </a:solidFill>
            <a:prstDash val="solid"/>
          </a:ln>
        </p:spPr>
      </p:sp>
      <p:sp>
        <p:nvSpPr>
          <p:cNvPr id="15" name="Text 12"/>
          <p:cNvSpPr txBox="1"/>
          <p:nvPr/>
        </p:nvSpPr>
        <p:spPr>
          <a:xfrm>
            <a:off x="4368698"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6" name="Text 13"/>
          <p:cNvSpPr txBox="1"/>
          <p:nvPr/>
        </p:nvSpPr>
        <p:spPr>
          <a:xfrm>
            <a:off x="4963058"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Sequences absent from the reference are found on the haplotypes that carry them.</a:t>
            </a:r>
            <a:endParaRPr lang="en-US" sz="1600" dirty="0"/>
          </a:p>
        </p:txBody>
      </p:sp>
      <p:sp>
        <p:nvSpPr>
          <p:cNvPr id="17" name="Shape 14"/>
          <p:cNvSpPr/>
          <p:nvPr/>
        </p:nvSpPr>
        <p:spPr>
          <a:xfrm>
            <a:off x="8188757" y="4983480"/>
            <a:ext cx="420624" cy="420624"/>
          </a:xfrm>
          <a:prstGeom prst="roundRect">
            <a:avLst>
              <a:gd name="adj" fmla="val 19565"/>
            </a:avLst>
          </a:prstGeom>
          <a:solidFill>
            <a:srgbClr val="FDC700"/>
          </a:solidFill>
          <a:ln w="12700">
            <a:solidFill>
              <a:srgbClr val="FDC700"/>
            </a:solidFill>
            <a:prstDash val="solid"/>
          </a:ln>
        </p:spPr>
      </p:sp>
      <p:sp>
        <p:nvSpPr>
          <p:cNvPr id="18" name="Text 15"/>
          <p:cNvSpPr txBox="1"/>
          <p:nvPr/>
        </p:nvSpPr>
        <p:spPr>
          <a:xfrm>
            <a:off x="8188757"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9" name="Text 16"/>
          <p:cNvSpPr txBox="1"/>
          <p:nvPr/>
        </p:nvSpPr>
        <p:spPr>
          <a:xfrm>
            <a:off x="8783117"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Any carrier can be opened with the sequence as a track; another carrier costs no remapping.</a:t>
            </a:r>
            <a:endParaRPr lang="en-US" sz="1600" dirty="0"/>
          </a:p>
        </p:txBody>
      </p:sp>
      <p:sp>
        <p:nvSpPr>
          <p:cNvPr id="20" name="Text 17"/>
          <p:cNvSpPr txBox="1"/>
          <p:nvPr/>
        </p:nvSpPr>
        <p:spPr>
          <a:xfrm>
            <a:off x="548640" y="6263640"/>
            <a:ext cx="11094415" cy="36576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MAPQ is 0 by design: every locus exists hundreds of times in this graph. Per-haplotype identity and coverage replace it.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Moving a locus onto a release 2 haplotype today</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13</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5364328" cy="4206240"/>
          </a:xfrm>
          <a:prstGeom prst="roundRect">
            <a:avLst>
              <a:gd name="adj" fmla="val 2609"/>
            </a:avLst>
          </a:prstGeom>
          <a:solidFill>
            <a:srgbClr val="EDF1F6"/>
          </a:solidFill>
          <a:ln w="12700">
            <a:solidFill>
              <a:srgbClr val="DCE3EB"/>
            </a:solidFill>
            <a:prstDash val="solid"/>
          </a:ln>
        </p:spPr>
      </p:sp>
      <p:sp>
        <p:nvSpPr>
          <p:cNvPr id="6" name="Shape 4"/>
          <p:cNvSpPr/>
          <p:nvPr/>
        </p:nvSpPr>
        <p:spPr>
          <a:xfrm>
            <a:off x="868680" y="1645920"/>
            <a:ext cx="640080" cy="640080"/>
          </a:xfrm>
          <a:prstGeom prst="ellipse">
            <a:avLst/>
          </a:prstGeom>
          <a:solidFill>
            <a:srgbClr val="003C6C"/>
          </a:solidFill>
          <a:ln w="12700">
            <a:solidFill>
              <a:srgbClr val="003C6C"/>
            </a:solidFill>
            <a:prstDash val="solid"/>
          </a:ln>
        </p:spPr>
      </p:sp>
      <p:pic>
        <p:nvPicPr>
          <p:cNvPr id="7" name="Image 0" descr="preencoded.png">    </p:cNvPr>
          <p:cNvPicPr>
            <a:picLocks noChangeAspect="1"/>
          </p:cNvPicPr>
          <p:nvPr/>
        </p:nvPicPr>
        <p:blipFill>
          <a:blip r:embed="rId1"/>
          <a:stretch>
            <a:fillRect/>
          </a:stretch>
        </p:blipFill>
        <p:spPr>
          <a:xfrm>
            <a:off x="1035101" y="1812341"/>
            <a:ext cx="307238" cy="307238"/>
          </a:xfrm>
          <a:prstGeom prst="rect">
            <a:avLst/>
          </a:prstGeom>
        </p:spPr>
      </p:pic>
      <p:sp>
        <p:nvSpPr>
          <p:cNvPr id="8" name="Text 5"/>
          <p:cNvSpPr txBox="1"/>
          <p:nvPr/>
        </p:nvSpPr>
        <p:spPr>
          <a:xfrm>
            <a:off x="1691640" y="1709928"/>
            <a:ext cx="390128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Lift-over needs a pairwise chain</a:t>
            </a:r>
            <a:endParaRPr lang="en-US" sz="2200" dirty="0"/>
          </a:p>
        </p:txBody>
      </p:sp>
      <p:sp>
        <p:nvSpPr>
          <p:cNvPr id="9" name="Text 6"/>
          <p:cNvSpPr txBox="1"/>
          <p:nvPr/>
        </p:nvSpPr>
        <p:spPr>
          <a:xfrm>
            <a:off x="868680" y="251460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The Genome Browser can draw one assembly's tracks on another (QuickLift), but only over a prebuilt chain between the two assemblies.</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Chains are built on request, one assembly pair at a time.</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464 haplotypes are more than 200,000 pairs. Chains exist for 56 of them.</a:t>
            </a:r>
            <a:endParaRPr lang="en-US" sz="1700" dirty="0"/>
          </a:p>
        </p:txBody>
      </p:sp>
      <p:sp>
        <p:nvSpPr>
          <p:cNvPr id="10" name="Shape 7"/>
          <p:cNvSpPr/>
          <p:nvPr/>
        </p:nvSpPr>
        <p:spPr>
          <a:xfrm>
            <a:off x="6278728" y="1325880"/>
            <a:ext cx="5364328" cy="4206240"/>
          </a:xfrm>
          <a:prstGeom prst="roundRect">
            <a:avLst>
              <a:gd name="adj" fmla="val 2609"/>
            </a:avLst>
          </a:prstGeom>
          <a:solidFill>
            <a:srgbClr val="EDF1F6"/>
          </a:solidFill>
          <a:ln w="12700">
            <a:solidFill>
              <a:srgbClr val="DCE3EB"/>
            </a:solidFill>
            <a:prstDash val="solid"/>
          </a:ln>
        </p:spPr>
      </p:sp>
      <p:pic>
        <p:nvPicPr>
          <p:cNvPr id="11" name="Image 1" descr="/Users/seeskand/Documents/HPRC/2026/hprc_2026_poster/talk/figures/grids.png">    </p:cNvPr>
          <p:cNvPicPr>
            <a:picLocks noChangeAspect="1"/>
          </p:cNvPicPr>
          <p:nvPr/>
        </p:nvPicPr>
        <p:blipFill>
          <a:blip r:embed="rId2"/>
          <a:stretch>
            <a:fillRect/>
          </a:stretch>
        </p:blipFill>
        <p:spPr>
          <a:xfrm>
            <a:off x="6598768" y="1828800"/>
            <a:ext cx="4724248" cy="1666982"/>
          </a:xfrm>
          <a:prstGeom prst="rect">
            <a:avLst/>
          </a:prstGeom>
        </p:spPr>
      </p:pic>
      <p:sp>
        <p:nvSpPr>
          <p:cNvPr id="12" name="Text 8"/>
          <p:cNvSpPr txBox="1"/>
          <p:nvPr/>
        </p:nvSpPr>
        <p:spPr>
          <a:xfrm>
            <a:off x="6598768" y="3678662"/>
            <a:ext cx="4724248" cy="1097280"/>
          </a:xfrm>
          <a:prstGeom prst="rect">
            <a:avLst/>
          </a:prstGeom>
          <a:noFill/>
          <a:ln/>
        </p:spPr>
        <p:txBody>
          <a:bodyPr wrap="square" lIns="0" tIns="0" rIns="0" bIns="0" rtlCol="0" anchor="t"/>
          <a:lstStyle/>
          <a:p>
            <a:pPr algn="ctr" indent="0" marL="0">
              <a:buNone/>
            </a:pPr>
            <a:r>
              <a:rPr lang="en-US" sz="1900" i="1" dirty="0">
                <a:solidFill>
                  <a:srgbClr val="003C6C"/>
                </a:solidFill>
                <a:latin typeface="Calibri" pitchFamily="34" charset="0"/>
                <a:ea typeface="Calibri" pitchFamily="34" charset="-122"/>
                <a:cs typeface="Calibri" pitchFamily="34" charset="-120"/>
              </a:rPr>
              <a:t>For an arbitrary release 2 haplotype, such as HG02015, no chain exists.</a:t>
            </a:r>
            <a:endParaRPr lang="en-US" sz="1900" dirty="0"/>
          </a:p>
        </p:txBody>
      </p:sp>
      <p:sp>
        <p:nvSpPr>
          <p:cNvPr id="13" name="Text 9"/>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graph already contains the alignment for every pair. It has to be usable on demand.</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Use case 2: a known gene, on HG02015</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14</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7772400" cy="4371975"/>
          </a:xfrm>
          <a:prstGeom prst="roundRect">
            <a:avLst>
              <a:gd name="adj" fmla="val 2510"/>
            </a:avLst>
          </a:prstGeom>
          <a:solidFill>
            <a:srgbClr val="06294A"/>
          </a:solidFill>
          <a:ln w="12700">
            <a:solidFill>
              <a:srgbClr val="06294A"/>
            </a:solidFill>
            <a:prstDash val="solid"/>
          </a:ln>
        </p:spPr>
      </p:sp>
      <p:sp>
        <p:nvSpPr>
          <p:cNvPr id="6" name="Shape 4"/>
          <p:cNvSpPr/>
          <p:nvPr/>
        </p:nvSpPr>
        <p:spPr>
          <a:xfrm>
            <a:off x="3977640" y="2963228"/>
            <a:ext cx="914400" cy="914400"/>
          </a:xfrm>
          <a:prstGeom prst="ellipse">
            <a:avLst/>
          </a:prstGeom>
          <a:solidFill>
            <a:srgbClr val="FDC700"/>
          </a:solidFill>
          <a:ln w="12700">
            <a:solidFill>
              <a:srgbClr val="FDC700"/>
            </a:solidFill>
            <a:prstDash val="solid"/>
          </a:ln>
        </p:spPr>
      </p:sp>
      <p:sp>
        <p:nvSpPr>
          <p:cNvPr id="7" name="Shape 5"/>
          <p:cNvSpPr/>
          <p:nvPr/>
        </p:nvSpPr>
        <p:spPr>
          <a:xfrm rot="5400000">
            <a:off x="4279392" y="3219260"/>
            <a:ext cx="384048" cy="402336"/>
          </a:xfrm>
          <a:prstGeom prst="triangle">
            <a:avLst/>
          </a:prstGeom>
          <a:solidFill>
            <a:srgbClr val="06294A"/>
          </a:solidFill>
          <a:ln w="12700">
            <a:solidFill>
              <a:srgbClr val="06294A"/>
            </a:solidFill>
            <a:prstDash val="solid"/>
          </a:ln>
        </p:spPr>
      </p:sp>
      <p:sp>
        <p:nvSpPr>
          <p:cNvPr id="8" name="Text 6"/>
          <p:cNvSpPr txBox="1"/>
          <p:nvPr/>
        </p:nvSpPr>
        <p:spPr>
          <a:xfrm>
            <a:off x="548640" y="4829175"/>
            <a:ext cx="7772400" cy="36576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Screen recording: coordinate translation and annotation transfer</a:t>
            </a:r>
            <a:endParaRPr lang="en-US" sz="1600" dirty="0"/>
          </a:p>
        </p:txBody>
      </p:sp>
      <p:sp>
        <p:nvSpPr>
          <p:cNvPr id="9" name="Text 7"/>
          <p:cNvSpPr txBox="1"/>
          <p:nvPr/>
        </p:nvSpPr>
        <p:spPr>
          <a:xfrm>
            <a:off x="548640" y="5194935"/>
            <a:ext cx="7772400" cy="320040"/>
          </a:xfrm>
          <a:prstGeom prst="rect">
            <a:avLst/>
          </a:prstGeom>
          <a:noFill/>
          <a:ln/>
        </p:spPr>
        <p:txBody>
          <a:bodyPr wrap="square" lIns="0" tIns="0" rIns="0" bIns="0" rtlCol="0" anchor="t"/>
          <a:lstStyle/>
          <a:p>
            <a:pPr algn="ctr" indent="0" marL="0">
              <a:buNone/>
            </a:pPr>
            <a:r>
              <a:rPr lang="en-US" sz="1100" dirty="0">
                <a:solidFill>
                  <a:srgbClr val="3D5A7A"/>
                </a:solidFill>
                <a:latin typeface="Calibri" pitchFamily="34" charset="0"/>
                <a:ea typeface="Calibri" pitchFamily="34" charset="-122"/>
                <a:cs typeface="Calibri" pitchFamily="34" charset="-120"/>
              </a:rPr>
              <a:t>drop scenario2.mp4 into talk/figures/videos and rebuild, or Insert &gt; Video here</a:t>
            </a:r>
            <a:endParaRPr lang="en-US" sz="1100" dirty="0"/>
          </a:p>
        </p:txBody>
      </p:sp>
      <p:sp>
        <p:nvSpPr>
          <p:cNvPr id="10" name="Shape 8"/>
          <p:cNvSpPr/>
          <p:nvPr/>
        </p:nvSpPr>
        <p:spPr>
          <a:xfrm>
            <a:off x="8732520" y="1417320"/>
            <a:ext cx="420624" cy="420624"/>
          </a:xfrm>
          <a:prstGeom prst="roundRect">
            <a:avLst>
              <a:gd name="adj" fmla="val 19565"/>
            </a:avLst>
          </a:prstGeom>
          <a:solidFill>
            <a:srgbClr val="FDC700"/>
          </a:solidFill>
          <a:ln w="12700">
            <a:solidFill>
              <a:srgbClr val="FDC700"/>
            </a:solidFill>
            <a:prstDash val="solid"/>
          </a:ln>
        </p:spPr>
      </p:sp>
      <p:sp>
        <p:nvSpPr>
          <p:cNvPr id="11" name="Text 9"/>
          <p:cNvSpPr txBox="1"/>
          <p:nvPr/>
        </p:nvSpPr>
        <p:spPr>
          <a:xfrm>
            <a:off x="8732520" y="1417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2" name="Text 10"/>
          <p:cNvSpPr txBox="1"/>
          <p:nvPr/>
        </p:nvSpPr>
        <p:spPr>
          <a:xfrm>
            <a:off x="9326880" y="13990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Source: the gene's coordinates on the reference; target: HG02015 paternal, chosen from all 464 haplotypes.</a:t>
            </a:r>
            <a:endParaRPr lang="en-US" sz="1600" dirty="0"/>
          </a:p>
        </p:txBody>
      </p:sp>
      <p:sp>
        <p:nvSpPr>
          <p:cNvPr id="13" name="Shape 11"/>
          <p:cNvSpPr/>
          <p:nvPr/>
        </p:nvSpPr>
        <p:spPr>
          <a:xfrm>
            <a:off x="8732520" y="2788920"/>
            <a:ext cx="420624" cy="420624"/>
          </a:xfrm>
          <a:prstGeom prst="roundRect">
            <a:avLst>
              <a:gd name="adj" fmla="val 19565"/>
            </a:avLst>
          </a:prstGeom>
          <a:solidFill>
            <a:srgbClr val="FDC700"/>
          </a:solidFill>
          <a:ln w="12700">
            <a:solidFill>
              <a:srgbClr val="FDC700"/>
            </a:solidFill>
            <a:prstDash val="solid"/>
          </a:ln>
        </p:spPr>
      </p:sp>
      <p:sp>
        <p:nvSpPr>
          <p:cNvPr id="14" name="Text 12"/>
          <p:cNvSpPr txBox="1"/>
          <p:nvPr/>
        </p:nvSpPr>
        <p:spPr>
          <a:xfrm>
            <a:off x="8732520" y="27889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5" name="Text 13"/>
          <p:cNvSpPr txBox="1"/>
          <p:nvPr/>
        </p:nvSpPr>
        <p:spPr>
          <a:xfrm>
            <a:off x="9326880" y="27706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Translated in about 100 ms, covering 100% of bases.</a:t>
            </a:r>
            <a:endParaRPr lang="en-US" sz="1600" dirty="0"/>
          </a:p>
        </p:txBody>
      </p:sp>
      <p:sp>
        <p:nvSpPr>
          <p:cNvPr id="16" name="Shape 14"/>
          <p:cNvSpPr/>
          <p:nvPr/>
        </p:nvSpPr>
        <p:spPr>
          <a:xfrm>
            <a:off x="8732520" y="4160520"/>
            <a:ext cx="420624" cy="420624"/>
          </a:xfrm>
          <a:prstGeom prst="roundRect">
            <a:avLst>
              <a:gd name="adj" fmla="val 19565"/>
            </a:avLst>
          </a:prstGeom>
          <a:solidFill>
            <a:srgbClr val="FDC700"/>
          </a:solidFill>
          <a:ln w="12700">
            <a:solidFill>
              <a:srgbClr val="FDC700"/>
            </a:solidFill>
            <a:prstDash val="solid"/>
          </a:ln>
        </p:spPr>
      </p:sp>
      <p:sp>
        <p:nvSpPr>
          <p:cNvPr id="17" name="Text 15"/>
          <p:cNvSpPr txBox="1"/>
          <p:nvPr/>
        </p:nvSpPr>
        <p:spPr>
          <a:xfrm>
            <a:off x="8732520" y="41605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8" name="Text 16"/>
          <p:cNvSpPr txBox="1"/>
          <p:nvPr/>
        </p:nvSpPr>
        <p:spPr>
          <a:xfrm>
            <a:off x="9326880" y="41422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Opening the result shows the reference's tracks on HG02015, with insertions, deletions and mismatches marked.</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this enables on release 2</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15</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11094415" cy="3819826"/>
          </a:xfrm>
          <a:prstGeom prst="roundRect">
            <a:avLst>
              <a:gd name="adj" fmla="val 2873"/>
            </a:avLst>
          </a:prstGeom>
          <a:solidFill>
            <a:srgbClr val="EDF1F6"/>
          </a:solidFill>
          <a:ln w="12700">
            <a:solidFill>
              <a:srgbClr val="DCE3EB"/>
            </a:solidFill>
            <a:prstDash val="solid"/>
          </a:ln>
        </p:spPr>
      </p:sp>
      <p:sp>
        <p:nvSpPr>
          <p:cNvPr id="6" name="Shape 4"/>
          <p:cNvSpPr/>
          <p:nvPr/>
        </p:nvSpPr>
        <p:spPr>
          <a:xfrm>
            <a:off x="694944"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859536"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024128"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1325880"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lifted.png">    </p:cNvPr>
          <p:cNvPicPr>
            <a:picLocks noChangeAspect="1"/>
          </p:cNvPicPr>
          <p:nvPr/>
        </p:nvPicPr>
        <p:blipFill>
          <a:blip r:embed="rId1"/>
          <a:stretch>
            <a:fillRect/>
          </a:stretch>
        </p:blipFill>
        <p:spPr>
          <a:xfrm>
            <a:off x="658368" y="1636776"/>
            <a:ext cx="10874959" cy="3399202"/>
          </a:xfrm>
          <a:prstGeom prst="rect">
            <a:avLst/>
          </a:prstGeom>
        </p:spPr>
      </p:pic>
      <p:sp>
        <p:nvSpPr>
          <p:cNvPr id="11" name="Text 8"/>
          <p:cNvSpPr txBox="1"/>
          <p:nvPr/>
        </p:nvSpPr>
        <p:spPr>
          <a:xfrm>
            <a:off x="548640" y="5282866"/>
            <a:ext cx="11094415" cy="1051560"/>
          </a:xfrm>
          <a:prstGeom prst="rect">
            <a:avLst/>
          </a:prstGeom>
          <a:noFill/>
          <a:ln/>
        </p:spPr>
        <p:txBody>
          <a:bodyPr wrap="square" lIns="0" tIns="0" rIns="0" bIns="0" rtlCol="0" anchor="t"/>
          <a:lstStyle/>
          <a:p>
            <a:pPr indent="0" marL="0">
              <a:spcAft>
                <a:spcPts val="400"/>
              </a:spcAft>
              <a:buNone/>
            </a:pPr>
            <a:r>
              <a:rPr lang="en-US" sz="1600" b="1" dirty="0">
                <a:solidFill>
                  <a:srgbClr val="5B6B7C"/>
                </a:solidFill>
                <a:latin typeface="Calibri" pitchFamily="34" charset="0"/>
                <a:ea typeface="Calibri" pitchFamily="34" charset="-122"/>
                <a:cs typeface="Calibri" pitchFamily="34" charset="-120"/>
              </a:rPr>
              <a:t>Before: </a:t>
            </a:r>
            <a:pPr indent="0" marL="0">
              <a:spcAft>
                <a:spcPts val="400"/>
              </a:spcAft>
              <a:buNone/>
            </a:pPr>
            <a:r>
              <a:rPr lang="en-US" sz="1600" dirty="0">
                <a:solidFill>
                  <a:srgbClr val="5B6B7C"/>
                </a:solidFill>
                <a:latin typeface="Calibri" pitchFamily="34" charset="0"/>
                <a:ea typeface="Calibri" pitchFamily="34" charset="-122"/>
                <a:cs typeface="Calibri" pitchFamily="34" charset="-120"/>
              </a:rPr>
              <a:t>a locus could be moved only between assembly pairs with a prebuilt chain; a release 2 haplotype without one showed only its own tracks.</a:t>
            </a:r>
            <a:endParaRPr lang="en-US" sz="1600" dirty="0"/>
          </a:p>
          <a:p>
            <a:pPr indent="0" marL="0">
              <a:spcAft>
                <a:spcPts val="400"/>
              </a:spcAft>
              <a:buNone/>
            </a:pPr>
            <a:r>
              <a:rPr lang="en-US" sz="1600" b="1" dirty="0">
                <a:solidFill>
                  <a:srgbClr val="003C6C"/>
                </a:solidFill>
                <a:latin typeface="Calibri" pitchFamily="34" charset="0"/>
                <a:ea typeface="Calibri" pitchFamily="34" charset="-122"/>
                <a:cs typeface="Calibri" pitchFamily="34" charset="-120"/>
              </a:rPr>
              <a:t>Now: </a:t>
            </a:r>
            <a:pPr indent="0" marL="0">
              <a:spcAft>
                <a:spcPts val="400"/>
              </a:spcAft>
              <a:buNone/>
            </a:pPr>
            <a:r>
              <a:rPr lang="en-US" sz="1600" dirty="0">
                <a:solidFill>
                  <a:srgbClr val="18293B"/>
                </a:solidFill>
                <a:latin typeface="Calibri" pitchFamily="34" charset="0"/>
                <a:ea typeface="Calibri" pitchFamily="34" charset="-122"/>
                <a:cs typeface="Calibri" pitchFamily="34" charset="-120"/>
              </a:rPr>
              <a:t>any of the 464 haplotypes as the target, from GRCh38 or CHM13, in about 100 ms; the reference's tracks are drawn there over an alignment built for the region, with insertions, deletions and mismatches marked.</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Who this is for</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16</a:t>
            </a:r>
            <a:endParaRPr lang="en-US" sz="1000" dirty="0"/>
          </a:p>
        </p:txBody>
      </p:sp>
      <p:sp>
        <p:nvSpPr>
          <p:cNvPr id="4" name="Shape 2"/>
          <p:cNvSpPr/>
          <p:nvPr/>
        </p:nvSpPr>
        <p:spPr>
          <a:xfrm>
            <a:off x="548640" y="1325880"/>
            <a:ext cx="5364328" cy="4206240"/>
          </a:xfrm>
          <a:prstGeom prst="roundRect">
            <a:avLst>
              <a:gd name="adj" fmla="val 2609"/>
            </a:avLst>
          </a:prstGeom>
          <a:solidFill>
            <a:srgbClr val="EDF1F6"/>
          </a:solidFill>
          <a:ln w="12700">
            <a:solidFill>
              <a:srgbClr val="DCE3EB"/>
            </a:solidFill>
            <a:prstDash val="solid"/>
          </a:ln>
        </p:spPr>
      </p:sp>
      <p:sp>
        <p:nvSpPr>
          <p:cNvPr id="5" name="Shape 3"/>
          <p:cNvSpPr/>
          <p:nvPr/>
        </p:nvSpPr>
        <p:spPr>
          <a:xfrm>
            <a:off x="868680" y="1645920"/>
            <a:ext cx="640080" cy="64008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35101" y="1812341"/>
            <a:ext cx="307238" cy="307238"/>
          </a:xfrm>
          <a:prstGeom prst="rect">
            <a:avLst/>
          </a:prstGeom>
        </p:spPr>
      </p:pic>
      <p:sp>
        <p:nvSpPr>
          <p:cNvPr id="7" name="Text 4"/>
          <p:cNvSpPr txBox="1"/>
          <p:nvPr/>
        </p:nvSpPr>
        <p:spPr>
          <a:xfrm>
            <a:off x="1691640" y="1709928"/>
            <a:ext cx="3901288" cy="50292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Clinicians and variant curators</a:t>
            </a:r>
            <a:endParaRPr lang="en-US" sz="2100" dirty="0"/>
          </a:p>
        </p:txBody>
      </p:sp>
      <p:sp>
        <p:nvSpPr>
          <p:cNvPr id="8" name="Text 5"/>
          <p:cNvSpPr txBox="1"/>
          <p:nvPr/>
        </p:nvSpPr>
        <p:spPr>
          <a:xfrm>
            <a:off x="868680" y="246888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Is this insertion or SV sequence private to my patient, or carried by HPRC individuals? Which ones?</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ClinVar and GWAS context on the haplotype that actually carries the patient's allele.</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Loci where one reference misleads: HLA, KIR, CYP2D6, LPA, SMN1/2, seen on many haplotypes with the reference annotation drawn there.</a:t>
            </a:r>
            <a:endParaRPr lang="en-US" sz="1600" dirty="0"/>
          </a:p>
        </p:txBody>
      </p:sp>
      <p:sp>
        <p:nvSpPr>
          <p:cNvPr id="9" name="Shape 6"/>
          <p:cNvSpPr/>
          <p:nvPr/>
        </p:nvSpPr>
        <p:spPr>
          <a:xfrm>
            <a:off x="6278728" y="1325880"/>
            <a:ext cx="5364328" cy="4206240"/>
          </a:xfrm>
          <a:prstGeom prst="roundRect">
            <a:avLst>
              <a:gd name="adj" fmla="val 2609"/>
            </a:avLst>
          </a:prstGeom>
          <a:solidFill>
            <a:srgbClr val="EDF1F6"/>
          </a:solidFill>
          <a:ln w="12700">
            <a:solidFill>
              <a:srgbClr val="DCE3EB"/>
            </a:solidFill>
            <a:prstDash val="solid"/>
          </a:ln>
        </p:spPr>
      </p:sp>
      <p:sp>
        <p:nvSpPr>
          <p:cNvPr id="10" name="Shape 7"/>
          <p:cNvSpPr/>
          <p:nvPr/>
        </p:nvSpPr>
        <p:spPr>
          <a:xfrm>
            <a:off x="6598768" y="1645920"/>
            <a:ext cx="640080" cy="640080"/>
          </a:xfrm>
          <a:prstGeom prst="ellipse">
            <a:avLst/>
          </a:prstGeom>
          <a:solidFill>
            <a:srgbClr val="003C6C"/>
          </a:solidFill>
          <a:ln w="12700">
            <a:solidFill>
              <a:srgbClr val="003C6C"/>
            </a:solidFill>
            <a:prstDash val="solid"/>
          </a:ln>
        </p:spPr>
      </p:sp>
      <p:pic>
        <p:nvPicPr>
          <p:cNvPr id="11" name="Image 1" descr="preencoded.png">    </p:cNvPr>
          <p:cNvPicPr>
            <a:picLocks noChangeAspect="1"/>
          </p:cNvPicPr>
          <p:nvPr/>
        </p:nvPicPr>
        <p:blipFill>
          <a:blip r:embed="rId2"/>
          <a:stretch>
            <a:fillRect/>
          </a:stretch>
        </p:blipFill>
        <p:spPr>
          <a:xfrm>
            <a:off x="6765188" y="1812341"/>
            <a:ext cx="307238" cy="307238"/>
          </a:xfrm>
          <a:prstGeom prst="rect">
            <a:avLst/>
          </a:prstGeom>
        </p:spPr>
      </p:pic>
      <p:sp>
        <p:nvSpPr>
          <p:cNvPr id="12" name="Text 8"/>
          <p:cNvSpPr txBox="1"/>
          <p:nvPr/>
        </p:nvSpPr>
        <p:spPr>
          <a:xfrm>
            <a:off x="7421728" y="1709928"/>
            <a:ext cx="3901288" cy="50292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Researchers and graph builders</a:t>
            </a:r>
            <a:endParaRPr lang="en-US" sz="2100" dirty="0"/>
          </a:p>
        </p:txBody>
      </p:sp>
      <p:sp>
        <p:nvSpPr>
          <p:cNvPr id="13" name="Text 9"/>
          <p:cNvSpPr txBox="1"/>
          <p:nvPr/>
        </p:nvSpPr>
        <p:spPr>
          <a:xfrm>
            <a:off x="6598768" y="246888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Place contigs, probes, primers or guide RNAs on every haplotype at once; see which haplotypes lack the site.</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Move any reference annotation, or your own tracks, onto any assembly; compare a locus across individuals.</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Inspect the graph's alignment itself: the Alignment Differences track is the graph, drawn base by base.</a:t>
            </a:r>
            <a:endParaRPr lang="en-US" sz="1600" dirty="0"/>
          </a:p>
        </p:txBody>
      </p:sp>
      <p:sp>
        <p:nvSpPr>
          <p:cNvPr id="14" name="Text 10"/>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No pipeline, no download: a browser tab, and a sequence or a position.</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Fast enough to sit behind a web page</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17</a:t>
            </a:r>
            <a:endParaRPr lang="en-US" sz="1000" dirty="0"/>
          </a:p>
        </p:txBody>
      </p:sp>
      <p:sp>
        <p:nvSpPr>
          <p:cNvPr id="4" name="Text 2"/>
          <p:cNvSpPr txBox="1"/>
          <p:nvPr/>
        </p:nvSpPr>
        <p:spPr>
          <a:xfrm>
            <a:off x="548640" y="1325880"/>
            <a:ext cx="5486400"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Translation latency, median (log scale)</a:t>
            </a:r>
            <a:endParaRPr lang="en-US" sz="1800" dirty="0"/>
          </a:p>
        </p:txBody>
      </p:sp>
      <p:sp>
        <p:nvSpPr>
          <p:cNvPr id="5" name="Shape 3"/>
          <p:cNvSpPr/>
          <p:nvPr/>
        </p:nvSpPr>
        <p:spPr>
          <a:xfrm>
            <a:off x="2148840" y="1965960"/>
            <a:ext cx="0" cy="2971800"/>
          </a:xfrm>
          <a:prstGeom prst="line">
            <a:avLst/>
          </a:prstGeom>
          <a:noFill/>
          <a:ln w="12700">
            <a:solidFill>
              <a:srgbClr val="D9E1E9"/>
            </a:solidFill>
            <a:prstDash val="dash"/>
          </a:ln>
        </p:spPr>
      </p:sp>
      <p:sp>
        <p:nvSpPr>
          <p:cNvPr id="6" name="Text 4"/>
          <p:cNvSpPr txBox="1"/>
          <p:nvPr/>
        </p:nvSpPr>
        <p:spPr>
          <a:xfrm>
            <a:off x="169164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 ms</a:t>
            </a:r>
            <a:endParaRPr lang="en-US" sz="1400" dirty="0"/>
          </a:p>
        </p:txBody>
      </p:sp>
      <p:sp>
        <p:nvSpPr>
          <p:cNvPr id="7" name="Shape 5"/>
          <p:cNvSpPr/>
          <p:nvPr/>
        </p:nvSpPr>
        <p:spPr>
          <a:xfrm>
            <a:off x="3276600" y="1965960"/>
            <a:ext cx="0" cy="2971800"/>
          </a:xfrm>
          <a:prstGeom prst="line">
            <a:avLst/>
          </a:prstGeom>
          <a:noFill/>
          <a:ln w="12700">
            <a:solidFill>
              <a:srgbClr val="D9E1E9"/>
            </a:solidFill>
            <a:prstDash val="dash"/>
          </a:ln>
        </p:spPr>
      </p:sp>
      <p:sp>
        <p:nvSpPr>
          <p:cNvPr id="8" name="Text 6"/>
          <p:cNvSpPr txBox="1"/>
          <p:nvPr/>
        </p:nvSpPr>
        <p:spPr>
          <a:xfrm>
            <a:off x="281940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100 ms</a:t>
            </a:r>
            <a:endParaRPr lang="en-US" sz="1400" dirty="0"/>
          </a:p>
        </p:txBody>
      </p:sp>
      <p:sp>
        <p:nvSpPr>
          <p:cNvPr id="9" name="Shape 7"/>
          <p:cNvSpPr/>
          <p:nvPr/>
        </p:nvSpPr>
        <p:spPr>
          <a:xfrm>
            <a:off x="4404360" y="1965960"/>
            <a:ext cx="0" cy="2971800"/>
          </a:xfrm>
          <a:prstGeom prst="line">
            <a:avLst/>
          </a:prstGeom>
          <a:noFill/>
          <a:ln w="12700">
            <a:solidFill>
              <a:srgbClr val="D9E1E9"/>
            </a:solidFill>
            <a:prstDash val="dash"/>
          </a:ln>
        </p:spPr>
      </p:sp>
      <p:sp>
        <p:nvSpPr>
          <p:cNvPr id="10" name="Text 8"/>
          <p:cNvSpPr txBox="1"/>
          <p:nvPr/>
        </p:nvSpPr>
        <p:spPr>
          <a:xfrm>
            <a:off x="394716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 s</a:t>
            </a:r>
            <a:endParaRPr lang="en-US" sz="1400" dirty="0"/>
          </a:p>
        </p:txBody>
      </p:sp>
      <p:sp>
        <p:nvSpPr>
          <p:cNvPr id="11" name="Shape 9"/>
          <p:cNvSpPr/>
          <p:nvPr/>
        </p:nvSpPr>
        <p:spPr>
          <a:xfrm>
            <a:off x="5532120" y="1965960"/>
            <a:ext cx="0" cy="2971800"/>
          </a:xfrm>
          <a:prstGeom prst="line">
            <a:avLst/>
          </a:prstGeom>
          <a:noFill/>
          <a:ln w="12700">
            <a:solidFill>
              <a:srgbClr val="D9E1E9"/>
            </a:solidFill>
            <a:prstDash val="dash"/>
          </a:ln>
        </p:spPr>
      </p:sp>
      <p:sp>
        <p:nvSpPr>
          <p:cNvPr id="12" name="Text 10"/>
          <p:cNvSpPr txBox="1"/>
          <p:nvPr/>
        </p:nvSpPr>
        <p:spPr>
          <a:xfrm>
            <a:off x="507492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 s</a:t>
            </a:r>
            <a:endParaRPr lang="en-US" sz="1400" dirty="0"/>
          </a:p>
        </p:txBody>
      </p:sp>
      <p:sp>
        <p:nvSpPr>
          <p:cNvPr id="13" name="Text 11"/>
          <p:cNvSpPr txBox="1"/>
          <p:nvPr/>
        </p:nvSpPr>
        <p:spPr>
          <a:xfrm>
            <a:off x="548640" y="210312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up to 1 kb</a:t>
            </a:r>
            <a:endParaRPr lang="en-US" sz="1600" dirty="0"/>
          </a:p>
        </p:txBody>
      </p:sp>
      <p:sp>
        <p:nvSpPr>
          <p:cNvPr id="14" name="Shape 12"/>
          <p:cNvSpPr/>
          <p:nvPr/>
        </p:nvSpPr>
        <p:spPr>
          <a:xfrm>
            <a:off x="2148840" y="2286000"/>
            <a:ext cx="363386" cy="0"/>
          </a:xfrm>
          <a:prstGeom prst="line">
            <a:avLst/>
          </a:prstGeom>
          <a:noFill/>
          <a:ln w="38100">
            <a:solidFill>
              <a:srgbClr val="B8C7D6"/>
            </a:solidFill>
            <a:prstDash val="solid"/>
          </a:ln>
        </p:spPr>
      </p:sp>
      <p:sp>
        <p:nvSpPr>
          <p:cNvPr id="15" name="Shape 13"/>
          <p:cNvSpPr/>
          <p:nvPr/>
        </p:nvSpPr>
        <p:spPr>
          <a:xfrm>
            <a:off x="2411642" y="2185416"/>
            <a:ext cx="201168" cy="201168"/>
          </a:xfrm>
          <a:prstGeom prst="ellipse">
            <a:avLst/>
          </a:prstGeom>
          <a:solidFill>
            <a:srgbClr val="003C6C"/>
          </a:solidFill>
          <a:ln w="12700">
            <a:solidFill>
              <a:srgbClr val="003C6C"/>
            </a:solidFill>
            <a:prstDash val="solid"/>
          </a:ln>
        </p:spPr>
      </p:sp>
      <p:sp>
        <p:nvSpPr>
          <p:cNvPr id="16" name="Text 14"/>
          <p:cNvSpPr txBox="1"/>
          <p:nvPr/>
        </p:nvSpPr>
        <p:spPr>
          <a:xfrm>
            <a:off x="2695106" y="210312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~20 ms</a:t>
            </a:r>
            <a:endParaRPr lang="en-US" sz="1800" dirty="0"/>
          </a:p>
        </p:txBody>
      </p:sp>
      <p:sp>
        <p:nvSpPr>
          <p:cNvPr id="17" name="Text 15"/>
          <p:cNvSpPr txBox="1"/>
          <p:nvPr/>
        </p:nvSpPr>
        <p:spPr>
          <a:xfrm>
            <a:off x="548640" y="288036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10 kb</a:t>
            </a:r>
            <a:endParaRPr lang="en-US" sz="1600" dirty="0"/>
          </a:p>
        </p:txBody>
      </p:sp>
      <p:sp>
        <p:nvSpPr>
          <p:cNvPr id="18" name="Shape 16"/>
          <p:cNvSpPr/>
          <p:nvPr/>
        </p:nvSpPr>
        <p:spPr>
          <a:xfrm>
            <a:off x="2148840" y="3063240"/>
            <a:ext cx="1196213" cy="0"/>
          </a:xfrm>
          <a:prstGeom prst="line">
            <a:avLst/>
          </a:prstGeom>
          <a:noFill/>
          <a:ln w="38100">
            <a:solidFill>
              <a:srgbClr val="B8C7D6"/>
            </a:solidFill>
            <a:prstDash val="solid"/>
          </a:ln>
        </p:spPr>
      </p:sp>
      <p:sp>
        <p:nvSpPr>
          <p:cNvPr id="19" name="Shape 17"/>
          <p:cNvSpPr/>
          <p:nvPr/>
        </p:nvSpPr>
        <p:spPr>
          <a:xfrm>
            <a:off x="3244469" y="2962656"/>
            <a:ext cx="201168" cy="201168"/>
          </a:xfrm>
          <a:prstGeom prst="ellipse">
            <a:avLst/>
          </a:prstGeom>
          <a:solidFill>
            <a:srgbClr val="003C6C"/>
          </a:solidFill>
          <a:ln w="12700">
            <a:solidFill>
              <a:srgbClr val="003C6C"/>
            </a:solidFill>
            <a:prstDash val="solid"/>
          </a:ln>
        </p:spPr>
      </p:sp>
      <p:sp>
        <p:nvSpPr>
          <p:cNvPr id="20" name="Text 18"/>
          <p:cNvSpPr txBox="1"/>
          <p:nvPr/>
        </p:nvSpPr>
        <p:spPr>
          <a:xfrm>
            <a:off x="3527933" y="288036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115 ms</a:t>
            </a:r>
            <a:endParaRPr lang="en-US" sz="1800" dirty="0"/>
          </a:p>
        </p:txBody>
      </p:sp>
      <p:sp>
        <p:nvSpPr>
          <p:cNvPr id="21" name="Text 19"/>
          <p:cNvSpPr txBox="1"/>
          <p:nvPr/>
        </p:nvSpPr>
        <p:spPr>
          <a:xfrm>
            <a:off x="548640" y="365760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100 kb</a:t>
            </a:r>
            <a:endParaRPr lang="en-US" sz="1600" dirty="0"/>
          </a:p>
        </p:txBody>
      </p:sp>
      <p:sp>
        <p:nvSpPr>
          <p:cNvPr id="22" name="Shape 20"/>
          <p:cNvSpPr/>
          <p:nvPr/>
        </p:nvSpPr>
        <p:spPr>
          <a:xfrm>
            <a:off x="2148840" y="3840480"/>
            <a:ext cx="2004511" cy="0"/>
          </a:xfrm>
          <a:prstGeom prst="line">
            <a:avLst/>
          </a:prstGeom>
          <a:noFill/>
          <a:ln w="38100">
            <a:solidFill>
              <a:srgbClr val="B8C7D6"/>
            </a:solidFill>
            <a:prstDash val="solid"/>
          </a:ln>
        </p:spPr>
      </p:sp>
      <p:sp>
        <p:nvSpPr>
          <p:cNvPr id="23" name="Shape 21"/>
          <p:cNvSpPr/>
          <p:nvPr/>
        </p:nvSpPr>
        <p:spPr>
          <a:xfrm>
            <a:off x="4052767" y="3739896"/>
            <a:ext cx="201168" cy="201168"/>
          </a:xfrm>
          <a:prstGeom prst="ellipse">
            <a:avLst/>
          </a:prstGeom>
          <a:solidFill>
            <a:srgbClr val="003C6C"/>
          </a:solidFill>
          <a:ln w="12700">
            <a:solidFill>
              <a:srgbClr val="003C6C"/>
            </a:solidFill>
            <a:prstDash val="solid"/>
          </a:ln>
        </p:spPr>
      </p:sp>
      <p:sp>
        <p:nvSpPr>
          <p:cNvPr id="24" name="Text 22"/>
          <p:cNvSpPr txBox="1"/>
          <p:nvPr/>
        </p:nvSpPr>
        <p:spPr>
          <a:xfrm>
            <a:off x="4336231" y="365760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0.6 s</a:t>
            </a:r>
            <a:endParaRPr lang="en-US" sz="1800" dirty="0"/>
          </a:p>
        </p:txBody>
      </p:sp>
      <p:sp>
        <p:nvSpPr>
          <p:cNvPr id="25" name="Text 23"/>
          <p:cNvSpPr txBox="1"/>
          <p:nvPr/>
        </p:nvSpPr>
        <p:spPr>
          <a:xfrm>
            <a:off x="548640" y="443484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 Mb</a:t>
            </a:r>
            <a:endParaRPr lang="en-US" sz="1600" dirty="0"/>
          </a:p>
        </p:txBody>
      </p:sp>
      <p:sp>
        <p:nvSpPr>
          <p:cNvPr id="26" name="Shape 24"/>
          <p:cNvSpPr/>
          <p:nvPr/>
        </p:nvSpPr>
        <p:spPr>
          <a:xfrm>
            <a:off x="2148840" y="4617720"/>
            <a:ext cx="2969920" cy="0"/>
          </a:xfrm>
          <a:prstGeom prst="line">
            <a:avLst/>
          </a:prstGeom>
          <a:noFill/>
          <a:ln w="38100">
            <a:solidFill>
              <a:srgbClr val="B8C7D6"/>
            </a:solidFill>
            <a:prstDash val="solid"/>
          </a:ln>
        </p:spPr>
      </p:sp>
      <p:sp>
        <p:nvSpPr>
          <p:cNvPr id="27" name="Shape 25"/>
          <p:cNvSpPr/>
          <p:nvPr/>
        </p:nvSpPr>
        <p:spPr>
          <a:xfrm>
            <a:off x="5018176" y="4517136"/>
            <a:ext cx="201168" cy="201168"/>
          </a:xfrm>
          <a:prstGeom prst="ellipse">
            <a:avLst/>
          </a:prstGeom>
          <a:solidFill>
            <a:srgbClr val="003C6C"/>
          </a:solidFill>
          <a:ln w="12700">
            <a:solidFill>
              <a:srgbClr val="003C6C"/>
            </a:solidFill>
            <a:prstDash val="solid"/>
          </a:ln>
        </p:spPr>
      </p:sp>
      <p:sp>
        <p:nvSpPr>
          <p:cNvPr id="28" name="Text 26"/>
          <p:cNvSpPr txBox="1"/>
          <p:nvPr/>
        </p:nvSpPr>
        <p:spPr>
          <a:xfrm>
            <a:off x="5301640" y="443484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4.3 s</a:t>
            </a:r>
            <a:endParaRPr lang="en-US" sz="1800" dirty="0"/>
          </a:p>
        </p:txBody>
      </p:sp>
      <p:graphicFrame>
        <p:nvGraphicFramePr>
          <p:cNvPr id="29" name="Chart 0" descr=""/>
          <p:cNvGraphicFramePr/>
          <p:nvPr/>
        </p:nvGraphicFramePr>
        <p:xfrm>
          <a:off x="6309360" y="1325880"/>
          <a:ext cx="5333695" cy="3977640"/>
        </p:xfrm>
        <a:graphic xmlns:a="http://schemas.openxmlformats.org/drawingml/2006/main">
          <a:graphicData uri="http://schemas.openxmlformats.org/drawingml/2006/chart">
            <c:chart xmlns:c="http://schemas.openxmlformats.org/drawingml/2006/chart" r:id="rId1"/>
          </a:graphicData>
        </a:graphic>
      </p:graphicFrame>
      <p:sp>
        <p:nvSpPr>
          <p:cNvPr id="30" name="Text 27"/>
          <p:cNvSpPr txBox="1"/>
          <p:nvPr/>
        </p:nvSpPr>
        <p:spPr>
          <a:xfrm>
            <a:off x="6309360" y="5349240"/>
            <a:ext cx="5333695" cy="36576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Single-thread run was warm-up-limited; read the plateau: about 60 queries per second per server.</a:t>
            </a:r>
            <a:endParaRPr lang="en-US" sz="1400" dirty="0"/>
          </a:p>
        </p:txBody>
      </p:sp>
      <p:sp>
        <p:nvSpPr>
          <p:cNvPr id="31" name="Text 28"/>
          <p:cNvSpPr txBox="1"/>
          <p:nvPr/>
        </p:nvSpPr>
        <p:spPr>
          <a:xfrm>
            <a:off x="548640" y="580644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Exon-scale in 20 ms, a 10 kb gene in a tenth of a second, a megabase in four. One server sustains about 60 queries a second.</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84048"/>
            <a:ext cx="11094415" cy="71323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Release 2, queryable</a:t>
            </a:r>
            <a:endParaRPr lang="en-US" sz="3200" dirty="0"/>
          </a:p>
        </p:txBody>
      </p:sp>
      <p:sp>
        <p:nvSpPr>
          <p:cNvPr id="4" name="Shape 2"/>
          <p:cNvSpPr/>
          <p:nvPr/>
        </p:nvSpPr>
        <p:spPr>
          <a:xfrm>
            <a:off x="548640" y="1325880"/>
            <a:ext cx="5364328" cy="3840480"/>
          </a:xfrm>
          <a:prstGeom prst="roundRect">
            <a:avLst>
              <a:gd name="adj" fmla="val 2857"/>
            </a:avLst>
          </a:prstGeom>
          <a:solidFill>
            <a:srgbClr val="0F3557"/>
          </a:solidFill>
          <a:ln w="12700">
            <a:solidFill>
              <a:srgbClr val="1D4F7C"/>
            </a:solidFill>
            <a:prstDash val="solid"/>
          </a:ln>
        </p:spPr>
      </p:sp>
      <p:sp>
        <p:nvSpPr>
          <p:cNvPr id="5" name="Shape 3"/>
          <p:cNvSpPr/>
          <p:nvPr/>
        </p:nvSpPr>
        <p:spPr>
          <a:xfrm>
            <a:off x="868680" y="1691640"/>
            <a:ext cx="777240" cy="777240"/>
          </a:xfrm>
          <a:prstGeom prst="ellipse">
            <a:avLst/>
          </a:prstGeom>
          <a:solidFill>
            <a:srgbClr val="0E7C9C"/>
          </a:solidFill>
          <a:ln w="12700">
            <a:solidFill>
              <a:srgbClr val="0E7C9C"/>
            </a:solidFill>
            <a:prstDash val="solid"/>
          </a:ln>
        </p:spPr>
      </p:sp>
      <p:pic>
        <p:nvPicPr>
          <p:cNvPr id="6" name="Image 0" descr="preencoded.png">    </p:cNvPr>
          <p:cNvPicPr>
            <a:picLocks noChangeAspect="1"/>
          </p:cNvPicPr>
          <p:nvPr/>
        </p:nvPicPr>
        <p:blipFill>
          <a:blip r:embed="rId1"/>
          <a:stretch>
            <a:fillRect/>
          </a:stretch>
        </p:blipFill>
        <p:spPr>
          <a:xfrm>
            <a:off x="1070762" y="1893722"/>
            <a:ext cx="373075" cy="373075"/>
          </a:xfrm>
          <a:prstGeom prst="rect">
            <a:avLst/>
          </a:prstGeom>
        </p:spPr>
      </p:pic>
      <p:sp>
        <p:nvSpPr>
          <p:cNvPr id="7" name="Text 4"/>
          <p:cNvSpPr txBox="1"/>
          <p:nvPr/>
        </p:nvSpPr>
        <p:spPr>
          <a:xfrm>
            <a:off x="1828800" y="1709928"/>
            <a:ext cx="3718408" cy="320040"/>
          </a:xfrm>
          <a:prstGeom prst="rect">
            <a:avLst/>
          </a:prstGeom>
          <a:noFill/>
          <a:ln/>
        </p:spPr>
        <p:txBody>
          <a:bodyPr wrap="square" lIns="0" tIns="0" rIns="0" bIns="0" rtlCol="0" anchor="t"/>
          <a:lstStyle/>
          <a:p>
            <a:pPr indent="0" marL="0">
              <a:buNone/>
            </a:pPr>
            <a:r>
              <a:rPr lang="en-US" sz="1400" b="1" spc="200" kern="0" dirty="0">
                <a:solidFill>
                  <a:srgbClr val="C6D3DF"/>
                </a:solidFill>
                <a:latin typeface="Calibri" pitchFamily="34" charset="0"/>
                <a:ea typeface="Calibri" pitchFamily="34" charset="-122"/>
                <a:cs typeface="Calibri" pitchFamily="34" charset="-120"/>
              </a:rPr>
              <a:t>Use case 1</a:t>
            </a:r>
            <a:endParaRPr lang="en-US" sz="1400" dirty="0"/>
          </a:p>
        </p:txBody>
      </p:sp>
      <p:sp>
        <p:nvSpPr>
          <p:cNvPr id="8" name="Text 5"/>
          <p:cNvSpPr txBox="1"/>
          <p:nvPr/>
        </p:nvSpPr>
        <p:spPr>
          <a:xfrm>
            <a:off x="1828800" y="2011680"/>
            <a:ext cx="3718408"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Sequence search</a:t>
            </a:r>
            <a:endParaRPr lang="en-US" sz="2200" dirty="0"/>
          </a:p>
        </p:txBody>
      </p:sp>
      <p:sp>
        <p:nvSpPr>
          <p:cNvPr id="9" name="Text 6"/>
          <p:cNvSpPr txBox="1"/>
          <p:nvPr/>
        </p:nvSpPr>
        <p:spPr>
          <a:xfrm>
            <a:off x="868680" y="2788920"/>
            <a:ext cx="4724248" cy="1280160"/>
          </a:xfrm>
          <a:prstGeom prst="rect">
            <a:avLst/>
          </a:prstGeom>
          <a:noFill/>
          <a:ln/>
        </p:spPr>
        <p:txBody>
          <a:bodyPr wrap="square" lIns="0" tIns="0" rIns="0" bIns="0" rtlCol="0" anchor="t"/>
          <a:lstStyle/>
          <a:p>
            <a:pPr indent="0" marL="0">
              <a:buNone/>
            </a:pPr>
            <a:r>
              <a:rPr lang="en-US" sz="1700" dirty="0">
                <a:solidFill>
                  <a:srgbClr val="C6D3DF"/>
                </a:solidFill>
                <a:latin typeface="Calibri" pitchFamily="34" charset="0"/>
                <a:ea typeface="Calibri" pitchFamily="34" charset="-122"/>
                <a:cs typeface="Calibri" pitchFamily="34" charset="-120"/>
              </a:rPr>
              <a:t>A researcher has a sequence that is not in GRCh38: an insertion assembled from a sample, a probe, a contig. Which release 2 haplotypes carry it, and where?</a:t>
            </a:r>
            <a:endParaRPr lang="en-US" sz="1700" dirty="0"/>
          </a:p>
        </p:txBody>
      </p:sp>
      <p:sp>
        <p:nvSpPr>
          <p:cNvPr id="10" name="Text 7"/>
          <p:cNvSpPr txBox="1"/>
          <p:nvPr/>
        </p:nvSpPr>
        <p:spPr>
          <a:xfrm>
            <a:off x="868680" y="4160520"/>
            <a:ext cx="4724248" cy="822960"/>
          </a:xfrm>
          <a:prstGeom prst="rect">
            <a:avLst/>
          </a:prstGeom>
          <a:noFill/>
          <a:ln/>
        </p:spPr>
        <p:txBody>
          <a:bodyPr wrap="square" lIns="0" tIns="0" rIns="0" bIns="0" rtlCol="0" anchor="t"/>
          <a:lstStyle/>
          <a:p>
            <a:pPr indent="0" marL="0">
              <a:buNone/>
            </a:pPr>
            <a:r>
              <a:rPr lang="en-US" sz="1600" dirty="0">
                <a:solidFill>
                  <a:srgbClr val="FDC700"/>
                </a:solidFill>
                <a:latin typeface="Calibri" pitchFamily="34" charset="0"/>
                <a:ea typeface="Calibri" pitchFamily="34" charset="-122"/>
                <a:cs typeface="Calibri" pitchFamily="34" charset="-120"/>
              </a:rPr>
              <a:t>every carrying haplotype found in seconds; the sequence viewed as a track on any of them</a:t>
            </a:r>
            <a:endParaRPr lang="en-US" sz="1600" dirty="0"/>
          </a:p>
        </p:txBody>
      </p:sp>
      <p:sp>
        <p:nvSpPr>
          <p:cNvPr id="11" name="Shape 8"/>
          <p:cNvSpPr/>
          <p:nvPr/>
        </p:nvSpPr>
        <p:spPr>
          <a:xfrm>
            <a:off x="6278728" y="1325880"/>
            <a:ext cx="5364328" cy="3840480"/>
          </a:xfrm>
          <a:prstGeom prst="roundRect">
            <a:avLst>
              <a:gd name="adj" fmla="val 2857"/>
            </a:avLst>
          </a:prstGeom>
          <a:solidFill>
            <a:srgbClr val="0F3557"/>
          </a:solidFill>
          <a:ln w="12700">
            <a:solidFill>
              <a:srgbClr val="1D4F7C"/>
            </a:solidFill>
            <a:prstDash val="solid"/>
          </a:ln>
        </p:spPr>
      </p:sp>
      <p:sp>
        <p:nvSpPr>
          <p:cNvPr id="12" name="Shape 9"/>
          <p:cNvSpPr/>
          <p:nvPr/>
        </p:nvSpPr>
        <p:spPr>
          <a:xfrm>
            <a:off x="6598768" y="1691640"/>
            <a:ext cx="777240" cy="777240"/>
          </a:xfrm>
          <a:prstGeom prst="ellipse">
            <a:avLst/>
          </a:prstGeom>
          <a:solidFill>
            <a:srgbClr val="0E7C9C"/>
          </a:solidFill>
          <a:ln w="12700">
            <a:solidFill>
              <a:srgbClr val="0E7C9C"/>
            </a:solidFill>
            <a:prstDash val="solid"/>
          </a:ln>
        </p:spPr>
      </p:sp>
      <p:pic>
        <p:nvPicPr>
          <p:cNvPr id="13" name="Image 1" descr="preencoded.png">    </p:cNvPr>
          <p:cNvPicPr>
            <a:picLocks noChangeAspect="1"/>
          </p:cNvPicPr>
          <p:nvPr/>
        </p:nvPicPr>
        <p:blipFill>
          <a:blip r:embed="rId2"/>
          <a:stretch>
            <a:fillRect/>
          </a:stretch>
        </p:blipFill>
        <p:spPr>
          <a:xfrm>
            <a:off x="6800850" y="1893722"/>
            <a:ext cx="373075" cy="373075"/>
          </a:xfrm>
          <a:prstGeom prst="rect">
            <a:avLst/>
          </a:prstGeom>
        </p:spPr>
      </p:pic>
      <p:sp>
        <p:nvSpPr>
          <p:cNvPr id="14" name="Text 10"/>
          <p:cNvSpPr txBox="1"/>
          <p:nvPr/>
        </p:nvSpPr>
        <p:spPr>
          <a:xfrm>
            <a:off x="7558888" y="1709928"/>
            <a:ext cx="3718408" cy="320040"/>
          </a:xfrm>
          <a:prstGeom prst="rect">
            <a:avLst/>
          </a:prstGeom>
          <a:noFill/>
          <a:ln/>
        </p:spPr>
        <p:txBody>
          <a:bodyPr wrap="square" lIns="0" tIns="0" rIns="0" bIns="0" rtlCol="0" anchor="t"/>
          <a:lstStyle/>
          <a:p>
            <a:pPr indent="0" marL="0">
              <a:buNone/>
            </a:pPr>
            <a:r>
              <a:rPr lang="en-US" sz="1400" b="1" spc="200" kern="0" dirty="0">
                <a:solidFill>
                  <a:srgbClr val="C6D3DF"/>
                </a:solidFill>
                <a:latin typeface="Calibri" pitchFamily="34" charset="0"/>
                <a:ea typeface="Calibri" pitchFamily="34" charset="-122"/>
                <a:cs typeface="Calibri" pitchFamily="34" charset="-120"/>
              </a:rPr>
              <a:t>Use case 2</a:t>
            </a:r>
            <a:endParaRPr lang="en-US" sz="1400" dirty="0"/>
          </a:p>
        </p:txBody>
      </p:sp>
      <p:sp>
        <p:nvSpPr>
          <p:cNvPr id="15" name="Text 11"/>
          <p:cNvSpPr txBox="1"/>
          <p:nvPr/>
        </p:nvSpPr>
        <p:spPr>
          <a:xfrm>
            <a:off x="7558888" y="2011680"/>
            <a:ext cx="3718408"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Coordinate translation</a:t>
            </a:r>
            <a:endParaRPr lang="en-US" sz="2200" dirty="0"/>
          </a:p>
        </p:txBody>
      </p:sp>
      <p:sp>
        <p:nvSpPr>
          <p:cNvPr id="16" name="Text 12"/>
          <p:cNvSpPr txBox="1"/>
          <p:nvPr/>
        </p:nvSpPr>
        <p:spPr>
          <a:xfrm>
            <a:off x="6598768" y="2788920"/>
            <a:ext cx="4724248" cy="1280160"/>
          </a:xfrm>
          <a:prstGeom prst="rect">
            <a:avLst/>
          </a:prstGeom>
          <a:noFill/>
          <a:ln/>
        </p:spPr>
        <p:txBody>
          <a:bodyPr wrap="square" lIns="0" tIns="0" rIns="0" bIns="0" rtlCol="0" anchor="t"/>
          <a:lstStyle/>
          <a:p>
            <a:pPr indent="0" marL="0">
              <a:buNone/>
            </a:pPr>
            <a:r>
              <a:rPr lang="en-US" sz="1700" dirty="0">
                <a:solidFill>
                  <a:srgbClr val="C6D3DF"/>
                </a:solidFill>
                <a:latin typeface="Calibri" pitchFamily="34" charset="0"/>
                <a:ea typeface="Calibri" pitchFamily="34" charset="-122"/>
                <a:cs typeface="Calibri" pitchFamily="34" charset="-120"/>
              </a:rPr>
              <a:t>A researcher knows a gene on GRCh38 or CHM13 and wants to see it, with its annotation, on a specific release 2 haplotype.</a:t>
            </a:r>
            <a:endParaRPr lang="en-US" sz="1700" dirty="0"/>
          </a:p>
        </p:txBody>
      </p:sp>
      <p:sp>
        <p:nvSpPr>
          <p:cNvPr id="17" name="Text 13"/>
          <p:cNvSpPr txBox="1"/>
          <p:nvPr/>
        </p:nvSpPr>
        <p:spPr>
          <a:xfrm>
            <a:off x="6598768" y="4160520"/>
            <a:ext cx="4724248" cy="822960"/>
          </a:xfrm>
          <a:prstGeom prst="rect">
            <a:avLst/>
          </a:prstGeom>
          <a:noFill/>
          <a:ln/>
        </p:spPr>
        <p:txBody>
          <a:bodyPr wrap="square" lIns="0" tIns="0" rIns="0" bIns="0" rtlCol="0" anchor="t"/>
          <a:lstStyle/>
          <a:p>
            <a:pPr indent="0" marL="0">
              <a:buNone/>
            </a:pPr>
            <a:r>
              <a:rPr lang="en-US" sz="1600" dirty="0">
                <a:solidFill>
                  <a:srgbClr val="FDC700"/>
                </a:solidFill>
                <a:latin typeface="Calibri" pitchFamily="34" charset="0"/>
                <a:ea typeface="Calibri" pitchFamily="34" charset="-122"/>
                <a:cs typeface="Calibri" pitchFamily="34" charset="-120"/>
              </a:rPr>
              <a:t>any of 464 haplotypes as the target in ~100 ms, with the reference's annotation drawn there</a:t>
            </a:r>
            <a:endParaRPr lang="en-US" sz="1600" dirty="0"/>
          </a:p>
        </p:txBody>
      </p:sp>
      <p:sp>
        <p:nvSpPr>
          <p:cNvPr id="18" name="Text 14"/>
          <p:cNvSpPr txBox="1"/>
          <p:nvPr/>
        </p:nvSpPr>
        <p:spPr>
          <a:xfrm>
            <a:off x="548640" y="5440680"/>
            <a:ext cx="11094415" cy="457200"/>
          </a:xfrm>
          <a:prstGeom prst="rect">
            <a:avLst/>
          </a:prstGeom>
          <a:noFill/>
          <a:ln/>
        </p:spPr>
        <p:txBody>
          <a:bodyPr wrap="square" lIns="0" tIns="0" rIns="0" bIns="0" rtlCol="0" anchor="ctr"/>
          <a:lstStyle/>
          <a:p>
            <a:pPr algn="ctr" indent="0" marL="0">
              <a:buNone/>
            </a:pPr>
            <a:r>
              <a:rPr lang="en-US" sz="2200" dirty="0">
                <a:solidFill>
                  <a:srgbClr val="C6D3DF"/>
                </a:solidFill>
                <a:latin typeface="Calibri" pitchFamily="34" charset="0"/>
                <a:ea typeface="Calibri" pitchFamily="34" charset="-122"/>
                <a:cs typeface="Calibri" pitchFamily="34" charset="-120"/>
              </a:rPr>
              <a:t>Next: </a:t>
            </a:r>
            <a:pPr algn="ctr" indent="0" marL="0">
              <a:buNone/>
            </a:pPr>
            <a:r>
              <a:rPr lang="en-US" sz="2200" b="1" dirty="0">
                <a:solidFill>
                  <a:srgbClr val="FFFFFF"/>
                </a:solidFill>
                <a:latin typeface="Calibri" pitchFamily="34" charset="0"/>
                <a:ea typeface="Calibri" pitchFamily="34" charset="-122"/>
                <a:cs typeface="Calibri" pitchFamily="34" charset="-120"/>
              </a:rPr>
              <a:t>public release in the UCSC Genome Browser</a:t>
            </a:r>
            <a:endParaRPr lang="en-US" sz="2200" dirty="0"/>
          </a:p>
        </p:txBody>
      </p:sp>
      <p:sp>
        <p:nvSpPr>
          <p:cNvPr id="19" name="Text 15"/>
          <p:cNvSpPr txBox="1"/>
          <p:nvPr/>
        </p:nvSpPr>
        <p:spPr>
          <a:xfrm>
            <a:off x="548640" y="5943600"/>
            <a:ext cx="11094415" cy="457200"/>
          </a:xfrm>
          <a:prstGeom prst="rect">
            <a:avLst/>
          </a:prstGeom>
          <a:noFill/>
          <a:ln/>
        </p:spPr>
        <p:txBody>
          <a:bodyPr wrap="square" lIns="0" tIns="0" rIns="0" bIns="0" rtlCol="0" anchor="ctr"/>
          <a:lstStyle/>
          <a:p>
            <a:pPr algn="ctr" indent="0" marL="0">
              <a:buNone/>
            </a:pPr>
            <a:r>
              <a:rPr lang="en-US" sz="2000" i="1" dirty="0">
                <a:solidFill>
                  <a:srgbClr val="FDC700"/>
                </a:solidFill>
                <a:latin typeface="Calibri" pitchFamily="34" charset="0"/>
                <a:ea typeface="Calibri" pitchFamily="34" charset="-122"/>
                <a:cs typeface="Calibri" pitchFamily="34" charset="-120"/>
              </a:rPr>
              <a:t>Available on the development browser now. Bring us your hardest region.</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19</a:t>
            </a:r>
            <a:endParaRPr lang="en-US" sz="1000" dirty="0"/>
          </a:p>
        </p:txBody>
      </p:sp>
      <p:sp>
        <p:nvSpPr>
          <p:cNvPr id="3" name="Shape 1"/>
          <p:cNvSpPr/>
          <p:nvPr/>
        </p:nvSpPr>
        <p:spPr>
          <a:xfrm>
            <a:off x="0" y="2103120"/>
            <a:ext cx="12191695" cy="27432"/>
          </a:xfrm>
          <a:prstGeom prst="rect">
            <a:avLst/>
          </a:prstGeom>
          <a:solidFill>
            <a:srgbClr val="0E7C9C"/>
          </a:solidFill>
          <a:ln w="12700">
            <a:solidFill>
              <a:srgbClr val="0E7C9C"/>
            </a:solidFill>
            <a:prstDash val="solid"/>
          </a:ln>
        </p:spPr>
      </p:sp>
      <p:pic>
        <p:nvPicPr>
          <p:cNvPr id="4" name="Image 0" descr="/Users/seeskand/Documents/HPRC/2026/hprc_2026_poster/talk/figures/emblem2.png">    </p:cNvPr>
          <p:cNvPicPr>
            <a:picLocks noChangeAspect="1"/>
          </p:cNvPicPr>
          <p:nvPr/>
        </p:nvPicPr>
        <p:blipFill>
          <a:blip r:embed="rId1"/>
          <a:stretch>
            <a:fillRect/>
          </a:stretch>
        </p:blipFill>
        <p:spPr>
          <a:xfrm>
            <a:off x="6613855" y="1529397"/>
            <a:ext cx="5029200" cy="1174879"/>
          </a:xfrm>
          <a:prstGeom prst="rect">
            <a:avLst/>
          </a:prstGeom>
        </p:spPr>
      </p:pic>
      <p:pic>
        <p:nvPicPr>
          <p:cNvPr id="5" name="Image 1" descr="/Users/seeskand/Documents/HPRC/2026/hprc_2026_poster/talk/figures/hprc_logo.png">    </p:cNvPr>
          <p:cNvPicPr>
            <a:picLocks noChangeAspect="1"/>
          </p:cNvPicPr>
          <p:nvPr/>
        </p:nvPicPr>
        <p:blipFill>
          <a:blip r:embed="rId2"/>
          <a:stretch>
            <a:fillRect/>
          </a:stretch>
        </p:blipFill>
        <p:spPr>
          <a:xfrm>
            <a:off x="548640" y="411480"/>
            <a:ext cx="1280160" cy="1062774"/>
          </a:xfrm>
          <a:prstGeom prst="rect">
            <a:avLst/>
          </a:prstGeom>
        </p:spPr>
      </p:pic>
      <p:sp>
        <p:nvSpPr>
          <p:cNvPr id="6" name="Text 2"/>
          <p:cNvSpPr txBox="1"/>
          <p:nvPr/>
        </p:nvSpPr>
        <p:spPr>
          <a:xfrm>
            <a:off x="548640" y="2468880"/>
            <a:ext cx="5486400" cy="64008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Thank you</a:t>
            </a:r>
            <a:endParaRPr lang="en-US" sz="3200" dirty="0"/>
          </a:p>
        </p:txBody>
      </p:sp>
      <p:sp>
        <p:nvSpPr>
          <p:cNvPr id="7" name="Text 3"/>
          <p:cNvSpPr txBox="1"/>
          <p:nvPr/>
        </p:nvSpPr>
        <p:spPr>
          <a:xfrm>
            <a:off x="548640" y="3291840"/>
            <a:ext cx="5943600" cy="457200"/>
          </a:xfrm>
          <a:prstGeom prst="rect">
            <a:avLst/>
          </a:prstGeom>
          <a:noFill/>
          <a:ln/>
        </p:spPr>
        <p:txBody>
          <a:bodyPr wrap="square" lIns="0" tIns="0" rIns="0" bIns="0" rtlCol="0" anchor="t"/>
          <a:lstStyle/>
          <a:p>
            <a:pPr indent="0" marL="0">
              <a:buNone/>
            </a:pPr>
            <a:r>
              <a:rPr lang="en-US" sz="2200" dirty="0">
                <a:solidFill>
                  <a:srgbClr val="FDC700"/>
                </a:solidFill>
                <a:latin typeface="Courier New" pitchFamily="34" charset="0"/>
                <a:ea typeface="Courier New" pitchFamily="34" charset="-122"/>
                <a:cs typeface="Courier New" pitchFamily="34" charset="-120"/>
              </a:rPr>
              <a:t>seeskand@ucsc.edu</a:t>
            </a:r>
            <a:endParaRPr lang="en-US" sz="2200" dirty="0"/>
          </a:p>
        </p:txBody>
      </p:sp>
      <p:sp>
        <p:nvSpPr>
          <p:cNvPr id="8" name="Text 4"/>
          <p:cNvSpPr txBox="1"/>
          <p:nvPr/>
        </p:nvSpPr>
        <p:spPr>
          <a:xfrm>
            <a:off x="548640" y="3749040"/>
            <a:ext cx="6400800" cy="411480"/>
          </a:xfrm>
          <a:prstGeom prst="rect">
            <a:avLst/>
          </a:prstGeom>
          <a:noFill/>
          <a:ln/>
        </p:spPr>
        <p:txBody>
          <a:bodyPr wrap="square" lIns="0" tIns="0" rIns="0" bIns="0" rtlCol="0" anchor="t"/>
          <a:lstStyle/>
          <a:p>
            <a:pPr indent="0" marL="0">
              <a:buNone/>
            </a:pPr>
            <a:r>
              <a:rPr lang="en-US" sz="1700" dirty="0">
                <a:solidFill>
                  <a:srgbClr val="FDC700"/>
                </a:solidFill>
                <a:latin typeface="Courier New" pitchFamily="34" charset="0"/>
                <a:ea typeface="Courier New" pitchFamily="34" charset="-122"/>
                <a:cs typeface="Courier New" pitchFamily="34" charset="-120"/>
              </a:rPr>
              <a:t>github.com/parsaeskandar/hprc_2026_poster</a:t>
            </a:r>
            <a:endParaRPr lang="en-US" sz="1700" dirty="0"/>
          </a:p>
        </p:txBody>
      </p:sp>
      <p:sp>
        <p:nvSpPr>
          <p:cNvPr id="9" name="Text 5"/>
          <p:cNvSpPr txBox="1"/>
          <p:nvPr/>
        </p:nvSpPr>
        <p:spPr>
          <a:xfrm>
            <a:off x="548640" y="4160520"/>
            <a:ext cx="8229600" cy="411480"/>
          </a:xfrm>
          <a:prstGeom prst="rect">
            <a:avLst/>
          </a:prstGeom>
          <a:noFill/>
          <a:ln/>
        </p:spPr>
        <p:txBody>
          <a:bodyPr wrap="square" lIns="0" tIns="0" rIns="0" bIns="0" rtlCol="0" anchor="t"/>
          <a:lstStyle/>
          <a:p>
            <a:pPr indent="0" marL="0">
              <a:buNone/>
            </a:pPr>
            <a:r>
              <a:rPr lang="en-US" sz="1700" dirty="0">
                <a:solidFill>
                  <a:srgbClr val="FDC700"/>
                </a:solidFill>
                <a:latin typeface="Courier New" pitchFamily="34" charset="0"/>
                <a:ea typeface="Courier New" pitchFamily="34" charset="-122"/>
                <a:cs typeface="Courier New" pitchFamily="34" charset="-120"/>
              </a:rPr>
              <a:t>github.com/parsaeskandar/pangenome-index</a:t>
            </a:r>
            <a:endParaRPr lang="en-US" sz="1700" dirty="0"/>
          </a:p>
        </p:txBody>
      </p:sp>
      <p:sp>
        <p:nvSpPr>
          <p:cNvPr id="10" name="Text 6"/>
          <p:cNvSpPr txBox="1"/>
          <p:nvPr/>
        </p:nvSpPr>
        <p:spPr>
          <a:xfrm>
            <a:off x="548640" y="4892040"/>
            <a:ext cx="11094415" cy="1554480"/>
          </a:xfrm>
          <a:prstGeom prst="rect">
            <a:avLst/>
          </a:prstGeom>
          <a:noFill/>
          <a:ln/>
        </p:spPr>
        <p:txBody>
          <a:bodyPr wrap="square" lIns="0" tIns="0" rIns="0" bIns="0" rtlCol="0" anchor="t"/>
          <a:lstStyle/>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Jouni Sirén  •  Benedict Paten</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UC Santa Cruz Computational Genomics Lab: Adam Novak, Glenn Hickey, Zia Truong, Mark Diekhans</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The UCSC Genome Browser team  •  The Human Pangenome Reference Consortium</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Built on vg and the HPRC v2.0 graph</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20</a:t>
            </a:r>
            <a:endParaRPr lang="en-US" sz="1000" dirty="0"/>
          </a:p>
        </p:txBody>
      </p:sp>
      <p:sp>
        <p:nvSpPr>
          <p:cNvPr id="3" name="Shape 1"/>
          <p:cNvSpPr/>
          <p:nvPr/>
        </p:nvSpPr>
        <p:spPr>
          <a:xfrm>
            <a:off x="5394960" y="3063240"/>
            <a:ext cx="45720" cy="685800"/>
          </a:xfrm>
          <a:prstGeom prst="rect">
            <a:avLst/>
          </a:prstGeom>
          <a:solidFill>
            <a:srgbClr val="FDC700"/>
          </a:solidFill>
          <a:ln w="12700">
            <a:solidFill>
              <a:srgbClr val="FDC700"/>
            </a:solidFill>
            <a:prstDash val="solid"/>
          </a:ln>
        </p:spPr>
      </p:sp>
      <p:sp>
        <p:nvSpPr>
          <p:cNvPr id="4" name="Text 2"/>
          <p:cNvSpPr txBox="1"/>
          <p:nvPr/>
        </p:nvSpPr>
        <p:spPr>
          <a:xfrm>
            <a:off x="5623560" y="3017520"/>
            <a:ext cx="3657600" cy="77724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Backup</a:t>
            </a:r>
            <a:endParaRPr lang="en-US" sz="3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translation on a toy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21</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Tag arrays</a:t>
            </a:r>
            <a:endParaRPr lang="en-US" sz="1600" dirty="0"/>
          </a:p>
        </p:txBody>
      </p:sp>
      <p:pic>
        <p:nvPicPr>
          <p:cNvPr id="5" name="Image 0" descr="/Users/seeskand/Documents/HPRC/2026/hprc_2026_poster/talk/figures/own/tag4_0.png">    </p:cNvPr>
          <p:cNvPicPr>
            <a:picLocks noChangeAspect="1"/>
          </p:cNvPicPr>
          <p:nvPr/>
        </p:nvPicPr>
        <p:blipFill>
          <a:blip r:embed="rId1"/>
          <a:stretch>
            <a:fillRect/>
          </a:stretch>
        </p:blipFill>
        <p:spPr>
          <a:xfrm>
            <a:off x="548640" y="2148840"/>
            <a:ext cx="6400800" cy="2493335"/>
          </a:xfrm>
          <a:prstGeom prst="rect">
            <a:avLst/>
          </a:prstGeom>
        </p:spPr>
      </p:pic>
      <p:sp>
        <p:nvSpPr>
          <p:cNvPr id="6" name="Text 3"/>
          <p:cNvSpPr txBox="1"/>
          <p:nvPr/>
        </p:nvSpPr>
        <p:spPr>
          <a:xfrm>
            <a:off x="548640" y="4825055"/>
            <a:ext cx="6400800" cy="365760"/>
          </a:xfrm>
          <a:prstGeom prst="rect">
            <a:avLst/>
          </a:prstGeom>
          <a:noFill/>
          <a:ln/>
        </p:spPr>
        <p:txBody>
          <a:bodyPr wrap="square" lIns="0" tIns="0" rIns="0" bIns="0" rtlCol="0" anchor="t"/>
          <a:lstStyle/>
          <a:p>
            <a:pPr algn="ctr" indent="0" marL="0">
              <a:buNone/>
            </a:pPr>
            <a:r>
              <a:rPr lang="en-US" sz="1500" dirty="0">
                <a:solidFill>
                  <a:srgbClr val="5B6B7C"/>
                </a:solidFill>
                <a:latin typeface="Calibri" pitchFamily="34" charset="0"/>
                <a:ea typeface="Calibri" pitchFamily="34" charset="-122"/>
                <a:cs typeface="Calibri" pitchFamily="34" charset="-120"/>
              </a:rPr>
              <a:t>source: orange, positions 3 to 7   •   target: purple</a:t>
            </a:r>
            <a:endParaRPr lang="en-US" sz="1500" dirty="0"/>
          </a:p>
        </p:txBody>
      </p:sp>
      <p:sp>
        <p:nvSpPr>
          <p:cNvPr id="7" name="Shape 4"/>
          <p:cNvSpPr/>
          <p:nvPr/>
        </p:nvSpPr>
        <p:spPr>
          <a:xfrm>
            <a:off x="7498080" y="1389888"/>
            <a:ext cx="420624" cy="420624"/>
          </a:xfrm>
          <a:prstGeom prst="roundRect">
            <a:avLst>
              <a:gd name="adj" fmla="val 19565"/>
            </a:avLst>
          </a:prstGeom>
          <a:solidFill>
            <a:srgbClr val="FDC700"/>
          </a:solidFill>
          <a:ln w="12700">
            <a:solidFill>
              <a:srgbClr val="FDC700"/>
            </a:solidFill>
            <a:prstDash val="solid"/>
          </a:ln>
        </p:spPr>
      </p:sp>
      <p:sp>
        <p:nvSpPr>
          <p:cNvPr id="8" name="Text 5"/>
          <p:cNvSpPr txBox="1"/>
          <p:nvPr/>
        </p:nvSpPr>
        <p:spPr>
          <a:xfrm>
            <a:off x="7498080" y="138988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9" name="Text 6"/>
          <p:cNvSpPr txBox="1"/>
          <p:nvPr/>
        </p:nvSpPr>
        <p:spPr>
          <a:xfrm>
            <a:off x="8092440" y="137160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Walk the source interval backwards with the r-index; collect the sampled tags it passes: nodes b, e, f.</a:t>
            </a:r>
            <a:endParaRPr lang="en-US" sz="1550" dirty="0"/>
          </a:p>
        </p:txBody>
      </p:sp>
      <p:sp>
        <p:nvSpPr>
          <p:cNvPr id="10" name="Shape 7"/>
          <p:cNvSpPr/>
          <p:nvPr/>
        </p:nvSpPr>
        <p:spPr>
          <a:xfrm>
            <a:off x="7498080" y="2487168"/>
            <a:ext cx="420624" cy="420624"/>
          </a:xfrm>
          <a:prstGeom prst="roundRect">
            <a:avLst>
              <a:gd name="adj" fmla="val 19565"/>
            </a:avLst>
          </a:prstGeom>
          <a:solidFill>
            <a:srgbClr val="FDC700"/>
          </a:solidFill>
          <a:ln w="12700">
            <a:solidFill>
              <a:srgbClr val="FDC700"/>
            </a:solidFill>
            <a:prstDash val="solid"/>
          </a:ln>
        </p:spPr>
      </p:sp>
      <p:sp>
        <p:nvSpPr>
          <p:cNvPr id="11" name="Text 8"/>
          <p:cNvSpPr txBox="1"/>
          <p:nvPr/>
        </p:nvSpPr>
        <p:spPr>
          <a:xfrm>
            <a:off x="7498080" y="248716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2" name="Text 9"/>
          <p:cNvSpPr txBox="1"/>
          <p:nvPr/>
        </p:nvSpPr>
        <p:spPr>
          <a:xfrm>
            <a:off x="8092440" y="246888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For each tag, the sampled tag array lists every haplotype at that graph position. Purple stands on b and f.</a:t>
            </a:r>
            <a:endParaRPr lang="en-US" sz="1550" dirty="0"/>
          </a:p>
        </p:txBody>
      </p:sp>
      <p:sp>
        <p:nvSpPr>
          <p:cNvPr id="13" name="Shape 10"/>
          <p:cNvSpPr/>
          <p:nvPr/>
        </p:nvSpPr>
        <p:spPr>
          <a:xfrm>
            <a:off x="7498080" y="3584448"/>
            <a:ext cx="420624" cy="420624"/>
          </a:xfrm>
          <a:prstGeom prst="roundRect">
            <a:avLst>
              <a:gd name="adj" fmla="val 19565"/>
            </a:avLst>
          </a:prstGeom>
          <a:solidFill>
            <a:srgbClr val="FDC700"/>
          </a:solidFill>
          <a:ln w="12700">
            <a:solidFill>
              <a:srgbClr val="FDC700"/>
            </a:solidFill>
            <a:prstDash val="solid"/>
          </a:ln>
        </p:spPr>
      </p:sp>
      <p:sp>
        <p:nvSpPr>
          <p:cNvPr id="14" name="Text 11"/>
          <p:cNvSpPr txBox="1"/>
          <p:nvPr/>
        </p:nvSpPr>
        <p:spPr>
          <a:xfrm>
            <a:off x="7498080" y="358444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5" name="Text 12"/>
          <p:cNvSpPr txBox="1"/>
          <p:nvPr/>
        </p:nvSpPr>
        <p:spPr>
          <a:xfrm>
            <a:off x="8092440" y="356616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Nodes both haplotypes visit exactly once anchor the two paths: b and f.</a:t>
            </a:r>
            <a:endParaRPr lang="en-US" sz="1550" dirty="0"/>
          </a:p>
        </p:txBody>
      </p:sp>
      <p:sp>
        <p:nvSpPr>
          <p:cNvPr id="16" name="Shape 13"/>
          <p:cNvSpPr/>
          <p:nvPr/>
        </p:nvSpPr>
        <p:spPr>
          <a:xfrm>
            <a:off x="7498080" y="4681728"/>
            <a:ext cx="420624" cy="420624"/>
          </a:xfrm>
          <a:prstGeom prst="roundRect">
            <a:avLst>
              <a:gd name="adj" fmla="val 19565"/>
            </a:avLst>
          </a:prstGeom>
          <a:solidFill>
            <a:srgbClr val="FDC700"/>
          </a:solidFill>
          <a:ln w="12700">
            <a:solidFill>
              <a:srgbClr val="FDC700"/>
            </a:solidFill>
            <a:prstDash val="solid"/>
          </a:ln>
        </p:spPr>
      </p:sp>
      <p:sp>
        <p:nvSpPr>
          <p:cNvPr id="17" name="Text 14"/>
          <p:cNvSpPr txBox="1"/>
          <p:nvPr/>
        </p:nvSpPr>
        <p:spPr>
          <a:xfrm>
            <a:off x="7498080" y="468172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4</a:t>
            </a:r>
            <a:endParaRPr lang="en-US" sz="1800" dirty="0"/>
          </a:p>
        </p:txBody>
      </p:sp>
      <p:sp>
        <p:nvSpPr>
          <p:cNvPr id="18" name="Text 15"/>
          <p:cNvSpPr txBox="1"/>
          <p:nvPr/>
        </p:nvSpPr>
        <p:spPr>
          <a:xfrm>
            <a:off x="8092440" y="466344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Walk both paths between the anchors and emit offsets: orange 3 to purple 3, orange 6 to purple 6; orange 5 sits on node e, which purple never visits: no position, never a wrong one.</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anchors and blocks, precisely</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22</a:t>
            </a:r>
            <a:endParaRPr lang="en-US" sz="1000" dirty="0"/>
          </a:p>
        </p:txBody>
      </p:sp>
      <p:sp>
        <p:nvSpPr>
          <p:cNvPr id="4" name="Shape 2"/>
          <p:cNvSpPr/>
          <p:nvPr/>
        </p:nvSpPr>
        <p:spPr>
          <a:xfrm>
            <a:off x="548640" y="1325880"/>
            <a:ext cx="5364328" cy="3931920"/>
          </a:xfrm>
          <a:prstGeom prst="roundRect">
            <a:avLst>
              <a:gd name="adj" fmla="val 2791"/>
            </a:avLst>
          </a:prstGeom>
          <a:solidFill>
            <a:srgbClr val="EDF1F6"/>
          </a:solidFill>
          <a:ln w="12700">
            <a:solidFill>
              <a:srgbClr val="DCE3EB"/>
            </a:solidFill>
            <a:prstDash val="solid"/>
          </a:ln>
        </p:spPr>
      </p:sp>
      <p:sp>
        <p:nvSpPr>
          <p:cNvPr id="5" name="Shape 3"/>
          <p:cNvSpPr/>
          <p:nvPr/>
        </p:nvSpPr>
        <p:spPr>
          <a:xfrm>
            <a:off x="6278728" y="1325880"/>
            <a:ext cx="5364328" cy="3931920"/>
          </a:xfrm>
          <a:prstGeom prst="roundRect">
            <a:avLst>
              <a:gd name="adj" fmla="val 2791"/>
            </a:avLst>
          </a:prstGeom>
          <a:solidFill>
            <a:srgbClr val="EDF1F6"/>
          </a:solidFill>
          <a:ln w="12700">
            <a:solidFill>
              <a:srgbClr val="DCE3EB"/>
            </a:solidFill>
            <a:prstDash val="solid"/>
          </a:ln>
        </p:spPr>
      </p:sp>
      <p:sp>
        <p:nvSpPr>
          <p:cNvPr id="6" name="Text 4"/>
          <p:cNvSpPr txBox="1"/>
          <p:nvPr/>
        </p:nvSpPr>
        <p:spPr>
          <a:xfrm>
            <a:off x="868680"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Anchors</a:t>
            </a:r>
            <a:endParaRPr lang="en-US" sz="2200" dirty="0"/>
          </a:p>
        </p:txBody>
      </p:sp>
      <p:sp>
        <p:nvSpPr>
          <p:cNvPr id="7" name="Text 5"/>
          <p:cNvSpPr txBox="1"/>
          <p:nvPr/>
        </p:nvSpPr>
        <p:spPr>
          <a:xfrm>
            <a:off x="868680" y="219456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node visited exactly once by the source path and exactly once by the target path is an unambiguous anchor with respect to the graph's alignment: our procedure cannot create a false one; a paralogy collapsed in the graph still can.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colinearity gate rejects anchor pairs whose target span is wildly inconsistent with the source span.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The failure mode in hard regions is missing positions, never wrong ones.</a:t>
            </a:r>
            <a:endParaRPr lang="en-US" sz="1600" dirty="0"/>
          </a:p>
        </p:txBody>
      </p:sp>
      <p:sp>
        <p:nvSpPr>
          <p:cNvPr id="8" name="Text 6"/>
          <p:cNvSpPr txBox="1"/>
          <p:nvPr/>
        </p:nvSpPr>
        <p:spPr>
          <a:xfrm>
            <a:off x="6598768"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Blocks and chains</a:t>
            </a:r>
            <a:endParaRPr lang="en-US" sz="2200" dirty="0"/>
          </a:p>
        </p:txBody>
      </p:sp>
      <p:sp>
        <p:nvSpPr>
          <p:cNvPr id="9" name="Text 7"/>
          <p:cNvSpPr txBox="1"/>
          <p:nvPr/>
        </p:nvSpPr>
        <p:spPr>
          <a:xfrm>
            <a:off x="6598768" y="219456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An LF-walk between anchors emits a per-base correspondence.</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block is a maximal run of constant offset: it breaks on indels, never on substitutions. Orientation flips and non-colinear jumps start a new chain.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Blocks are 0-based, half-open, and become bigChain + bigLink files the browser's QuickLift draws directly.</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chains that keep up with panning</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23</a:t>
            </a:r>
            <a:endParaRPr lang="en-US" sz="1000" dirty="0"/>
          </a:p>
        </p:txBody>
      </p:sp>
      <p:sp>
        <p:nvSpPr>
          <p:cNvPr id="4" name="Text 2"/>
          <p:cNvSpPr txBox="1"/>
          <p:nvPr/>
        </p:nvSpPr>
        <p:spPr>
          <a:xfrm>
            <a:off x="548640" y="1417320"/>
            <a:ext cx="5394960" cy="438912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The request is padded to 5x its span (250 kb to 1 Mb) before the chain is built, so a gene-sized view gets a ~1 Mb chain.</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As the page navigates, the server rebuilds the same chain at +/-5 Mb in the background (about 11 s, off the user's path). The browser reopens the chain file on every request, so the next pan picks it up with no reload.</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Lifted gene items visible 4 Mb from the conversion: 1 with the first chain, 31 with the widened one.</a:t>
            </a:r>
            <a:endParaRPr lang="en-US" sz="1700" dirty="0"/>
          </a:p>
        </p:txBody>
      </p:sp>
      <p:graphicFrame>
        <p:nvGraphicFramePr>
          <p:cNvPr id="5" name="Chart 0" descr=""/>
          <p:cNvGraphicFramePr/>
          <p:nvPr/>
        </p:nvGraphicFramePr>
        <p:xfrm>
          <a:off x="6309360" y="1325880"/>
          <a:ext cx="5333695" cy="448056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by the numbers</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24</a:t>
            </a:r>
            <a:endParaRPr lang="en-US" sz="1000" dirty="0"/>
          </a:p>
        </p:txBody>
      </p:sp>
      <p:sp>
        <p:nvSpPr>
          <p:cNvPr id="4" name="Shape 2"/>
          <p:cNvSpPr/>
          <p:nvPr/>
        </p:nvSpPr>
        <p:spPr>
          <a:xfrm>
            <a:off x="548640" y="1325880"/>
            <a:ext cx="2567864" cy="2148840"/>
          </a:xfrm>
          <a:prstGeom prst="roundRect">
            <a:avLst>
              <a:gd name="adj" fmla="val 5106"/>
            </a:avLst>
          </a:prstGeom>
          <a:solidFill>
            <a:srgbClr val="EDF1F6"/>
          </a:solidFill>
          <a:ln w="12700">
            <a:solidFill>
              <a:srgbClr val="DCE3EB"/>
            </a:solidFill>
            <a:prstDash val="solid"/>
          </a:ln>
        </p:spPr>
      </p:sp>
      <p:sp>
        <p:nvSpPr>
          <p:cNvPr id="5" name="Text 3"/>
          <p:cNvSpPr txBox="1"/>
          <p:nvPr/>
        </p:nvSpPr>
        <p:spPr>
          <a:xfrm>
            <a:off x="548640"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148M</a:t>
            </a:r>
            <a:endParaRPr lang="en-US" sz="3200" dirty="0"/>
          </a:p>
        </p:txBody>
      </p:sp>
      <p:sp>
        <p:nvSpPr>
          <p:cNvPr id="6" name="Text 4"/>
          <p:cNvSpPr txBox="1"/>
          <p:nvPr/>
        </p:nvSpPr>
        <p:spPr>
          <a:xfrm>
            <a:off x="777240"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nodes in the HPRC v2.0 Minigraph-Cactus graph</a:t>
            </a:r>
            <a:endParaRPr lang="en-US" sz="1600" dirty="0"/>
          </a:p>
        </p:txBody>
      </p:sp>
      <p:sp>
        <p:nvSpPr>
          <p:cNvPr id="7" name="Shape 5"/>
          <p:cNvSpPr/>
          <p:nvPr/>
        </p:nvSpPr>
        <p:spPr>
          <a:xfrm>
            <a:off x="3390824" y="1325880"/>
            <a:ext cx="2567864" cy="2148840"/>
          </a:xfrm>
          <a:prstGeom prst="roundRect">
            <a:avLst>
              <a:gd name="adj" fmla="val 5106"/>
            </a:avLst>
          </a:prstGeom>
          <a:solidFill>
            <a:srgbClr val="EDF1F6"/>
          </a:solidFill>
          <a:ln w="12700">
            <a:solidFill>
              <a:srgbClr val="DCE3EB"/>
            </a:solidFill>
            <a:prstDash val="solid"/>
          </a:ln>
        </p:spPr>
      </p:sp>
      <p:sp>
        <p:nvSpPr>
          <p:cNvPr id="8" name="Text 6"/>
          <p:cNvSpPr txBox="1"/>
          <p:nvPr/>
        </p:nvSpPr>
        <p:spPr>
          <a:xfrm>
            <a:off x="3390824"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464</a:t>
            </a:r>
            <a:endParaRPr lang="en-US" sz="3200" dirty="0"/>
          </a:p>
        </p:txBody>
      </p:sp>
      <p:sp>
        <p:nvSpPr>
          <p:cNvPr id="9" name="Text 7"/>
          <p:cNvSpPr txBox="1"/>
          <p:nvPr/>
        </p:nvSpPr>
        <p:spPr>
          <a:xfrm>
            <a:off x="3619424"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haplotypes indexed, CHM13 and GRCh38 included</a:t>
            </a:r>
            <a:endParaRPr lang="en-US" sz="1600" dirty="0"/>
          </a:p>
        </p:txBody>
      </p:sp>
      <p:sp>
        <p:nvSpPr>
          <p:cNvPr id="10" name="Shape 8"/>
          <p:cNvSpPr/>
          <p:nvPr/>
        </p:nvSpPr>
        <p:spPr>
          <a:xfrm>
            <a:off x="6233008" y="1325880"/>
            <a:ext cx="2567864" cy="2148840"/>
          </a:xfrm>
          <a:prstGeom prst="roundRect">
            <a:avLst>
              <a:gd name="adj" fmla="val 5106"/>
            </a:avLst>
          </a:prstGeom>
          <a:solidFill>
            <a:srgbClr val="EDF1F6"/>
          </a:solidFill>
          <a:ln w="12700">
            <a:solidFill>
              <a:srgbClr val="DCE3EB"/>
            </a:solidFill>
            <a:prstDash val="solid"/>
          </a:ln>
        </p:spPr>
      </p:sp>
      <p:sp>
        <p:nvSpPr>
          <p:cNvPr id="11" name="Text 9"/>
          <p:cNvSpPr txBox="1"/>
          <p:nvPr/>
        </p:nvSpPr>
        <p:spPr>
          <a:xfrm>
            <a:off x="6233008"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2.6 Tbp</a:t>
            </a:r>
            <a:endParaRPr lang="en-US" sz="3200" dirty="0"/>
          </a:p>
        </p:txBody>
      </p:sp>
      <p:sp>
        <p:nvSpPr>
          <p:cNvPr id="12" name="Text 10"/>
          <p:cNvSpPr txBox="1"/>
          <p:nvPr/>
        </p:nvSpPr>
        <p:spPr>
          <a:xfrm>
            <a:off x="6461608"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bidirectional sequence in the index</a:t>
            </a:r>
            <a:endParaRPr lang="en-US" sz="1600" dirty="0"/>
          </a:p>
        </p:txBody>
      </p:sp>
      <p:sp>
        <p:nvSpPr>
          <p:cNvPr id="13" name="Shape 11"/>
          <p:cNvSpPr/>
          <p:nvPr/>
        </p:nvSpPr>
        <p:spPr>
          <a:xfrm>
            <a:off x="9075191" y="1325880"/>
            <a:ext cx="2567864" cy="2148840"/>
          </a:xfrm>
          <a:prstGeom prst="roundRect">
            <a:avLst>
              <a:gd name="adj" fmla="val 5106"/>
            </a:avLst>
          </a:prstGeom>
          <a:solidFill>
            <a:srgbClr val="EDF1F6"/>
          </a:solidFill>
          <a:ln w="12700">
            <a:solidFill>
              <a:srgbClr val="DCE3EB"/>
            </a:solidFill>
            <a:prstDash val="solid"/>
          </a:ln>
        </p:spPr>
      </p:sp>
      <p:sp>
        <p:nvSpPr>
          <p:cNvPr id="14" name="Text 12"/>
          <p:cNvSpPr txBox="1"/>
          <p:nvPr/>
        </p:nvSpPr>
        <p:spPr>
          <a:xfrm>
            <a:off x="9075191"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26 B</a:t>
            </a:r>
            <a:endParaRPr lang="en-US" sz="3200" dirty="0"/>
          </a:p>
        </p:txBody>
      </p:sp>
      <p:sp>
        <p:nvSpPr>
          <p:cNvPr id="15" name="Text 13"/>
          <p:cNvSpPr txBox="1"/>
          <p:nvPr/>
        </p:nvSpPr>
        <p:spPr>
          <a:xfrm>
            <a:off x="9303791"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tag array runs (4.9 B BWT runs)</a:t>
            </a:r>
            <a:endParaRPr lang="en-US" sz="1600" dirty="0"/>
          </a:p>
        </p:txBody>
      </p:sp>
      <p:sp>
        <p:nvSpPr>
          <p:cNvPr id="16" name="Shape 14"/>
          <p:cNvSpPr/>
          <p:nvPr/>
        </p:nvSpPr>
        <p:spPr>
          <a:xfrm>
            <a:off x="548640" y="3794760"/>
            <a:ext cx="2567864" cy="2148840"/>
          </a:xfrm>
          <a:prstGeom prst="roundRect">
            <a:avLst>
              <a:gd name="adj" fmla="val 5106"/>
            </a:avLst>
          </a:prstGeom>
          <a:solidFill>
            <a:srgbClr val="EDF1F6"/>
          </a:solidFill>
          <a:ln w="12700">
            <a:solidFill>
              <a:srgbClr val="DCE3EB"/>
            </a:solidFill>
            <a:prstDash val="solid"/>
          </a:ln>
        </p:spPr>
      </p:sp>
      <p:sp>
        <p:nvSpPr>
          <p:cNvPr id="17" name="Text 15"/>
          <p:cNvSpPr txBox="1"/>
          <p:nvPr/>
        </p:nvSpPr>
        <p:spPr>
          <a:xfrm>
            <a:off x="548640"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149 GiB</a:t>
            </a:r>
            <a:endParaRPr lang="en-US" sz="3200" dirty="0"/>
          </a:p>
        </p:txBody>
      </p:sp>
      <p:sp>
        <p:nvSpPr>
          <p:cNvPr id="18" name="Text 16"/>
          <p:cNvSpPr txBox="1"/>
          <p:nvPr/>
        </p:nvSpPr>
        <p:spPr>
          <a:xfrm>
            <a:off x="777240"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tag array index; 23 GiB sampled tag array</a:t>
            </a:r>
            <a:endParaRPr lang="en-US" sz="1600" dirty="0"/>
          </a:p>
        </p:txBody>
      </p:sp>
      <p:sp>
        <p:nvSpPr>
          <p:cNvPr id="19" name="Shape 17"/>
          <p:cNvSpPr/>
          <p:nvPr/>
        </p:nvSpPr>
        <p:spPr>
          <a:xfrm>
            <a:off x="3390824" y="3794760"/>
            <a:ext cx="2567864" cy="2148840"/>
          </a:xfrm>
          <a:prstGeom prst="roundRect">
            <a:avLst>
              <a:gd name="adj" fmla="val 5106"/>
            </a:avLst>
          </a:prstGeom>
          <a:solidFill>
            <a:srgbClr val="EDF1F6"/>
          </a:solidFill>
          <a:ln w="12700">
            <a:solidFill>
              <a:srgbClr val="DCE3EB"/>
            </a:solidFill>
            <a:prstDash val="solid"/>
          </a:ln>
        </p:spPr>
      </p:sp>
      <p:sp>
        <p:nvSpPr>
          <p:cNvPr id="20" name="Text 18"/>
          <p:cNvSpPr txBox="1"/>
          <p:nvPr/>
        </p:nvSpPr>
        <p:spPr>
          <a:xfrm>
            <a:off x="3390824"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~250 GB</a:t>
            </a:r>
            <a:endParaRPr lang="en-US" sz="3200" dirty="0"/>
          </a:p>
        </p:txBody>
      </p:sp>
      <p:sp>
        <p:nvSpPr>
          <p:cNvPr id="21" name="Text 19"/>
          <p:cNvSpPr txBox="1"/>
          <p:nvPr/>
        </p:nvSpPr>
        <p:spPr>
          <a:xfrm>
            <a:off x="3619424"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RAM for the running service</a:t>
            </a:r>
            <a:endParaRPr lang="en-US" sz="1600" dirty="0"/>
          </a:p>
        </p:txBody>
      </p:sp>
      <p:sp>
        <p:nvSpPr>
          <p:cNvPr id="22" name="Shape 20"/>
          <p:cNvSpPr/>
          <p:nvPr/>
        </p:nvSpPr>
        <p:spPr>
          <a:xfrm>
            <a:off x="6233008" y="3794760"/>
            <a:ext cx="2567864" cy="2148840"/>
          </a:xfrm>
          <a:prstGeom prst="roundRect">
            <a:avLst>
              <a:gd name="adj" fmla="val 5106"/>
            </a:avLst>
          </a:prstGeom>
          <a:solidFill>
            <a:srgbClr val="EDF1F6"/>
          </a:solidFill>
          <a:ln w="12700">
            <a:solidFill>
              <a:srgbClr val="DCE3EB"/>
            </a:solidFill>
            <a:prstDash val="solid"/>
          </a:ln>
        </p:spPr>
      </p:sp>
      <p:sp>
        <p:nvSpPr>
          <p:cNvPr id="23" name="Text 21"/>
          <p:cNvSpPr txBox="1"/>
          <p:nvPr/>
        </p:nvSpPr>
        <p:spPr>
          <a:xfrm>
            <a:off x="6233008"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~60 / s</a:t>
            </a:r>
            <a:endParaRPr lang="en-US" sz="3200" dirty="0"/>
          </a:p>
        </p:txBody>
      </p:sp>
      <p:sp>
        <p:nvSpPr>
          <p:cNvPr id="24" name="Text 22"/>
          <p:cNvSpPr txBox="1"/>
          <p:nvPr/>
        </p:nvSpPr>
        <p:spPr>
          <a:xfrm>
            <a:off x="6461608"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translation queries per second on one server</a:t>
            </a:r>
            <a:endParaRPr lang="en-US" sz="1600" dirty="0"/>
          </a:p>
        </p:txBody>
      </p:sp>
      <p:sp>
        <p:nvSpPr>
          <p:cNvPr id="25" name="Shape 23"/>
          <p:cNvSpPr/>
          <p:nvPr/>
        </p:nvSpPr>
        <p:spPr>
          <a:xfrm>
            <a:off x="9075191" y="3794760"/>
            <a:ext cx="2567864" cy="2148840"/>
          </a:xfrm>
          <a:prstGeom prst="roundRect">
            <a:avLst>
              <a:gd name="adj" fmla="val 5106"/>
            </a:avLst>
          </a:prstGeom>
          <a:solidFill>
            <a:srgbClr val="EDF1F6"/>
          </a:solidFill>
          <a:ln w="12700">
            <a:solidFill>
              <a:srgbClr val="DCE3EB"/>
            </a:solidFill>
            <a:prstDash val="solid"/>
          </a:ln>
        </p:spPr>
      </p:sp>
      <p:sp>
        <p:nvSpPr>
          <p:cNvPr id="26" name="Text 24"/>
          <p:cNvSpPr txBox="1"/>
          <p:nvPr/>
        </p:nvSpPr>
        <p:spPr>
          <a:xfrm>
            <a:off x="9075191"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~100 ms</a:t>
            </a:r>
            <a:endParaRPr lang="en-US" sz="3200" dirty="0"/>
          </a:p>
        </p:txBody>
      </p:sp>
      <p:sp>
        <p:nvSpPr>
          <p:cNvPr id="27" name="Text 25"/>
          <p:cNvSpPr txBox="1"/>
          <p:nvPr/>
        </p:nvSpPr>
        <p:spPr>
          <a:xfrm>
            <a:off x="9303791"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to translate a 10 kb gene to any haplotype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pangenome sequence search and coordinate translation service for the UCSC Genome Browser</dc:title>
  <dc:subject>PptxGenJS Presentation</dc:subject>
  <dc:creator>Parsa Eskandar</dc:creator>
  <cp:lastModifiedBy>Parsa Eskandar</cp:lastModifiedBy>
  <cp:revision>1</cp:revision>
  <dcterms:created xsi:type="dcterms:W3CDTF">2026-09-06T22:55:03Z</dcterms:created>
  <dcterms:modified xsi:type="dcterms:W3CDTF">2026-09-06T22:55:03Z</dcterms:modified>
</cp:coreProperties>
</file>
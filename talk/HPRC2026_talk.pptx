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Thanks. I'm Parsa Eskandar, from Benedict Paten's lab at UC Santa Cruz, and this is joint work with Jouni Sirén and the UCSC Genome Browser team.
(Don't linger.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The UCSC Genome Browser can open 464 HPRC haplotype assemblies. The same database has 56 chain files.
(pause: two full beats, let them do the arithmetic)
Which means almost everything we know about the human genome is written in hg38 or CHM13, and for the other 462 there is no way to move any of it across. You can look at them. You can't ask them anything. That's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[1:00-1:50]
For thirty years two tools have moved knowledge between genomes: alignment and lift-over. Neither is broken. Both are single-pair.
(point left) BLAT runs against one assembly. There are 464 now.
(point right) A chain covers one ordered pair. Two hundred thousand possible pairs; the browser has fifty-six.
And yes, this room can already query the graph: giraffe, the r-index, odgi, halLiftover on the Cactus alignment. From a shell, in seconds to minutes, by people who write shell.
What has not existed is that capability at web latency, for any pair, inside the tool everyone else uses. In the browser, the graph has been a file, not a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[1:50-2:35]
Let me make this concrete with one researcher and two afternoons.
First afternoon: she has assembled an insertion from a patient's long reads, and it is not in GRCh38. Which HPRC haplotypes carry it? How common is it? What does the neighbourhood look like on a genome that actually has it? Today her tool is BLAT: one assembly at a time, and BLAT knows nothing about the graph, so it can't tell her who else carries the sequence.
Second afternoon: she's curating a gene on GRCh38, ClinVar and the GWAS catalog open, and she wants to see that locus on one HPRC individual. Today her tool is QuickLift, and QuickLift works only where a chain already exists. For most HPRC haplotypes, it doesn't.
Everyone in this room can serve her with enough shell. Nobody can do it from the browser, in seconds, for an arbitrary haplotype. By the end of this talk: both afternoons,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[2:30-3:15]
Here's what we built to answer all three, and it fits on one slide. The browser talks to a service. The service holds two engines over the HPRC v2 graph: vg giraffe for mapping sequences, and our coordinate-translation index. Three pages in the browser, three things they do: search, translate, lift annotations.
Fifteen lines changed in the browser's core; everything else is a new page. Let me start with the one idea that makes translation possible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[3:15-4:25]
The foundation is our tag-array index, from the lossless pangenome indexing work.
An r-index over all 464 haplotypes tells you where a string occurs, but only as a position in a text. Tag arrays add one thing: every position in the BWT also carries its node in the graph. So a string match doesn't give you an offset. It gives you a place in the graph. One tag per BWT run, not per position, which is why this fits in memory.
And once you're standing on a node, the GBWT tells you every haplotype that passes through it, and where. All 464, in a single lookup.
Notice what's missing: nothing anywhere says CHM13-to-HG02015. That is the property that makes any-to-any translation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[4:25-5:55]
With that one property in hand, translating a region stops being a lookup and becomes a walk.
(1) Find the query interval's nodes on the source haplotype's path.
(2) At those nodes, ask the tag arrays who else is standing here. Every haplotype comes back at once.
(3) Nodes that source and target each visit exactly once are unambiguous anchors. Orthology is inherited from the graph's alignment. What we guarantee is that a repeat can't manufacture a false anchor, and a colinearity check drops pairs whose spans disagree.
(4) Walk the graph between anchors, one base at a time, and group the bases that share an offset into blocks. A block breaks on an indel, never on a SNP; an inversion starts a new chain. That is exactly what a chain file means.
So the output isn't a coordinate. It is a chain, and the browser already knows what to do with a chain. And if the target simply doesn't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[5:55-6:55]
That's the whole method. Now the first afternoon: the insertion that isn't in the reference.
This is the Pangenome Mapping page: BLAT, but for the pangenome. She pastes her sequence, a kilobase here. It is mapped once, to the whole graph, with vg giraffe, in a few seconds. Notice what BLAT could never have told her: exactly two of the 464 haplotypes carry this sequence, HG01167 hap1 and HG04157 paternal, and GRCh38 is not one of them. Ranked by identity, with a position on whichever one she picks. Picking a different haplotype re-surjects the same alignment; nothing is remapped.
You'll notice MAPQ zero. That's not a bad alignment; that's what MAPQ means in a graph where every locus exists hundreds of times. We report identity and coverage per haplotype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[6:55-7:25]
She clicks through to a haplotype, here HG01167 hap1, and doesn't land on a special page. She lands in the browser, on a genome that actually has her insertion, with the sequence as a native track, base-level differences colored the way BLAT users already know, and that haplotype's own annotation around it. First afternoon done: who carries it, where, and what it looks like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[7:25-8:00]
Second afternoon. She has HLA-DMA open on a reference, ClinVar and GWAS beside it, and she wants that locus on one HPRC individual.
The browser already has the right tool for this: QuickLift, shipped last year. View, In Other Genomes, tick QuickLift tracks, and your tracks are drawn on the other assembly with the differences marked. It is superb for hg38 to hs1.
But QuickLift needs a prebuilt chain between the two assemblies, made by UCSC on request. Between HPRC haplotypes the browser has fifty-six, out of more than two hundred thousand pairs. She picks HG02015. There is no chain. Dead end.
The renderer is ready. What's missing is a chain for any pair, on demand. That is exactly what the walk from slide seven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[8:00-8:50]
Now the same afternoon with our tool. Source: the reference she was looking at; here CHM13 and the gene is HLA-DMA, a ten-kilobase region on chromosome 6. GRCh38 is a path in this graph too, so hg38 works exactly the same way. Target: any of the other 463 haplotypes, and the picker can show only the ones that actually contain the region.
She picks HG02015 paternal, the haplotype that was a dead end a minute ago. Result: contig CM085893, a hundred percent of bases, a hundred percent of span, in about a hundred milliseconds. And because we plugged into the same menus, the pangenome haplotypes also show up in the ordinary hgConvert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[8:40-10:20]  SLOW DOWN. This is the slide the talk exists for.
But a coordinate on its own is a lonely thing. She clicks the result, and this is the part I care about most.
This is HG02015 paternal, at her gene. Release 2 gave it CAT and Liftoff genes, and per-assembly annotation is the right answer where it exists. What HG02015 does not have, and never will, is everything else: ClinVar, the GWAS catalog, ENCODE, her own BED file. Those live once, on one reference.
And here they are: the reference's tracks, drawn at their translated positions, with the differences marked the way QuickLift users already read them: insertions, deletions, mismatches.
(pause) The chain that made this possible did not exist a second before the page loaded. The translation blocks became a bigChain, the browser's own QuickLift renderer drew the tracks, and the chain is reused for every pan. Same QuickLift. The chain just isn't prebuilt anymore.
Second afternoon done: a gene she knew on a reference, on a haplotype nobody built a chain for, with the reference's annotation around it. That's what I mean by making release 2 useful: the thousands of tracks that exist once, on one reference, will never be rebuilt 464 times. Any haplotype can borrow them, on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[10:20-11:10]
Before the numbers on speed, the numbers on trust, and which ones I actually have.
Checked: the Alignment Differences track, base by base, across 22 kb of ABO: exactly the two real mismatches, nothing invented. A correctness check, not a divergence estimate. Completeness by span: 99% at gene scale, 93% at a megabase. And one hard case: a segdup-dense span on 1q21.1 recovers about half its bases. Missing positions, not wrong ones: a repeat cannot manufacture an anchor.
Not yet: halLiftover on the same Cactus alignment, agreement with the 56 existing chains, and the one I care about most, CHM13's CAT transcripts onto a haplotype that has its own CAT annotation, exon boundary by exon boundary. Those three come before public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[11:10-12:00]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[12:00-13:05]
Two things I want to be honest about before I stop.
Chains are built per view, so if you pan far enough we build another one. And wide, segdup-dense spans lose positions: on 1q21.1 we recover about half. Missing, not wrong. This runs on the development browser, as one service with about 250 gigabytes of RAM, and there is no public API yet.
What's next. Chains that persist: right now a widened chain dies with your session; share it across users and popular regions are free after the first visit. Better recovery in segdups. A documented JSON API, because half of you will want this from a pipeline, not a browser. And more graphs: nothing here is specific to release 2; a new release plugs in by building one index.
And the milestone all of that serves: the public UCSC Genome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[13:05-13:45]
So, back to her two afternoons.
The insertion that isn't in GRCh38: two carriers found in seconds, and mapped as a track on a genome that has it. The gene she knew on a reference: on HG02015 in a tenth of a second, with the reference's tracks drawn around it, over a chain that didn't exist until she asked.
It's live on the development browser today. So bring me your hardest region, and tell me where it breaks.
(Advance to the thanks slide, let it breathe,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[13:45-14:00]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8686800" cy="155448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The UCSC Genome Browser</a:t>
            </a:r>
            <a:endParaRPr lang="en-US" sz="4400" dirty="0"/>
          </a:p>
          <a:p>
            <a:pPr indent="0" marL="0">
              <a:buNone/>
            </a:pPr>
            <a:r>
              <a:rPr lang="en-US" sz="4400" b="1" dirty="0">
                <a:solidFill>
                  <a:srgbClr val="FDC700"/>
                </a:solidFill>
                <a:latin typeface="Calibri" pitchFamily="34" charset="0"/>
                <a:ea typeface="Calibri" pitchFamily="34" charset="-122"/>
                <a:cs typeface="Calibri" pitchFamily="34" charset="-120"/>
              </a:rPr>
              <a:t>now speaks pangenome.</a:t>
            </a:r>
            <a:endParaRPr lang="en-US" sz="4400" dirty="0"/>
          </a:p>
        </p:txBody>
      </p:sp>
      <p:sp>
        <p:nvSpPr>
          <p:cNvPr id="8" name="Text 4"/>
          <p:cNvSpPr txBox="1"/>
          <p:nvPr/>
        </p:nvSpPr>
        <p:spPr>
          <a:xfrm>
            <a:off x="548640" y="4251960"/>
            <a:ext cx="10515600" cy="457200"/>
          </a:xfrm>
          <a:prstGeom prst="rect">
            <a:avLst/>
          </a:prstGeom>
          <a:noFill/>
          <a:ln/>
        </p:spPr>
        <p:txBody>
          <a:bodyPr wrap="square" lIns="0" tIns="0" rIns="0" bIns="0" rtlCol="0" anchor="t"/>
          <a:lstStyle/>
          <a:p>
            <a:pPr indent="0" marL="0">
              <a:buNone/>
            </a:pPr>
            <a:r>
              <a:rPr lang="en-US" sz="2000" dirty="0">
                <a:solidFill>
                  <a:srgbClr val="FFFFFF"/>
                </a:solidFill>
                <a:latin typeface="Calibri" pitchFamily="34" charset="0"/>
                <a:ea typeface="Calibri" pitchFamily="34" charset="-122"/>
                <a:cs typeface="Calibri" pitchFamily="34" charset="-120"/>
              </a:rPr>
              <a:t>Sequence search and coordinate translation across all 464 HPRC haplotypes</a:t>
            </a:r>
            <a:endParaRPr lang="en-US" sz="2000" dirty="0"/>
          </a:p>
        </p:txBody>
      </p:sp>
      <p:sp>
        <p:nvSpPr>
          <p:cNvPr id="9" name="Text 5"/>
          <p:cNvSpPr txBox="1"/>
          <p:nvPr/>
        </p:nvSpPr>
        <p:spPr>
          <a:xfrm>
            <a:off x="548640" y="4754880"/>
            <a:ext cx="86868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Live on the development browser today</a:t>
            </a:r>
            <a:endParaRPr lang="en-US" sz="1600" dirty="0"/>
          </a:p>
        </p:txBody>
      </p:sp>
      <p:sp>
        <p:nvSpPr>
          <p:cNvPr id="10" name="Text 6"/>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1" name="Text 7"/>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 assemblies the Genome Browser can open</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56</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chain files in its database</a:t>
            </a:r>
            <a:endParaRPr lang="en-US" sz="2200" dirty="0"/>
          </a:p>
        </p:txBody>
      </p:sp>
      <p:sp>
        <p:nvSpPr>
          <p:cNvPr id="7" name="Shape 5"/>
          <p:cNvSpPr/>
          <p:nvPr/>
        </p:nvSpPr>
        <p:spPr>
          <a:xfrm>
            <a:off x="548640" y="3657600"/>
            <a:ext cx="105156" cy="105156"/>
          </a:xfrm>
          <a:prstGeom prst="rect">
            <a:avLst/>
          </a:prstGeom>
          <a:solidFill>
            <a:srgbClr val="17436B"/>
          </a:solidFill>
          <a:ln w="12700">
            <a:solidFill>
              <a:srgbClr val="17436B"/>
            </a:solidFill>
            <a:prstDash val="solid"/>
          </a:ln>
        </p:spPr>
      </p:sp>
      <p:sp>
        <p:nvSpPr>
          <p:cNvPr id="8" name="Shape 6"/>
          <p:cNvSpPr/>
          <p:nvPr/>
        </p:nvSpPr>
        <p:spPr>
          <a:xfrm>
            <a:off x="694944" y="3657600"/>
            <a:ext cx="105156" cy="105156"/>
          </a:xfrm>
          <a:prstGeom prst="rect">
            <a:avLst/>
          </a:prstGeom>
          <a:solidFill>
            <a:srgbClr val="17436B"/>
          </a:solidFill>
          <a:ln w="12700">
            <a:solidFill>
              <a:srgbClr val="17436B"/>
            </a:solidFill>
            <a:prstDash val="solid"/>
          </a:ln>
        </p:spPr>
      </p:sp>
      <p:sp>
        <p:nvSpPr>
          <p:cNvPr id="9" name="Shape 7"/>
          <p:cNvSpPr/>
          <p:nvPr/>
        </p:nvSpPr>
        <p:spPr>
          <a:xfrm>
            <a:off x="841248" y="3657600"/>
            <a:ext cx="105156" cy="105156"/>
          </a:xfrm>
          <a:prstGeom prst="rect">
            <a:avLst/>
          </a:prstGeom>
          <a:solidFill>
            <a:srgbClr val="17436B"/>
          </a:solidFill>
          <a:ln w="12700">
            <a:solidFill>
              <a:srgbClr val="17436B"/>
            </a:solidFill>
            <a:prstDash val="solid"/>
          </a:ln>
        </p:spPr>
      </p:sp>
      <p:sp>
        <p:nvSpPr>
          <p:cNvPr id="10" name="Shape 8"/>
          <p:cNvSpPr/>
          <p:nvPr/>
        </p:nvSpPr>
        <p:spPr>
          <a:xfrm>
            <a:off x="98755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13385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28016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42646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57276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71907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86537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01168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15798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0428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45059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59689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74320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88950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03580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18211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32841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47472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62102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76732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391363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05993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0624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35254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49884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64515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54864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69494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84124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98755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13385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28016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42646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57276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71907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86537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01168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15798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0428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45059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59689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74320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88950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03580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18211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32841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47472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62102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76732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391363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05993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0624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35254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49884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64515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54864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69494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84124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98755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13385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28016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42646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57276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71907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86537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01168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15798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0428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45059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59689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74320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88950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03580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18211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32841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47472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62102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76732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391363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05993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0624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35254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49884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64515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54864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69494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84124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98755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13385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28016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42646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57276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71907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86537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01168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15798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0428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45059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59689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74320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88950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03580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18211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32841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47472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62102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76732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391363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05993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0624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35254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49884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64515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54864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69494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84124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98755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13385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28016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42646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57276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71907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86537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01168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15798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0428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45059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59689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74320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88950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03580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18211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32841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47472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62102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76732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391363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05993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0624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35254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49884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64515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54864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69494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84124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98755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13385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28016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42646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57276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71907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86537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01168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15798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0428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45059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59689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74320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88950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03580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18211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32841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47472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62102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76732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391363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05993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0624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35254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49884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64515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54864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69494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84124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98755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13385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28016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42646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57276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71907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86537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01168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15798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0428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45059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59689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74320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88950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03580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18211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32841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47472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62102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76732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391363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05993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0624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35254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49884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64515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54864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69494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84124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98755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13385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28016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42646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57276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71907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86537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01168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15798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0428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45059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59689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74320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88950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03580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18211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32841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47472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62102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76732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391363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05993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0624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35254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49884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64515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54864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69494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84124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98755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13385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28016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42646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57276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71907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86537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01168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15798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0428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45059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59689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74320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88950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03580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18211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32841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47472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62102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76732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391363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05993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0624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35254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49884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64515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54864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69494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84124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98755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13385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28016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42646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57276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71907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86537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01168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15798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0428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45059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59689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74320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88950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03580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18211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32841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47472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62102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76732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391363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05993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0624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35254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49884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64515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54864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69494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84124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98755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13385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28016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42646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57276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71907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86537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01168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15798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0428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45059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59689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74320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88950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03580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18211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32841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47472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62102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76732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391363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05993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0624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35254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49884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64515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54864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69494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84124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98755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13385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28016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42646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57276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71907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86537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01168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15798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0428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45059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59689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74320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88950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03580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18211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32841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47472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62102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76732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391363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05993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0624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35254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49884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64515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54864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69494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84124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98755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13385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28016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42646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57276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71907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86537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01168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15798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0428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45059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59689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74320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88950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03580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18211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32841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47472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62102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76732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391363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05993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0624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35254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49884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64515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54864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69494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84124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98755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13385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28016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42646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57276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71907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86537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01168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15798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0428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45059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59689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74320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88950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03580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18211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32841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47472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62102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76732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391363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05993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0624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35254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49884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64515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54864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69494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84124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98755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13385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28016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42646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57276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71907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86537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01168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15798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0428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45059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59689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74320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88950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03580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18211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32841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47472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62102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76732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391363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05993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0624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35254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49884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64515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54864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69494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84124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98755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13385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28016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42646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57276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71907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86537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01168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15798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0428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45059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59689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74320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88950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03580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18211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32841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47472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62102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76732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391363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05993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0624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35254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49884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64515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54864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of which hold almost everything we know</a:t>
            </a:r>
            <a:endParaRPr lang="en-US" sz="1500" dirty="0"/>
          </a:p>
        </p:txBody>
      </p:sp>
      <p:sp>
        <p:nvSpPr>
          <p:cNvPr id="472" name="Text 470"/>
          <p:cNvSpPr txBox="1"/>
          <p:nvPr/>
        </p:nvSpPr>
        <p:spPr>
          <a:xfrm>
            <a:off x="6400800" y="3749040"/>
            <a:ext cx="5212080" cy="12801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Almost everything we know about the human genome is written in hg38 or CHM13.</a:t>
            </a:r>
            <a:endParaRPr lang="en-US" sz="2200" dirty="0"/>
          </a:p>
        </p:txBody>
      </p:sp>
      <p:sp>
        <p:nvSpPr>
          <p:cNvPr id="473" name="Text 471"/>
          <p:cNvSpPr txBox="1"/>
          <p:nvPr/>
        </p:nvSpPr>
        <p:spPr>
          <a:xfrm>
            <a:off x="6400800" y="5120640"/>
            <a:ext cx="5212080" cy="914400"/>
          </a:xfrm>
          <a:prstGeom prst="rect">
            <a:avLst/>
          </a:prstGeom>
          <a:noFill/>
          <a:ln/>
        </p:spPr>
        <p:txBody>
          <a:bodyPr wrap="square" lIns="0" tIns="0" rIns="0" bIns="0" rtlCol="0" anchor="t"/>
          <a:lstStyle/>
          <a:p>
            <a:pPr indent="0" marL="0">
              <a:buNone/>
            </a:pPr>
            <a:r>
              <a:rPr lang="en-US" sz="2200" i="1" dirty="0">
                <a:solidFill>
                  <a:srgbClr val="FDC700"/>
                </a:solidFill>
                <a:latin typeface="Calibri" pitchFamily="34" charset="0"/>
                <a:ea typeface="Calibri" pitchFamily="34" charset="-122"/>
                <a:cs typeface="Calibri" pitchFamily="34" charset="-120"/>
              </a:rPr>
              <a:t>You can look at the other 462. You can't ask them anything.</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old tools. Both are single-pair.</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5364328" cy="4160520"/>
          </a:xfrm>
          <a:prstGeom prst="roundRect">
            <a:avLst>
              <a:gd name="adj" fmla="val 2637"/>
            </a:avLst>
          </a:prstGeom>
          <a:solidFill>
            <a:srgbClr val="EDF1F6"/>
          </a:solidFill>
          <a:ln w="12700">
            <a:solidFill>
              <a:srgbClr val="DCE3EB"/>
            </a:solidFill>
            <a:prstDash val="solid"/>
          </a:ln>
        </p:spPr>
      </p:sp>
      <p:sp>
        <p:nvSpPr>
          <p:cNvPr id="5" name="Shape 3"/>
          <p:cNvSpPr/>
          <p:nvPr/>
        </p:nvSpPr>
        <p:spPr>
          <a:xfrm>
            <a:off x="868680" y="164592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7" name="Text 4"/>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Alignment (BLAT)</a:t>
            </a:r>
            <a:endParaRPr lang="en-US" sz="2200" dirty="0"/>
          </a:p>
        </p:txBody>
      </p:sp>
      <p:sp>
        <p:nvSpPr>
          <p:cNvPr id="8" name="Text 5"/>
          <p:cNvSpPr txBox="1"/>
          <p:nvPr/>
        </p:nvSpPr>
        <p:spPr>
          <a:xfrm>
            <a:off x="868680" y="2560320"/>
            <a:ext cx="4724248" cy="2743200"/>
          </a:xfrm>
          <a:prstGeom prst="rect">
            <a:avLst/>
          </a:prstGeom>
          <a:noFill/>
          <a:ln/>
        </p:spPr>
        <p:txBody>
          <a:bodyPr wrap="square" lIns="0" tIns="0" rIns="0" bIns="0" rtlCol="0" anchor="t"/>
          <a:lstStyle/>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One assembly at a time. There are 464 now.</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The graph itself can be queried, from a shell: vg giraffe, the r-index, odgi.</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Nothing answers "who carries this?" from a browser search box.</a:t>
            </a:r>
            <a:endParaRPr lang="en-US" sz="1800" dirty="0"/>
          </a:p>
        </p:txBody>
      </p:sp>
      <p:sp>
        <p:nvSpPr>
          <p:cNvPr id="9" name="Shape 6"/>
          <p:cNvSpPr/>
          <p:nvPr/>
        </p:nvSpPr>
        <p:spPr>
          <a:xfrm>
            <a:off x="6278728" y="1325880"/>
            <a:ext cx="5364328" cy="4160520"/>
          </a:xfrm>
          <a:prstGeom prst="roundRect">
            <a:avLst>
              <a:gd name="adj" fmla="val 2637"/>
            </a:avLst>
          </a:prstGeom>
          <a:solidFill>
            <a:srgbClr val="EDF1F6"/>
          </a:solidFill>
          <a:ln w="12700">
            <a:solidFill>
              <a:srgbClr val="DCE3EB"/>
            </a:solidFill>
            <a:prstDash val="solid"/>
          </a:ln>
        </p:spPr>
      </p:sp>
      <p:sp>
        <p:nvSpPr>
          <p:cNvPr id="10" name="Shape 7"/>
          <p:cNvSpPr/>
          <p:nvPr/>
        </p:nvSpPr>
        <p:spPr>
          <a:xfrm>
            <a:off x="6598768" y="164592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765188" y="1812341"/>
            <a:ext cx="307238" cy="307238"/>
          </a:xfrm>
          <a:prstGeom prst="rect">
            <a:avLst/>
          </a:prstGeom>
        </p:spPr>
      </p:pic>
      <p:sp>
        <p:nvSpPr>
          <p:cNvPr id="12" name="Text 8"/>
          <p:cNvSpPr txBox="1"/>
          <p:nvPr/>
        </p:nvSpPr>
        <p:spPr>
          <a:xfrm>
            <a:off x="7421728"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(chain files)</a:t>
            </a:r>
            <a:endParaRPr lang="en-US" sz="2200" dirty="0"/>
          </a:p>
        </p:txBody>
      </p:sp>
      <p:sp>
        <p:nvSpPr>
          <p:cNvPr id="13" name="Text 9"/>
          <p:cNvSpPr txBox="1"/>
          <p:nvPr/>
        </p:nvSpPr>
        <p:spPr>
          <a:xfrm>
            <a:off x="6598768" y="2560320"/>
            <a:ext cx="4724248" cy="2743200"/>
          </a:xfrm>
          <a:prstGeom prst="rect">
            <a:avLst/>
          </a:prstGeom>
          <a:noFill/>
          <a:ln/>
        </p:spPr>
        <p:txBody>
          <a:bodyPr wrap="square" lIns="0" tIns="0" rIns="0" bIns="0" rtlCol="0" anchor="t"/>
          <a:lstStyle/>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A chain covers one ordered pair. 464 assemblies is more than 200,000 pairs.</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Chains in the browser database today: 56.</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halLiftover on the Cactus alignment does any pair, offline, at file scale.</a:t>
            </a:r>
            <a:endParaRPr lang="en-US" sz="18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What hasn't existed: any pair, at web latency, inside the tool everyone already uses.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users the browser can't serve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Story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 sequence GRCh38 doesn't have</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900" dirty="0">
                <a:solidFill>
                  <a:srgbClr val="18293B"/>
                </a:solidFill>
                <a:latin typeface="Calibri" pitchFamily="34" charset="0"/>
                <a:ea typeface="Calibri" pitchFamily="34" charset="-122"/>
                <a:cs typeface="Calibri" pitchFamily="34" charset="-120"/>
              </a:rPr>
              <a:t>A researcher assembles an insertion from long reads. It isn't in the reference. Which HPRC haplotypes carry it, and what does it look like there?</a:t>
            </a:r>
            <a:endParaRPr lang="en-US" sz="19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400" b="1" dirty="0">
                <a:solidFill>
                  <a:srgbClr val="E4572E"/>
                </a:solidFill>
                <a:latin typeface="Calibri" pitchFamily="34" charset="0"/>
                <a:ea typeface="Calibri" pitchFamily="34" charset="-122"/>
                <a:cs typeface="Calibri" pitchFamily="34" charset="-120"/>
              </a:rPr>
              <a:t>BLAT: one assembly at a time, blind to the graph</a:t>
            </a:r>
            <a:endParaRPr lang="en-US" sz="24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Story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 gene you know, on a genome you don't</a:t>
            </a:r>
            <a:endParaRPr lang="en-US" sz="2200" dirty="0"/>
          </a:p>
        </p:txBody>
      </p:sp>
      <p:sp>
        <p:nvSpPr>
          <p:cNvPr id="17" name="Text 13"/>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900" dirty="0">
                <a:solidFill>
                  <a:srgbClr val="18293B"/>
                </a:solidFill>
                <a:latin typeface="Calibri" pitchFamily="34" charset="0"/>
                <a:ea typeface="Calibri" pitchFamily="34" charset="-122"/>
                <a:cs typeface="Calibri" pitchFamily="34" charset="-120"/>
              </a:rPr>
              <a:t>The same researcher is curating a gene on GRCh38, ClinVar and GWAS open, and wants to see it on one HPRC individual.</a:t>
            </a:r>
            <a:endParaRPr lang="en-US" sz="19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400" b="1" dirty="0">
                <a:solidFill>
                  <a:srgbClr val="E4572E"/>
                </a:solidFill>
                <a:latin typeface="Calibri" pitchFamily="34" charset="0"/>
                <a:ea typeface="Calibri" pitchFamily="34" charset="-122"/>
                <a:cs typeface="Calibri" pitchFamily="34" charset="-120"/>
              </a:rPr>
              <a:t>QuickLift: only where a chain already exists</a:t>
            </a:r>
            <a:endParaRPr lang="en-US" sz="24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By the end of this talk: both, in the browser, in seconds.</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One service, two engines, three pages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325880"/>
            <a:ext cx="7223760" cy="1234440"/>
          </a:xfrm>
          <a:prstGeom prst="roundRect">
            <a:avLst>
              <a:gd name="adj" fmla="val 8889"/>
            </a:avLst>
          </a:prstGeom>
          <a:solidFill>
            <a:srgbClr val="EDF1F6"/>
          </a:solidFill>
          <a:ln w="12700">
            <a:solidFill>
              <a:srgbClr val="DCE3EB"/>
            </a:solidFill>
            <a:prstDash val="solid"/>
          </a:ln>
        </p:spPr>
      </p:sp>
      <p:sp>
        <p:nvSpPr>
          <p:cNvPr id="5" name="Text 3"/>
          <p:cNvSpPr txBox="1"/>
          <p:nvPr/>
        </p:nvSpPr>
        <p:spPr>
          <a:xfrm>
            <a:off x="822960" y="1435608"/>
            <a:ext cx="45720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UCSC Genome Browser</a:t>
            </a:r>
            <a:endParaRPr lang="en-US" sz="1800" dirty="0"/>
          </a:p>
        </p:txBody>
      </p:sp>
      <p:sp>
        <p:nvSpPr>
          <p:cNvPr id="6" name="Shape 4"/>
          <p:cNvSpPr/>
          <p:nvPr/>
        </p:nvSpPr>
        <p:spPr>
          <a:xfrm>
            <a:off x="822960" y="1892808"/>
            <a:ext cx="2103120" cy="502920"/>
          </a:xfrm>
          <a:prstGeom prst="roundRect">
            <a:avLst>
              <a:gd name="adj" fmla="val 14545"/>
            </a:avLst>
          </a:prstGeom>
          <a:solidFill>
            <a:srgbClr val="FFFFFF"/>
          </a:solidFill>
          <a:ln w="12700">
            <a:solidFill>
              <a:srgbClr val="DCE3EB"/>
            </a:solidFill>
            <a:prstDash val="solid"/>
          </a:ln>
        </p:spPr>
      </p:sp>
      <p:sp>
        <p:nvSpPr>
          <p:cNvPr id="7" name="Text 5"/>
          <p:cNvSpPr txBox="1"/>
          <p:nvPr/>
        </p:nvSpPr>
        <p:spPr>
          <a:xfrm>
            <a:off x="822960" y="1892808"/>
            <a:ext cx="2103120" cy="502920"/>
          </a:xfrm>
          <a:prstGeom prst="rect">
            <a:avLst/>
          </a:prstGeom>
          <a:noFill/>
          <a:ln/>
        </p:spPr>
        <p:txBody>
          <a:bodyPr wrap="square" lIns="0" tIns="0" rIns="0" bIns="0" rtlCol="0" anchor="ctr"/>
          <a:lstStyle/>
          <a:p>
            <a:pPr algn="ctr" indent="0" marL="0">
              <a:buNone/>
            </a:pPr>
            <a:r>
              <a:rPr lang="en-US" sz="1600" dirty="0">
                <a:solidFill>
                  <a:srgbClr val="18293B"/>
                </a:solidFill>
                <a:latin typeface="Calibri" pitchFamily="34" charset="0"/>
                <a:ea typeface="Calibri" pitchFamily="34" charset="-122"/>
                <a:cs typeface="Calibri" pitchFamily="34" charset="-120"/>
              </a:rPr>
              <a:t>Pangenome Mapping</a:t>
            </a:r>
            <a:endParaRPr lang="en-US" sz="1600" dirty="0"/>
          </a:p>
        </p:txBody>
      </p:sp>
      <p:sp>
        <p:nvSpPr>
          <p:cNvPr id="8" name="Shape 6"/>
          <p:cNvSpPr/>
          <p:nvPr/>
        </p:nvSpPr>
        <p:spPr>
          <a:xfrm>
            <a:off x="3063240" y="1892808"/>
            <a:ext cx="2103120" cy="502920"/>
          </a:xfrm>
          <a:prstGeom prst="roundRect">
            <a:avLst>
              <a:gd name="adj" fmla="val 14545"/>
            </a:avLst>
          </a:prstGeom>
          <a:solidFill>
            <a:srgbClr val="FFFFFF"/>
          </a:solidFill>
          <a:ln w="12700">
            <a:solidFill>
              <a:srgbClr val="DCE3EB"/>
            </a:solidFill>
            <a:prstDash val="solid"/>
          </a:ln>
        </p:spPr>
      </p:sp>
      <p:sp>
        <p:nvSpPr>
          <p:cNvPr id="9" name="Text 7"/>
          <p:cNvSpPr txBox="1"/>
          <p:nvPr/>
        </p:nvSpPr>
        <p:spPr>
          <a:xfrm>
            <a:off x="3063240" y="1892808"/>
            <a:ext cx="2103120" cy="502920"/>
          </a:xfrm>
          <a:prstGeom prst="rect">
            <a:avLst/>
          </a:prstGeom>
          <a:noFill/>
          <a:ln/>
        </p:spPr>
        <p:txBody>
          <a:bodyPr wrap="square" lIns="0" tIns="0" rIns="0" bIns="0" rtlCol="0" anchor="ctr"/>
          <a:lstStyle/>
          <a:p>
            <a:pPr algn="ctr" indent="0" marL="0">
              <a:buNone/>
            </a:pPr>
            <a:r>
              <a:rPr lang="en-US" sz="1600" dirty="0">
                <a:solidFill>
                  <a:srgbClr val="18293B"/>
                </a:solidFill>
                <a:latin typeface="Calibri" pitchFamily="34" charset="0"/>
                <a:ea typeface="Calibri" pitchFamily="34" charset="-122"/>
                <a:cs typeface="Calibri" pitchFamily="34" charset="-120"/>
              </a:rPr>
              <a:t>Convert Coordinates</a:t>
            </a:r>
            <a:endParaRPr lang="en-US" sz="1600" dirty="0"/>
          </a:p>
        </p:txBody>
      </p:sp>
      <p:sp>
        <p:nvSpPr>
          <p:cNvPr id="10" name="Shape 8"/>
          <p:cNvSpPr/>
          <p:nvPr/>
        </p:nvSpPr>
        <p:spPr>
          <a:xfrm>
            <a:off x="5303520" y="1892808"/>
            <a:ext cx="2103120" cy="502920"/>
          </a:xfrm>
          <a:prstGeom prst="roundRect">
            <a:avLst>
              <a:gd name="adj" fmla="val 14545"/>
            </a:avLst>
          </a:prstGeom>
          <a:solidFill>
            <a:srgbClr val="FFFFFF"/>
          </a:solidFill>
          <a:ln w="12700">
            <a:solidFill>
              <a:srgbClr val="DCE3EB"/>
            </a:solidFill>
            <a:prstDash val="solid"/>
          </a:ln>
        </p:spPr>
      </p:sp>
      <p:sp>
        <p:nvSpPr>
          <p:cNvPr id="11" name="Text 9"/>
          <p:cNvSpPr txBox="1"/>
          <p:nvPr/>
        </p:nvSpPr>
        <p:spPr>
          <a:xfrm>
            <a:off x="5303520" y="1892808"/>
            <a:ext cx="2103120" cy="502920"/>
          </a:xfrm>
          <a:prstGeom prst="rect">
            <a:avLst/>
          </a:prstGeom>
          <a:noFill/>
          <a:ln/>
        </p:spPr>
        <p:txBody>
          <a:bodyPr wrap="square" lIns="0" tIns="0" rIns="0" bIns="0" rtlCol="0" anchor="ctr"/>
          <a:lstStyle/>
          <a:p>
            <a:pPr algn="ctr" indent="0" marL="0">
              <a:buNone/>
            </a:pPr>
            <a:r>
              <a:rPr lang="en-US" sz="1600" dirty="0">
                <a:solidFill>
                  <a:srgbClr val="18293B"/>
                </a:solidFill>
                <a:latin typeface="Calibri" pitchFamily="34" charset="0"/>
                <a:ea typeface="Calibri" pitchFamily="34" charset="-122"/>
                <a:cs typeface="Calibri" pitchFamily="34" charset="-120"/>
              </a:rPr>
              <a:t>hgConvert</a:t>
            </a:r>
            <a:endParaRPr lang="en-US" sz="1600" dirty="0"/>
          </a:p>
        </p:txBody>
      </p:sp>
      <p:sp>
        <p:nvSpPr>
          <p:cNvPr id="12" name="Shape 10"/>
          <p:cNvSpPr/>
          <p:nvPr/>
        </p:nvSpPr>
        <p:spPr>
          <a:xfrm>
            <a:off x="4160520" y="2560320"/>
            <a:ext cx="0" cy="457200"/>
          </a:xfrm>
          <a:prstGeom prst="line">
            <a:avLst/>
          </a:prstGeom>
          <a:noFill/>
          <a:ln w="25400">
            <a:solidFill>
              <a:srgbClr val="003C6C"/>
            </a:solidFill>
            <a:prstDash val="solid"/>
            <a:tailEnd type="triangle"/>
          </a:ln>
        </p:spPr>
      </p:sp>
      <p:sp>
        <p:nvSpPr>
          <p:cNvPr id="13" name="Text 11"/>
          <p:cNvSpPr txBox="1"/>
          <p:nvPr/>
        </p:nvSpPr>
        <p:spPr>
          <a:xfrm>
            <a:off x="4297680" y="2624328"/>
            <a:ext cx="2743200" cy="36576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JSON over HTTP</a:t>
            </a:r>
            <a:endParaRPr lang="en-US" sz="1600" dirty="0"/>
          </a:p>
        </p:txBody>
      </p:sp>
      <p:sp>
        <p:nvSpPr>
          <p:cNvPr id="14" name="Shape 12"/>
          <p:cNvSpPr/>
          <p:nvPr/>
        </p:nvSpPr>
        <p:spPr>
          <a:xfrm>
            <a:off x="548640" y="3017520"/>
            <a:ext cx="7223760" cy="685800"/>
          </a:xfrm>
          <a:prstGeom prst="roundRect">
            <a:avLst>
              <a:gd name="adj" fmla="val 16000"/>
            </a:avLst>
          </a:prstGeom>
          <a:solidFill>
            <a:srgbClr val="EDF1F6"/>
          </a:solidFill>
          <a:ln w="12700">
            <a:solidFill>
              <a:srgbClr val="DCE3EB"/>
            </a:solidFill>
            <a:prstDash val="solid"/>
          </a:ln>
        </p:spPr>
      </p:sp>
      <p:sp>
        <p:nvSpPr>
          <p:cNvPr id="15" name="Text 13"/>
          <p:cNvSpPr txBox="1"/>
          <p:nvPr/>
        </p:nvSpPr>
        <p:spPr>
          <a:xfrm>
            <a:off x="548640" y="3017520"/>
            <a:ext cx="7223760" cy="685800"/>
          </a:xfrm>
          <a:prstGeom prst="rect">
            <a:avLst/>
          </a:prstGeom>
          <a:noFill/>
          <a:ln/>
        </p:spPr>
        <p:txBody>
          <a:bodyPr wrap="square" lIns="0" tIns="0" rIns="0" bIns="0" rtlCol="0" anchor="ctr"/>
          <a:lstStyle/>
          <a:p>
            <a:pPr algn="ctr" indent="0" marL="0">
              <a:buNone/>
            </a:pPr>
            <a:r>
              <a:rPr lang="en-US" sz="1800" b="1" dirty="0">
                <a:solidFill>
                  <a:srgbClr val="003C6C"/>
                </a:solidFill>
                <a:latin typeface="Calibri" pitchFamily="34" charset="0"/>
                <a:ea typeface="Calibri" pitchFamily="34" charset="-122"/>
                <a:cs typeface="Calibri" pitchFamily="34" charset="-120"/>
              </a:rPr>
              <a:t>pangenome service</a:t>
            </a:r>
            <a:endParaRPr lang="en-US" sz="1800" dirty="0"/>
          </a:p>
        </p:txBody>
      </p:sp>
      <p:sp>
        <p:nvSpPr>
          <p:cNvPr id="16" name="Shape 14"/>
          <p:cNvSpPr/>
          <p:nvPr/>
        </p:nvSpPr>
        <p:spPr>
          <a:xfrm>
            <a:off x="2331720" y="3703320"/>
            <a:ext cx="0" cy="411480"/>
          </a:xfrm>
          <a:prstGeom prst="line">
            <a:avLst/>
          </a:prstGeom>
          <a:noFill/>
          <a:ln w="25400">
            <a:solidFill>
              <a:srgbClr val="003C6C"/>
            </a:solidFill>
            <a:prstDash val="solid"/>
            <a:tailEnd type="triangle"/>
          </a:ln>
        </p:spPr>
      </p:sp>
      <p:sp>
        <p:nvSpPr>
          <p:cNvPr id="17" name="Shape 15"/>
          <p:cNvSpPr/>
          <p:nvPr/>
        </p:nvSpPr>
        <p:spPr>
          <a:xfrm>
            <a:off x="5989320" y="3703320"/>
            <a:ext cx="0" cy="411480"/>
          </a:xfrm>
          <a:prstGeom prst="line">
            <a:avLst/>
          </a:prstGeom>
          <a:noFill/>
          <a:ln w="25400">
            <a:solidFill>
              <a:srgbClr val="003C6C"/>
            </a:solidFill>
            <a:prstDash val="solid"/>
            <a:tailEnd type="triangle"/>
          </a:ln>
        </p:spPr>
      </p:sp>
      <p:sp>
        <p:nvSpPr>
          <p:cNvPr id="18" name="Shape 16"/>
          <p:cNvSpPr/>
          <p:nvPr/>
        </p:nvSpPr>
        <p:spPr>
          <a:xfrm>
            <a:off x="548640" y="4114800"/>
            <a:ext cx="3474720" cy="1097280"/>
          </a:xfrm>
          <a:prstGeom prst="roundRect">
            <a:avLst>
              <a:gd name="adj" fmla="val 10000"/>
            </a:avLst>
          </a:prstGeom>
          <a:solidFill>
            <a:srgbClr val="EDF1F6"/>
          </a:solidFill>
          <a:ln w="12700">
            <a:solidFill>
              <a:srgbClr val="DCE3EB"/>
            </a:solidFill>
            <a:prstDash val="solid"/>
          </a:ln>
        </p:spPr>
      </p:sp>
      <p:sp>
        <p:nvSpPr>
          <p:cNvPr id="19" name="Shape 17"/>
          <p:cNvSpPr/>
          <p:nvPr/>
        </p:nvSpPr>
        <p:spPr>
          <a:xfrm>
            <a:off x="4297680" y="4114800"/>
            <a:ext cx="3474720" cy="1097280"/>
          </a:xfrm>
          <a:prstGeom prst="roundRect">
            <a:avLst>
              <a:gd name="adj" fmla="val 10000"/>
            </a:avLst>
          </a:prstGeom>
          <a:solidFill>
            <a:srgbClr val="EDF1F6"/>
          </a:solidFill>
          <a:ln w="12700">
            <a:solidFill>
              <a:srgbClr val="DCE3EB"/>
            </a:solidFill>
            <a:prstDash val="solid"/>
          </a:ln>
        </p:spPr>
      </p:sp>
      <p:sp>
        <p:nvSpPr>
          <p:cNvPr id="20" name="Text 18"/>
          <p:cNvSpPr txBox="1"/>
          <p:nvPr/>
        </p:nvSpPr>
        <p:spPr>
          <a:xfrm>
            <a:off x="822960" y="4206240"/>
            <a:ext cx="301752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vg giraffe</a:t>
            </a:r>
            <a:endParaRPr lang="en-US" sz="1800" dirty="0"/>
          </a:p>
        </p:txBody>
      </p:sp>
      <p:sp>
        <p:nvSpPr>
          <p:cNvPr id="21" name="Text 19"/>
          <p:cNvSpPr txBox="1"/>
          <p:nvPr/>
        </p:nvSpPr>
        <p:spPr>
          <a:xfrm>
            <a:off x="822960" y="4590288"/>
            <a:ext cx="3017520" cy="5486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maps a sequence to the whole graph</a:t>
            </a:r>
            <a:endParaRPr lang="en-US" sz="1600" dirty="0"/>
          </a:p>
        </p:txBody>
      </p:sp>
      <p:sp>
        <p:nvSpPr>
          <p:cNvPr id="22" name="Text 20"/>
          <p:cNvSpPr txBox="1"/>
          <p:nvPr/>
        </p:nvSpPr>
        <p:spPr>
          <a:xfrm>
            <a:off x="4572000" y="4206240"/>
            <a:ext cx="301752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pangenome-index</a:t>
            </a:r>
            <a:endParaRPr lang="en-US" sz="1800" dirty="0"/>
          </a:p>
        </p:txBody>
      </p:sp>
      <p:sp>
        <p:nvSpPr>
          <p:cNvPr id="23" name="Text 21"/>
          <p:cNvSpPr txBox="1"/>
          <p:nvPr/>
        </p:nvSpPr>
        <p:spPr>
          <a:xfrm>
            <a:off x="4572000" y="4590288"/>
            <a:ext cx="3017520" cy="5486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tag arrays: any-to-any translation</a:t>
            </a:r>
            <a:endParaRPr lang="en-US" sz="1600" dirty="0"/>
          </a:p>
        </p:txBody>
      </p:sp>
      <p:sp>
        <p:nvSpPr>
          <p:cNvPr id="24" name="Shape 22"/>
          <p:cNvSpPr/>
          <p:nvPr/>
        </p:nvSpPr>
        <p:spPr>
          <a:xfrm>
            <a:off x="548640" y="5486400"/>
            <a:ext cx="7223760" cy="731520"/>
          </a:xfrm>
          <a:prstGeom prst="roundRect">
            <a:avLst>
              <a:gd name="adj" fmla="val 15000"/>
            </a:avLst>
          </a:prstGeom>
          <a:solidFill>
            <a:srgbClr val="003C6C"/>
          </a:solidFill>
          <a:ln w="12700">
            <a:solidFill>
              <a:srgbClr val="003C6C"/>
            </a:solidFill>
            <a:prstDash val="solid"/>
          </a:ln>
        </p:spPr>
      </p:sp>
      <p:sp>
        <p:nvSpPr>
          <p:cNvPr id="25" name="Text 23"/>
          <p:cNvSpPr txBox="1"/>
          <p:nvPr/>
        </p:nvSpPr>
        <p:spPr>
          <a:xfrm>
            <a:off x="548640" y="5486400"/>
            <a:ext cx="7223760" cy="73152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HPRC v2.0 Minigraph-Cactus graph  •  464 haplotypes, CHM13 and GRCh38 included  •  148M nodes</a:t>
            </a:r>
            <a:endParaRPr lang="en-US" sz="1600" dirty="0"/>
          </a:p>
        </p:txBody>
      </p:sp>
      <p:sp>
        <p:nvSpPr>
          <p:cNvPr id="26" name="Shape 24"/>
          <p:cNvSpPr/>
          <p:nvPr/>
        </p:nvSpPr>
        <p:spPr>
          <a:xfrm>
            <a:off x="8321040" y="1508760"/>
            <a:ext cx="777240" cy="777240"/>
          </a:xfrm>
          <a:prstGeom prst="ellipse">
            <a:avLst/>
          </a:prstGeom>
          <a:solidFill>
            <a:srgbClr val="003C6C"/>
          </a:solidFill>
          <a:ln w="12700">
            <a:solidFill>
              <a:srgbClr val="003C6C"/>
            </a:solidFill>
            <a:prstDash val="solid"/>
          </a:ln>
        </p:spPr>
      </p:sp>
      <p:pic>
        <p:nvPicPr>
          <p:cNvPr id="27" name="Image 0" descr="preencoded.png">    </p:cNvPr>
          <p:cNvPicPr>
            <a:picLocks noChangeAspect="1"/>
          </p:cNvPicPr>
          <p:nvPr/>
        </p:nvPicPr>
        <p:blipFill>
          <a:blip r:embed="rId1"/>
          <a:stretch>
            <a:fillRect/>
          </a:stretch>
        </p:blipFill>
        <p:spPr>
          <a:xfrm>
            <a:off x="8523122" y="1710842"/>
            <a:ext cx="373075" cy="373075"/>
          </a:xfrm>
          <a:prstGeom prst="rect">
            <a:avLst/>
          </a:prstGeom>
        </p:spPr>
      </p:pic>
      <p:sp>
        <p:nvSpPr>
          <p:cNvPr id="28" name="Text 25"/>
          <p:cNvSpPr txBox="1"/>
          <p:nvPr/>
        </p:nvSpPr>
        <p:spPr>
          <a:xfrm>
            <a:off x="9326880" y="1508760"/>
            <a:ext cx="2316175" cy="777240"/>
          </a:xfrm>
          <a:prstGeom prst="rect">
            <a:avLst/>
          </a:prstGeom>
          <a:noFill/>
          <a:ln/>
        </p:spPr>
        <p:txBody>
          <a:bodyPr wrap="square" lIns="0" tIns="0" rIns="0" bIns="0" rtlCol="0" anchor="ctr"/>
          <a:lstStyle/>
          <a:p>
            <a:pPr indent="0" marL="0">
              <a:buNone/>
            </a:pPr>
            <a:r>
              <a:rPr lang="en-US" sz="2200" b="1" dirty="0">
                <a:solidFill>
                  <a:srgbClr val="003C6C"/>
                </a:solidFill>
                <a:latin typeface="Calibri" pitchFamily="34" charset="0"/>
                <a:ea typeface="Calibri" pitchFamily="34" charset="-122"/>
                <a:cs typeface="Calibri" pitchFamily="34" charset="-120"/>
              </a:rPr>
              <a:t>Search</a:t>
            </a:r>
            <a:endParaRPr lang="en-US" sz="2200" dirty="0"/>
          </a:p>
        </p:txBody>
      </p:sp>
      <p:sp>
        <p:nvSpPr>
          <p:cNvPr id="29" name="Shape 26"/>
          <p:cNvSpPr/>
          <p:nvPr/>
        </p:nvSpPr>
        <p:spPr>
          <a:xfrm>
            <a:off x="8321040" y="2926080"/>
            <a:ext cx="777240" cy="777240"/>
          </a:xfrm>
          <a:prstGeom prst="ellipse">
            <a:avLst/>
          </a:prstGeom>
          <a:solidFill>
            <a:srgbClr val="003C6C"/>
          </a:solidFill>
          <a:ln w="12700">
            <a:solidFill>
              <a:srgbClr val="003C6C"/>
            </a:solidFill>
            <a:prstDash val="solid"/>
          </a:ln>
        </p:spPr>
      </p:sp>
      <p:pic>
        <p:nvPicPr>
          <p:cNvPr id="30" name="Image 1" descr="preencoded.png">    </p:cNvPr>
          <p:cNvPicPr>
            <a:picLocks noChangeAspect="1"/>
          </p:cNvPicPr>
          <p:nvPr/>
        </p:nvPicPr>
        <p:blipFill>
          <a:blip r:embed="rId2"/>
          <a:stretch>
            <a:fillRect/>
          </a:stretch>
        </p:blipFill>
        <p:spPr>
          <a:xfrm>
            <a:off x="8523122" y="3128162"/>
            <a:ext cx="373075" cy="373075"/>
          </a:xfrm>
          <a:prstGeom prst="rect">
            <a:avLst/>
          </a:prstGeom>
        </p:spPr>
      </p:pic>
      <p:sp>
        <p:nvSpPr>
          <p:cNvPr id="31" name="Text 27"/>
          <p:cNvSpPr txBox="1"/>
          <p:nvPr/>
        </p:nvSpPr>
        <p:spPr>
          <a:xfrm>
            <a:off x="9326880" y="2926080"/>
            <a:ext cx="2316175" cy="777240"/>
          </a:xfrm>
          <a:prstGeom prst="rect">
            <a:avLst/>
          </a:prstGeom>
          <a:noFill/>
          <a:ln/>
        </p:spPr>
        <p:txBody>
          <a:bodyPr wrap="square" lIns="0" tIns="0" rIns="0" bIns="0" rtlCol="0" anchor="ctr"/>
          <a:lstStyle/>
          <a:p>
            <a:pPr indent="0" marL="0">
              <a:buNone/>
            </a:pPr>
            <a:r>
              <a:rPr lang="en-US" sz="2200" b="1" dirty="0">
                <a:solidFill>
                  <a:srgbClr val="003C6C"/>
                </a:solidFill>
                <a:latin typeface="Calibri" pitchFamily="34" charset="0"/>
                <a:ea typeface="Calibri" pitchFamily="34" charset="-122"/>
                <a:cs typeface="Calibri" pitchFamily="34" charset="-120"/>
              </a:rPr>
              <a:t>Translate</a:t>
            </a:r>
            <a:endParaRPr lang="en-US" sz="2200" dirty="0"/>
          </a:p>
        </p:txBody>
      </p:sp>
      <p:sp>
        <p:nvSpPr>
          <p:cNvPr id="32" name="Shape 28"/>
          <p:cNvSpPr/>
          <p:nvPr/>
        </p:nvSpPr>
        <p:spPr>
          <a:xfrm>
            <a:off x="8321040" y="4343400"/>
            <a:ext cx="777240" cy="777240"/>
          </a:xfrm>
          <a:prstGeom prst="ellipse">
            <a:avLst/>
          </a:prstGeom>
          <a:solidFill>
            <a:srgbClr val="003C6C"/>
          </a:solidFill>
          <a:ln w="12700">
            <a:solidFill>
              <a:srgbClr val="003C6C"/>
            </a:solidFill>
            <a:prstDash val="solid"/>
          </a:ln>
        </p:spPr>
      </p:sp>
      <p:pic>
        <p:nvPicPr>
          <p:cNvPr id="33" name="Image 2" descr="preencoded.png">    </p:cNvPr>
          <p:cNvPicPr>
            <a:picLocks noChangeAspect="1"/>
          </p:cNvPicPr>
          <p:nvPr/>
        </p:nvPicPr>
        <p:blipFill>
          <a:blip r:embed="rId3"/>
          <a:stretch>
            <a:fillRect/>
          </a:stretch>
        </p:blipFill>
        <p:spPr>
          <a:xfrm>
            <a:off x="8523122" y="4545482"/>
            <a:ext cx="373075" cy="373075"/>
          </a:xfrm>
          <a:prstGeom prst="rect">
            <a:avLst/>
          </a:prstGeom>
        </p:spPr>
      </p:pic>
      <p:sp>
        <p:nvSpPr>
          <p:cNvPr id="34" name="Text 29"/>
          <p:cNvSpPr txBox="1"/>
          <p:nvPr/>
        </p:nvSpPr>
        <p:spPr>
          <a:xfrm>
            <a:off x="9326880" y="4343400"/>
            <a:ext cx="2316175" cy="777240"/>
          </a:xfrm>
          <a:prstGeom prst="rect">
            <a:avLst/>
          </a:prstGeom>
          <a:noFill/>
          <a:ln/>
        </p:spPr>
        <p:txBody>
          <a:bodyPr wrap="square" lIns="0" tIns="0" rIns="0" bIns="0" rtlCol="0" anchor="ctr"/>
          <a:lstStyle/>
          <a:p>
            <a:pPr indent="0" marL="0">
              <a:buNone/>
            </a:pPr>
            <a:r>
              <a:rPr lang="en-US" sz="2200" b="1" dirty="0">
                <a:solidFill>
                  <a:srgbClr val="003C6C"/>
                </a:solidFill>
                <a:latin typeface="Calibri" pitchFamily="34" charset="0"/>
                <a:ea typeface="Calibri" pitchFamily="34" charset="-122"/>
                <a:cs typeface="Calibri" pitchFamily="34" charset="-120"/>
              </a:rPr>
              <a:t>Lift annotations</a:t>
            </a:r>
            <a:endParaRPr lang="en-US" sz="2200" dirty="0"/>
          </a:p>
        </p:txBody>
      </p:sp>
      <p:sp>
        <p:nvSpPr>
          <p:cNvPr id="35" name="Text 30"/>
          <p:cNvSpPr txBox="1"/>
          <p:nvPr/>
        </p:nvSpPr>
        <p:spPr>
          <a:xfrm>
            <a:off x="8321040" y="5760720"/>
            <a:ext cx="3322015" cy="457200"/>
          </a:xfrm>
          <a:prstGeom prst="rect">
            <a:avLst/>
          </a:prstGeom>
          <a:noFill/>
          <a:ln/>
        </p:spPr>
        <p:txBody>
          <a:bodyPr wrap="square" lIns="0" tIns="0" rIns="0" bIns="0" rtlCol="0" anchor="t"/>
          <a:lstStyle/>
          <a:p>
            <a:pPr indent="0" marL="0">
              <a:buNone/>
            </a:pPr>
            <a:r>
              <a:rPr lang="en-US" sz="1600" i="1" dirty="0">
                <a:solidFill>
                  <a:srgbClr val="5B6B7C"/>
                </a:solidFill>
                <a:latin typeface="Calibri" pitchFamily="34" charset="0"/>
                <a:ea typeface="Calibri" pitchFamily="34" charset="-122"/>
                <a:cs typeface="Calibri" pitchFamily="34" charset="-120"/>
              </a:rPr>
              <a:t>Core browser changes: 3 files, 15 lines.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Every base knows every haplotype that carries it</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pic>
        <p:nvPicPr>
          <p:cNvPr id="4" name="Image 0" descr="/Users/seeskand/Documents/HPRC/2026/hprc_2026_poster/talk/figures/tagarray.png">    </p:cNvPr>
          <p:cNvPicPr>
            <a:picLocks noChangeAspect="1"/>
          </p:cNvPicPr>
          <p:nvPr/>
        </p:nvPicPr>
        <p:blipFill>
          <a:blip r:embed="rId1"/>
          <a:stretch>
            <a:fillRect/>
          </a:stretch>
        </p:blipFill>
        <p:spPr>
          <a:xfrm>
            <a:off x="548640" y="1554480"/>
            <a:ext cx="7772400" cy="4090115"/>
          </a:xfrm>
          <a:prstGeom prst="rect">
            <a:avLst/>
          </a:prstGeom>
        </p:spPr>
      </p:pic>
      <p:sp>
        <p:nvSpPr>
          <p:cNvPr id="5" name="Text 2"/>
          <p:cNvSpPr txBox="1"/>
          <p:nvPr/>
        </p:nvSpPr>
        <p:spPr>
          <a:xfrm>
            <a:off x="8732520" y="1508760"/>
            <a:ext cx="29105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r-index</a:t>
            </a:r>
            <a:endParaRPr lang="en-US" sz="1800" dirty="0"/>
          </a:p>
        </p:txBody>
      </p:sp>
      <p:sp>
        <p:nvSpPr>
          <p:cNvPr id="6" name="Text 3"/>
          <p:cNvSpPr txBox="1"/>
          <p:nvPr/>
        </p:nvSpPr>
        <p:spPr>
          <a:xfrm>
            <a:off x="8732520" y="1892808"/>
            <a:ext cx="2910535" cy="91440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where does this string occur, across all 464 haplotypes?</a:t>
            </a:r>
            <a:endParaRPr lang="en-US" sz="1600" dirty="0"/>
          </a:p>
        </p:txBody>
      </p:sp>
      <p:sp>
        <p:nvSpPr>
          <p:cNvPr id="7" name="Text 4"/>
          <p:cNvSpPr txBox="1"/>
          <p:nvPr/>
        </p:nvSpPr>
        <p:spPr>
          <a:xfrm>
            <a:off x="8732520" y="2834640"/>
            <a:ext cx="29105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tag arrays</a:t>
            </a:r>
            <a:endParaRPr lang="en-US" sz="1800" dirty="0"/>
          </a:p>
        </p:txBody>
      </p:sp>
      <p:sp>
        <p:nvSpPr>
          <p:cNvPr id="8" name="Text 5"/>
          <p:cNvSpPr txBox="1"/>
          <p:nvPr/>
        </p:nvSpPr>
        <p:spPr>
          <a:xfrm>
            <a:off x="8732520" y="3218688"/>
            <a:ext cx="2910535" cy="91440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which graph node is that occurrence on? One tag per BWT run, so it fits in memory.</a:t>
            </a:r>
            <a:endParaRPr lang="en-US" sz="1600" dirty="0"/>
          </a:p>
        </p:txBody>
      </p:sp>
      <p:sp>
        <p:nvSpPr>
          <p:cNvPr id="9" name="Text 6"/>
          <p:cNvSpPr txBox="1"/>
          <p:nvPr/>
        </p:nvSpPr>
        <p:spPr>
          <a:xfrm>
            <a:off x="8732520" y="4160520"/>
            <a:ext cx="29105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GBWT / FastLocate</a:t>
            </a:r>
            <a:endParaRPr lang="en-US" sz="1800" dirty="0"/>
          </a:p>
        </p:txBody>
      </p:sp>
      <p:sp>
        <p:nvSpPr>
          <p:cNvPr id="10" name="Text 7"/>
          <p:cNvSpPr txBox="1"/>
          <p:nvPr/>
        </p:nvSpPr>
        <p:spPr>
          <a:xfrm>
            <a:off x="8732520" y="4544568"/>
            <a:ext cx="2910535" cy="91440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who else stands on this node, and at what offset?</a:t>
            </a:r>
            <a:endParaRPr lang="en-US" sz="1600" dirty="0"/>
          </a:p>
        </p:txBody>
      </p:sp>
      <p:sp>
        <p:nvSpPr>
          <p:cNvPr id="11" name="Shape 8"/>
          <p:cNvSpPr/>
          <p:nvPr/>
        </p:nvSpPr>
        <p:spPr>
          <a:xfrm>
            <a:off x="8732520" y="5532120"/>
            <a:ext cx="2910535" cy="640080"/>
          </a:xfrm>
          <a:prstGeom prst="roundRect">
            <a:avLst>
              <a:gd name="adj" fmla="val 17143"/>
            </a:avLst>
          </a:prstGeom>
          <a:solidFill>
            <a:srgbClr val="EDF1F6"/>
          </a:solidFill>
          <a:ln w="12700">
            <a:solidFill>
              <a:srgbClr val="DCE3EB"/>
            </a:solidFill>
            <a:prstDash val="solid"/>
          </a:ln>
        </p:spPr>
      </p:sp>
      <p:sp>
        <p:nvSpPr>
          <p:cNvPr id="12" name="Text 9"/>
          <p:cNvSpPr txBox="1"/>
          <p:nvPr/>
        </p:nvSpPr>
        <p:spPr>
          <a:xfrm>
            <a:off x="8732520" y="5532120"/>
            <a:ext cx="2910535" cy="640080"/>
          </a:xfrm>
          <a:prstGeom prst="rect">
            <a:avLst/>
          </a:prstGeom>
          <a:noFill/>
          <a:ln/>
        </p:spPr>
        <p:txBody>
          <a:bodyPr wrap="square" lIns="0" tIns="0" rIns="0" bIns="0" rtlCol="0" anchor="ctr"/>
          <a:lstStyle/>
          <a:p>
            <a:pPr algn="ctr" indent="0" marL="0">
              <a:buNone/>
            </a:pPr>
            <a:r>
              <a:rPr lang="en-US" sz="1700" b="1" dirty="0">
                <a:solidFill>
                  <a:srgbClr val="003C6C"/>
                </a:solidFill>
                <a:latin typeface="Calibri" pitchFamily="34" charset="0"/>
                <a:ea typeface="Calibri" pitchFamily="34" charset="-122"/>
                <a:cs typeface="Calibri" pitchFamily="34" charset="-120"/>
              </a:rPr>
              <a:t>No pairwise index anywhere.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pic>
        <p:nvPicPr>
          <p:cNvPr id="4" name="Image 0" descr="/Users/seeskand/Documents/HPRC/2026/hprc_2026_poster/talk/figures/translation.png">    </p:cNvPr>
          <p:cNvPicPr>
            <a:picLocks noChangeAspect="1"/>
          </p:cNvPicPr>
          <p:nvPr/>
        </p:nvPicPr>
        <p:blipFill>
          <a:blip r:embed="rId1"/>
          <a:stretch>
            <a:fillRect/>
          </a:stretch>
        </p:blipFill>
        <p:spPr>
          <a:xfrm>
            <a:off x="548640" y="1417320"/>
            <a:ext cx="6949440" cy="4428944"/>
          </a:xfrm>
          <a:prstGeom prst="rect">
            <a:avLst/>
          </a:prstGeom>
        </p:spPr>
      </p:pic>
      <p:sp>
        <p:nvSpPr>
          <p:cNvPr id="5" name="Shape 2"/>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6" name="Text 3"/>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Find the query's nodes on the source path.</a:t>
            </a:r>
            <a:endParaRPr lang="en-US" sz="1700" dirty="0"/>
          </a:p>
        </p:txBody>
      </p:sp>
      <p:sp>
        <p:nvSpPr>
          <p:cNvPr id="8" name="Shape 5"/>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9" name="Text 6"/>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Ask the tag arrays who else is here.</a:t>
            </a:r>
            <a:endParaRPr lang="en-US" sz="1700" dirty="0"/>
          </a:p>
        </p:txBody>
      </p:sp>
      <p:sp>
        <p:nvSpPr>
          <p:cNvPr id="11" name="Shape 8"/>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4" name="Shape 11"/>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7"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Story 1: paste the insertion, see who carries it</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1</a:t>
            </a:r>
            <a:endParaRPr lang="en-US" sz="1600" dirty="0"/>
          </a:p>
        </p:txBody>
      </p:sp>
      <p:sp>
        <p:nvSpPr>
          <p:cNvPr id="5" name="Shape 3"/>
          <p:cNvSpPr/>
          <p:nvPr/>
        </p:nvSpPr>
        <p:spPr>
          <a:xfrm>
            <a:off x="548640" y="1325880"/>
            <a:ext cx="11094415" cy="3984021"/>
          </a:xfrm>
          <a:prstGeom prst="roundRect">
            <a:avLst>
              <a:gd name="adj" fmla="val 2754"/>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658368" y="1636776"/>
            <a:ext cx="10874959" cy="3563397"/>
          </a:xfrm>
          <a:prstGeom prst="rect">
            <a:avLst/>
          </a:prstGeom>
        </p:spPr>
      </p:pic>
      <p:sp>
        <p:nvSpPr>
          <p:cNvPr id="11" name="Shape 8"/>
          <p:cNvSpPr/>
          <p:nvPr/>
        </p:nvSpPr>
        <p:spPr>
          <a:xfrm>
            <a:off x="548640" y="5584221"/>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5584221"/>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5565933"/>
            <a:ext cx="2859938" cy="82296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Mapped once, to the whole graph, with vg giraffe.</a:t>
            </a:r>
            <a:endParaRPr lang="en-US" sz="1700" dirty="0"/>
          </a:p>
        </p:txBody>
      </p:sp>
      <p:sp>
        <p:nvSpPr>
          <p:cNvPr id="14" name="Shape 11"/>
          <p:cNvSpPr/>
          <p:nvPr/>
        </p:nvSpPr>
        <p:spPr>
          <a:xfrm>
            <a:off x="4368698" y="5584221"/>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5584221"/>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5565933"/>
            <a:ext cx="2859938" cy="82296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Every assembly carrying it, ranked by identity.</a:t>
            </a:r>
            <a:endParaRPr lang="en-US" sz="1700" dirty="0"/>
          </a:p>
        </p:txBody>
      </p:sp>
      <p:sp>
        <p:nvSpPr>
          <p:cNvPr id="17" name="Shape 14"/>
          <p:cNvSpPr/>
          <p:nvPr/>
        </p:nvSpPr>
        <p:spPr>
          <a:xfrm>
            <a:off x="8188757" y="5584221"/>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5584221"/>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5565933"/>
            <a:ext cx="2859938" cy="82296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Click a haplotype: re-surjected, not remapped.</a:t>
            </a:r>
            <a:endParaRPr lang="en-US" sz="1700" dirty="0"/>
          </a:p>
        </p:txBody>
      </p:sp>
      <p:sp>
        <p:nvSpPr>
          <p:cNvPr id="20" name="Text 17"/>
          <p:cNvSpPr txBox="1"/>
          <p:nvPr/>
        </p:nvSpPr>
        <p:spPr>
          <a:xfrm>
            <a:off x="548640" y="6172200"/>
            <a:ext cx="11094415" cy="41148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...and map it onto the haplotype you choose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1</a:t>
            </a:r>
            <a:endParaRPr lang="en-US" sz="1600" dirty="0"/>
          </a:p>
        </p:txBody>
      </p:sp>
      <p:sp>
        <p:nvSpPr>
          <p:cNvPr id="5" name="Shape 3"/>
          <p:cNvSpPr/>
          <p:nvPr/>
        </p:nvSpPr>
        <p:spPr>
          <a:xfrm>
            <a:off x="548640" y="1325880"/>
            <a:ext cx="11094415" cy="3254704"/>
          </a:xfrm>
          <a:prstGeom prst="roundRect">
            <a:avLst>
              <a:gd name="adj" fmla="val 3371"/>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seqtrack.png">    </p:cNvPr>
          <p:cNvPicPr>
            <a:picLocks noChangeAspect="1"/>
          </p:cNvPicPr>
          <p:nvPr/>
        </p:nvPicPr>
        <p:blipFill>
          <a:blip r:embed="rId1"/>
          <a:stretch>
            <a:fillRect/>
          </a:stretch>
        </p:blipFill>
        <p:spPr>
          <a:xfrm>
            <a:off x="658368" y="1636776"/>
            <a:ext cx="10874959" cy="2834080"/>
          </a:xfrm>
          <a:prstGeom prst="rect">
            <a:avLst/>
          </a:prstGeom>
        </p:spPr>
      </p:pic>
      <p:sp>
        <p:nvSpPr>
          <p:cNvPr id="11" name="Shape 8"/>
          <p:cNvSpPr/>
          <p:nvPr/>
        </p:nvSpPr>
        <p:spPr>
          <a:xfrm>
            <a:off x="658368" y="2642874"/>
            <a:ext cx="10874959" cy="212556"/>
          </a:xfrm>
          <a:prstGeom prst="roundRect">
            <a:avLst>
              <a:gd name="adj" fmla="val 21510"/>
            </a:avLst>
          </a:prstGeom>
          <a:solidFill>
            <a:srgbClr val="FDC700">
              <a:alpha val="0"/>
            </a:srgbClr>
          </a:solidFill>
          <a:ln w="31750">
            <a:solidFill>
              <a:srgbClr val="FDC700"/>
            </a:solidFill>
            <a:prstDash val="solid"/>
          </a:ln>
        </p:spPr>
      </p:sp>
      <p:sp>
        <p:nvSpPr>
          <p:cNvPr id="12" name="Text 9"/>
          <p:cNvSpPr txBox="1"/>
          <p:nvPr/>
        </p:nvSpPr>
        <p:spPr>
          <a:xfrm>
            <a:off x="548640" y="4900624"/>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mapped sequence, drawn as a track on HG01167 hap1. Base-level differences, BLAT-style.</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Story 2, today: QuickLift needs a chain for every pair</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2</a:t>
            </a:r>
            <a:endParaRPr lang="en-US" sz="1600" dirty="0"/>
          </a:p>
        </p:txBody>
      </p:sp>
      <p:sp>
        <p:nvSpPr>
          <p:cNvPr id="5" name="Shape 3"/>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6" name="Shape 4"/>
          <p:cNvSpPr/>
          <p:nvPr/>
        </p:nvSpPr>
        <p:spPr>
          <a:xfrm>
            <a:off x="868680" y="1645920"/>
            <a:ext cx="640080" cy="640080"/>
          </a:xfrm>
          <a:prstGeom prst="ellipse">
            <a:avLst/>
          </a:prstGeom>
          <a:solidFill>
            <a:srgbClr val="003C6C"/>
          </a:solidFill>
          <a:ln w="12700">
            <a:solidFill>
              <a:srgbClr val="003C6C"/>
            </a:solidFill>
            <a:prstDash val="solid"/>
          </a:ln>
        </p:spPr>
      </p:sp>
      <p:pic>
        <p:nvPicPr>
          <p:cNvPr id="7"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8" name="Text 5"/>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QuickLift, in the browser since 2025</a:t>
            </a:r>
            <a:endParaRPr lang="en-US" sz="2200" dirty="0"/>
          </a:p>
        </p:txBody>
      </p:sp>
      <p:sp>
        <p:nvSpPr>
          <p:cNvPr id="9" name="Text 6"/>
          <p:cNvSpPr txBox="1"/>
          <p:nvPr/>
        </p:nvSpPr>
        <p:spPr>
          <a:xfrm>
            <a:off x="868680" y="251460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View &gt; In Other Genomes, tick "QuickLift tracks": your tracks are drawn on the other assembly, differences marked with vertical bars.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Needs a prebuilt liftOver chain between the two assemblies, made by UCSC on request.</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Superb for hg38 to hs1. Between HPRC haplotypes: 56 chains, out of 200,000+ pairs.</a:t>
            </a:r>
            <a:endParaRPr lang="en-US" sz="1700" dirty="0"/>
          </a:p>
        </p:txBody>
      </p:sp>
      <p:sp>
        <p:nvSpPr>
          <p:cNvPr id="10" name="Shape 7"/>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pic>
        <p:nvPicPr>
          <p:cNvPr id="11" name="Image 1" descr="/Users/seeskand/Documents/HPRC/2026/hprc_2026_poster/talk/figures/grids.png">    </p:cNvPr>
          <p:cNvPicPr>
            <a:picLocks noChangeAspect="1"/>
          </p:cNvPicPr>
          <p:nvPr/>
        </p:nvPicPr>
        <p:blipFill>
          <a:blip r:embed="rId2"/>
          <a:stretch>
            <a:fillRect/>
          </a:stretch>
        </p:blipFill>
        <p:spPr>
          <a:xfrm>
            <a:off x="6598768" y="1828800"/>
            <a:ext cx="4724248" cy="1666982"/>
          </a:xfrm>
          <a:prstGeom prst="rect">
            <a:avLst/>
          </a:prstGeom>
        </p:spPr>
      </p:pic>
      <p:sp>
        <p:nvSpPr>
          <p:cNvPr id="12" name="Text 8"/>
          <p:cNvSpPr txBox="1"/>
          <p:nvPr/>
        </p:nvSpPr>
        <p:spPr>
          <a:xfrm>
            <a:off x="6598768" y="3678662"/>
            <a:ext cx="4724248" cy="109728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She picks HG02015 from the menu. There is no chain. Dead end.</a:t>
            </a:r>
            <a:endParaRPr lang="en-US" sz="1900" dirty="0"/>
          </a:p>
        </p:txBody>
      </p:sp>
      <p:sp>
        <p:nvSpPr>
          <p:cNvPr id="13" name="Text 9"/>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renderer is ready. The missing piece is a chain for any pair, on demand.</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Story 2, now: any of 464 haplotypes, in ~100 ms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2</a:t>
            </a:r>
            <a:endParaRPr lang="en-US" sz="1600" dirty="0"/>
          </a:p>
        </p:txBody>
      </p:sp>
      <p:sp>
        <p:nvSpPr>
          <p:cNvPr id="5" name="Shape 3"/>
          <p:cNvSpPr/>
          <p:nvPr/>
        </p:nvSpPr>
        <p:spPr>
          <a:xfrm>
            <a:off x="595774" y="1325880"/>
            <a:ext cx="6580852" cy="4983480"/>
          </a:xfrm>
          <a:prstGeom prst="roundRect">
            <a:avLst>
              <a:gd name="adj" fmla="val 2202"/>
            </a:avLst>
          </a:prstGeom>
          <a:solidFill>
            <a:srgbClr val="EDF1F6"/>
          </a:solidFill>
          <a:ln w="12700">
            <a:solidFill>
              <a:srgbClr val="DCE3EB"/>
            </a:solidFill>
            <a:prstDash val="solid"/>
          </a:ln>
        </p:spPr>
      </p:sp>
      <p:sp>
        <p:nvSpPr>
          <p:cNvPr id="6" name="Shape 4"/>
          <p:cNvSpPr/>
          <p:nvPr/>
        </p:nvSpPr>
        <p:spPr>
          <a:xfrm>
            <a:off x="742078"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906670"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71262"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73014"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convert.png">    </p:cNvPr>
          <p:cNvPicPr>
            <a:picLocks noChangeAspect="1"/>
          </p:cNvPicPr>
          <p:nvPr/>
        </p:nvPicPr>
        <p:blipFill>
          <a:blip r:embed="rId1"/>
          <a:stretch>
            <a:fillRect/>
          </a:stretch>
        </p:blipFill>
        <p:spPr>
          <a:xfrm>
            <a:off x="705502" y="1636776"/>
            <a:ext cx="6361396" cy="4562856"/>
          </a:xfrm>
          <a:prstGeom prst="rect">
            <a:avLst/>
          </a:prstGeom>
        </p:spPr>
      </p:pic>
      <p:sp>
        <p:nvSpPr>
          <p:cNvPr id="11" name="Text 8"/>
          <p:cNvSpPr txBox="1"/>
          <p:nvPr/>
        </p:nvSpPr>
        <p:spPr>
          <a:xfrm>
            <a:off x="7543800" y="1417320"/>
            <a:ext cx="4099255" cy="320040"/>
          </a:xfrm>
          <a:prstGeom prst="rect">
            <a:avLst/>
          </a:prstGeom>
          <a:noFill/>
          <a:ln/>
        </p:spPr>
        <p:txBody>
          <a:bodyPr wrap="square" lIns="0" tIns="0" rIns="0" bIns="0" rtlCol="0" anchor="t"/>
          <a:lstStyle/>
          <a:p>
            <a:pPr indent="0" marL="0">
              <a:buNone/>
            </a:pPr>
            <a:r>
              <a:rPr lang="en-US" sz="1600" b="1" dirty="0">
                <a:solidFill>
                  <a:srgbClr val="5B6B7C"/>
                </a:solidFill>
                <a:latin typeface="Calibri" pitchFamily="34" charset="0"/>
                <a:ea typeface="Calibri" pitchFamily="34" charset="-122"/>
                <a:cs typeface="Calibri" pitchFamily="34" charset="-120"/>
              </a:rPr>
              <a:t>CHM13</a:t>
            </a:r>
            <a:endParaRPr lang="en-US" sz="1600" dirty="0"/>
          </a:p>
        </p:txBody>
      </p:sp>
      <p:sp>
        <p:nvSpPr>
          <p:cNvPr id="12" name="Text 9"/>
          <p:cNvSpPr txBox="1"/>
          <p:nvPr/>
        </p:nvSpPr>
        <p:spPr>
          <a:xfrm>
            <a:off x="7543800" y="1737360"/>
            <a:ext cx="4099255" cy="411480"/>
          </a:xfrm>
          <a:prstGeom prst="rect">
            <a:avLst/>
          </a:prstGeom>
          <a:noFill/>
          <a:ln/>
        </p:spPr>
        <p:txBody>
          <a:bodyPr wrap="square" lIns="0" tIns="0" rIns="0" bIns="0" rtlCol="0" anchor="t"/>
          <a:lstStyle/>
          <a:p>
            <a:pPr indent="0" marL="0">
              <a:buNone/>
            </a:pPr>
            <a:r>
              <a:rPr lang="en-US" sz="1800" dirty="0">
                <a:solidFill>
                  <a:srgbClr val="18293B"/>
                </a:solidFill>
                <a:latin typeface="Courier New" pitchFamily="34" charset="0"/>
                <a:ea typeface="Courier New" pitchFamily="34" charset="-122"/>
                <a:cs typeface="Courier New" pitchFamily="34" charset="-120"/>
              </a:rPr>
              <a:t>chr6:32,768,058-32,778,749</a:t>
            </a:r>
            <a:endParaRPr lang="en-US" sz="1800" dirty="0"/>
          </a:p>
        </p:txBody>
      </p:sp>
      <p:sp>
        <p:nvSpPr>
          <p:cNvPr id="13" name="Shape 10"/>
          <p:cNvSpPr/>
          <p:nvPr/>
        </p:nvSpPr>
        <p:spPr>
          <a:xfrm>
            <a:off x="7635240" y="2240280"/>
            <a:ext cx="320040" cy="411480"/>
          </a:xfrm>
          <a:prstGeom prst="downArrow">
            <a:avLst/>
          </a:prstGeom>
          <a:solidFill>
            <a:srgbClr val="FDC700"/>
          </a:solidFill>
          <a:ln w="12700">
            <a:solidFill>
              <a:srgbClr val="FDC700"/>
            </a:solidFill>
            <a:prstDash val="solid"/>
          </a:ln>
        </p:spPr>
      </p:sp>
      <p:sp>
        <p:nvSpPr>
          <p:cNvPr id="14" name="Text 11"/>
          <p:cNvSpPr txBox="1"/>
          <p:nvPr/>
        </p:nvSpPr>
        <p:spPr>
          <a:xfrm>
            <a:off x="7543800" y="2743200"/>
            <a:ext cx="4099255" cy="320040"/>
          </a:xfrm>
          <a:prstGeom prst="rect">
            <a:avLst/>
          </a:prstGeom>
          <a:noFill/>
          <a:ln/>
        </p:spPr>
        <p:txBody>
          <a:bodyPr wrap="square" lIns="0" tIns="0" rIns="0" bIns="0" rtlCol="0" anchor="t"/>
          <a:lstStyle/>
          <a:p>
            <a:pPr indent="0" marL="0">
              <a:buNone/>
            </a:pPr>
            <a:r>
              <a:rPr lang="en-US" sz="1600" b="1" dirty="0">
                <a:solidFill>
                  <a:srgbClr val="5B6B7C"/>
                </a:solidFill>
                <a:latin typeface="Calibri" pitchFamily="34" charset="0"/>
                <a:ea typeface="Calibri" pitchFamily="34" charset="-122"/>
                <a:cs typeface="Calibri" pitchFamily="34" charset="-120"/>
              </a:rPr>
              <a:t>HG02015 paternal</a:t>
            </a:r>
            <a:endParaRPr lang="en-US" sz="1600" dirty="0"/>
          </a:p>
        </p:txBody>
      </p:sp>
      <p:sp>
        <p:nvSpPr>
          <p:cNvPr id="15" name="Text 12"/>
          <p:cNvSpPr txBox="1"/>
          <p:nvPr/>
        </p:nvSpPr>
        <p:spPr>
          <a:xfrm>
            <a:off x="7543800" y="3063240"/>
            <a:ext cx="4099255" cy="731520"/>
          </a:xfrm>
          <a:prstGeom prst="rect">
            <a:avLst/>
          </a:prstGeom>
          <a:noFill/>
          <a:ln/>
        </p:spPr>
        <p:txBody>
          <a:bodyPr wrap="square" lIns="0" tIns="0" rIns="0" bIns="0" rtlCol="0" anchor="t"/>
          <a:lstStyle/>
          <a:p>
            <a:pPr indent="0" marL="0">
              <a:buNone/>
            </a:pPr>
            <a:r>
              <a:rPr lang="en-US" sz="1800" dirty="0">
                <a:solidFill>
                  <a:srgbClr val="18293B"/>
                </a:solidFill>
                <a:latin typeface="Courier New" pitchFamily="34" charset="0"/>
                <a:ea typeface="Courier New" pitchFamily="34" charset="-122"/>
                <a:cs typeface="Courier New" pitchFamily="34" charset="-120"/>
              </a:rPr>
              <a:t>CM085893.1:32,953,289-32,963,978</a:t>
            </a:r>
            <a:endParaRPr lang="en-US" sz="1800" dirty="0"/>
          </a:p>
        </p:txBody>
      </p:sp>
      <p:sp>
        <p:nvSpPr>
          <p:cNvPr id="16" name="Shape 13"/>
          <p:cNvSpPr/>
          <p:nvPr/>
        </p:nvSpPr>
        <p:spPr>
          <a:xfrm>
            <a:off x="7543800" y="3931920"/>
            <a:ext cx="4099255" cy="868680"/>
          </a:xfrm>
          <a:prstGeom prst="roundRect">
            <a:avLst>
              <a:gd name="adj" fmla="val 12632"/>
            </a:avLst>
          </a:prstGeom>
          <a:solidFill>
            <a:srgbClr val="EDF1F6"/>
          </a:solidFill>
          <a:ln w="12700">
            <a:solidFill>
              <a:srgbClr val="DCE3EB"/>
            </a:solidFill>
            <a:prstDash val="solid"/>
          </a:ln>
        </p:spPr>
      </p:sp>
      <p:sp>
        <p:nvSpPr>
          <p:cNvPr id="17" name="Text 14"/>
          <p:cNvSpPr txBox="1"/>
          <p:nvPr/>
        </p:nvSpPr>
        <p:spPr>
          <a:xfrm>
            <a:off x="7543800" y="3931920"/>
            <a:ext cx="4099255" cy="86868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100% of bases, 100% of span</a:t>
            </a:r>
            <a:endParaRPr lang="en-US" sz="2200" dirty="0"/>
          </a:p>
        </p:txBody>
      </p:sp>
      <p:sp>
        <p:nvSpPr>
          <p:cNvPr id="18" name="Text 15"/>
          <p:cNvSpPr txBox="1"/>
          <p:nvPr/>
        </p:nvSpPr>
        <p:spPr>
          <a:xfrm>
            <a:off x="7543800" y="4983480"/>
            <a:ext cx="4099255" cy="137160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About 115 ms for this 10.7 kb gene. GRCh38 is a path in the graph too, so hg38 can be the source. The same haplotypes also appear in hgConvert's assembly menu.</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...and the reference's tracks come along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91440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HG02015 paternal has its own CAT and Liftoff genes. What it will never have is everything that exists once, on one reference: ClinVar, GWAS, ENCODE, your lab's BED file. Here, CHM13's tracks on HG02015, over a chain built for this page view.</a:t>
            </a:r>
            <a:endParaRPr lang="en-US" sz="1600" dirty="0"/>
          </a:p>
        </p:txBody>
      </p:sp>
      <p:sp>
        <p:nvSpPr>
          <p:cNvPr id="12" name="Text 9"/>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translation blocks  →  bigChain  →  QuickLift draws them   •   Alignment Differences marks insertions, deletions and mismatches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we have checked, and what we haven't</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Shape 2"/>
          <p:cNvSpPr/>
          <p:nvPr/>
        </p:nvSpPr>
        <p:spPr>
          <a:xfrm>
            <a:off x="548640" y="1325880"/>
            <a:ext cx="5364328" cy="4251960"/>
          </a:xfrm>
          <a:prstGeom prst="roundRect">
            <a:avLst>
              <a:gd name="adj" fmla="val 2581"/>
            </a:avLst>
          </a:prstGeom>
          <a:solidFill>
            <a:srgbClr val="EDF1F6"/>
          </a:solidFill>
          <a:ln w="12700">
            <a:solidFill>
              <a:srgbClr val="DCE3EB"/>
            </a:solidFill>
            <a:prstDash val="solid"/>
          </a:ln>
        </p:spPr>
      </p:sp>
      <p:sp>
        <p:nvSpPr>
          <p:cNvPr id="5" name="Shape 3"/>
          <p:cNvSpPr/>
          <p:nvPr/>
        </p:nvSpPr>
        <p:spPr>
          <a:xfrm>
            <a:off x="868680" y="1645920"/>
            <a:ext cx="594360" cy="59436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23214" y="1800454"/>
            <a:ext cx="285293" cy="285293"/>
          </a:xfrm>
          <a:prstGeom prst="rect">
            <a:avLst/>
          </a:prstGeom>
        </p:spPr>
      </p:pic>
      <p:sp>
        <p:nvSpPr>
          <p:cNvPr id="7" name="Text 4"/>
          <p:cNvSpPr txBox="1"/>
          <p:nvPr/>
        </p:nvSpPr>
        <p:spPr>
          <a:xfrm>
            <a:off x="1645920" y="1691640"/>
            <a:ext cx="399272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Checked</a:t>
            </a:r>
            <a:endParaRPr lang="en-US" sz="2200" dirty="0"/>
          </a:p>
        </p:txBody>
      </p:sp>
      <p:sp>
        <p:nvSpPr>
          <p:cNvPr id="8" name="Text 5"/>
          <p:cNvSpPr txBox="1"/>
          <p:nvPr/>
        </p:nvSpPr>
        <p:spPr>
          <a:xfrm>
            <a:off x="868680" y="2423160"/>
            <a:ext cx="4724248" cy="31089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Alignment Differences, base by base: 22 kb of ABO, hs1 vs HG00597#1, exactly the 2 real mismatches.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Chains round-trip cleanly through bigChainToChain; blocks follow chain-file semantics.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Completeness by span: 99% up to 10 kb, 97% at 100 kb, 93% at 1 Mb.</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Hard case: a 37 kb segdup-dense span on 1q21.1 recovers 46% of bases. Missing positions, not wrong ones: a repeat cannot manufacture an anchor.</a:t>
            </a:r>
            <a:endParaRPr lang="en-US" sz="1600" dirty="0"/>
          </a:p>
        </p:txBody>
      </p:sp>
      <p:sp>
        <p:nvSpPr>
          <p:cNvPr id="9" name="Shape 6"/>
          <p:cNvSpPr/>
          <p:nvPr/>
        </p:nvSpPr>
        <p:spPr>
          <a:xfrm>
            <a:off x="6278728" y="1325880"/>
            <a:ext cx="5364328" cy="4251960"/>
          </a:xfrm>
          <a:prstGeom prst="roundRect">
            <a:avLst>
              <a:gd name="adj" fmla="val 2581"/>
            </a:avLst>
          </a:prstGeom>
          <a:solidFill>
            <a:srgbClr val="EDF1F6"/>
          </a:solidFill>
          <a:ln w="12700">
            <a:solidFill>
              <a:srgbClr val="DCE3EB"/>
            </a:solidFill>
            <a:prstDash val="solid"/>
          </a:ln>
        </p:spPr>
      </p:sp>
      <p:sp>
        <p:nvSpPr>
          <p:cNvPr id="10" name="Shape 7"/>
          <p:cNvSpPr/>
          <p:nvPr/>
        </p:nvSpPr>
        <p:spPr>
          <a:xfrm>
            <a:off x="6598768" y="1645920"/>
            <a:ext cx="594360" cy="594360"/>
          </a:xfrm>
          <a:prstGeom prst="ellipse">
            <a:avLst/>
          </a:prstGeom>
          <a:solidFill>
            <a:srgbClr val="E4572E"/>
          </a:solidFill>
          <a:ln w="12700">
            <a:solidFill>
              <a:srgbClr val="E4572E"/>
            </a:solidFill>
            <a:prstDash val="solid"/>
          </a:ln>
        </p:spPr>
      </p:sp>
      <p:pic>
        <p:nvPicPr>
          <p:cNvPr id="11" name="Image 1" descr="preencoded.png">    </p:cNvPr>
          <p:cNvPicPr>
            <a:picLocks noChangeAspect="1"/>
          </p:cNvPicPr>
          <p:nvPr/>
        </p:nvPicPr>
        <p:blipFill>
          <a:blip r:embed="rId2"/>
          <a:stretch>
            <a:fillRect/>
          </a:stretch>
        </p:blipFill>
        <p:spPr>
          <a:xfrm>
            <a:off x="6753301" y="1800454"/>
            <a:ext cx="285293" cy="285293"/>
          </a:xfrm>
          <a:prstGeom prst="rect">
            <a:avLst/>
          </a:prstGeom>
        </p:spPr>
      </p:pic>
      <p:sp>
        <p:nvSpPr>
          <p:cNvPr id="12" name="Text 8"/>
          <p:cNvSpPr txBox="1"/>
          <p:nvPr/>
        </p:nvSpPr>
        <p:spPr>
          <a:xfrm>
            <a:off x="7376008" y="1691640"/>
            <a:ext cx="399272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Not yet</a:t>
            </a:r>
            <a:endParaRPr lang="en-US" sz="2200" dirty="0"/>
          </a:p>
        </p:txBody>
      </p:sp>
      <p:sp>
        <p:nvSpPr>
          <p:cNvPr id="13" name="Text 9"/>
          <p:cNvSpPr txBox="1"/>
          <p:nvPr/>
        </p:nvSpPr>
        <p:spPr>
          <a:xfrm>
            <a:off x="6598768" y="2423160"/>
            <a:ext cx="4724248" cy="31089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systematic comparison with halLiftover on the same Cactus alignment.</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Agreement with the 56 chains that already exist in the browser.</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CHM13 CAT transcripts lifted onto a haplotype that has its own CAT annotation: do exon boundaries agree?</a:t>
            </a:r>
            <a:endParaRPr lang="en-US" sz="16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Those three numbers come before public release.</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Real limits, and what's next</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Shape 2"/>
          <p:cNvSpPr/>
          <p:nvPr/>
        </p:nvSpPr>
        <p:spPr>
          <a:xfrm>
            <a:off x="548640" y="1325880"/>
            <a:ext cx="5364328" cy="3246120"/>
          </a:xfrm>
          <a:prstGeom prst="roundRect">
            <a:avLst>
              <a:gd name="adj" fmla="val 3380"/>
            </a:avLst>
          </a:prstGeom>
          <a:solidFill>
            <a:srgbClr val="EDF1F6"/>
          </a:solidFill>
          <a:ln w="12700">
            <a:solidFill>
              <a:srgbClr val="DCE3EB"/>
            </a:solidFill>
            <a:prstDash val="solid"/>
          </a:ln>
        </p:spPr>
      </p:sp>
      <p:sp>
        <p:nvSpPr>
          <p:cNvPr id="5" name="Text 3"/>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5B6B7C"/>
                </a:solidFill>
                <a:latin typeface="Calibri" pitchFamily="34" charset="0"/>
                <a:ea typeface="Calibri" pitchFamily="34" charset="-122"/>
                <a:cs typeface="Calibri" pitchFamily="34" charset="-120"/>
              </a:rPr>
              <a:t>Today</a:t>
            </a:r>
            <a:endParaRPr lang="en-US" sz="2200" dirty="0"/>
          </a:p>
        </p:txBody>
      </p:sp>
      <p:sp>
        <p:nvSpPr>
          <p:cNvPr id="6" name="Text 4"/>
          <p:cNvSpPr txBox="1"/>
          <p:nvPr/>
        </p:nvSpPr>
        <p:spPr>
          <a:xfrm>
            <a:off x="868680" y="2194560"/>
            <a:ext cx="4724248" cy="228600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per view. Pan far enough and another one is built.</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Segdup-dense spans lose positions: 46% recovered on 1q21.1.</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Development browser only. One service, about 250 GB of RAM. No public API yet.</a:t>
            </a:r>
            <a:endParaRPr lang="en-US" sz="1700" dirty="0"/>
          </a:p>
        </p:txBody>
      </p:sp>
      <p:sp>
        <p:nvSpPr>
          <p:cNvPr id="7" name="Shape 5"/>
          <p:cNvSpPr/>
          <p:nvPr/>
        </p:nvSpPr>
        <p:spPr>
          <a:xfrm>
            <a:off x="6278728" y="1325880"/>
            <a:ext cx="5364328" cy="3246120"/>
          </a:xfrm>
          <a:prstGeom prst="roundRect">
            <a:avLst>
              <a:gd name="adj" fmla="val 3380"/>
            </a:avLst>
          </a:prstGeom>
          <a:solidFill>
            <a:srgbClr val="EDF1F6"/>
          </a:solidFill>
          <a:ln w="12700">
            <a:solidFill>
              <a:srgbClr val="DCE3EB"/>
            </a:solidFill>
            <a:prstDash val="solid"/>
          </a:ln>
        </p:spPr>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Next</a:t>
            </a:r>
            <a:endParaRPr lang="en-US" sz="2200" dirty="0"/>
          </a:p>
        </p:txBody>
      </p:sp>
      <p:sp>
        <p:nvSpPr>
          <p:cNvPr id="9" name="Text 7"/>
          <p:cNvSpPr txBox="1"/>
          <p:nvPr/>
        </p:nvSpPr>
        <p:spPr>
          <a:xfrm>
            <a:off x="6598768" y="2194560"/>
            <a:ext cx="4724248" cy="228600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Shared, persistent chains: popular regions free after the first visit.</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Better recovery in segdup-dense spans.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 documented JSON API, so it runs from your pipeline too.</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New graphs plug in by building one index.</a:t>
            </a:r>
            <a:endParaRPr lang="en-US" sz="1700" dirty="0"/>
          </a:p>
        </p:txBody>
      </p:sp>
      <p:sp>
        <p:nvSpPr>
          <p:cNvPr id="10" name="Shape 8"/>
          <p:cNvSpPr/>
          <p:nvPr/>
        </p:nvSpPr>
        <p:spPr>
          <a:xfrm>
            <a:off x="548640" y="4937760"/>
            <a:ext cx="11094415" cy="960120"/>
          </a:xfrm>
          <a:prstGeom prst="roundRect">
            <a:avLst>
              <a:gd name="adj" fmla="val 11429"/>
            </a:avLst>
          </a:prstGeom>
          <a:solidFill>
            <a:srgbClr val="06294A"/>
          </a:solidFill>
          <a:ln w="12700">
            <a:solidFill>
              <a:srgbClr val="06294A"/>
            </a:solidFill>
            <a:prstDash val="solid"/>
          </a:ln>
        </p:spPr>
      </p:sp>
      <p:sp>
        <p:nvSpPr>
          <p:cNvPr id="11" name="Text 9"/>
          <p:cNvSpPr txBox="1"/>
          <p:nvPr/>
        </p:nvSpPr>
        <p:spPr>
          <a:xfrm>
            <a:off x="548640" y="4937760"/>
            <a:ext cx="11094415" cy="960120"/>
          </a:xfrm>
          <a:prstGeom prst="rect">
            <a:avLst/>
          </a:prstGeom>
          <a:noFill/>
          <a:ln/>
        </p:spPr>
        <p:txBody>
          <a:bodyPr wrap="square" lIns="0" tIns="0" rIns="0" bIns="0" rtlCol="0" anchor="ctr"/>
          <a:lstStyle/>
          <a:p>
            <a:pPr algn="ctr" indent="0" marL="0">
              <a:buNone/>
            </a:pPr>
            <a:r>
              <a:rPr lang="en-US" sz="2400" dirty="0">
                <a:solidFill>
                  <a:srgbClr val="C6D3DF"/>
                </a:solidFill>
                <a:latin typeface="Calibri" pitchFamily="34" charset="0"/>
                <a:ea typeface="Calibri" pitchFamily="34" charset="-122"/>
                <a:cs typeface="Calibri" pitchFamily="34" charset="-120"/>
              </a:rPr>
              <a:t>Next milestone: </a:t>
            </a:r>
            <a:pPr algn="ctr" indent="0" marL="0">
              <a:buNone/>
            </a:pPr>
            <a:r>
              <a:rPr lang="en-US" sz="2400" b="1" dirty="0">
                <a:solidFill>
                  <a:srgbClr val="FFFFFF"/>
                </a:solidFill>
                <a:latin typeface="Calibri" pitchFamily="34" charset="0"/>
                <a:ea typeface="Calibri" pitchFamily="34" charset="-122"/>
                <a:cs typeface="Calibri" pitchFamily="34" charset="-120"/>
              </a:rPr>
              <a:t>public release in the UCSC Genome Browser</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Both users, served</a:t>
            </a:r>
            <a:endParaRPr lang="en-US" sz="3200" dirty="0"/>
          </a:p>
        </p:txBody>
      </p:sp>
      <p:sp>
        <p:nvSpPr>
          <p:cNvPr id="4" name="Shape 2"/>
          <p:cNvSpPr/>
          <p:nvPr/>
        </p:nvSpPr>
        <p:spPr>
          <a:xfrm>
            <a:off x="548640" y="1325880"/>
            <a:ext cx="5364328" cy="4114800"/>
          </a:xfrm>
          <a:prstGeom prst="roundRect">
            <a:avLst>
              <a:gd name="adj" fmla="val 266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Story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A sequence GRCh38 doesn't have</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900" dirty="0">
                <a:solidFill>
                  <a:srgbClr val="C6D3DF"/>
                </a:solidFill>
                <a:latin typeface="Calibri" pitchFamily="34" charset="0"/>
                <a:ea typeface="Calibri" pitchFamily="34" charset="-122"/>
                <a:cs typeface="Calibri" pitchFamily="34" charset="-120"/>
              </a:rPr>
              <a:t>A researcher assembles an insertion from long reads. It isn't in the reference. Which HPRC haplotypes carry it, and what does it look like there?</a:t>
            </a:r>
            <a:endParaRPr lang="en-US" sz="1900" dirty="0"/>
          </a:p>
        </p:txBody>
      </p:sp>
      <p:sp>
        <p:nvSpPr>
          <p:cNvPr id="10" name="Text 7"/>
          <p:cNvSpPr txBox="1"/>
          <p:nvPr/>
        </p:nvSpPr>
        <p:spPr>
          <a:xfrm>
            <a:off x="868680" y="4160520"/>
            <a:ext cx="4724248"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two carriers found in seconds; her insertion mapped as a track on a genome that has it</a:t>
            </a:r>
            <a:endParaRPr lang="en-US" sz="15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4000" b="1" dirty="0">
                <a:solidFill>
                  <a:srgbClr val="FDC700"/>
                </a:solidFill>
                <a:latin typeface="Calibri" pitchFamily="34" charset="0"/>
                <a:ea typeface="Calibri" pitchFamily="34" charset="-122"/>
                <a:cs typeface="Calibri" pitchFamily="34" charset="-120"/>
              </a:rPr>
              <a:t>done</a:t>
            </a:r>
            <a:endParaRPr lang="en-US" sz="4000" dirty="0"/>
          </a:p>
        </p:txBody>
      </p:sp>
      <p:sp>
        <p:nvSpPr>
          <p:cNvPr id="12" name="Shape 9"/>
          <p:cNvSpPr/>
          <p:nvPr/>
        </p:nvSpPr>
        <p:spPr>
          <a:xfrm>
            <a:off x="6278728" y="1325880"/>
            <a:ext cx="5364328" cy="4114800"/>
          </a:xfrm>
          <a:prstGeom prst="roundRect">
            <a:avLst>
              <a:gd name="adj" fmla="val 2667"/>
            </a:avLst>
          </a:prstGeom>
          <a:solidFill>
            <a:srgbClr val="0F3557"/>
          </a:solidFill>
          <a:ln w="12700">
            <a:solidFill>
              <a:srgbClr val="1D4F7C"/>
            </a:solidFill>
            <a:prstDash val="solid"/>
          </a:ln>
        </p:spPr>
      </p:sp>
      <p:sp>
        <p:nvSpPr>
          <p:cNvPr id="13" name="Shape 10"/>
          <p:cNvSpPr/>
          <p:nvPr/>
        </p:nvSpPr>
        <p:spPr>
          <a:xfrm>
            <a:off x="6598768" y="1691640"/>
            <a:ext cx="777240" cy="777240"/>
          </a:xfrm>
          <a:prstGeom prst="ellipse">
            <a:avLst/>
          </a:prstGeom>
          <a:solidFill>
            <a:srgbClr val="0E7C9C"/>
          </a:solidFill>
          <a:ln w="12700">
            <a:solidFill>
              <a:srgbClr val="0E7C9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Story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A gene you know, on a genome you don't</a:t>
            </a:r>
            <a:endParaRPr lang="en-US" sz="2200" dirty="0"/>
          </a:p>
        </p:txBody>
      </p:sp>
      <p:sp>
        <p:nvSpPr>
          <p:cNvPr id="17" name="Text 13"/>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900" dirty="0">
                <a:solidFill>
                  <a:srgbClr val="C6D3DF"/>
                </a:solidFill>
                <a:latin typeface="Calibri" pitchFamily="34" charset="0"/>
                <a:ea typeface="Calibri" pitchFamily="34" charset="-122"/>
                <a:cs typeface="Calibri" pitchFamily="34" charset="-120"/>
              </a:rPr>
              <a:t>The same researcher is curating a gene on GRCh38, ClinVar and GWAS open, and wants to see it on one HPRC individual.</a:t>
            </a:r>
            <a:endParaRPr lang="en-US" sz="1900" dirty="0"/>
          </a:p>
        </p:txBody>
      </p:sp>
      <p:sp>
        <p:nvSpPr>
          <p:cNvPr id="18" name="Text 14"/>
          <p:cNvSpPr txBox="1"/>
          <p:nvPr/>
        </p:nvSpPr>
        <p:spPr>
          <a:xfrm>
            <a:off x="6598768" y="4160520"/>
            <a:ext cx="4724248"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HG02015 in ~100 ms, with the reference's tracks drawn around the gene, over a chain built on the spot</a:t>
            </a:r>
            <a:endParaRPr lang="en-US" sz="15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4000" b="1" dirty="0">
                <a:solidFill>
                  <a:srgbClr val="FDC700"/>
                </a:solidFill>
                <a:latin typeface="Calibri" pitchFamily="34" charset="0"/>
                <a:ea typeface="Calibri" pitchFamily="34" charset="-122"/>
                <a:cs typeface="Calibri" pitchFamily="34" charset="-120"/>
              </a:rPr>
              <a:t>done</a:t>
            </a:r>
            <a:endParaRPr lang="en-US" sz="4000" dirty="0"/>
          </a:p>
        </p:txBody>
      </p:sp>
      <p:sp>
        <p:nvSpPr>
          <p:cNvPr id="20" name="Text 16"/>
          <p:cNvSpPr txBox="1"/>
          <p:nvPr/>
        </p:nvSpPr>
        <p:spPr>
          <a:xfrm>
            <a:off x="548640" y="5760720"/>
            <a:ext cx="11094415" cy="548640"/>
          </a:xfrm>
          <a:prstGeom prst="rect">
            <a:avLst/>
          </a:prstGeom>
          <a:noFill/>
          <a:ln/>
        </p:spPr>
        <p:txBody>
          <a:bodyPr wrap="square" lIns="0" tIns="0" rIns="0" bIns="0" rtlCol="0" anchor="ctr"/>
          <a:lstStyle/>
          <a:p>
            <a:pPr algn="ctr" indent="0" marL="0">
              <a:buNone/>
            </a:pPr>
            <a:r>
              <a:rPr lang="en-US" sz="2200" i="1" dirty="0">
                <a:solidFill>
                  <a:srgbClr val="FDC700"/>
                </a:solidFill>
                <a:latin typeface="Calibri" pitchFamily="34" charset="0"/>
                <a:ea typeface="Calibri" pitchFamily="34" charset="-122"/>
                <a:cs typeface="Calibri" pitchFamily="34" charset="-120"/>
              </a:rPr>
              <a:t>Live on the development browser today. Bring me your hardest region, and tell me where it breaks.</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17</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206240"/>
            <a:ext cx="64008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Poster, slides and figures are in the repository.</a:t>
            </a:r>
            <a:endParaRPr lang="en-US" sz="16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18</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19</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20</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21</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~11 GB</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GBWT FastLocate structure</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35 min</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index build for the routing structure, 32 threads</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1.78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that structure on disk (naive all-pairs: 17 TB)</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15 lines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changed in kent core, across 3 files</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385</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browser-side tests: payload validation, UI, hub writes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2026-09-02T23:57:19Z</dcterms:created>
  <dcterms:modified xsi:type="dcterms:W3CDTF">2026-09-02T23:57:19Z</dcterms:modified>
</cp:coreProperties>
</file>
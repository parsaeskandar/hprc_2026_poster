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[3:50-4:30]
This is the idea on a toy graph, and it is all you need for the rest of the talk. Three haplotypes, indexed together. Alongside the index sits the tag array: for every position, the graph node it came from.
Three consequences. One index holds all 464 haplotypes, so a sequence is found once, however many haplotypes carry it. Every match knows its node, so a hit is a position in the graph, not a line in one assembly. And every node knows its haplotypes, so we can ask who passes through a node and get each haplotype with its own coordinate. That last one is what moves a locus from one haplotype to another.
Notice what is missing: nothing anywhere says CHM13-to-HG02015. There is no pairwise index, which is why any of the 464 can be translated to any other. The details are in the paper;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[5:05-5:30]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[5:30-5:50]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[5:50-7:10]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[7:45-8:20]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[10:00-10:35]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[10:35-11:15]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[12:40-12:55]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One index, all 464 haplotypes</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haplotype's sequence, indexed together. A sequence is found once, however many haplotypes carry it.</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match knows its node</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Each position in the index is tagged with its place in the graph. A hit is a graph position, not a line in one assembly.</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node knows its haplotypes</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Ask a node who passes through it and get every haplotype, with its own coordinate. That is what moves a locus from one haplotype to another.</a:t>
            </a:r>
            <a:endParaRPr lang="en-US" sz="1500" dirty="0"/>
          </a:p>
        </p:txBody>
      </p:sp>
      <p:sp>
        <p:nvSpPr>
          <p:cNvPr id="12" name="Shape 9"/>
          <p:cNvSpPr/>
          <p:nvPr/>
        </p:nvSpPr>
        <p:spPr>
          <a:xfrm>
            <a:off x="8046720" y="576072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760720"/>
            <a:ext cx="3596335" cy="548640"/>
          </a:xfrm>
          <a:prstGeom prst="rect">
            <a:avLst/>
          </a:prstGeom>
          <a:noFill/>
          <a:ln/>
        </p:spPr>
        <p:txBody>
          <a:bodyPr wrap="square" lIns="0" tIns="0" rIns="0" bIns="0" rtlCol="0" anchor="ctr"/>
          <a:lstStyle/>
          <a:p>
            <a:pPr algn="ctr" indent="0" marL="0">
              <a:buNone/>
            </a:pPr>
            <a:r>
              <a:rPr lang="en-US" sz="1400" b="1" dirty="0">
                <a:solidFill>
                  <a:srgbClr val="003C6C"/>
                </a:solidFill>
                <a:latin typeface="Calibri" pitchFamily="34" charset="0"/>
                <a:ea typeface="Calibri" pitchFamily="34" charset="-122"/>
                <a:cs typeface="Calibri" pitchFamily="34" charset="-120"/>
              </a:rPr>
              <a:t>Any haplotype to any other. No pairwise index.</a:t>
            </a:r>
            <a:endParaRPr lang="en-US" sz="1400" dirty="0"/>
          </a:p>
        </p:txBody>
      </p:sp>
      <p:sp>
        <p:nvSpPr>
          <p:cNvPr id="14" name="Text 11"/>
          <p:cNvSpPr txBox="1"/>
          <p:nvPr/>
        </p:nvSpPr>
        <p:spPr>
          <a:xfrm>
            <a:off x="548640" y="640080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18</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21</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25</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2026-09-06T22:44:25Z</dcterms:created>
  <dcterms:modified xsi:type="dcterms:W3CDTF">2026-09-06T22:44:25Z</dcterms:modified>
</cp:coreProperties>
</file>
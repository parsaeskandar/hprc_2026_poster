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HPRC release 2 is the most complete picture of human variation we have: 464 haplotypes, in one graph. Two of those haplotypes, GRCh38 and CHM13, carry almost everything we know about the human genome: the gene models, the clinical variants, the regulatory annotation, and everyone's own tracks.
(pause)
The tools to work with the graph exist: vg giraffe maps to it, odgi and the r-index query it, halLiftover and impg move coordinates across it. But every one of them wants a large index on disk, real compute, and a command-line workflow that takes time to set up and time to run. A clinician, or a researcher outside a genomics group, never gets past that step. So in practice release 2 is browsed, one assembly at a time, and the graph itself goes unused. This talk is about removing that barrier.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 arbitrary release 2 haplotype.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What we built, in one picture. One index over the HPRC release 2 graph, a tag-array index, which I will explain in a moment. Every position in the BWT knows its graph position, and every node knows every haplotype crossing it.
Two capabilities sit on top of it. Sequence search: a sequence is mapped once, to the whole graph, every haplotype that carries it is reported, and the hit can be viewed on any of them. Coordinate translation: a locus on any haplotype is translated to any other, and the source's annotation is drawn there over an alignment built on demand.
Both run inside the UCSC Genome Browser, on the release 2 graph,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[3:15-3:50]
A brief word on the index, because everything rests on it.
Indexing a pangenome used to force a choice. An FM-index on the haplotype sequences is simple and lossless, but reports the same seed once per haplotype. An FM-index on the graph deduplicates, but needs graph transformations that are fragile and can lose parts of haplotypes. Minimizer indexes are fast, but the seed length is fixed in advance.
Tag arrays take a different route: keep the FM-index on the haplotypes, and annotate the BWT with graph positions. Lossless, deduplicated, any seed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[3:50-4:30]
This is the idea on a toy graph, and it is all you need for the rest of the talk. Three haplotypes, indexed together. Alongside the index sits the tag array: for every position, the graph node it came from.
Three consequences. One index holds all 464 haplotypes, so a sequence is found once, however many haplotypes carry it. Every match knows its node, so a hit is a position in the graph, not a line in one assembly. And every node knows its haplotypes, so we can ask who passes through a node and get each haplotype with its own coordinate. That last one is what moves a locus from one haplotype to another.
Notice what is missing: nothing anywhere says CHM13-to-HG02015. There is no pairwise index, which is why any of the 464 can be translated to any other. The details are in the paper; I am happy to go into them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[4:30-4:50]
With that one property in hand, translating a region stops being a lookup and becomes a walk. Four steps, one click each.
(click) One. Find the query interval's nodes on the source haplotype's path. The tag arrays give us those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[4:50-5:05]
Two. At those nodes, ask the tag arrays who else is standing here. Every haplotype comes back at once, including the target we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[5:05-5:30]
Three. Nodes that source and target each visit exactly once are unambiguous anchors. Orthology is inherited from the graph's alignment; what we add is that a repeat cannot manufacture a false anchor, and a colinearity check drops pairs whose spans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[5:30-5:50]
Four. Walk the graph between anchors, one base at a time, and group the bases that share an offset into blocks. A block breaks on an indel, never on a SNP; an inversion starts a new chain. That is exactly what a chain file means.
So the output is not a coordinate. It is a chain, and the browser already knows what to do with a chain. If the target does not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[5:50-7:10]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[7:45-8:20]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an arbitrary release 2 haplotype, such as HG02015,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[8:20-10:00]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[10:00-10:35]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[10:35-11:15]
Who is this for? For clinicians and curators: is this insertion private to my patient, or carried by HPRC individuals, and which ones? ClinVar and GWAS context on the haplotype that actually carries the patient's allele. And the complex loci where one reference misleads: HLA, KIR, CYP2D6, LPA, SMN, seen on many haplotypes with the reference annotation drawn there.
For researchers and graph builders: place contigs, probes, primers or guide RNAs on every haplotype at once; move any annotation, including your own tracks, onto any assembly; and inspect the graph's alignment itself, because the Alignment Differences track is the graph, drawn base by base.
No pipeline, no download. A browser tab, and a sequence or a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[12:00-12:40]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[12:40-12:55]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haplotypes in the HPRC release 2 graph</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2</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of them hold almost everything we know: GRCh38 and CHM13</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carry the annotation</a:t>
            </a:r>
            <a:endParaRPr lang="en-US" sz="1500" dirty="0"/>
          </a:p>
        </p:txBody>
      </p:sp>
      <p:sp>
        <p:nvSpPr>
          <p:cNvPr id="472" name="Text 470"/>
          <p:cNvSpPr txBox="1"/>
          <p:nvPr/>
        </p:nvSpPr>
        <p:spPr>
          <a:xfrm>
            <a:off x="6400800" y="3703320"/>
            <a:ext cx="5212080" cy="128016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Release 2 is the most complete picture of human variation we have, and the tools to work with it exist.</a:t>
            </a:r>
            <a:endParaRPr lang="en-US" sz="2100" dirty="0"/>
          </a:p>
        </p:txBody>
      </p:sp>
      <p:sp>
        <p:nvSpPr>
          <p:cNvPr id="473" name="Text 471"/>
          <p:cNvSpPr txBox="1"/>
          <p:nvPr/>
        </p:nvSpPr>
        <p:spPr>
          <a:xfrm>
            <a:off x="6400800" y="4937760"/>
            <a:ext cx="5212080" cy="1280160"/>
          </a:xfrm>
          <a:prstGeom prst="rect">
            <a:avLst/>
          </a:prstGeom>
          <a:noFill/>
          <a:ln/>
        </p:spPr>
        <p:txBody>
          <a:bodyPr wrap="square" lIns="0" tIns="0" rIns="0" bIns="0" rtlCol="0" anchor="t"/>
          <a:lstStyle/>
          <a:p>
            <a:pPr indent="0" marL="0">
              <a:buNone/>
            </a:pPr>
            <a:r>
              <a:rPr lang="en-US" sz="2100" i="1" dirty="0">
                <a:solidFill>
                  <a:srgbClr val="FDC700"/>
                </a:solidFill>
                <a:latin typeface="Calibri" pitchFamily="34" charset="0"/>
                <a:ea typeface="Calibri" pitchFamily="34" charset="-122"/>
                <a:cs typeface="Calibri" pitchFamily="34" charset="-120"/>
              </a:rPr>
              <a:t>Every one of them needs a large index, real compute, and a command-line workflow. Most clinicians and many researchers never get past that.</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 arbitrary release 2 haplotype.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capabilities on one index of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508760"/>
            <a:ext cx="11094415" cy="1234440"/>
          </a:xfrm>
          <a:prstGeom prst="roundRect">
            <a:avLst>
              <a:gd name="adj" fmla="val 8889"/>
            </a:avLst>
          </a:prstGeom>
          <a:solidFill>
            <a:srgbClr val="003C6C"/>
          </a:solidFill>
          <a:ln w="12700">
            <a:solidFill>
              <a:srgbClr val="003C6C"/>
            </a:solidFill>
            <a:prstDash val="solid"/>
          </a:ln>
        </p:spPr>
      </p:sp>
      <p:sp>
        <p:nvSpPr>
          <p:cNvPr id="5" name="Text 3"/>
          <p:cNvSpPr txBox="1"/>
          <p:nvPr/>
        </p:nvSpPr>
        <p:spPr>
          <a:xfrm>
            <a:off x="548640" y="1618488"/>
            <a:ext cx="11094415"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Tag-array index over the HPRC release 2 graph</a:t>
            </a:r>
            <a:endParaRPr lang="en-US" sz="2200" dirty="0"/>
          </a:p>
        </p:txBody>
      </p:sp>
      <p:sp>
        <p:nvSpPr>
          <p:cNvPr id="6" name="Text 4"/>
          <p:cNvSpPr txBox="1"/>
          <p:nvPr/>
        </p:nvSpPr>
        <p:spPr>
          <a:xfrm>
            <a:off x="548640" y="2130552"/>
            <a:ext cx="11094415"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464 haplotypes  •  every BWT position knows its graph position  •  every node knows every haplotype crossing it</a:t>
            </a:r>
            <a:endParaRPr lang="en-US" sz="1600" dirty="0"/>
          </a:p>
        </p:txBody>
      </p:sp>
      <p:sp>
        <p:nvSpPr>
          <p:cNvPr id="7" name="Shape 5"/>
          <p:cNvSpPr/>
          <p:nvPr/>
        </p:nvSpPr>
        <p:spPr>
          <a:xfrm>
            <a:off x="3230804" y="2743200"/>
            <a:ext cx="0" cy="457200"/>
          </a:xfrm>
          <a:prstGeom prst="line">
            <a:avLst/>
          </a:prstGeom>
          <a:noFill/>
          <a:ln w="25400">
            <a:solidFill>
              <a:srgbClr val="003C6C"/>
            </a:solidFill>
            <a:prstDash val="solid"/>
            <a:tailEnd type="triangle"/>
          </a:ln>
        </p:spPr>
      </p:sp>
      <p:sp>
        <p:nvSpPr>
          <p:cNvPr id="8" name="Shape 6"/>
          <p:cNvSpPr/>
          <p:nvPr/>
        </p:nvSpPr>
        <p:spPr>
          <a:xfrm>
            <a:off x="548640" y="3200400"/>
            <a:ext cx="5364328" cy="2651760"/>
          </a:xfrm>
          <a:prstGeom prst="roundRect">
            <a:avLst>
              <a:gd name="adj" fmla="val 4138"/>
            </a:avLst>
          </a:prstGeom>
          <a:solidFill>
            <a:srgbClr val="EDF1F6"/>
          </a:solidFill>
          <a:ln w="12700">
            <a:solidFill>
              <a:srgbClr val="DCE3EB"/>
            </a:solidFill>
            <a:prstDash val="solid"/>
          </a:ln>
        </p:spPr>
      </p:sp>
      <p:sp>
        <p:nvSpPr>
          <p:cNvPr id="9" name="Shape 7"/>
          <p:cNvSpPr/>
          <p:nvPr/>
        </p:nvSpPr>
        <p:spPr>
          <a:xfrm>
            <a:off x="868680" y="3520440"/>
            <a:ext cx="731520" cy="731520"/>
          </a:xfrm>
          <a:prstGeom prst="ellipse">
            <a:avLst/>
          </a:prstGeom>
          <a:solidFill>
            <a:srgbClr val="003C6C"/>
          </a:solidFill>
          <a:ln w="12700">
            <a:solidFill>
              <a:srgbClr val="003C6C"/>
            </a:solidFill>
            <a:prstDash val="solid"/>
          </a:ln>
        </p:spPr>
      </p:sp>
      <p:pic>
        <p:nvPicPr>
          <p:cNvPr id="10" name="Image 0" descr="preencoded.png">    </p:cNvPr>
          <p:cNvPicPr>
            <a:picLocks noChangeAspect="1"/>
          </p:cNvPicPr>
          <p:nvPr/>
        </p:nvPicPr>
        <p:blipFill>
          <a:blip r:embed="rId1"/>
          <a:stretch>
            <a:fillRect/>
          </a:stretch>
        </p:blipFill>
        <p:spPr>
          <a:xfrm>
            <a:off x="1058875" y="3710635"/>
            <a:ext cx="351130" cy="351130"/>
          </a:xfrm>
          <a:prstGeom prst="rect">
            <a:avLst/>
          </a:prstGeom>
        </p:spPr>
      </p:pic>
      <p:sp>
        <p:nvSpPr>
          <p:cNvPr id="11" name="Text 8"/>
          <p:cNvSpPr txBox="1"/>
          <p:nvPr/>
        </p:nvSpPr>
        <p:spPr>
          <a:xfrm>
            <a:off x="1828800" y="3611880"/>
            <a:ext cx="371840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12" name="Text 9"/>
          <p:cNvSpPr txBox="1"/>
          <p:nvPr/>
        </p:nvSpPr>
        <p:spPr>
          <a:xfrm>
            <a:off x="868680" y="4389120"/>
            <a:ext cx="4724248" cy="137160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 sequence is mapped once, to the whole graph. Every haplotype that carries it is reported, and the hit can be viewed on any of them.</a:t>
            </a:r>
            <a:endParaRPr lang="en-US" sz="1700" dirty="0"/>
          </a:p>
        </p:txBody>
      </p:sp>
      <p:sp>
        <p:nvSpPr>
          <p:cNvPr id="13" name="Shape 10"/>
          <p:cNvSpPr/>
          <p:nvPr/>
        </p:nvSpPr>
        <p:spPr>
          <a:xfrm>
            <a:off x="8960891" y="2743200"/>
            <a:ext cx="0" cy="457200"/>
          </a:xfrm>
          <a:prstGeom prst="line">
            <a:avLst/>
          </a:prstGeom>
          <a:noFill/>
          <a:ln w="25400">
            <a:solidFill>
              <a:srgbClr val="003C6C"/>
            </a:solidFill>
            <a:prstDash val="solid"/>
            <a:tailEnd type="triangle"/>
          </a:ln>
        </p:spPr>
      </p:sp>
      <p:sp>
        <p:nvSpPr>
          <p:cNvPr id="14" name="Shape 11"/>
          <p:cNvSpPr/>
          <p:nvPr/>
        </p:nvSpPr>
        <p:spPr>
          <a:xfrm>
            <a:off x="6278728" y="3200400"/>
            <a:ext cx="5364328" cy="2651760"/>
          </a:xfrm>
          <a:prstGeom prst="roundRect">
            <a:avLst>
              <a:gd name="adj" fmla="val 4138"/>
            </a:avLst>
          </a:prstGeom>
          <a:solidFill>
            <a:srgbClr val="EDF1F6"/>
          </a:solidFill>
          <a:ln w="12700">
            <a:solidFill>
              <a:srgbClr val="DCE3EB"/>
            </a:solidFill>
            <a:prstDash val="solid"/>
          </a:ln>
        </p:spPr>
      </p:sp>
      <p:sp>
        <p:nvSpPr>
          <p:cNvPr id="15" name="Shape 12"/>
          <p:cNvSpPr/>
          <p:nvPr/>
        </p:nvSpPr>
        <p:spPr>
          <a:xfrm>
            <a:off x="6598768" y="3520440"/>
            <a:ext cx="731520" cy="731520"/>
          </a:xfrm>
          <a:prstGeom prst="ellipse">
            <a:avLst/>
          </a:prstGeom>
          <a:solidFill>
            <a:srgbClr val="003C6C"/>
          </a:solidFill>
          <a:ln w="12700">
            <a:solidFill>
              <a:srgbClr val="003C6C"/>
            </a:solidFill>
            <a:prstDash val="solid"/>
          </a:ln>
        </p:spPr>
      </p:sp>
      <p:pic>
        <p:nvPicPr>
          <p:cNvPr id="16" name="Image 1" descr="preencoded.png">    </p:cNvPr>
          <p:cNvPicPr>
            <a:picLocks noChangeAspect="1"/>
          </p:cNvPicPr>
          <p:nvPr/>
        </p:nvPicPr>
        <p:blipFill>
          <a:blip r:embed="rId2"/>
          <a:stretch>
            <a:fillRect/>
          </a:stretch>
        </p:blipFill>
        <p:spPr>
          <a:xfrm>
            <a:off x="6788963" y="3710635"/>
            <a:ext cx="351130" cy="351130"/>
          </a:xfrm>
          <a:prstGeom prst="rect">
            <a:avLst/>
          </a:prstGeom>
        </p:spPr>
      </p:pic>
      <p:sp>
        <p:nvSpPr>
          <p:cNvPr id="17" name="Text 13"/>
          <p:cNvSpPr txBox="1"/>
          <p:nvPr/>
        </p:nvSpPr>
        <p:spPr>
          <a:xfrm>
            <a:off x="7558888" y="3611880"/>
            <a:ext cx="371840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8" name="Text 14"/>
          <p:cNvSpPr txBox="1"/>
          <p:nvPr/>
        </p:nvSpPr>
        <p:spPr>
          <a:xfrm>
            <a:off x="6598768" y="4389120"/>
            <a:ext cx="4724248" cy="137160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 locus on any haplotype is translated to any other haplotype, and the source's annotation is drawn there over an alignment built on demand.</a:t>
            </a:r>
            <a:endParaRPr lang="en-US" sz="17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run inside the UCSC Genome Browser, on the release 2 graph, today.</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Indexing a pangenome forced a trade-off</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sp>
        <p:nvSpPr>
          <p:cNvPr id="5" name="Shape 3"/>
          <p:cNvSpPr/>
          <p:nvPr/>
        </p:nvSpPr>
        <p:spPr>
          <a:xfrm>
            <a:off x="548640" y="1325880"/>
            <a:ext cx="3454298" cy="3383280"/>
          </a:xfrm>
          <a:prstGeom prst="roundRect">
            <a:avLst>
              <a:gd name="adj" fmla="val 3243"/>
            </a:avLst>
          </a:prstGeom>
          <a:solidFill>
            <a:srgbClr val="EDF1F6"/>
          </a:solidFill>
          <a:ln w="12700">
            <a:solidFill>
              <a:srgbClr val="DCE3EB"/>
            </a:solidFill>
            <a:prstDash val="solid"/>
          </a:ln>
        </p:spPr>
      </p:sp>
      <p:sp>
        <p:nvSpPr>
          <p:cNvPr id="6" name="Text 4"/>
          <p:cNvSpPr txBox="1"/>
          <p:nvPr/>
        </p:nvSpPr>
        <p:spPr>
          <a:xfrm>
            <a:off x="868680"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haplotypes</a:t>
            </a:r>
            <a:endParaRPr lang="en-US" sz="2100" dirty="0"/>
          </a:p>
        </p:txBody>
      </p:sp>
      <p:sp>
        <p:nvSpPr>
          <p:cNvPr id="7" name="Text 5"/>
          <p:cNvSpPr txBox="1"/>
          <p:nvPr/>
        </p:nvSpPr>
        <p:spPr>
          <a:xfrm>
            <a:off x="868680"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Simple and lossless, but the same seed is reported once per haplotype: 464 copies of every hit.</a:t>
            </a:r>
            <a:endParaRPr lang="en-US" sz="1600" dirty="0"/>
          </a:p>
        </p:txBody>
      </p:sp>
      <p:sp>
        <p:nvSpPr>
          <p:cNvPr id="8" name="Text 6"/>
          <p:cNvSpPr txBox="1"/>
          <p:nvPr/>
        </p:nvSpPr>
        <p:spPr>
          <a:xfrm>
            <a:off x="868680"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ropebwt3</a:t>
            </a:r>
            <a:endParaRPr lang="en-US" sz="1400" dirty="0"/>
          </a:p>
        </p:txBody>
      </p:sp>
      <p:sp>
        <p:nvSpPr>
          <p:cNvPr id="9" name="Shape 7"/>
          <p:cNvSpPr/>
          <p:nvPr/>
        </p:nvSpPr>
        <p:spPr>
          <a:xfrm>
            <a:off x="4368698" y="1325880"/>
            <a:ext cx="3454298" cy="3383280"/>
          </a:xfrm>
          <a:prstGeom prst="roundRect">
            <a:avLst>
              <a:gd name="adj" fmla="val 3243"/>
            </a:avLst>
          </a:prstGeom>
          <a:solidFill>
            <a:srgbClr val="EDF1F6"/>
          </a:solidFill>
          <a:ln w="12700">
            <a:solidFill>
              <a:srgbClr val="DCE3EB"/>
            </a:solidFill>
            <a:prstDash val="solid"/>
          </a:ln>
        </p:spPr>
      </p:sp>
      <p:sp>
        <p:nvSpPr>
          <p:cNvPr id="10" name="Text 8"/>
          <p:cNvSpPr txBox="1"/>
          <p:nvPr/>
        </p:nvSpPr>
        <p:spPr>
          <a:xfrm>
            <a:off x="4688738"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graph</a:t>
            </a:r>
            <a:endParaRPr lang="en-US" sz="2100" dirty="0"/>
          </a:p>
        </p:txBody>
      </p:sp>
      <p:sp>
        <p:nvSpPr>
          <p:cNvPr id="11" name="Text 9"/>
          <p:cNvSpPr txBox="1"/>
          <p:nvPr/>
        </p:nvSpPr>
        <p:spPr>
          <a:xfrm>
            <a:off x="4688738"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Deduplicated positions, but construction needs graph transformations that are fragile and can drop parts of haplotypes.</a:t>
            </a:r>
            <a:endParaRPr lang="en-US" sz="1600" dirty="0"/>
          </a:p>
        </p:txBody>
      </p:sp>
      <p:sp>
        <p:nvSpPr>
          <p:cNvPr id="12" name="Text 10"/>
          <p:cNvSpPr txBox="1"/>
          <p:nvPr/>
        </p:nvSpPr>
        <p:spPr>
          <a:xfrm>
            <a:off x="4688738"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HISAT2, vg map</a:t>
            </a:r>
            <a:endParaRPr lang="en-US" sz="1400" dirty="0"/>
          </a:p>
        </p:txBody>
      </p:sp>
      <p:sp>
        <p:nvSpPr>
          <p:cNvPr id="13" name="Shape 11"/>
          <p:cNvSpPr/>
          <p:nvPr/>
        </p:nvSpPr>
        <p:spPr>
          <a:xfrm>
            <a:off x="8188757" y="1325880"/>
            <a:ext cx="3454298" cy="3383280"/>
          </a:xfrm>
          <a:prstGeom prst="roundRect">
            <a:avLst>
              <a:gd name="adj" fmla="val 3243"/>
            </a:avLst>
          </a:prstGeom>
          <a:solidFill>
            <a:srgbClr val="EDF1F6"/>
          </a:solidFill>
          <a:ln w="12700">
            <a:solidFill>
              <a:srgbClr val="DCE3EB"/>
            </a:solidFill>
            <a:prstDash val="solid"/>
          </a:ln>
        </p:spPr>
      </p:sp>
      <p:sp>
        <p:nvSpPr>
          <p:cNvPr id="14" name="Text 12"/>
          <p:cNvSpPr txBox="1"/>
          <p:nvPr/>
        </p:nvSpPr>
        <p:spPr>
          <a:xfrm>
            <a:off x="8508797"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Minimizer indexes</a:t>
            </a:r>
            <a:endParaRPr lang="en-US" sz="2100" dirty="0"/>
          </a:p>
        </p:txBody>
      </p:sp>
      <p:sp>
        <p:nvSpPr>
          <p:cNvPr id="15" name="Text 13"/>
          <p:cNvSpPr txBox="1"/>
          <p:nvPr/>
        </p:nvSpPr>
        <p:spPr>
          <a:xfrm>
            <a:off x="8508797"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Fast, but the seed length is fixed in advance: a permanent trade of sensitivity for specificity.</a:t>
            </a:r>
            <a:endParaRPr lang="en-US" sz="1600" dirty="0"/>
          </a:p>
        </p:txBody>
      </p:sp>
      <p:sp>
        <p:nvSpPr>
          <p:cNvPr id="16" name="Text 14"/>
          <p:cNvSpPr txBox="1"/>
          <p:nvPr/>
        </p:nvSpPr>
        <p:spPr>
          <a:xfrm>
            <a:off x="8508797"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vg giraffe</a:t>
            </a:r>
            <a:endParaRPr lang="en-US" sz="1400" dirty="0"/>
          </a:p>
        </p:txBody>
      </p:sp>
      <p:sp>
        <p:nvSpPr>
          <p:cNvPr id="17" name="Shape 15"/>
          <p:cNvSpPr/>
          <p:nvPr/>
        </p:nvSpPr>
        <p:spPr>
          <a:xfrm>
            <a:off x="548640" y="5029200"/>
            <a:ext cx="11094415" cy="960120"/>
          </a:xfrm>
          <a:prstGeom prst="roundRect">
            <a:avLst>
              <a:gd name="adj" fmla="val 11429"/>
            </a:avLst>
          </a:prstGeom>
          <a:solidFill>
            <a:srgbClr val="06294A"/>
          </a:solidFill>
          <a:ln w="12700">
            <a:solidFill>
              <a:srgbClr val="06294A"/>
            </a:solidFill>
            <a:prstDash val="solid"/>
          </a:ln>
        </p:spPr>
      </p:sp>
      <p:sp>
        <p:nvSpPr>
          <p:cNvPr id="18" name="Text 16"/>
          <p:cNvSpPr txBox="1"/>
          <p:nvPr/>
        </p:nvSpPr>
        <p:spPr>
          <a:xfrm>
            <a:off x="914400" y="5029200"/>
            <a:ext cx="10362895"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Tag arrays: keep the FM-index on the haplotypes, annotate the BWT with graph positions. Lossless, deduplicated, any seed length.</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an index that knows the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463040"/>
            <a:ext cx="7040880" cy="4684192"/>
          </a:xfrm>
          <a:prstGeom prst="rect">
            <a:avLst/>
          </a:prstGeom>
        </p:spPr>
      </p:pic>
      <p:sp>
        <p:nvSpPr>
          <p:cNvPr id="6" name="Text 3"/>
          <p:cNvSpPr txBox="1"/>
          <p:nvPr/>
        </p:nvSpPr>
        <p:spPr>
          <a:xfrm>
            <a:off x="8046720" y="146304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One index, all 464 haplotypes</a:t>
            </a:r>
            <a:endParaRPr lang="en-US" sz="1800" dirty="0"/>
          </a:p>
        </p:txBody>
      </p:sp>
      <p:sp>
        <p:nvSpPr>
          <p:cNvPr id="7" name="Text 4"/>
          <p:cNvSpPr txBox="1"/>
          <p:nvPr/>
        </p:nvSpPr>
        <p:spPr>
          <a:xfrm>
            <a:off x="8046720" y="184708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Every haplotype's sequence, indexed together. A sequence is found once, however many haplotypes carry it.</a:t>
            </a:r>
            <a:endParaRPr lang="en-US" sz="1500" dirty="0"/>
          </a:p>
        </p:txBody>
      </p:sp>
      <p:sp>
        <p:nvSpPr>
          <p:cNvPr id="8" name="Text 5"/>
          <p:cNvSpPr txBox="1"/>
          <p:nvPr/>
        </p:nvSpPr>
        <p:spPr>
          <a:xfrm>
            <a:off x="8046720" y="292608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Every match knows its node</a:t>
            </a:r>
            <a:endParaRPr lang="en-US" sz="1800" dirty="0"/>
          </a:p>
        </p:txBody>
      </p:sp>
      <p:sp>
        <p:nvSpPr>
          <p:cNvPr id="9" name="Text 6"/>
          <p:cNvSpPr txBox="1"/>
          <p:nvPr/>
        </p:nvSpPr>
        <p:spPr>
          <a:xfrm>
            <a:off x="8046720" y="331012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Each position in the index is tagged with its place in the graph. A hit is a graph position, not a line in one assembly.</a:t>
            </a:r>
            <a:endParaRPr lang="en-US" sz="1500" dirty="0"/>
          </a:p>
        </p:txBody>
      </p:sp>
      <p:sp>
        <p:nvSpPr>
          <p:cNvPr id="10" name="Text 7"/>
          <p:cNvSpPr txBox="1"/>
          <p:nvPr/>
        </p:nvSpPr>
        <p:spPr>
          <a:xfrm>
            <a:off x="8046720" y="438912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Every node knows its haplotypes</a:t>
            </a:r>
            <a:endParaRPr lang="en-US" sz="1800" dirty="0"/>
          </a:p>
        </p:txBody>
      </p:sp>
      <p:sp>
        <p:nvSpPr>
          <p:cNvPr id="11" name="Text 8"/>
          <p:cNvSpPr txBox="1"/>
          <p:nvPr/>
        </p:nvSpPr>
        <p:spPr>
          <a:xfrm>
            <a:off x="8046720" y="477316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Ask a node who passes through it and get every haplotype, with its own coordinate. That is what moves a locus from one haplotype to another.</a:t>
            </a:r>
            <a:endParaRPr lang="en-US" sz="1500" dirty="0"/>
          </a:p>
        </p:txBody>
      </p:sp>
      <p:sp>
        <p:nvSpPr>
          <p:cNvPr id="12" name="Shape 9"/>
          <p:cNvSpPr/>
          <p:nvPr/>
        </p:nvSpPr>
        <p:spPr>
          <a:xfrm>
            <a:off x="8046720" y="5760720"/>
            <a:ext cx="3596335" cy="548640"/>
          </a:xfrm>
          <a:prstGeom prst="roundRect">
            <a:avLst>
              <a:gd name="adj" fmla="val 20000"/>
            </a:avLst>
          </a:prstGeom>
          <a:solidFill>
            <a:srgbClr val="EDF1F6"/>
          </a:solidFill>
          <a:ln w="12700">
            <a:solidFill>
              <a:srgbClr val="DCE3EB"/>
            </a:solidFill>
            <a:prstDash val="solid"/>
          </a:ln>
        </p:spPr>
      </p:sp>
      <p:sp>
        <p:nvSpPr>
          <p:cNvPr id="13" name="Text 10"/>
          <p:cNvSpPr txBox="1"/>
          <p:nvPr/>
        </p:nvSpPr>
        <p:spPr>
          <a:xfrm>
            <a:off x="8046720" y="5760720"/>
            <a:ext cx="3596335" cy="548640"/>
          </a:xfrm>
          <a:prstGeom prst="rect">
            <a:avLst/>
          </a:prstGeom>
          <a:noFill/>
          <a:ln/>
        </p:spPr>
        <p:txBody>
          <a:bodyPr wrap="square" lIns="0" tIns="0" rIns="0" bIns="0" rtlCol="0" anchor="ctr"/>
          <a:lstStyle/>
          <a:p>
            <a:pPr algn="ctr" indent="0" marL="0">
              <a:buNone/>
            </a:pPr>
            <a:r>
              <a:rPr lang="en-US" sz="1400" b="1" dirty="0">
                <a:solidFill>
                  <a:srgbClr val="003C6C"/>
                </a:solidFill>
                <a:latin typeface="Calibri" pitchFamily="34" charset="0"/>
                <a:ea typeface="Calibri" pitchFamily="34" charset="-122"/>
                <a:cs typeface="Calibri" pitchFamily="34" charset="-120"/>
              </a:rPr>
              <a:t>Any haplotype to any other. No pairwise index.</a:t>
            </a:r>
            <a:endParaRPr lang="en-US" sz="1400" dirty="0"/>
          </a:p>
        </p:txBody>
      </p:sp>
      <p:sp>
        <p:nvSpPr>
          <p:cNvPr id="14" name="Text 11"/>
          <p:cNvSpPr txBox="1"/>
          <p:nvPr/>
        </p:nvSpPr>
        <p:spPr>
          <a:xfrm>
            <a:off x="548640" y="6400800"/>
            <a:ext cx="11094415" cy="3657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1 of 4</a:t>
            </a:r>
            <a:endParaRPr lang="en-US" sz="1600" dirty="0"/>
          </a:p>
        </p:txBody>
      </p:sp>
      <p:pic>
        <p:nvPicPr>
          <p:cNvPr id="5"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6" name="Shape 3"/>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Find the query's nodes on the source path.</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2 of 4</a:t>
            </a:r>
            <a:endParaRPr lang="en-US" sz="1600" dirty="0"/>
          </a:p>
        </p:txBody>
      </p:sp>
      <p:pic>
        <p:nvPicPr>
          <p:cNvPr id="5"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Ask the tag arrays who else is here.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3 of 4</a:t>
            </a:r>
            <a:endParaRPr lang="en-US" sz="1600" dirty="0"/>
          </a:p>
        </p:txBody>
      </p:sp>
      <p:pic>
        <p:nvPicPr>
          <p:cNvPr id="5"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Nodes both visit exactly once: unambiguous anchors.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4 of 4</a:t>
            </a:r>
            <a:endParaRPr lang="en-US" sz="1600" dirty="0"/>
          </a:p>
        </p:txBody>
      </p:sp>
      <p:pic>
        <p:nvPicPr>
          <p:cNvPr id="5"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EDF1F6"/>
          </a:solidFill>
          <a:ln w="12700">
            <a:solidFill>
              <a:srgbClr val="DCE3EB"/>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5" name="Shape 12"/>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6" name="Text 13"/>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7" name="Text 14"/>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8"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an arbitrary release 2 haplotype, such as HG02015,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Who this is for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17</a:t>
            </a:r>
            <a:endParaRPr lang="en-US" sz="1000" dirty="0"/>
          </a:p>
        </p:txBody>
      </p:sp>
      <p:sp>
        <p:nvSpPr>
          <p:cNvPr id="4" name="Shape 2"/>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Clinicians and variant curators</a:t>
            </a:r>
            <a:endParaRPr lang="en-US" sz="2100" dirty="0"/>
          </a:p>
        </p:txBody>
      </p:sp>
      <p:sp>
        <p:nvSpPr>
          <p:cNvPr id="8" name="Text 5"/>
          <p:cNvSpPr txBox="1"/>
          <p:nvPr/>
        </p:nvSpPr>
        <p:spPr>
          <a:xfrm>
            <a:off x="868680"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Is this insertion or SV sequence private to my patient, or carried by HPRC individuals? Which ones?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ClinVar and GWAS context on the haplotype that actually carries the patient's allele.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Loci where one reference misleads: HLA, KIR, CYP2D6, LPA, SMN1/2, seen on many haplotypes with the reference annotation drawn there.</a:t>
            </a:r>
            <a:endParaRPr lang="en-US" sz="1600" dirty="0"/>
          </a:p>
        </p:txBody>
      </p:sp>
      <p:sp>
        <p:nvSpPr>
          <p:cNvPr id="9" name="Shape 6"/>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Researchers and graph builders</a:t>
            </a:r>
            <a:endParaRPr lang="en-US" sz="2100" dirty="0"/>
          </a:p>
        </p:txBody>
      </p:sp>
      <p:sp>
        <p:nvSpPr>
          <p:cNvPr id="13" name="Text 9"/>
          <p:cNvSpPr txBox="1"/>
          <p:nvPr/>
        </p:nvSpPr>
        <p:spPr>
          <a:xfrm>
            <a:off x="6598768"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Place contigs, probes, primers or guide RNAs on every haplotype at once; see which haplotypes lack the site.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Move any reference annotation, or your own tracks, onto any assembly; compare a locus across individuals.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Inspect the graph's alignment itself: the Alignment Differences track is the graph, drawn base by base.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No pipeline, no download: a browser tab, and a sequence or a position.</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18</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20</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21</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24</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25</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2026-09-04T21:18:40Z</dcterms:created>
  <dcterms:modified xsi:type="dcterms:W3CDTF">2026-09-04T21:18:40Z</dcterms:modified>
</cp:coreProperties>
</file>
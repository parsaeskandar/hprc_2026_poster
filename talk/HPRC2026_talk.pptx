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who you are, joint work with Jouni and the Genome Browser team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what a researcher cannot do here today
- BLAT searches one assembly; lift-over needs a prebuilt chain; 56 chains vs 200,000+ pairs
- the graph aligns all 464 already, but nothing in the browser uses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use case 1: a sequence not in the reference; which haplotypes carry it, and where
- use case 2: a locus known on GRCh38; see it on another haplotype with the annotation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paste, map once to the whole graph
- results: which haplotypes, ranked by identity
- click one: the sequence as a track on that haplotype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HG01167 hap1 and HG04157 paternal; not GRCh38
- one search instead of 464
- MAPQ is 0 by design in a graph this redundant; identity and coverage carry the ranking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source: the gene on the reference; target: HG02015 paternal, any of 464
- about 100 ms
- landing: reference tracks drawn on HG02015; differences marked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genes, ClinVar, your own tracks, drawn on a haplotype that had no chain
- Alignment Differences track: insertions, deletions, mismatches, base by base
- any of the 464 as the target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one FM-index over all 464 haplotypes; a sequence is found once
- the tag: which node and offset each BWT position came from, so a match is a graph position
- from a node, every haplotype passing through it and where; that is what moves a locus
- no pairwise anything: any haplotype to any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the query interval, projected onto the source haplotype's path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at those nodes: every haplotype standing there, target included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a node both paths visit exactly once cannot be a false anchor; orthology comes from the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walk base by base; a block breaks on an indel, never a SNP; the output is a chain, and the browser knows chains
- missing positions are possible, invented ones are not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a gene in a tenth of a second; a megabase in seconds
- about 60 queries a second per server
- everything is built when the page loads; nothing is precomputed per pair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what is done, what is planned
- invite people to try it on the development browser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points:
- thanks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the worked toy example from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sizes and costs for questions about what it takes to run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2331720"/>
            <a:ext cx="12191695" cy="27432"/>
          </a:xfrm>
          <a:prstGeom prst="rect">
            <a:avLst/>
          </a:prstGeom>
          <a:solidFill>
            <a:srgbClr val="0E7C9C"/>
          </a:solidFill>
          <a:ln w="12700">
            <a:solidFill>
              <a:srgbClr val="0E7C9C"/>
            </a:solidFill>
            <a:prstDash val="solid"/>
          </a:ln>
        </p:spPr>
      </p:sp>
      <p:pic>
        <p:nvPicPr>
          <p:cNvPr id="4" name="Image 0" descr="/Users/seeskand/Documents/HPRC/2026/hprc_2026_poster/talk/figures/em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855" y="1757997"/>
            <a:ext cx="5029200" cy="1174879"/>
          </a:xfrm>
          <a:prstGeom prst="rect">
            <a:avLst/>
          </a:prstGeom>
        </p:spPr>
      </p:pic>
      <p:pic>
        <p:nvPicPr>
          <p:cNvPr id="5" name="Image 1" descr="/Users/seeskand/Documents/HPRC/2026/hprc_2026_poster/talk/figures/hprc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10627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D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HPRC 2026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6060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pangenome sequence search and coordinate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service for the UCSC Genome Browser</a:t>
            </a:r>
            <a:endParaRPr lang="en-US" sz="3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532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Parsa Eskandar   •   Jouni Sirén   •   Benedict Paten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Santa Cruz Genomics Institute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Genome Browser today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904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sequence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928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BLAT: one assembly at a time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640080" cy="64008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309250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90779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locus to another assembly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31012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QuickLift: only where a chain exists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343400"/>
            <a:ext cx="640080" cy="64008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450982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3251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release 2 graph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7274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700" dirty="0"/>
          </a:p>
        </p:txBody>
      </p:sp>
      <p:pic>
        <p:nvPicPr>
          <p:cNvPr id="16" name="Image 3" descr="/Users/seeskand/Documents/HPRC/2026/hprc_2026_poster/talk/figures/gri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74520"/>
            <a:ext cx="5516575" cy="19465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26480" y="4003960"/>
            <a:ext cx="5516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 haplotypes make 200,000+ assembly pairs. Chains exist for 56 of them.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 cases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566160"/>
          </a:xfrm>
          <a:prstGeom prst="roundRect">
            <a:avLst>
              <a:gd name="adj" fmla="val 3077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762" y="2168042"/>
            <a:ext cx="373075" cy="37307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35728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3572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97180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search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6576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that is not in GRCh38.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114800"/>
            <a:ext cx="472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464 haplotypes carry it?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278728" y="1600200"/>
            <a:ext cx="5364328" cy="3566160"/>
          </a:xfrm>
          <a:prstGeom prst="roundRect">
            <a:avLst>
              <a:gd name="adj" fmla="val 3077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98768" y="1965960"/>
            <a:ext cx="777240" cy="777240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2168042"/>
            <a:ext cx="373075" cy="37307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865815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0865815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98768" y="2971800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translation</a:t>
            </a:r>
            <a:endParaRPr lang="en-US" sz="2600" dirty="0"/>
          </a:p>
        </p:txBody>
      </p:sp>
      <p:sp>
        <p:nvSpPr>
          <p:cNvPr id="18" name="Text 14"/>
          <p:cNvSpPr txBox="1"/>
          <p:nvPr/>
        </p:nvSpPr>
        <p:spPr>
          <a:xfrm>
            <a:off x="6598768" y="3657600"/>
            <a:ext cx="4724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 on GRCh38.</a:t>
            </a:r>
            <a:endParaRPr lang="en-US" sz="1900" dirty="0"/>
          </a:p>
        </p:txBody>
      </p:sp>
      <p:sp>
        <p:nvSpPr>
          <p:cNvPr id="19" name="Text 15"/>
          <p:cNvSpPr txBox="1"/>
          <p:nvPr/>
        </p:nvSpPr>
        <p:spPr>
          <a:xfrm>
            <a:off x="6598768" y="4114800"/>
            <a:ext cx="4724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on HG02015, with its annotation.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sequence search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44168" y="1325880"/>
            <a:ext cx="9103360" cy="5120640"/>
          </a:xfrm>
          <a:prstGeom prst="roundRect">
            <a:avLst>
              <a:gd name="adj" fmla="val 2143"/>
            </a:avLst>
          </a:prstGeom>
          <a:solidFill>
            <a:srgbClr val="06294A"/>
          </a:solidFill>
          <a:ln w="12700">
            <a:solidFill>
              <a:srgbClr val="062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8648" y="3337560"/>
            <a:ext cx="914400" cy="914400"/>
          </a:xfrm>
          <a:prstGeom prst="ellipse">
            <a:avLst/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940400" y="3593592"/>
            <a:ext cx="384048" cy="402336"/>
          </a:xfrm>
          <a:prstGeom prst="triangle">
            <a:avLst/>
          </a:prstGeom>
          <a:solidFill>
            <a:srgbClr val="06294A"/>
          </a:solidFill>
          <a:ln w="12700">
            <a:solidFill>
              <a:srgbClr val="062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44168" y="5577840"/>
            <a:ext cx="910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recording: Pangenome Mapping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44168" y="5943600"/>
            <a:ext cx="910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scenario1.mp4 into talk/figures/videos and rebuild, or Insert &gt; Video here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464 haplotypes carry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550956" y="1325880"/>
            <a:ext cx="7089783" cy="4572000"/>
          </a:xfrm>
          <a:prstGeom prst="roundRect">
            <a:avLst>
              <a:gd name="adj" fmla="val 2400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260" y="1417320"/>
            <a:ext cx="100584" cy="100584"/>
          </a:xfrm>
          <a:prstGeom prst="ellipse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61852" y="1417320"/>
            <a:ext cx="100584" cy="100584"/>
          </a:xfrm>
          <a:prstGeom prst="ellipse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26444" y="1417320"/>
            <a:ext cx="100584" cy="100584"/>
          </a:xfrm>
          <a:prstGeom prst="ellipse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8196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genome.ucsc.edu</a:t>
            </a:r>
            <a:endParaRPr lang="en-US" sz="900" dirty="0"/>
          </a:p>
        </p:txBody>
      </p:sp>
      <p:pic>
        <p:nvPicPr>
          <p:cNvPr id="10" name="Image 0" descr="/Users/seeskand/Documents/HPRC/2026/hprc_2026_poster/talk/figures/crop_mapping_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0684" y="1636776"/>
            <a:ext cx="6870327" cy="2251199"/>
          </a:xfrm>
          <a:prstGeom prst="rect">
            <a:avLst/>
          </a:prstGeom>
        </p:spPr>
      </p:pic>
      <p:pic>
        <p:nvPicPr>
          <p:cNvPr id="11" name="Image 1" descr="/Users/seeskand/Documents/HPRC/2026/hprc_2026_poster/talk/figures/crop_seqtr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84" y="3997703"/>
            <a:ext cx="6870327" cy="179044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" y="6080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GRCh38 is not one of them.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coordinate translation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44168" y="1325880"/>
            <a:ext cx="9103360" cy="5120640"/>
          </a:xfrm>
          <a:prstGeom prst="roundRect">
            <a:avLst>
              <a:gd name="adj" fmla="val 2143"/>
            </a:avLst>
          </a:prstGeom>
          <a:solidFill>
            <a:srgbClr val="06294A"/>
          </a:solidFill>
          <a:ln w="12700">
            <a:solidFill>
              <a:srgbClr val="0629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38648" y="3337560"/>
            <a:ext cx="914400" cy="914400"/>
          </a:xfrm>
          <a:prstGeom prst="ellipse">
            <a:avLst/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5940400" y="3593592"/>
            <a:ext cx="384048" cy="402336"/>
          </a:xfrm>
          <a:prstGeom prst="triangle">
            <a:avLst/>
          </a:prstGeom>
          <a:solidFill>
            <a:srgbClr val="06294A"/>
          </a:solidFill>
          <a:ln w="12700">
            <a:solidFill>
              <a:srgbClr val="0629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44168" y="5577840"/>
            <a:ext cx="910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6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recording: coordinate translation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44168" y="5943600"/>
            <a:ext cx="910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scenario2.mp4 into talk/figures/videos and rebuild, or Insert &gt; Video here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reference's tracks, on HG02015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3819826"/>
          </a:xfrm>
          <a:prstGeom prst="roundRect">
            <a:avLst>
              <a:gd name="adj" fmla="val 2873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" y="1417320"/>
            <a:ext cx="100584" cy="100584"/>
          </a:xfrm>
          <a:prstGeom prst="ellipse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1417320"/>
            <a:ext cx="100584" cy="100584"/>
          </a:xfrm>
          <a:prstGeom prst="ellipse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417320"/>
            <a:ext cx="100584" cy="100584"/>
          </a:xfrm>
          <a:prstGeom prst="ellipse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353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genome.ucsc.edu</a:t>
            </a:r>
            <a:endParaRPr lang="en-US" sz="900" dirty="0"/>
          </a:p>
        </p:txBody>
      </p:sp>
      <p:pic>
        <p:nvPicPr>
          <p:cNvPr id="10" name="Image 0" descr="/Users/seeskand/Documents/HPRC/2026/hprc_2026_poster/talk/figures/crop_lif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36776"/>
            <a:ext cx="10874959" cy="33992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" y="542002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chain existed for this pair. The alignment was built for this region when the page loaded.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one index over the whole graph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arrays</a:t>
            </a:r>
            <a:endParaRPr lang="en-US" sz="1600" dirty="0"/>
          </a:p>
        </p:txBody>
      </p:sp>
      <p:pic>
        <p:nvPicPr>
          <p:cNvPr id="5" name="Image 0" descr="/Users/seeskand/Documents/HPRC/2026/hprc_2026_poster/talk/figures/own/tag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910129" cy="3931920"/>
          </a:xfrm>
          <a:prstGeom prst="rect">
            <a:avLst/>
          </a:prstGeom>
        </p:spPr>
      </p:pic>
      <p:pic>
        <p:nvPicPr>
          <p:cNvPr id="6" name="Image 1" descr="/Users/seeskand/Documents/HPRC/2026/hprc_2026_poster/talk/figures/bwt_c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409" y="1371600"/>
            <a:ext cx="1473718" cy="3931920"/>
          </a:xfrm>
          <a:prstGeom prst="rect">
            <a:avLst/>
          </a:prstGeom>
        </p:spPr>
      </p:pic>
      <p:pic>
        <p:nvPicPr>
          <p:cNvPr id="7" name="Image 2" descr="/Users/seeskand/Documents/HPRC/2026/hprc_2026_poster/talk/figures/tags_c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87" y="1371600"/>
            <a:ext cx="846135" cy="393192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BWT position carries a tag: its node and offset in the graph.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6446520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Eskandar, Paten, Sirén. Lossless pangenome indexing using tag arrays. WABI 2025; Algorithms for Molecular Biology 2026.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region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4</a:t>
            </a:r>
            <a:endParaRPr lang="en-US" sz="1600" dirty="0"/>
          </a:p>
        </p:txBody>
      </p:sp>
      <p:pic>
        <p:nvPicPr>
          <p:cNvPr id="5" name="Image 0" descr="/Users/seeskand/Documents/HPRC/2026/hprc_2026_poster/talk/figures/translation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992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00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581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query's nodes on the source path.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region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of 4</a:t>
            </a:r>
            <a:endParaRPr lang="en-US" sz="1600" dirty="0"/>
          </a:p>
        </p:txBody>
      </p:sp>
      <p:pic>
        <p:nvPicPr>
          <p:cNvPr id="5" name="Image 0" descr="/Users/seeskand/Documents/HPRC/2026/hprc_2026_poster/talk/figures/translation_ste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992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00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581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query's nodes on the source path.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95360" y="2743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724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tag arrays who else is here.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region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of 4</a:t>
            </a:r>
            <a:endParaRPr lang="en-US" sz="1600" dirty="0"/>
          </a:p>
        </p:txBody>
      </p:sp>
      <p:pic>
        <p:nvPicPr>
          <p:cNvPr id="5" name="Image 0" descr="/Users/seeskand/Documents/HPRC/2026/hprc_2026_poster/talk/figures/translation_ste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992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00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581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query's nodes on the source path.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95360" y="2743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724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tag arrays who else is here.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3886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3867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both visit exactly once: anchors.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 region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of 4</a:t>
            </a:r>
            <a:endParaRPr lang="en-US" sz="1600" dirty="0"/>
          </a:p>
        </p:txBody>
      </p:sp>
      <p:pic>
        <p:nvPicPr>
          <p:cNvPr id="5" name="Image 0" descr="/Users/seeskand/Documents/HPRC/2026/hprc_2026_poster/talk/figures/translation_ste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680960" cy="49921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95360" y="1600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95360" y="1600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581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query's nodes on the source path.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595360" y="2743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95360" y="2743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724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tag arrays who else is here.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595360" y="3886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95360" y="3886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3867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both visit exactly once: anchors.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95360" y="502920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5010912"/>
            <a:ext cx="24533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between anchors; shared offsets become chain blocks.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a web page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latency, median (log scale)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77440" y="2011680"/>
            <a:ext cx="0" cy="3566160"/>
          </a:xfrm>
          <a:prstGeom prst="line">
            <a:avLst/>
          </a:prstGeom>
          <a:noFill/>
          <a:ln w="12700">
            <a:solidFill>
              <a:srgbClr val="D9E1E9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920240" y="5669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93920" y="2011680"/>
            <a:ext cx="0" cy="3566160"/>
          </a:xfrm>
          <a:prstGeom prst="line">
            <a:avLst/>
          </a:prstGeom>
          <a:noFill/>
          <a:ln w="12700">
            <a:solidFill>
              <a:srgbClr val="D9E1E9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4236720" y="5669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10400" y="2011680"/>
            <a:ext cx="0" cy="3566160"/>
          </a:xfrm>
          <a:prstGeom prst="line">
            <a:avLst/>
          </a:prstGeom>
          <a:noFill/>
          <a:ln w="12700">
            <a:solidFill>
              <a:srgbClr val="D9E1E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553200" y="5669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0" y="2011680"/>
            <a:ext cx="0" cy="3566160"/>
          </a:xfrm>
          <a:prstGeom prst="line">
            <a:avLst/>
          </a:prstGeom>
          <a:noFill/>
          <a:ln w="12700">
            <a:solidFill>
              <a:srgbClr val="D9E1E9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869680" y="5669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 kb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77440" y="2423160"/>
            <a:ext cx="746415" cy="0"/>
          </a:xfrm>
          <a:prstGeom prst="line">
            <a:avLst/>
          </a:prstGeom>
          <a:noFill/>
          <a:ln w="38100">
            <a:solidFill>
              <a:srgbClr val="B8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4127" y="2313432"/>
            <a:ext cx="219456" cy="219456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25023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kb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377440" y="3337560"/>
            <a:ext cx="2457085" cy="0"/>
          </a:xfrm>
          <a:prstGeom prst="line">
            <a:avLst/>
          </a:prstGeom>
          <a:noFill/>
          <a:ln w="38100">
            <a:solidFill>
              <a:srgbClr val="B8C7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24797" y="3227832"/>
            <a:ext cx="219456" cy="219456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35693" y="3154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kb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377440" y="4251960"/>
            <a:ext cx="4117374" cy="0"/>
          </a:xfrm>
          <a:prstGeom prst="line">
            <a:avLst/>
          </a:prstGeom>
          <a:noFill/>
          <a:ln w="38100">
            <a:solidFill>
              <a:srgbClr val="B8C7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5086" y="4142232"/>
            <a:ext cx="219456" cy="219456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95982" y="40690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983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Mb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377440" y="5166360"/>
            <a:ext cx="6100377" cy="0"/>
          </a:xfrm>
          <a:prstGeom prst="line">
            <a:avLst/>
          </a:prstGeom>
          <a:noFill/>
          <a:ln w="38100">
            <a:solidFill>
              <a:srgbClr val="B8C7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8089" y="5056632"/>
            <a:ext cx="219456" cy="219456"/>
          </a:xfrm>
          <a:prstGeom prst="ellipse">
            <a:avLst/>
          </a:prstGeom>
          <a:solidFill>
            <a:srgbClr val="003C6C"/>
          </a:solidFill>
          <a:ln w="12700">
            <a:solidFill>
              <a:srgbClr val="003C6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78985" y="49834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60 queries per second on one server.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spc="300" kern="0" dirty="0">
                <a:solidFill>
                  <a:srgbClr val="FDC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release in the UCSC Genome Browser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6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development browser now.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12191695" cy="27432"/>
          </a:xfrm>
          <a:prstGeom prst="rect">
            <a:avLst/>
          </a:prstGeom>
          <a:solidFill>
            <a:srgbClr val="0E7C9C"/>
          </a:solidFill>
          <a:ln w="12700">
            <a:solidFill>
              <a:srgbClr val="0E7C9C"/>
            </a:solidFill>
            <a:prstDash val="solid"/>
          </a:ln>
        </p:spPr>
      </p:sp>
      <p:pic>
        <p:nvPicPr>
          <p:cNvPr id="4" name="Image 0" descr="/Users/seeskand/Documents/HPRC/2026/hprc_2026_poster/talk/figures/emble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3855" y="1529397"/>
            <a:ext cx="5029200" cy="1174879"/>
          </a:xfrm>
          <a:prstGeom prst="rect">
            <a:avLst/>
          </a:prstGeom>
        </p:spPr>
      </p:pic>
      <p:pic>
        <p:nvPicPr>
          <p:cNvPr id="5" name="Image 1" descr="/Users/seeskand/Documents/HPRC/2026/hprc_2026_poster/talk/figures/hprc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10627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24688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2918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DC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seeskand@ucsc.edu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94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DC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github.com/parsaeskandar/pangenome-index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110944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Jouni Sirén  •  Benedict Paten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6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Santa Cruz Computational Genomics Lab: Adam Novak, Glenn Hickey, Zia Truong, Mark Diekhans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6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UCSC Genome Browser team  •  The Human Pangenome Reference Consortium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394960" y="3063240"/>
            <a:ext cx="45720" cy="685800"/>
          </a:xfrm>
          <a:prstGeom prst="rect">
            <a:avLst/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23560" y="30175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translation on a toy graph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631375" y="3840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arrays</a:t>
            </a:r>
            <a:endParaRPr lang="en-US" sz="1600" dirty="0"/>
          </a:p>
        </p:txBody>
      </p:sp>
      <p:pic>
        <p:nvPicPr>
          <p:cNvPr id="5" name="Image 0" descr="/Users/seeskand/Documents/HPRC/2026/hprc_2026_poster/talk/figures/own/tag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48840"/>
            <a:ext cx="6400800" cy="249333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06640" y="141732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1399032"/>
            <a:ext cx="3642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source interval with the r-index; collect the sampled tags: nodes b, e, f.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06640" y="260604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2587752"/>
            <a:ext cx="3642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tag lists every haplotype at that graph position. Purple stands on b and f.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406640" y="379476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3776472"/>
            <a:ext cx="3642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both visit exactly once anchor the paths: b and f.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406640" y="4983480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DC700"/>
          </a:solidFill>
          <a:ln w="12700">
            <a:solidFill>
              <a:srgbClr val="FDC7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4965192"/>
            <a:ext cx="36420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8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between anchors; orange 5 sits on node e, which purple never visits: no position, never a wrong one.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9912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by the numbers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E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148M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in the HPRC v2.0 Minigraph-Cactus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90824" y="132588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0824" y="16459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619424" y="24688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haplotypes indexed, CHM13 and GRCh38 included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132588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3008" y="16459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Tbp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4688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sequence in the index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75191" y="132588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5191" y="164592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B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9303791" y="246888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array runs (4.9 B BWT runs)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14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GiB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array index; 23 GiB sampled tag array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390824" y="379476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90824" y="4114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GB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3619424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for the running 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3008" y="379476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4114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/ s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461608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queries per second on one server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75191" y="3794760"/>
            <a:ext cx="2567864" cy="2148840"/>
          </a:xfrm>
          <a:prstGeom prst="roundRect">
            <a:avLst>
              <a:gd name="adj" fmla="val 5106"/>
            </a:avLst>
          </a:prstGeom>
          <a:solidFill>
            <a:srgbClr val="EDF1F6"/>
          </a:solidFill>
          <a:ln w="12700">
            <a:solidFill>
              <a:srgbClr val="DCE3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75191" y="41148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7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ms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9303791" y="493776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translate a 10 kb gene to any haplotype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pangenome sequence search and coordinate translation service for the UCSC Genome Browser</dc:title>
  <dc:subject>PptxGenJS Presentation</dc:subject>
  <dc:creator>Parsa Eskandar</dc:creator>
  <cp:lastModifiedBy>Parsa Eskandar</cp:lastModifiedBy>
  <cp:revision>1</cp:revision>
  <dcterms:created xsi:type="dcterms:W3CDTF">2026-09-07T23:06:55Z</dcterms:created>
  <dcterms:modified xsi:type="dcterms:W3CDTF">2026-09-07T23:06:55Z</dcterms:modified>
</cp:coreProperties>
</file>
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Talking points:
- who you are, joint work with Jouni and the Genome Browser team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Talking points:
- what a researcher cannot do here today
- no search across haplotypes: BLAT is one assembly at a time
- no lift-over to a haplotype without a prebuilt chain: 56 chains, 200,000+ pairs
- the graph aligns all 464 already; nothing in the browser uses it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Talking points:
- use case 1: a sequence not in the reference; which haplotypes carry it, and where
- use case 2: a locus known on GRCh38; see it on another haplotype with the annotation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Talking points:
- paste, map once to the whole graph
- results: which haplotypes, ranked by identity
- click one: the sequence as a track on that haplotype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Talking points:
- HG01167 hap1 and HG04157 paternal; not GRCh38
- one search instead of 464
- MAPQ is 0 by design in a graph this redundant; identity and coverage carry the ranking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Talking points:
- source: the gene on the reference; target: HG02015 paternal, any of 464
- about 100 ms
- landing: reference tracks drawn on HG02015; differences marked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Talking points:
- genes, ClinVar, your own tracks, drawn on a haplotype that had no chain
- Alignment Differences track: insertions, deletions, mismatches, base by base
- any of the 464 as the target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Talking points:
- one FM-index over all 464 haplotypes; a sequence is found once
- the tag: which node and offset each BWT position came from, so a match is a graph position
- from a node, every haplotype passing through it and where; that is what moves a locus
- no pairwise anything: any haplotype to any other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Talking points:
- the query interval, projected onto the source haplotype's path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Talking points:
- at those nodes: every haplotype standing there, target included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Talking points:
- a node both paths visit exactly once cannot be a false anchor; orthology comes from the graph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Talking points:
- walk base by base; a block breaks on an indel, never a SNP; the output is a chain, and the browser knows chains
- missing positions are possible, invented ones are not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Talking points:
- a gene in a tenth of a second; a megabase in seconds
- about 60 queries a second per server
- everything is built when the page loads; nothing is precomputed per pair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Talking points:
- release: both tools in the public browser; development browser today
- translation already flows from In Other Genomes; it should be invisible everywhere
- HPRC variant tracks on GRCh38: click a variant, see its release 2 carriers, go there
- pclai local ancestry: color the carriers; helps pick which haplotypes to look at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Talking points:
- thanks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Backup slides follow.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Backup: the worked toy example from the paper.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Backup: sizes and costs for questions about what it takes to run this.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629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18585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3D5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0" y="2331720"/>
            <a:ext cx="12191695" cy="27432"/>
          </a:xfrm>
          <a:prstGeom prst="rect">
            <a:avLst/>
          </a:prstGeom>
          <a:solidFill>
            <a:srgbClr val="0E7C9C"/>
          </a:solidFill>
          <a:ln w="12700">
            <a:solidFill>
              <a:srgbClr val="0E7C9C"/>
            </a:solidFill>
            <a:prstDash val="solid"/>
          </a:ln>
        </p:spPr>
      </p:sp>
      <p:pic>
        <p:nvPicPr>
          <p:cNvPr id="4" name="Image 0" descr="/Users/seeskand/Documents/HPRC/2026/hprc_2026_poster/talk/figures/emble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13855" y="1757997"/>
            <a:ext cx="5029200" cy="1174879"/>
          </a:xfrm>
          <a:prstGeom prst="rect">
            <a:avLst/>
          </a:prstGeom>
        </p:spPr>
      </p:pic>
      <p:pic>
        <p:nvPicPr>
          <p:cNvPr id="5" name="Image 1" descr="/Users/seeskand/Documents/HPRC/2026/hprc_2026_poster/talk/figures/hprc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11480"/>
            <a:ext cx="1280160" cy="1062774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48640" y="18745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DC7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HPRC 2026</a:t>
            </a:r>
            <a:endParaRPr lang="en-US" sz="14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2606040"/>
            <a:ext cx="107899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pangenome sequence search and coordinate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translation service for the UCSC Genome Browser</a:t>
            </a:r>
            <a:endParaRPr lang="en-US" sz="38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553212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Parsa Eskandar   •   Jouni Sirén   •   Benedict Paten</a:t>
            </a:r>
            <a:endParaRPr lang="en-US" sz="18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5943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6D3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UC Santa Cruz Genomics Institute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9912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C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possible in the Genome Browser today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118585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9E1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640080" cy="640080"/>
          </a:xfrm>
          <a:prstGeom prst="ellipse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5061" y="1675181"/>
            <a:ext cx="307238" cy="30723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463040"/>
            <a:ext cx="4800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3C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a sequence across all 464 HPRC haplotypes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1417320" y="2221992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today: BLAT, one assembly at a time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48640" y="2971800"/>
            <a:ext cx="640080" cy="640080"/>
          </a:xfrm>
          <a:prstGeom prst="ellipse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5061" y="3138221"/>
            <a:ext cx="307238" cy="30723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417320" y="2926080"/>
            <a:ext cx="4800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3C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a locus onto any HPRC haplotype</a:t>
            </a:r>
            <a:endParaRPr lang="en-US" sz="2000" dirty="0"/>
          </a:p>
        </p:txBody>
      </p:sp>
      <p:sp>
        <p:nvSpPr>
          <p:cNvPr id="11" name="Text 7"/>
          <p:cNvSpPr txBox="1"/>
          <p:nvPr/>
        </p:nvSpPr>
        <p:spPr>
          <a:xfrm>
            <a:off x="1417320" y="3685032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today: only between the few assembly pairs with a prebuilt chain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548640" y="4434840"/>
            <a:ext cx="640080" cy="640080"/>
          </a:xfrm>
          <a:prstGeom prst="ellipse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5061" y="4601261"/>
            <a:ext cx="307238" cy="307238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417320" y="4389120"/>
            <a:ext cx="4800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3C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the reference's annotation on an HPRC haplotype</a:t>
            </a:r>
            <a:endParaRPr lang="en-US" sz="2000" dirty="0"/>
          </a:p>
        </p:txBody>
      </p:sp>
      <p:sp>
        <p:nvSpPr>
          <p:cNvPr id="15" name="Text 10"/>
          <p:cNvSpPr txBox="1"/>
          <p:nvPr/>
        </p:nvSpPr>
        <p:spPr>
          <a:xfrm>
            <a:off x="1417320" y="5148072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today: only for those same few pairs</a:t>
            </a:r>
            <a:endParaRPr lang="en-US" sz="1500" dirty="0"/>
          </a:p>
        </p:txBody>
      </p:sp>
      <p:pic>
        <p:nvPicPr>
          <p:cNvPr id="16" name="Image 3" descr="/Users/seeskand/Documents/HPRC/2026/hprc_2026_poster/talk/figures/grid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5120" y="1874520"/>
            <a:ext cx="4967935" cy="1752969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6675120" y="3810369"/>
            <a:ext cx="49679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464 haplotypes make 200,000+ assembly pairs. Chains exist for 56 of them.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9912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C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use cases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118585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9E1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364328" cy="3566160"/>
          </a:xfrm>
          <a:prstGeom prst="roundRect">
            <a:avLst>
              <a:gd name="adj" fmla="val 3077"/>
            </a:avLst>
          </a:prstGeom>
          <a:solidFill>
            <a:srgbClr val="EDF1F6"/>
          </a:solidFill>
          <a:ln w="12700">
            <a:solidFill>
              <a:srgbClr val="DCE3E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1965960"/>
            <a:ext cx="777240" cy="777240"/>
          </a:xfrm>
          <a:prstGeom prst="ellipse">
            <a:avLst/>
          </a:prstGeom>
          <a:solidFill>
            <a:srgbClr val="003C6C"/>
          </a:solidFill>
          <a:ln w="12700">
            <a:solidFill>
              <a:srgbClr val="003C6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0762" y="2168042"/>
            <a:ext cx="373075" cy="373075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135728" y="1965960"/>
            <a:ext cx="457200" cy="457200"/>
          </a:xfrm>
          <a:prstGeom prst="roundRect">
            <a:avLst>
              <a:gd name="adj" fmla="val 18000"/>
            </a:avLst>
          </a:prstGeom>
          <a:solidFill>
            <a:srgbClr val="FDC700"/>
          </a:solidFill>
          <a:ln w="12700">
            <a:solidFill>
              <a:srgbClr val="FDC70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135728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62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868680" y="2971800"/>
            <a:ext cx="47242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03C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Sequence search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868680" y="3657600"/>
            <a:ext cx="4724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8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sequence that is not in GRCh38.</a:t>
            </a:r>
            <a:endParaRPr lang="en-US" sz="1900" dirty="0"/>
          </a:p>
        </p:txBody>
      </p:sp>
      <p:sp>
        <p:nvSpPr>
          <p:cNvPr id="11" name="Text 8"/>
          <p:cNvSpPr txBox="1"/>
          <p:nvPr/>
        </p:nvSpPr>
        <p:spPr>
          <a:xfrm>
            <a:off x="868680" y="4114800"/>
            <a:ext cx="4724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003C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of the 464 haplotypes carry it?</a:t>
            </a:r>
            <a:endParaRPr lang="en-US" sz="1900" dirty="0"/>
          </a:p>
        </p:txBody>
      </p:sp>
      <p:sp>
        <p:nvSpPr>
          <p:cNvPr id="12" name="Shape 9"/>
          <p:cNvSpPr/>
          <p:nvPr/>
        </p:nvSpPr>
        <p:spPr>
          <a:xfrm>
            <a:off x="6278728" y="1600200"/>
            <a:ext cx="5364328" cy="3566160"/>
          </a:xfrm>
          <a:prstGeom prst="roundRect">
            <a:avLst>
              <a:gd name="adj" fmla="val 3077"/>
            </a:avLst>
          </a:prstGeom>
          <a:solidFill>
            <a:srgbClr val="EDF1F6"/>
          </a:solidFill>
          <a:ln w="12700">
            <a:solidFill>
              <a:srgbClr val="DCE3EB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598768" y="1965960"/>
            <a:ext cx="777240" cy="777240"/>
          </a:xfrm>
          <a:prstGeom prst="ellipse">
            <a:avLst/>
          </a:prstGeom>
          <a:solidFill>
            <a:srgbClr val="003C6C"/>
          </a:solidFill>
          <a:ln w="12700">
            <a:solidFill>
              <a:srgbClr val="003C6C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0850" y="2168042"/>
            <a:ext cx="373075" cy="373075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10865815" y="1965960"/>
            <a:ext cx="457200" cy="457200"/>
          </a:xfrm>
          <a:prstGeom prst="roundRect">
            <a:avLst>
              <a:gd name="adj" fmla="val 18000"/>
            </a:avLst>
          </a:prstGeom>
          <a:solidFill>
            <a:srgbClr val="FDC700"/>
          </a:solidFill>
          <a:ln w="12700">
            <a:solidFill>
              <a:srgbClr val="FDC700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10865815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62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7" name="Text 13"/>
          <p:cNvSpPr txBox="1"/>
          <p:nvPr/>
        </p:nvSpPr>
        <p:spPr>
          <a:xfrm>
            <a:off x="6598768" y="2971800"/>
            <a:ext cx="47242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03C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Coordinate translation</a:t>
            </a:r>
            <a:endParaRPr lang="en-US" sz="2600" dirty="0"/>
          </a:p>
        </p:txBody>
      </p:sp>
      <p:sp>
        <p:nvSpPr>
          <p:cNvPr id="18" name="Text 14"/>
          <p:cNvSpPr txBox="1"/>
          <p:nvPr/>
        </p:nvSpPr>
        <p:spPr>
          <a:xfrm>
            <a:off x="6598768" y="3657600"/>
            <a:ext cx="4724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8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gene on GRCh38.</a:t>
            </a:r>
            <a:endParaRPr lang="en-US" sz="1900" dirty="0"/>
          </a:p>
        </p:txBody>
      </p:sp>
      <p:sp>
        <p:nvSpPr>
          <p:cNvPr id="19" name="Text 15"/>
          <p:cNvSpPr txBox="1"/>
          <p:nvPr/>
        </p:nvSpPr>
        <p:spPr>
          <a:xfrm>
            <a:off x="6598768" y="4114800"/>
            <a:ext cx="4724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003C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it on HG02015, with its annotation.</a:t>
            </a:r>
            <a:endParaRPr lang="en-US" sz="1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9912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C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 1: sequence search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118585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9E1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9631375" y="384048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03C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1544168" y="1325880"/>
            <a:ext cx="9103360" cy="5120640"/>
          </a:xfrm>
          <a:prstGeom prst="roundRect">
            <a:avLst>
              <a:gd name="adj" fmla="val 2143"/>
            </a:avLst>
          </a:prstGeom>
          <a:solidFill>
            <a:srgbClr val="06294A"/>
          </a:solidFill>
          <a:ln w="12700">
            <a:solidFill>
              <a:srgbClr val="06294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38648" y="3337560"/>
            <a:ext cx="914400" cy="914400"/>
          </a:xfrm>
          <a:prstGeom prst="ellipse">
            <a:avLst/>
          </a:prstGeom>
          <a:solidFill>
            <a:srgbClr val="FDC700"/>
          </a:solidFill>
          <a:ln w="12700">
            <a:solidFill>
              <a:srgbClr val="FDC70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rot="5400000">
            <a:off x="5940400" y="3593592"/>
            <a:ext cx="384048" cy="402336"/>
          </a:xfrm>
          <a:prstGeom prst="triangle">
            <a:avLst/>
          </a:prstGeom>
          <a:solidFill>
            <a:srgbClr val="06294A"/>
          </a:solidFill>
          <a:ln w="12700">
            <a:solidFill>
              <a:srgbClr val="06294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544168" y="5577840"/>
            <a:ext cx="910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6D3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 recording: Pangenome Mapping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544168" y="5943600"/>
            <a:ext cx="910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5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 scenario1.mp4 into talk/figures/videos and rebuild, or Insert &gt; Video here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9912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C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of 464 haplotypes carry it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118585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9E1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9631375" y="384048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03C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 1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2550956" y="1325880"/>
            <a:ext cx="7089783" cy="4572000"/>
          </a:xfrm>
          <a:prstGeom prst="roundRect">
            <a:avLst>
              <a:gd name="adj" fmla="val 2400"/>
            </a:avLst>
          </a:prstGeom>
          <a:solidFill>
            <a:srgbClr val="EDF1F6"/>
          </a:solidFill>
          <a:ln w="12700">
            <a:solidFill>
              <a:srgbClr val="DCE3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697260" y="1417320"/>
            <a:ext cx="100584" cy="100584"/>
          </a:xfrm>
          <a:prstGeom prst="ellipse">
            <a:avLst/>
          </a:prstGeom>
          <a:solidFill>
            <a:srgbClr val="CBD5E0"/>
          </a:solidFill>
          <a:ln w="1270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61852" y="1417320"/>
            <a:ext cx="100584" cy="100584"/>
          </a:xfrm>
          <a:prstGeom prst="ellipse">
            <a:avLst/>
          </a:prstGeom>
          <a:solidFill>
            <a:srgbClr val="CBD5E0"/>
          </a:solidFill>
          <a:ln w="12700">
            <a:solidFill>
              <a:srgbClr val="CBD5E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026444" y="1417320"/>
            <a:ext cx="100584" cy="100584"/>
          </a:xfrm>
          <a:prstGeom prst="ellipse">
            <a:avLst/>
          </a:prstGeom>
          <a:solidFill>
            <a:srgbClr val="CBD5E0"/>
          </a:solidFill>
          <a:ln w="12700">
            <a:solidFill>
              <a:srgbClr val="CBD5E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328196" y="135331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genome.ucsc.edu</a:t>
            </a:r>
            <a:endParaRPr lang="en-US" sz="900" dirty="0"/>
          </a:p>
        </p:txBody>
      </p:sp>
      <p:pic>
        <p:nvPicPr>
          <p:cNvPr id="10" name="Image 0" descr="/Users/seeskand/Documents/HPRC/2026/hprc_2026_poster/talk/figures/crop_mapping_resul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60684" y="1636776"/>
            <a:ext cx="6870327" cy="2251199"/>
          </a:xfrm>
          <a:prstGeom prst="rect">
            <a:avLst/>
          </a:prstGeom>
        </p:spPr>
      </p:pic>
      <p:pic>
        <p:nvPicPr>
          <p:cNvPr id="11" name="Image 1" descr="/Users/seeskand/Documents/HPRC/2026/hprc_2026_poster/talk/figures/crop_seqtra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0684" y="3997703"/>
            <a:ext cx="6870327" cy="1790449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48640" y="608076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003C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GRCh38 is not one of them.</a:t>
            </a:r>
            <a:endParaRPr lang="en-US" sz="2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9912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C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 2: coordinate translation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118585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9E1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9631375" y="384048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03C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1544168" y="1325880"/>
            <a:ext cx="9103360" cy="5120640"/>
          </a:xfrm>
          <a:prstGeom prst="roundRect">
            <a:avLst>
              <a:gd name="adj" fmla="val 2143"/>
            </a:avLst>
          </a:prstGeom>
          <a:solidFill>
            <a:srgbClr val="06294A"/>
          </a:solidFill>
          <a:ln w="12700">
            <a:solidFill>
              <a:srgbClr val="06294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38648" y="3337560"/>
            <a:ext cx="914400" cy="914400"/>
          </a:xfrm>
          <a:prstGeom prst="ellipse">
            <a:avLst/>
          </a:prstGeom>
          <a:solidFill>
            <a:srgbClr val="FDC700"/>
          </a:solidFill>
          <a:ln w="12700">
            <a:solidFill>
              <a:srgbClr val="FDC70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rot="5400000">
            <a:off x="5940400" y="3593592"/>
            <a:ext cx="384048" cy="402336"/>
          </a:xfrm>
          <a:prstGeom prst="triangle">
            <a:avLst/>
          </a:prstGeom>
          <a:solidFill>
            <a:srgbClr val="06294A"/>
          </a:solidFill>
          <a:ln w="12700">
            <a:solidFill>
              <a:srgbClr val="06294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544168" y="5577840"/>
            <a:ext cx="910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6D3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 recording: coordinate translation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544168" y="5943600"/>
            <a:ext cx="910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5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 scenario2.mp4 into talk/figures/videos and rebuild, or Insert &gt; Video here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9912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C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reference's tracks, on HG02015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118585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9E1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9631375" y="384048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03C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 2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325880"/>
            <a:ext cx="11094415" cy="3819826"/>
          </a:xfrm>
          <a:prstGeom prst="roundRect">
            <a:avLst>
              <a:gd name="adj" fmla="val 2873"/>
            </a:avLst>
          </a:prstGeom>
          <a:solidFill>
            <a:srgbClr val="EDF1F6"/>
          </a:solidFill>
          <a:ln w="12700">
            <a:solidFill>
              <a:srgbClr val="DCE3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94944" y="1417320"/>
            <a:ext cx="100584" cy="100584"/>
          </a:xfrm>
          <a:prstGeom prst="ellipse">
            <a:avLst/>
          </a:prstGeom>
          <a:solidFill>
            <a:srgbClr val="CBD5E0"/>
          </a:solidFill>
          <a:ln w="1270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59536" y="1417320"/>
            <a:ext cx="100584" cy="100584"/>
          </a:xfrm>
          <a:prstGeom prst="ellipse">
            <a:avLst/>
          </a:prstGeom>
          <a:solidFill>
            <a:srgbClr val="CBD5E0"/>
          </a:solidFill>
          <a:ln w="12700">
            <a:solidFill>
              <a:srgbClr val="CBD5E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24128" y="1417320"/>
            <a:ext cx="100584" cy="100584"/>
          </a:xfrm>
          <a:prstGeom prst="ellipse">
            <a:avLst/>
          </a:prstGeom>
          <a:solidFill>
            <a:srgbClr val="CBD5E0"/>
          </a:solidFill>
          <a:ln w="12700">
            <a:solidFill>
              <a:srgbClr val="CBD5E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325880" y="135331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genome.ucsc.edu</a:t>
            </a:r>
            <a:endParaRPr lang="en-US" sz="900" dirty="0"/>
          </a:p>
        </p:txBody>
      </p:sp>
      <p:pic>
        <p:nvPicPr>
          <p:cNvPr id="10" name="Image 0" descr="/Users/seeskand/Documents/HPRC/2026/hprc_2026_poster/talk/figures/crop_lift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636776"/>
            <a:ext cx="10874959" cy="3399202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548640" y="5420026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003C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chain existed for this pair. The alignment was built for this region when the page loaded.</a:t>
            </a:r>
            <a:endParaRPr lang="en-US" sz="2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9912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C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How: one index over the whole graph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118585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9E1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9631375" y="384048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03C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 arrays</a:t>
            </a:r>
            <a:endParaRPr lang="en-US" sz="1600" dirty="0"/>
          </a:p>
        </p:txBody>
      </p:sp>
      <p:pic>
        <p:nvPicPr>
          <p:cNvPr id="5" name="Image 0" descr="/Users/seeskand/Documents/HPRC/2026/hprc_2026_poster/talk/figures/own/tag2_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5910129" cy="3931920"/>
          </a:xfrm>
          <a:prstGeom prst="rect">
            <a:avLst/>
          </a:prstGeom>
        </p:spPr>
      </p:pic>
      <p:pic>
        <p:nvPicPr>
          <p:cNvPr id="6" name="Image 1" descr="/Users/seeskand/Documents/HPRC/2026/hprc_2026_poster/talk/figures/bwt_co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07409" y="1371600"/>
            <a:ext cx="1473718" cy="3931920"/>
          </a:xfrm>
          <a:prstGeom prst="rect">
            <a:avLst/>
          </a:prstGeom>
        </p:spPr>
      </p:pic>
      <p:pic>
        <p:nvPicPr>
          <p:cNvPr id="7" name="Image 2" descr="/Users/seeskand/Documents/HPRC/2026/hprc_2026_poster/talk/figures/tags_co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18287" y="1371600"/>
            <a:ext cx="846135" cy="393192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548640" y="553212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3C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BWT position carries a tag: its node and offset in the graph.</a:t>
            </a:r>
            <a:endParaRPr lang="en-US" sz="2000" dirty="0"/>
          </a:p>
        </p:txBody>
      </p:sp>
      <p:sp>
        <p:nvSpPr>
          <p:cNvPr id="9" name="Text 4"/>
          <p:cNvSpPr txBox="1"/>
          <p:nvPr/>
        </p:nvSpPr>
        <p:spPr>
          <a:xfrm>
            <a:off x="548640" y="6446520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Eskandar, Paten, Sirén. Lossless pangenome indexing using tag arrays. WABI 2025; Algorithms for Molecular Biology 2026.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9912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C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Translating a region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118585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9E1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9631375" y="384048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03C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 of 4</a:t>
            </a:r>
            <a:endParaRPr lang="en-US" sz="1600" dirty="0"/>
          </a:p>
        </p:txBody>
      </p:sp>
      <p:pic>
        <p:nvPicPr>
          <p:cNvPr id="5" name="Image 0" descr="/Users/seeskand/Documents/HPRC/2026/hprc_2026_poster/talk/figures/translation_step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7680960" cy="4992196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8595360" y="1600200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FDC700"/>
          </a:solidFill>
          <a:ln w="12700">
            <a:solidFill>
              <a:srgbClr val="FDC70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595360" y="1600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62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9189720" y="1581912"/>
            <a:ext cx="24533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3C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the query's nodes on the source path.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9912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C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Translating a region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118585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9E1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9631375" y="384048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03C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 of 4</a:t>
            </a:r>
            <a:endParaRPr lang="en-US" sz="1600" dirty="0"/>
          </a:p>
        </p:txBody>
      </p:sp>
      <p:pic>
        <p:nvPicPr>
          <p:cNvPr id="5" name="Image 0" descr="/Users/seeskand/Documents/HPRC/2026/hprc_2026_poster/talk/figures/translation_step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7680960" cy="4992196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8595360" y="1600200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EDF1F6"/>
          </a:solidFill>
          <a:ln w="12700">
            <a:solidFill>
              <a:srgbClr val="DCE3E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595360" y="1600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9189720" y="1581912"/>
            <a:ext cx="24533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the query's nodes on the source path.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8595360" y="2743200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FDC700"/>
          </a:solidFill>
          <a:ln w="12700">
            <a:solidFill>
              <a:srgbClr val="FDC70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595360" y="2743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62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9189720" y="2724912"/>
            <a:ext cx="24533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3C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the tag arrays who else is here.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9912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C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Translating a region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118585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9E1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9631375" y="384048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03C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 of 4</a:t>
            </a:r>
            <a:endParaRPr lang="en-US" sz="1600" dirty="0"/>
          </a:p>
        </p:txBody>
      </p:sp>
      <p:pic>
        <p:nvPicPr>
          <p:cNvPr id="5" name="Image 0" descr="/Users/seeskand/Documents/HPRC/2026/hprc_2026_poster/talk/figures/translation_step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7680960" cy="4992196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8595360" y="1600200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EDF1F6"/>
          </a:solidFill>
          <a:ln w="12700">
            <a:solidFill>
              <a:srgbClr val="DCE3E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595360" y="1600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9189720" y="1581912"/>
            <a:ext cx="24533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the query's nodes on the source path.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8595360" y="2743200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EDF1F6"/>
          </a:solidFill>
          <a:ln w="12700">
            <a:solidFill>
              <a:srgbClr val="DCE3EB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595360" y="2743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9189720" y="2724912"/>
            <a:ext cx="24533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the tag arrays who else is here.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8595360" y="3886200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FDC700"/>
          </a:solidFill>
          <a:ln w="12700">
            <a:solidFill>
              <a:srgbClr val="FDC70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595360" y="3886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62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9189720" y="3867912"/>
            <a:ext cx="24533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3C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Nodes both visit exactly once: anchors.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9912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C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Translating a region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118585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9E1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9631375" y="384048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03C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 of 4</a:t>
            </a:r>
            <a:endParaRPr lang="en-US" sz="1600" dirty="0"/>
          </a:p>
        </p:txBody>
      </p:sp>
      <p:pic>
        <p:nvPicPr>
          <p:cNvPr id="5" name="Image 0" descr="/Users/seeskand/Documents/HPRC/2026/hprc_2026_poster/talk/figures/translation_step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7680960" cy="4992196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8595360" y="1600200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EDF1F6"/>
          </a:solidFill>
          <a:ln w="12700">
            <a:solidFill>
              <a:srgbClr val="DCE3E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595360" y="1600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9189720" y="1581912"/>
            <a:ext cx="24533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the query's nodes on the source path.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8595360" y="2743200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EDF1F6"/>
          </a:solidFill>
          <a:ln w="12700">
            <a:solidFill>
              <a:srgbClr val="DCE3EB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595360" y="2743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9189720" y="2724912"/>
            <a:ext cx="24533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the tag arrays who else is here.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8595360" y="3886200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EDF1F6"/>
          </a:solidFill>
          <a:ln w="12700">
            <a:solidFill>
              <a:srgbClr val="DCE3EB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595360" y="3886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9189720" y="3867912"/>
            <a:ext cx="24533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Nodes both visit exactly once: anchors.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8595360" y="5029200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FDC700"/>
          </a:solidFill>
          <a:ln w="12700">
            <a:solidFill>
              <a:srgbClr val="FDC700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595360" y="5029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62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9189720" y="5010912"/>
            <a:ext cx="24533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3C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 between anchors; shared offsets become chain blocks.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9912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C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enough for a web page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118585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9E1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03C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Translation latency, median (log scale)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2377440" y="2011680"/>
            <a:ext cx="0" cy="3566160"/>
          </a:xfrm>
          <a:prstGeom prst="line">
            <a:avLst/>
          </a:prstGeom>
          <a:noFill/>
          <a:ln w="12700">
            <a:solidFill>
              <a:srgbClr val="D9E1E9"/>
            </a:solidFill>
            <a:prstDash val="dash"/>
          </a:ln>
        </p:spPr>
      </p:sp>
      <p:sp>
        <p:nvSpPr>
          <p:cNvPr id="6" name="Text 4"/>
          <p:cNvSpPr txBox="1"/>
          <p:nvPr/>
        </p:nvSpPr>
        <p:spPr>
          <a:xfrm>
            <a:off x="1920240" y="566928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93920" y="2011680"/>
            <a:ext cx="0" cy="3566160"/>
          </a:xfrm>
          <a:prstGeom prst="line">
            <a:avLst/>
          </a:prstGeom>
          <a:noFill/>
          <a:ln w="12700">
            <a:solidFill>
              <a:srgbClr val="D9E1E9"/>
            </a:solidFill>
            <a:prstDash val="dash"/>
          </a:ln>
        </p:spPr>
      </p:sp>
      <p:sp>
        <p:nvSpPr>
          <p:cNvPr id="8" name="Text 6"/>
          <p:cNvSpPr txBox="1"/>
          <p:nvPr/>
        </p:nvSpPr>
        <p:spPr>
          <a:xfrm>
            <a:off x="4236720" y="566928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ms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010400" y="2011680"/>
            <a:ext cx="0" cy="3566160"/>
          </a:xfrm>
          <a:prstGeom prst="line">
            <a:avLst/>
          </a:prstGeom>
          <a:noFill/>
          <a:ln w="12700">
            <a:solidFill>
              <a:srgbClr val="D9E1E9"/>
            </a:solidFill>
            <a:prstDash val="dash"/>
          </a:ln>
        </p:spPr>
      </p:sp>
      <p:sp>
        <p:nvSpPr>
          <p:cNvPr id="10" name="Text 8"/>
          <p:cNvSpPr txBox="1"/>
          <p:nvPr/>
        </p:nvSpPr>
        <p:spPr>
          <a:xfrm>
            <a:off x="6553200" y="566928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s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9326880" y="2011680"/>
            <a:ext cx="0" cy="3566160"/>
          </a:xfrm>
          <a:prstGeom prst="line">
            <a:avLst/>
          </a:prstGeom>
          <a:noFill/>
          <a:ln w="12700">
            <a:solidFill>
              <a:srgbClr val="D9E1E9"/>
            </a:solidFill>
            <a:prstDash val="dash"/>
          </a:ln>
        </p:spPr>
      </p:sp>
      <p:sp>
        <p:nvSpPr>
          <p:cNvPr id="12" name="Text 10"/>
          <p:cNvSpPr txBox="1"/>
          <p:nvPr/>
        </p:nvSpPr>
        <p:spPr>
          <a:xfrm>
            <a:off x="8869680" y="566928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s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224028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18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 to 1 kb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2377440" y="2423160"/>
            <a:ext cx="746415" cy="0"/>
          </a:xfrm>
          <a:prstGeom prst="line">
            <a:avLst/>
          </a:prstGeom>
          <a:noFill/>
          <a:ln w="38100">
            <a:solidFill>
              <a:srgbClr val="B8C7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014127" y="2313432"/>
            <a:ext cx="219456" cy="219456"/>
          </a:xfrm>
          <a:prstGeom prst="ellipse">
            <a:avLst/>
          </a:prstGeom>
          <a:solidFill>
            <a:srgbClr val="003C6C"/>
          </a:solidFill>
          <a:ln w="12700">
            <a:solidFill>
              <a:srgbClr val="003C6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325023" y="22402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3C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~20 ms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315468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18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kb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2377440" y="3337560"/>
            <a:ext cx="2457085" cy="0"/>
          </a:xfrm>
          <a:prstGeom prst="line">
            <a:avLst/>
          </a:prstGeom>
          <a:noFill/>
          <a:ln w="38100">
            <a:solidFill>
              <a:srgbClr val="B8C7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24797" y="3227832"/>
            <a:ext cx="219456" cy="219456"/>
          </a:xfrm>
          <a:prstGeom prst="ellipse">
            <a:avLst/>
          </a:prstGeom>
          <a:solidFill>
            <a:srgbClr val="003C6C"/>
          </a:solidFill>
          <a:ln w="12700">
            <a:solidFill>
              <a:srgbClr val="003C6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035693" y="31546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3C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115 ms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406908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18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kb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2377440" y="4251960"/>
            <a:ext cx="4117374" cy="0"/>
          </a:xfrm>
          <a:prstGeom prst="line">
            <a:avLst/>
          </a:prstGeom>
          <a:noFill/>
          <a:ln w="38100">
            <a:solidFill>
              <a:srgbClr val="B8C7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385086" y="4142232"/>
            <a:ext cx="219456" cy="219456"/>
          </a:xfrm>
          <a:prstGeom prst="ellipse">
            <a:avLst/>
          </a:prstGeom>
          <a:solidFill>
            <a:srgbClr val="003C6C"/>
          </a:solidFill>
          <a:ln w="12700">
            <a:solidFill>
              <a:srgbClr val="003C6C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695982" y="40690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3C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 s</a:t>
            </a:r>
            <a:endParaRPr lang="en-US" sz="20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498348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18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Mb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2377440" y="5166360"/>
            <a:ext cx="6100377" cy="0"/>
          </a:xfrm>
          <a:prstGeom prst="line">
            <a:avLst/>
          </a:prstGeom>
          <a:noFill/>
          <a:ln w="38100">
            <a:solidFill>
              <a:srgbClr val="B8C7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368089" y="5056632"/>
            <a:ext cx="219456" cy="219456"/>
          </a:xfrm>
          <a:prstGeom prst="ellipse">
            <a:avLst/>
          </a:prstGeom>
          <a:solidFill>
            <a:srgbClr val="003C6C"/>
          </a:solidFill>
          <a:ln w="12700">
            <a:solidFill>
              <a:srgbClr val="003C6C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678985" y="49834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3C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4.3 s</a:t>
            </a:r>
            <a:endParaRPr lang="en-US" sz="200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594360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003C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60 queries per second on one server.</a:t>
            </a:r>
            <a:endParaRPr lang="en-US" sz="2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9912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C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118585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9E1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691640"/>
            <a:ext cx="10545775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2200"/>
              </a:spcAft>
              <a:buSzPct val="100000"/>
              <a:buChar char="•"/>
            </a:pPr>
            <a:r>
              <a:rPr lang="en-US" sz="2400" dirty="0">
                <a:solidFill>
                  <a:srgbClr val="18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release in the UCSC Genome Browser</a:t>
            </a:r>
            <a:endParaRPr lang="en-US" sz="2400" dirty="0"/>
          </a:p>
          <a:p>
            <a:pPr marL="203200" indent="-203200">
              <a:spcAft>
                <a:spcPts val="2200"/>
              </a:spcAft>
              <a:buSzPct val="100000"/>
              <a:buChar char="•"/>
            </a:pPr>
            <a:r>
              <a:rPr lang="en-US" sz="2400" dirty="0">
                <a:solidFill>
                  <a:srgbClr val="18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Translation that just works: tracks follow you across haplotypes, no conversion step</a:t>
            </a:r>
            <a:endParaRPr lang="en-US" sz="2400" dirty="0"/>
          </a:p>
          <a:p>
            <a:pPr marL="203200" indent="-203200">
              <a:spcAft>
                <a:spcPts val="2200"/>
              </a:spcAft>
              <a:buSzPct val="100000"/>
              <a:buChar char="•"/>
            </a:pPr>
            <a:r>
              <a:rPr lang="en-US" sz="2400" dirty="0">
                <a:solidFill>
                  <a:srgbClr val="18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an HPRC variant on GRCh38, see which release 2 haplotypes carry it, go there</a:t>
            </a:r>
            <a:endParaRPr lang="en-US" sz="2400" dirty="0"/>
          </a:p>
          <a:p>
            <a:pPr marL="203200" indent="-203200">
              <a:spcAft>
                <a:spcPts val="2200"/>
              </a:spcAft>
              <a:buSzPct val="100000"/>
              <a:buChar char="•"/>
            </a:pPr>
            <a:r>
              <a:rPr lang="en-US" sz="2400" dirty="0">
                <a:solidFill>
                  <a:srgbClr val="18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Mapping results colored by local ancestry (pclai)</a:t>
            </a:r>
            <a:endParaRPr lang="en-US" sz="2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629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18585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3D5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0" y="2103120"/>
            <a:ext cx="12191695" cy="27432"/>
          </a:xfrm>
          <a:prstGeom prst="rect">
            <a:avLst/>
          </a:prstGeom>
          <a:solidFill>
            <a:srgbClr val="0E7C9C"/>
          </a:solidFill>
          <a:ln w="12700">
            <a:solidFill>
              <a:srgbClr val="0E7C9C"/>
            </a:solidFill>
            <a:prstDash val="solid"/>
          </a:ln>
        </p:spPr>
      </p:sp>
      <p:pic>
        <p:nvPicPr>
          <p:cNvPr id="4" name="Image 0" descr="/Users/seeskand/Documents/HPRC/2026/hprc_2026_poster/talk/figures/emblem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13855" y="1529397"/>
            <a:ext cx="5029200" cy="1174879"/>
          </a:xfrm>
          <a:prstGeom prst="rect">
            <a:avLst/>
          </a:prstGeom>
        </p:spPr>
      </p:pic>
      <p:pic>
        <p:nvPicPr>
          <p:cNvPr id="5" name="Image 1" descr="/Users/seeskand/Documents/HPRC/2026/hprc_2026_poster/talk/figures/hprc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11480"/>
            <a:ext cx="1280160" cy="1062774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48640" y="246888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32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329184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DC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seeskand@ucsc.edu</a:t>
            </a:r>
            <a:endParaRPr lang="en-US" sz="22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379476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DC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github.com/parsaeskandar/pangenome-index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4892040"/>
            <a:ext cx="1109441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Jouni Sirén  •  Benedict Paten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C6D3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UC Santa Cruz Computational Genomics Lab: Adam Novak, Glenn Hickey, Zia Truong, Mark Diekhans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C6D3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UCSC Genome Browser team  •  The Human Pangenome Reference Consortium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629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18585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3D5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394960" y="3063240"/>
            <a:ext cx="45720" cy="685800"/>
          </a:xfrm>
          <a:prstGeom prst="rect">
            <a:avLst/>
          </a:prstGeom>
          <a:solidFill>
            <a:srgbClr val="FDC700"/>
          </a:solidFill>
          <a:ln w="12700">
            <a:solidFill>
              <a:srgbClr val="FDC70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623560" y="301752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</a:t>
            </a:r>
            <a:endParaRPr lang="en-US" sz="3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9912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C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Backup: translation on a toy graph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118585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9E1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9631375" y="384048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03C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 arrays</a:t>
            </a:r>
            <a:endParaRPr lang="en-US" sz="1600" dirty="0"/>
          </a:p>
        </p:txBody>
      </p:sp>
      <p:pic>
        <p:nvPicPr>
          <p:cNvPr id="5" name="Image 0" descr="/Users/seeskand/Documents/HPRC/2026/hprc_2026_poster/talk/figures/own/tag4_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148840"/>
            <a:ext cx="6400800" cy="2493335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406640" y="1417320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FDC700"/>
          </a:solidFill>
          <a:ln w="12700">
            <a:solidFill>
              <a:srgbClr val="FDC70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406640" y="14173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62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8001000" y="1399032"/>
            <a:ext cx="364205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8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 the source interval with the r-index; collect the sampled tags: nodes b, e, f.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7406640" y="2606040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FDC700"/>
          </a:solidFill>
          <a:ln w="12700">
            <a:solidFill>
              <a:srgbClr val="FDC70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406640" y="26060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62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8001000" y="2587752"/>
            <a:ext cx="364205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8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tag lists every haplotype at that graph position. Purple stands on b and f.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7406640" y="3794760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FDC700"/>
          </a:solidFill>
          <a:ln w="12700">
            <a:solidFill>
              <a:srgbClr val="FDC70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406640" y="37947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62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8001000" y="3776472"/>
            <a:ext cx="364205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8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Nodes both visit exactly once anchor the paths: b and f.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7406640" y="4983480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FDC700"/>
          </a:solidFill>
          <a:ln w="12700">
            <a:solidFill>
              <a:srgbClr val="FDC700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406640" y="49834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62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8001000" y="4965192"/>
            <a:ext cx="364205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8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 between anchors; orange 5 sits on node e, which purple never visits: no position, never a wrong one.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9912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C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Backup: by the numbers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118585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9E1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2567864" cy="2148840"/>
          </a:xfrm>
          <a:prstGeom prst="roundRect">
            <a:avLst>
              <a:gd name="adj" fmla="val 5106"/>
            </a:avLst>
          </a:prstGeom>
          <a:solidFill>
            <a:srgbClr val="EDF1F6"/>
          </a:solidFill>
          <a:ln w="12700">
            <a:solidFill>
              <a:srgbClr val="DCE3E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645920"/>
            <a:ext cx="25678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03C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148M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468880"/>
            <a:ext cx="2110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nodes in the HPRC v2.0 Minigraph-Cactus graph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390824" y="1325880"/>
            <a:ext cx="2567864" cy="2148840"/>
          </a:xfrm>
          <a:prstGeom prst="roundRect">
            <a:avLst>
              <a:gd name="adj" fmla="val 5106"/>
            </a:avLst>
          </a:prstGeom>
          <a:solidFill>
            <a:srgbClr val="EDF1F6"/>
          </a:solidFill>
          <a:ln w="12700">
            <a:solidFill>
              <a:srgbClr val="DCE3E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390824" y="1645920"/>
            <a:ext cx="25678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03C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464</a:t>
            </a:r>
            <a:endParaRPr lang="en-US" sz="3200" dirty="0"/>
          </a:p>
        </p:txBody>
      </p:sp>
      <p:sp>
        <p:nvSpPr>
          <p:cNvPr id="9" name="Text 7"/>
          <p:cNvSpPr txBox="1"/>
          <p:nvPr/>
        </p:nvSpPr>
        <p:spPr>
          <a:xfrm>
            <a:off x="3619424" y="2468880"/>
            <a:ext cx="2110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haplotypes indexed, CHM13 and GRCh38 included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233008" y="1325880"/>
            <a:ext cx="2567864" cy="2148840"/>
          </a:xfrm>
          <a:prstGeom prst="roundRect">
            <a:avLst>
              <a:gd name="adj" fmla="val 5106"/>
            </a:avLst>
          </a:prstGeom>
          <a:solidFill>
            <a:srgbClr val="EDF1F6"/>
          </a:solidFill>
          <a:ln w="12700">
            <a:solidFill>
              <a:srgbClr val="DCE3E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233008" y="1645920"/>
            <a:ext cx="25678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03C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2.6 Tbp</a:t>
            </a:r>
            <a:endParaRPr lang="en-US" sz="3200" dirty="0"/>
          </a:p>
        </p:txBody>
      </p:sp>
      <p:sp>
        <p:nvSpPr>
          <p:cNvPr id="12" name="Text 10"/>
          <p:cNvSpPr txBox="1"/>
          <p:nvPr/>
        </p:nvSpPr>
        <p:spPr>
          <a:xfrm>
            <a:off x="6461608" y="2468880"/>
            <a:ext cx="2110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bidirectional sequence in the index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9075191" y="1325880"/>
            <a:ext cx="2567864" cy="2148840"/>
          </a:xfrm>
          <a:prstGeom prst="roundRect">
            <a:avLst>
              <a:gd name="adj" fmla="val 5106"/>
            </a:avLst>
          </a:prstGeom>
          <a:solidFill>
            <a:srgbClr val="EDF1F6"/>
          </a:solidFill>
          <a:ln w="12700">
            <a:solidFill>
              <a:srgbClr val="DCE3E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075191" y="1645920"/>
            <a:ext cx="25678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03C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 B</a:t>
            </a:r>
            <a:endParaRPr lang="en-US" sz="3200" dirty="0"/>
          </a:p>
        </p:txBody>
      </p:sp>
      <p:sp>
        <p:nvSpPr>
          <p:cNvPr id="15" name="Text 13"/>
          <p:cNvSpPr txBox="1"/>
          <p:nvPr/>
        </p:nvSpPr>
        <p:spPr>
          <a:xfrm>
            <a:off x="9303791" y="2468880"/>
            <a:ext cx="2110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 array runs (4.9 B BWT runs)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0" y="3794760"/>
            <a:ext cx="2567864" cy="2148840"/>
          </a:xfrm>
          <a:prstGeom prst="roundRect">
            <a:avLst>
              <a:gd name="adj" fmla="val 5106"/>
            </a:avLst>
          </a:prstGeom>
          <a:solidFill>
            <a:srgbClr val="EDF1F6"/>
          </a:solidFill>
          <a:ln w="12700">
            <a:solidFill>
              <a:srgbClr val="DCE3E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4114800"/>
            <a:ext cx="25678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7C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149 GiB</a:t>
            </a:r>
            <a:endParaRPr lang="en-US" sz="3200" dirty="0"/>
          </a:p>
        </p:txBody>
      </p:sp>
      <p:sp>
        <p:nvSpPr>
          <p:cNvPr id="18" name="Text 16"/>
          <p:cNvSpPr txBox="1"/>
          <p:nvPr/>
        </p:nvSpPr>
        <p:spPr>
          <a:xfrm>
            <a:off x="777240" y="4937760"/>
            <a:ext cx="2110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 array index; 23 GiB sampled tag array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3390824" y="3794760"/>
            <a:ext cx="2567864" cy="2148840"/>
          </a:xfrm>
          <a:prstGeom prst="roundRect">
            <a:avLst>
              <a:gd name="adj" fmla="val 5106"/>
            </a:avLst>
          </a:prstGeom>
          <a:solidFill>
            <a:srgbClr val="EDF1F6"/>
          </a:solidFill>
          <a:ln w="12700">
            <a:solidFill>
              <a:srgbClr val="DCE3E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390824" y="4114800"/>
            <a:ext cx="25678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7C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~250 GB</a:t>
            </a:r>
            <a:endParaRPr lang="en-US" sz="3200" dirty="0"/>
          </a:p>
        </p:txBody>
      </p:sp>
      <p:sp>
        <p:nvSpPr>
          <p:cNvPr id="21" name="Text 19"/>
          <p:cNvSpPr txBox="1"/>
          <p:nvPr/>
        </p:nvSpPr>
        <p:spPr>
          <a:xfrm>
            <a:off x="3619424" y="4937760"/>
            <a:ext cx="2110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 for the running service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6233008" y="3794760"/>
            <a:ext cx="2567864" cy="2148840"/>
          </a:xfrm>
          <a:prstGeom prst="roundRect">
            <a:avLst>
              <a:gd name="adj" fmla="val 5106"/>
            </a:avLst>
          </a:prstGeom>
          <a:solidFill>
            <a:srgbClr val="EDF1F6"/>
          </a:solidFill>
          <a:ln w="12700">
            <a:solidFill>
              <a:srgbClr val="DCE3E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233008" y="4114800"/>
            <a:ext cx="25678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7C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~60 / s</a:t>
            </a:r>
            <a:endParaRPr lang="en-US" sz="3200" dirty="0"/>
          </a:p>
        </p:txBody>
      </p:sp>
      <p:sp>
        <p:nvSpPr>
          <p:cNvPr id="24" name="Text 22"/>
          <p:cNvSpPr txBox="1"/>
          <p:nvPr/>
        </p:nvSpPr>
        <p:spPr>
          <a:xfrm>
            <a:off x="6461608" y="4937760"/>
            <a:ext cx="2110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translation queries per second on one server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9075191" y="3794760"/>
            <a:ext cx="2567864" cy="2148840"/>
          </a:xfrm>
          <a:prstGeom prst="roundRect">
            <a:avLst>
              <a:gd name="adj" fmla="val 5106"/>
            </a:avLst>
          </a:prstGeom>
          <a:solidFill>
            <a:srgbClr val="EDF1F6"/>
          </a:solidFill>
          <a:ln w="12700">
            <a:solidFill>
              <a:srgbClr val="DCE3E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075191" y="4114800"/>
            <a:ext cx="25678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7C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~100 ms</a:t>
            </a:r>
            <a:endParaRPr lang="en-US" sz="3200" dirty="0"/>
          </a:p>
        </p:txBody>
      </p:sp>
      <p:sp>
        <p:nvSpPr>
          <p:cNvPr id="27" name="Text 25"/>
          <p:cNvSpPr txBox="1"/>
          <p:nvPr/>
        </p:nvSpPr>
        <p:spPr>
          <a:xfrm>
            <a:off x="9303791" y="4937760"/>
            <a:ext cx="2110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translate a 10 kb gene to any haplotype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 pangenome sequence search and coordinate translation service for the UCSC Genome Browser</dc:title>
  <dc:subject>PptxGenJS Presentation</dc:subject>
  <dc:creator>Parsa Eskandar</dc:creator>
  <cp:lastModifiedBy>Parsa Eskandar</cp:lastModifiedBy>
  <cp:revision>1</cp:revision>
  <dcterms:created xsi:type="dcterms:W3CDTF">2026-09-08T03:44:52Z</dcterms:created>
  <dcterms:modified xsi:type="dcterms:W3CDTF">2026-09-08T03:44:52Z</dcterms:modified>
</cp:coreProperties>
</file>
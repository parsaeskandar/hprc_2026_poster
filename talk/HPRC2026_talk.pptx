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 arbitrary release 2 haplotype.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What we built, in one picture. One index over the HPRC release 2 graph, a tag-array index, which I will explain in a moment. Every position in the BWT knows its graph position, and every node knows every haplotype crossing it.
Two capabilities sit on top of it. Sequence search: a sequence is mapped once, to the whole graph, every haplotype that carries it is reported, and the hit can be viewed on any of them. Coordinate translation: a locus on any haplotype is translated to any other, and the source's annotation is drawn there over an alignment built on demand.
Both run inside the UCSC Genome Browser, on the release 2 graph,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[3:50-4:30]
This is the idea on a toy graph, and it is all you need for the rest of the talk. Three haplotypes, indexed together. Alongside the index sits the tag array: for every position, the graph node it came from.
Three consequences. One index holds all 464 haplotypes, so a sequence is found once, however many haplotypes carry it. Every match knows its node, so a hit is a position in the graph, not a line in one assembly. And every node knows its haplotypes, so we can ask who passes through a node and get each haplotype with its own coordinate. That last one is what moves a locus from one haplotype to another.
Notice what is missing: nothing anywhere says CHM13-to-HG02015. There is no pairwise index, which is why any of the 464 can be translated to any other. The details are in the paper;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[4:30-4:50]
With that one property in hand, translating a region stops being a lookup and becomes a walk. Four steps, one click each.
(click) One. Find the query interval's nodes on the source haplotype's path. The tag arrays give us those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[4:50-5:05]
Two. At those nodes, ask the tag arrays who else is standing here. Every haplotype comes back at once, including the target we care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[5:05-5:30]
Three. Nodes that source and target each visit exactly once are unambiguous anchors. Orthology is inherited from the graph's alignment; what we add is that a repeat cannot manufacture a false anchor, and a colinearity check drops pairs whose spans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[5:30-5:50]
Four. Walk the graph between anchors, one base at a time, and group the bases that share an offset into blocks. A block breaks on an indel, never on a SNP; an inversion starts a new chain. That is exactly what a chain file means.
So the output is not a coordinate. It is a chain, and the browser already knows what to do with a chain. If the target does not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[5:50-7:10]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[7:45-8:20]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[10:00-10:35]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[10:35-11:15]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[12:00-12:40]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[12:40-12:55]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capabilities on one index of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508760"/>
            <a:ext cx="11094415" cy="1234440"/>
          </a:xfrm>
          <a:prstGeom prst="roundRect">
            <a:avLst>
              <a:gd name="adj" fmla="val 8889"/>
            </a:avLst>
          </a:prstGeom>
          <a:solidFill>
            <a:srgbClr val="003C6C"/>
          </a:solidFill>
          <a:ln w="12700">
            <a:solidFill>
              <a:srgbClr val="003C6C"/>
            </a:solidFill>
            <a:prstDash val="solid"/>
          </a:ln>
        </p:spPr>
      </p:sp>
      <p:sp>
        <p:nvSpPr>
          <p:cNvPr id="5" name="Text 3"/>
          <p:cNvSpPr txBox="1"/>
          <p:nvPr/>
        </p:nvSpPr>
        <p:spPr>
          <a:xfrm>
            <a:off x="548640" y="1618488"/>
            <a:ext cx="11094415"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Tag-array index over the HPRC release 2 graph</a:t>
            </a:r>
            <a:endParaRPr lang="en-US" sz="2200" dirty="0"/>
          </a:p>
        </p:txBody>
      </p:sp>
      <p:sp>
        <p:nvSpPr>
          <p:cNvPr id="6" name="Text 4"/>
          <p:cNvSpPr txBox="1"/>
          <p:nvPr/>
        </p:nvSpPr>
        <p:spPr>
          <a:xfrm>
            <a:off x="548640" y="2130552"/>
            <a:ext cx="11094415"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464 haplotypes  •  every BWT position knows its graph position  •  every node knows every haplotype crossing it</a:t>
            </a:r>
            <a:endParaRPr lang="en-US" sz="1600" dirty="0"/>
          </a:p>
        </p:txBody>
      </p:sp>
      <p:sp>
        <p:nvSpPr>
          <p:cNvPr id="7" name="Shape 5"/>
          <p:cNvSpPr/>
          <p:nvPr/>
        </p:nvSpPr>
        <p:spPr>
          <a:xfrm>
            <a:off x="3230804" y="2743200"/>
            <a:ext cx="0" cy="457200"/>
          </a:xfrm>
          <a:prstGeom prst="line">
            <a:avLst/>
          </a:prstGeom>
          <a:noFill/>
          <a:ln w="25400">
            <a:solidFill>
              <a:srgbClr val="003C6C"/>
            </a:solidFill>
            <a:prstDash val="solid"/>
            <a:tailEnd type="triangle"/>
          </a:ln>
        </p:spPr>
      </p:sp>
      <p:sp>
        <p:nvSpPr>
          <p:cNvPr id="8" name="Shape 6"/>
          <p:cNvSpPr/>
          <p:nvPr/>
        </p:nvSpPr>
        <p:spPr>
          <a:xfrm>
            <a:off x="548640" y="3200400"/>
            <a:ext cx="5364328" cy="2651760"/>
          </a:xfrm>
          <a:prstGeom prst="roundRect">
            <a:avLst>
              <a:gd name="adj" fmla="val 4138"/>
            </a:avLst>
          </a:prstGeom>
          <a:solidFill>
            <a:srgbClr val="EDF1F6"/>
          </a:solidFill>
          <a:ln w="12700">
            <a:solidFill>
              <a:srgbClr val="DCE3EB"/>
            </a:solidFill>
            <a:prstDash val="solid"/>
          </a:ln>
        </p:spPr>
      </p:sp>
      <p:sp>
        <p:nvSpPr>
          <p:cNvPr id="9" name="Shape 7"/>
          <p:cNvSpPr/>
          <p:nvPr/>
        </p:nvSpPr>
        <p:spPr>
          <a:xfrm>
            <a:off x="868680" y="3520440"/>
            <a:ext cx="731520" cy="731520"/>
          </a:xfrm>
          <a:prstGeom prst="ellipse">
            <a:avLst/>
          </a:prstGeom>
          <a:solidFill>
            <a:srgbClr val="003C6C"/>
          </a:solidFill>
          <a:ln w="12700">
            <a:solidFill>
              <a:srgbClr val="003C6C"/>
            </a:solidFill>
            <a:prstDash val="solid"/>
          </a:ln>
        </p:spPr>
      </p:sp>
      <p:pic>
        <p:nvPicPr>
          <p:cNvPr id="10" name="Image 0" descr="preencoded.png">    </p:cNvPr>
          <p:cNvPicPr>
            <a:picLocks noChangeAspect="1"/>
          </p:cNvPicPr>
          <p:nvPr/>
        </p:nvPicPr>
        <p:blipFill>
          <a:blip r:embed="rId1"/>
          <a:stretch>
            <a:fillRect/>
          </a:stretch>
        </p:blipFill>
        <p:spPr>
          <a:xfrm>
            <a:off x="1058875" y="3710635"/>
            <a:ext cx="351130" cy="351130"/>
          </a:xfrm>
          <a:prstGeom prst="rect">
            <a:avLst/>
          </a:prstGeom>
        </p:spPr>
      </p:pic>
      <p:sp>
        <p:nvSpPr>
          <p:cNvPr id="11" name="Text 8"/>
          <p:cNvSpPr txBox="1"/>
          <p:nvPr/>
        </p:nvSpPr>
        <p:spPr>
          <a:xfrm>
            <a:off x="1828800"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12" name="Text 9"/>
          <p:cNvSpPr txBox="1"/>
          <p:nvPr/>
        </p:nvSpPr>
        <p:spPr>
          <a:xfrm>
            <a:off x="868680"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sequence is mapped once, to the whole graph. Every haplotype that carries it is reported, and the hit can be viewed on any of them.</a:t>
            </a:r>
            <a:endParaRPr lang="en-US" sz="1700" dirty="0"/>
          </a:p>
        </p:txBody>
      </p:sp>
      <p:sp>
        <p:nvSpPr>
          <p:cNvPr id="13" name="Shape 10"/>
          <p:cNvSpPr/>
          <p:nvPr/>
        </p:nvSpPr>
        <p:spPr>
          <a:xfrm>
            <a:off x="8960891" y="2743200"/>
            <a:ext cx="0" cy="457200"/>
          </a:xfrm>
          <a:prstGeom prst="line">
            <a:avLst/>
          </a:prstGeom>
          <a:noFill/>
          <a:ln w="25400">
            <a:solidFill>
              <a:srgbClr val="003C6C"/>
            </a:solidFill>
            <a:prstDash val="solid"/>
            <a:tailEnd type="triangle"/>
          </a:ln>
        </p:spPr>
      </p:sp>
      <p:sp>
        <p:nvSpPr>
          <p:cNvPr id="14" name="Shape 11"/>
          <p:cNvSpPr/>
          <p:nvPr/>
        </p:nvSpPr>
        <p:spPr>
          <a:xfrm>
            <a:off x="6278728" y="3200400"/>
            <a:ext cx="5364328" cy="2651760"/>
          </a:xfrm>
          <a:prstGeom prst="roundRect">
            <a:avLst>
              <a:gd name="adj" fmla="val 4138"/>
            </a:avLst>
          </a:prstGeom>
          <a:solidFill>
            <a:srgbClr val="EDF1F6"/>
          </a:solidFill>
          <a:ln w="12700">
            <a:solidFill>
              <a:srgbClr val="DCE3EB"/>
            </a:solidFill>
            <a:prstDash val="solid"/>
          </a:ln>
        </p:spPr>
      </p:sp>
      <p:sp>
        <p:nvSpPr>
          <p:cNvPr id="15" name="Shape 12"/>
          <p:cNvSpPr/>
          <p:nvPr/>
        </p:nvSpPr>
        <p:spPr>
          <a:xfrm>
            <a:off x="6598768" y="3520440"/>
            <a:ext cx="731520" cy="731520"/>
          </a:xfrm>
          <a:prstGeom prst="ellipse">
            <a:avLst/>
          </a:prstGeom>
          <a:solidFill>
            <a:srgbClr val="003C6C"/>
          </a:solidFill>
          <a:ln w="12700">
            <a:solidFill>
              <a:srgbClr val="003C6C"/>
            </a:solidFill>
            <a:prstDash val="solid"/>
          </a:ln>
        </p:spPr>
      </p:sp>
      <p:pic>
        <p:nvPicPr>
          <p:cNvPr id="16" name="Image 1" descr="preencoded.png">    </p:cNvPr>
          <p:cNvPicPr>
            <a:picLocks noChangeAspect="1"/>
          </p:cNvPicPr>
          <p:nvPr/>
        </p:nvPicPr>
        <p:blipFill>
          <a:blip r:embed="rId2"/>
          <a:stretch>
            <a:fillRect/>
          </a:stretch>
        </p:blipFill>
        <p:spPr>
          <a:xfrm>
            <a:off x="6788963" y="3710635"/>
            <a:ext cx="351130" cy="351130"/>
          </a:xfrm>
          <a:prstGeom prst="rect">
            <a:avLst/>
          </a:prstGeom>
        </p:spPr>
      </p:pic>
      <p:sp>
        <p:nvSpPr>
          <p:cNvPr id="17" name="Text 13"/>
          <p:cNvSpPr txBox="1"/>
          <p:nvPr/>
        </p:nvSpPr>
        <p:spPr>
          <a:xfrm>
            <a:off x="7558888"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8" name="Text 14"/>
          <p:cNvSpPr txBox="1"/>
          <p:nvPr/>
        </p:nvSpPr>
        <p:spPr>
          <a:xfrm>
            <a:off x="6598768"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locus on any haplotype is translated to any other haplotype, and the source's annotation is drawn there over an alignment built on demand.</a:t>
            </a:r>
            <a:endParaRPr lang="en-US" sz="17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run inside the UCSC Genome Browser, on the release 2 graph, today.</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Indexing a pangenome forced a trade-off</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sp>
        <p:nvSpPr>
          <p:cNvPr id="5" name="Shape 3"/>
          <p:cNvSpPr/>
          <p:nvPr/>
        </p:nvSpPr>
        <p:spPr>
          <a:xfrm>
            <a:off x="548640" y="1325880"/>
            <a:ext cx="3454298" cy="3383280"/>
          </a:xfrm>
          <a:prstGeom prst="roundRect">
            <a:avLst>
              <a:gd name="adj" fmla="val 3243"/>
            </a:avLst>
          </a:prstGeom>
          <a:solidFill>
            <a:srgbClr val="EDF1F6"/>
          </a:solidFill>
          <a:ln w="12700">
            <a:solidFill>
              <a:srgbClr val="DCE3EB"/>
            </a:solidFill>
            <a:prstDash val="solid"/>
          </a:ln>
        </p:spPr>
      </p:sp>
      <p:sp>
        <p:nvSpPr>
          <p:cNvPr id="6" name="Text 4"/>
          <p:cNvSpPr txBox="1"/>
          <p:nvPr/>
        </p:nvSpPr>
        <p:spPr>
          <a:xfrm>
            <a:off x="868680"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7" name="Text 5"/>
          <p:cNvSpPr txBox="1"/>
          <p:nvPr/>
        </p:nvSpPr>
        <p:spPr>
          <a:xfrm>
            <a:off x="868680"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600" dirty="0"/>
          </a:p>
        </p:txBody>
      </p:sp>
      <p:sp>
        <p:nvSpPr>
          <p:cNvPr id="8" name="Text 6"/>
          <p:cNvSpPr txBox="1"/>
          <p:nvPr/>
        </p:nvSpPr>
        <p:spPr>
          <a:xfrm>
            <a:off x="868680"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Shape 7"/>
          <p:cNvSpPr/>
          <p:nvPr/>
        </p:nvSpPr>
        <p:spPr>
          <a:xfrm>
            <a:off x="4368698" y="1325880"/>
            <a:ext cx="3454298" cy="3383280"/>
          </a:xfrm>
          <a:prstGeom prst="roundRect">
            <a:avLst>
              <a:gd name="adj" fmla="val 3243"/>
            </a:avLst>
          </a:prstGeom>
          <a:solidFill>
            <a:srgbClr val="EDF1F6"/>
          </a:solidFill>
          <a:ln w="12700">
            <a:solidFill>
              <a:srgbClr val="DCE3EB"/>
            </a:solidFill>
            <a:prstDash val="solid"/>
          </a:ln>
        </p:spPr>
      </p:sp>
      <p:sp>
        <p:nvSpPr>
          <p:cNvPr id="10" name="Text 8"/>
          <p:cNvSpPr txBox="1"/>
          <p:nvPr/>
        </p:nvSpPr>
        <p:spPr>
          <a:xfrm>
            <a:off x="4688738"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1" name="Text 9"/>
          <p:cNvSpPr txBox="1"/>
          <p:nvPr/>
        </p:nvSpPr>
        <p:spPr>
          <a:xfrm>
            <a:off x="4688738"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600" dirty="0"/>
          </a:p>
        </p:txBody>
      </p:sp>
      <p:sp>
        <p:nvSpPr>
          <p:cNvPr id="12" name="Text 10"/>
          <p:cNvSpPr txBox="1"/>
          <p:nvPr/>
        </p:nvSpPr>
        <p:spPr>
          <a:xfrm>
            <a:off x="4688738"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Shape 11"/>
          <p:cNvSpPr/>
          <p:nvPr/>
        </p:nvSpPr>
        <p:spPr>
          <a:xfrm>
            <a:off x="8188757" y="1325880"/>
            <a:ext cx="3454298" cy="3383280"/>
          </a:xfrm>
          <a:prstGeom prst="roundRect">
            <a:avLst>
              <a:gd name="adj" fmla="val 3243"/>
            </a:avLst>
          </a:prstGeom>
          <a:solidFill>
            <a:srgbClr val="EDF1F6"/>
          </a:solidFill>
          <a:ln w="12700">
            <a:solidFill>
              <a:srgbClr val="DCE3EB"/>
            </a:solidFill>
            <a:prstDash val="solid"/>
          </a:ln>
        </p:spPr>
      </p:sp>
      <p:sp>
        <p:nvSpPr>
          <p:cNvPr id="14" name="Text 12"/>
          <p:cNvSpPr txBox="1"/>
          <p:nvPr/>
        </p:nvSpPr>
        <p:spPr>
          <a:xfrm>
            <a:off x="8508797"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5" name="Text 13"/>
          <p:cNvSpPr txBox="1"/>
          <p:nvPr/>
        </p:nvSpPr>
        <p:spPr>
          <a:xfrm>
            <a:off x="8508797"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600" dirty="0"/>
          </a:p>
        </p:txBody>
      </p:sp>
      <p:sp>
        <p:nvSpPr>
          <p:cNvPr id="16" name="Text 14"/>
          <p:cNvSpPr txBox="1"/>
          <p:nvPr/>
        </p:nvSpPr>
        <p:spPr>
          <a:xfrm>
            <a:off x="8508797"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548640" y="5029200"/>
            <a:ext cx="11094415" cy="960120"/>
          </a:xfrm>
          <a:prstGeom prst="roundRect">
            <a:avLst>
              <a:gd name="adj" fmla="val 11429"/>
            </a:avLst>
          </a:prstGeom>
          <a:solidFill>
            <a:srgbClr val="06294A"/>
          </a:solidFill>
          <a:ln w="12700">
            <a:solidFill>
              <a:srgbClr val="06294A"/>
            </a:solidFill>
            <a:prstDash val="solid"/>
          </a:ln>
        </p:spPr>
      </p:sp>
      <p:sp>
        <p:nvSpPr>
          <p:cNvPr id="18" name="Text 16"/>
          <p:cNvSpPr txBox="1"/>
          <p:nvPr/>
        </p:nvSpPr>
        <p:spPr>
          <a:xfrm>
            <a:off x="914400" y="5029200"/>
            <a:ext cx="10362895"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Tag arrays: keep the FM-index on the haplotypes,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463040"/>
            <a:ext cx="7040880" cy="4684192"/>
          </a:xfrm>
          <a:prstGeom prst="rect">
            <a:avLst/>
          </a:prstGeom>
        </p:spPr>
      </p:pic>
      <p:sp>
        <p:nvSpPr>
          <p:cNvPr id="6" name="Text 3"/>
          <p:cNvSpPr txBox="1"/>
          <p:nvPr/>
        </p:nvSpPr>
        <p:spPr>
          <a:xfrm>
            <a:off x="8046720" y="146304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One index, all 464 haplotypes</a:t>
            </a:r>
            <a:endParaRPr lang="en-US" sz="1800" dirty="0"/>
          </a:p>
        </p:txBody>
      </p:sp>
      <p:sp>
        <p:nvSpPr>
          <p:cNvPr id="7" name="Text 4"/>
          <p:cNvSpPr txBox="1"/>
          <p:nvPr/>
        </p:nvSpPr>
        <p:spPr>
          <a:xfrm>
            <a:off x="8046720" y="184708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haplotype's sequence, indexed together. A sequence is found once, however many haplotypes carry it.</a:t>
            </a:r>
            <a:endParaRPr lang="en-US" sz="1500" dirty="0"/>
          </a:p>
        </p:txBody>
      </p:sp>
      <p:sp>
        <p:nvSpPr>
          <p:cNvPr id="8" name="Text 5"/>
          <p:cNvSpPr txBox="1"/>
          <p:nvPr/>
        </p:nvSpPr>
        <p:spPr>
          <a:xfrm>
            <a:off x="8046720" y="292608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match knows its node</a:t>
            </a:r>
            <a:endParaRPr lang="en-US" sz="1800" dirty="0"/>
          </a:p>
        </p:txBody>
      </p:sp>
      <p:sp>
        <p:nvSpPr>
          <p:cNvPr id="9" name="Text 6"/>
          <p:cNvSpPr txBox="1"/>
          <p:nvPr/>
        </p:nvSpPr>
        <p:spPr>
          <a:xfrm>
            <a:off x="8046720" y="331012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Each position in the index is tagged with its place in the graph. A hit is a graph position, not a line in one assembly.</a:t>
            </a:r>
            <a:endParaRPr lang="en-US" sz="1500" dirty="0"/>
          </a:p>
        </p:txBody>
      </p:sp>
      <p:sp>
        <p:nvSpPr>
          <p:cNvPr id="10" name="Text 7"/>
          <p:cNvSpPr txBox="1"/>
          <p:nvPr/>
        </p:nvSpPr>
        <p:spPr>
          <a:xfrm>
            <a:off x="8046720" y="438912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node knows its haplotypes</a:t>
            </a:r>
            <a:endParaRPr lang="en-US" sz="1800" dirty="0"/>
          </a:p>
        </p:txBody>
      </p:sp>
      <p:sp>
        <p:nvSpPr>
          <p:cNvPr id="11" name="Text 8"/>
          <p:cNvSpPr txBox="1"/>
          <p:nvPr/>
        </p:nvSpPr>
        <p:spPr>
          <a:xfrm>
            <a:off x="8046720" y="477316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Ask a node who passes through it and get every haplotype, with its own coordinate. That is what moves a locus from one haplotype to another.</a:t>
            </a:r>
            <a:endParaRPr lang="en-US" sz="1500" dirty="0"/>
          </a:p>
        </p:txBody>
      </p:sp>
      <p:sp>
        <p:nvSpPr>
          <p:cNvPr id="12" name="Shape 9"/>
          <p:cNvSpPr/>
          <p:nvPr/>
        </p:nvSpPr>
        <p:spPr>
          <a:xfrm>
            <a:off x="8046720" y="5760720"/>
            <a:ext cx="3596335" cy="548640"/>
          </a:xfrm>
          <a:prstGeom prst="roundRect">
            <a:avLst>
              <a:gd name="adj" fmla="val 20000"/>
            </a:avLst>
          </a:prstGeom>
          <a:solidFill>
            <a:srgbClr val="EDF1F6"/>
          </a:solidFill>
          <a:ln w="12700">
            <a:solidFill>
              <a:srgbClr val="DCE3EB"/>
            </a:solidFill>
            <a:prstDash val="solid"/>
          </a:ln>
        </p:spPr>
      </p:sp>
      <p:sp>
        <p:nvSpPr>
          <p:cNvPr id="13" name="Text 10"/>
          <p:cNvSpPr txBox="1"/>
          <p:nvPr/>
        </p:nvSpPr>
        <p:spPr>
          <a:xfrm>
            <a:off x="8046720" y="5760720"/>
            <a:ext cx="3596335" cy="548640"/>
          </a:xfrm>
          <a:prstGeom prst="rect">
            <a:avLst/>
          </a:prstGeom>
          <a:noFill/>
          <a:ln/>
        </p:spPr>
        <p:txBody>
          <a:bodyPr wrap="square" lIns="0" tIns="0" rIns="0" bIns="0" rtlCol="0" anchor="ctr"/>
          <a:lstStyle/>
          <a:p>
            <a:pPr algn="ctr" indent="0" marL="0">
              <a:buNone/>
            </a:pPr>
            <a:r>
              <a:rPr lang="en-US" sz="1400" b="1" dirty="0">
                <a:solidFill>
                  <a:srgbClr val="003C6C"/>
                </a:solidFill>
                <a:latin typeface="Calibri" pitchFamily="34" charset="0"/>
                <a:ea typeface="Calibri" pitchFamily="34" charset="-122"/>
                <a:cs typeface="Calibri" pitchFamily="34" charset="-120"/>
              </a:rPr>
              <a:t>Any haplotype to any other. No pairwise index.</a:t>
            </a:r>
            <a:endParaRPr lang="en-US" sz="1400" dirty="0"/>
          </a:p>
        </p:txBody>
      </p:sp>
      <p:sp>
        <p:nvSpPr>
          <p:cNvPr id="14" name="Text 11"/>
          <p:cNvSpPr txBox="1"/>
          <p:nvPr/>
        </p:nvSpPr>
        <p:spPr>
          <a:xfrm>
            <a:off x="548640" y="6400800"/>
            <a:ext cx="1109441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1 of 4</a:t>
            </a:r>
            <a:endParaRPr lang="en-US" sz="1600" dirty="0"/>
          </a:p>
        </p:txBody>
      </p:sp>
      <p:pic>
        <p:nvPicPr>
          <p:cNvPr id="5" name="Image 0" descr="/Users/seeskand/Documents/HPRC/2026/hprc_2026_poster/talk/figures/translation_step1.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Find the query's nodes on the source path.</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2 of 4</a:t>
            </a:r>
            <a:endParaRPr lang="en-US" sz="1600" dirty="0"/>
          </a:p>
        </p:txBody>
      </p:sp>
      <p:pic>
        <p:nvPicPr>
          <p:cNvPr id="5" name="Image 0" descr="/Users/seeskand/Documents/HPRC/2026/hprc_2026_poster/talk/figures/translation_step2.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Ask the tag arrays who else is here.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3 of 4</a:t>
            </a:r>
            <a:endParaRPr lang="en-US" sz="1600" dirty="0"/>
          </a:p>
        </p:txBody>
      </p:sp>
      <p:pic>
        <p:nvPicPr>
          <p:cNvPr id="5" name="Image 0" descr="/Users/seeskand/Documents/HPRC/2026/hprc_2026_poster/talk/figures/translation_step3.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Nodes both visit exactly once: unambiguous anchors.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Step 4 of 4</a:t>
            </a:r>
            <a:endParaRPr lang="en-US" sz="1600" dirty="0"/>
          </a:p>
        </p:txBody>
      </p:sp>
      <p:pic>
        <p:nvPicPr>
          <p:cNvPr id="5" name="Image 0" descr="/Users/seeskand/Documents/HPRC/2026/hprc_2026_poster/talk/figures/translation_step4.png">    </p:cNvPr>
          <p:cNvPicPr>
            <a:picLocks noChangeAspect="1"/>
          </p:cNvPicPr>
          <p:nvPr/>
        </p:nvPicPr>
        <p:blipFill>
          <a:blip r:embed="rId1"/>
          <a:stretch>
            <a:fillRect/>
          </a:stretch>
        </p:blipFill>
        <p:spPr>
          <a:xfrm>
            <a:off x="548640" y="1417320"/>
            <a:ext cx="6949440" cy="4516749"/>
          </a:xfrm>
          <a:prstGeom prst="rect">
            <a:avLst/>
          </a:prstGeom>
        </p:spPr>
      </p:pic>
      <p:sp>
        <p:nvSpPr>
          <p:cNvPr id="6" name="Shape 3"/>
          <p:cNvSpPr/>
          <p:nvPr/>
        </p:nvSpPr>
        <p:spPr>
          <a:xfrm>
            <a:off x="7863840" y="1463040"/>
            <a:ext cx="420624" cy="420624"/>
          </a:xfrm>
          <a:prstGeom prst="roundRect">
            <a:avLst>
              <a:gd name="adj" fmla="val 19565"/>
            </a:avLst>
          </a:prstGeom>
          <a:solidFill>
            <a:srgbClr val="EDF1F6"/>
          </a:solidFill>
          <a:ln w="12700">
            <a:solidFill>
              <a:srgbClr val="DCE3EB"/>
            </a:solidFill>
            <a:prstDash val="solid"/>
          </a:ln>
        </p:spPr>
      </p:sp>
      <p:sp>
        <p:nvSpPr>
          <p:cNvPr id="7" name="Text 4"/>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Find the query's nodes on the source path.</a:t>
            </a:r>
            <a:endParaRPr lang="en-US" sz="1700" dirty="0"/>
          </a:p>
        </p:txBody>
      </p:sp>
      <p:sp>
        <p:nvSpPr>
          <p:cNvPr id="9" name="Shape 6"/>
          <p:cNvSpPr/>
          <p:nvPr/>
        </p:nvSpPr>
        <p:spPr>
          <a:xfrm>
            <a:off x="7863840" y="2560320"/>
            <a:ext cx="420624" cy="420624"/>
          </a:xfrm>
          <a:prstGeom prst="roundRect">
            <a:avLst>
              <a:gd name="adj" fmla="val 19565"/>
            </a:avLst>
          </a:prstGeom>
          <a:solidFill>
            <a:srgbClr val="EDF1F6"/>
          </a:solidFill>
          <a:ln w="12700">
            <a:solidFill>
              <a:srgbClr val="DCE3EB"/>
            </a:solidFill>
            <a:prstDash val="solid"/>
          </a:ln>
        </p:spPr>
      </p:sp>
      <p:sp>
        <p:nvSpPr>
          <p:cNvPr id="10" name="Text 7"/>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Ask the tag arrays who else is here.</a:t>
            </a:r>
            <a:endParaRPr lang="en-US" sz="1700" dirty="0"/>
          </a:p>
        </p:txBody>
      </p:sp>
      <p:sp>
        <p:nvSpPr>
          <p:cNvPr id="12" name="Shape 9"/>
          <p:cNvSpPr/>
          <p:nvPr/>
        </p:nvSpPr>
        <p:spPr>
          <a:xfrm>
            <a:off x="7863840" y="3657600"/>
            <a:ext cx="420624" cy="420624"/>
          </a:xfrm>
          <a:prstGeom prst="roundRect">
            <a:avLst>
              <a:gd name="adj" fmla="val 19565"/>
            </a:avLst>
          </a:prstGeom>
          <a:solidFill>
            <a:srgbClr val="EDF1F6"/>
          </a:solidFill>
          <a:ln w="12700">
            <a:solidFill>
              <a:srgbClr val="DCE3EB"/>
            </a:solidFill>
            <a:prstDash val="solid"/>
          </a:ln>
        </p:spPr>
      </p:sp>
      <p:sp>
        <p:nvSpPr>
          <p:cNvPr id="13" name="Text 10"/>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400" b="1" dirty="0">
                <a:solidFill>
                  <a:srgbClr val="5B6B7C"/>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5B6B7C"/>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5" name="Shape 12"/>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6" name="Text 13"/>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7" name="Text 14"/>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b="1" dirty="0">
                <a:solidFill>
                  <a:srgbClr val="003C6C"/>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8"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18</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21</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25</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2026-09-04T21:25:14Z</dcterms:created>
  <dcterms:modified xsi:type="dcterms:W3CDTF">2026-09-04T21:25:14Z</dcterms:modified>
</cp:coreProperties>
</file>
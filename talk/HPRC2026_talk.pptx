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who you are, joint work with Jouni and the Genome Browser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what a researcher cannot do here today
- no search across haplotypes: BLAT is one assembly at a time
- no lift-over to a haplotype without a prebuilt chain: 56 chains, 200,000+ pairs
- the graph aligns all 464 already; nothing in the browser uses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use case 1: a sequence not in the reference; which haplotypes carry it, and where
- use case 2: a locus known on GRCh38; see it on another haplotype with the annotation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paste, map once to the whole graph
- results: which haplotypes, ranked by identity
- click one: the sequence as a track on that haplotype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HG01167 hap1 and HG04157 paternal; not GRCh38
- one search instead of 464
- MAPQ is 0 by design in a graph this redundant; identity and coverage carry the ranking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source: the gene on the reference; target: HG02015 paternal, any of 464
- about 100 ms
- landing: reference tracks drawn on HG02015; differences marked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genes, ClinVar, your own tracks, drawn on a haplotype that had no chain
- Alignment Differences track: insertions, deletions, mismatches, base by base
- any of the 464 as the target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one FM-index over all 464 haplotypes; a sequence is found once
- the tag: which node and offset each BWT position came from, so a match is a graph position
- from a node, every haplotype passing through it and where; that is what moves a locus
- no pairwise anything: any haplotype to any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the query interval, projected onto the source haplotype's path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at those nodes: every haplotype standing there, target included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 node both paths visit exactly once cannot be a false anchor; orthology comes from the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walk base by base; a block breaks on an indel, never a SNP; the output is a chain, and the browser knows chains
- missing positions are possible, invented ones are not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 gene in a tenth of a second; a megabase in seconds
- about 60 queries a second per server
- everything is built when the page loads; nothing is precomputed per pair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what is done, what is planned
- invite people to try it on the development browser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thanks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worked toy example from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sizes and costs for questions about what it takes to run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2331720"/>
            <a:ext cx="12191695" cy="27432"/>
          </a:xfrm>
          <a:prstGeom prst="rect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4" name="Image 0" descr="/Users/seeskand/Documents/HPRC/2026/hprc_2026_poster/talk/figures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757997"/>
            <a:ext cx="5029200" cy="1174879"/>
          </a:xfrm>
          <a:prstGeom prst="rect">
            <a:avLst/>
          </a:prstGeom>
        </p:spPr>
      </p:pic>
      <p:pic>
        <p:nvPicPr>
          <p:cNvPr id="5" name="Image 1" descr="/Users/seeskand/Documents/HPRC/2026/hprc_2026_poster/talk/figures/hprc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80160" cy="10627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DC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HPRC 2026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60604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pangenome sequence search and coordinate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service for the UCSC Genome Browser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532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Parsa Eskandar   •   Jouni Sirén   •   Benedict Paten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Santa Cruz Genomics Institute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possible in the Genome Browser today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4630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 sequence across all 464 HPRC haplotypes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22199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BLAT, one assembly at a time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313822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92608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 locus onto any HPRC haplotype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6850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only between the few assembly pairs with a prebuilt chain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443484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460126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reference's annotation on an HPRC haplotype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51480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only for those same few pairs</a:t>
            </a:r>
            <a:endParaRPr lang="en-US" sz="1500" dirty="0"/>
          </a:p>
        </p:txBody>
      </p:sp>
      <p:pic>
        <p:nvPicPr>
          <p:cNvPr id="16" name="Image 3" descr="/Users/seeskand/Documents/HPRC/2026/hprc_2026_poster/talk/figures/gri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874520"/>
            <a:ext cx="4967935" cy="175296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675120" y="3810369"/>
            <a:ext cx="49679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haplotypes make 200,000+ assembly pairs. Chains exist for 56 of them.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566160"/>
          </a:xfrm>
          <a:prstGeom prst="roundRect">
            <a:avLst>
              <a:gd name="adj" fmla="val 3077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777240" cy="77724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" y="2168042"/>
            <a:ext cx="373075" cy="3730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35728" y="19659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357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search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6576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that is not in GRCh38.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14800"/>
            <a:ext cx="472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464 haplotypes carry it?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278728" y="1600200"/>
            <a:ext cx="5364328" cy="3566160"/>
          </a:xfrm>
          <a:prstGeom prst="roundRect">
            <a:avLst>
              <a:gd name="adj" fmla="val 3077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98768" y="1965960"/>
            <a:ext cx="777240" cy="77724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168042"/>
            <a:ext cx="373075" cy="37307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865815" y="19659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865815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98768" y="2971800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translation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598768" y="36576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on GRCh38.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6598768" y="4114800"/>
            <a:ext cx="472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on HG02015, with its annotation.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1: sequence search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44168" y="1325880"/>
            <a:ext cx="9103360" cy="5120640"/>
          </a:xfrm>
          <a:prstGeom prst="roundRect">
            <a:avLst>
              <a:gd name="adj" fmla="val 2143"/>
            </a:avLst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8648" y="3337560"/>
            <a:ext cx="914400" cy="914400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940400" y="3593592"/>
            <a:ext cx="384048" cy="402336"/>
          </a:xfrm>
          <a:prstGeom prst="triangle">
            <a:avLst/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44168" y="5577840"/>
            <a:ext cx="910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recording: Pangenome Mapping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44168" y="5943600"/>
            <a:ext cx="910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scenario1.mp4 into talk/figures/videos and rebuild, or Insert &gt; Video here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464 haplotypes carry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50956" y="1325880"/>
            <a:ext cx="7089783" cy="4572000"/>
          </a:xfrm>
          <a:prstGeom prst="roundRect">
            <a:avLst>
              <a:gd name="adj" fmla="val 2400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260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61852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26444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8196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genome.ucsc.edu</a:t>
            </a:r>
            <a:endParaRPr lang="en-US" sz="900" dirty="0"/>
          </a:p>
        </p:txBody>
      </p:sp>
      <p:pic>
        <p:nvPicPr>
          <p:cNvPr id="10" name="Image 0" descr="/Users/seeskand/Documents/HPRC/2026/hprc_2026_poster/talk/figures/crop_mapping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0684" y="1636776"/>
            <a:ext cx="6870327" cy="2251199"/>
          </a:xfrm>
          <a:prstGeom prst="rect">
            <a:avLst/>
          </a:prstGeom>
        </p:spPr>
      </p:pic>
      <p:pic>
        <p:nvPicPr>
          <p:cNvPr id="11" name="Image 1" descr="/Users/seeskand/Documents/HPRC/2026/hprc_2026_poster/talk/figures/crop_seq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684" y="3997703"/>
            <a:ext cx="6870327" cy="17904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GRCh38 is not one of them.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2: coordinate translation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44168" y="1325880"/>
            <a:ext cx="9103360" cy="5120640"/>
          </a:xfrm>
          <a:prstGeom prst="roundRect">
            <a:avLst>
              <a:gd name="adj" fmla="val 2143"/>
            </a:avLst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8648" y="3337560"/>
            <a:ext cx="914400" cy="914400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940400" y="3593592"/>
            <a:ext cx="384048" cy="402336"/>
          </a:xfrm>
          <a:prstGeom prst="triangle">
            <a:avLst/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44168" y="5577840"/>
            <a:ext cx="910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recording: coordinate translation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44168" y="5943600"/>
            <a:ext cx="910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scenario2.mp4 into talk/figures/videos and rebuild, or Insert &gt; Video here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reference's tracks, on HG02015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3819826"/>
          </a:xfrm>
          <a:prstGeom prst="roundRect">
            <a:avLst>
              <a:gd name="adj" fmla="val 2873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genome.ucsc.edu</a:t>
            </a:r>
            <a:endParaRPr lang="en-US" sz="900" dirty="0"/>
          </a:p>
        </p:txBody>
      </p:sp>
      <p:pic>
        <p:nvPicPr>
          <p:cNvPr id="10" name="Image 0" descr="/Users/seeskand/Documents/HPRC/2026/hprc_2026_poster/talk/figures/crop_lif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36776"/>
            <a:ext cx="10874959" cy="33992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2002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chain existed for this pair. The alignment was built for this region when the page loaded.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one index over the whole 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arrays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own/tag2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910129" cy="3931920"/>
          </a:xfrm>
          <a:prstGeom prst="rect">
            <a:avLst/>
          </a:prstGeom>
        </p:spPr>
      </p:pic>
      <p:pic>
        <p:nvPicPr>
          <p:cNvPr id="6" name="Image 1" descr="/Users/seeskand/Documents/HPRC/2026/hprc_2026_poster/talk/figures/bwt_c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409" y="1371600"/>
            <a:ext cx="1473718" cy="3931920"/>
          </a:xfrm>
          <a:prstGeom prst="rect">
            <a:avLst/>
          </a:prstGeom>
        </p:spPr>
      </p:pic>
      <p:pic>
        <p:nvPicPr>
          <p:cNvPr id="7" name="Image 2" descr="/Users/seeskand/Documents/HPRC/2026/hprc_2026_poster/talk/figures/tags_c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87" y="1371600"/>
            <a:ext cx="846135" cy="39319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BWT position carries a tag: its node and offset in the graph.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644652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Eskandar, Paten, Sirén. Lossless pangenome indexing using tag arrays. WABI 2025; Algorithms for Molecular Biology 2026.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95360" y="3886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3867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once: anchors.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95360" y="3886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3867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once: anchors.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5029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5010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between anchors; shared offsets become chain blocks.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 for a web page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latency, median (log scale)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37744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92024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9392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23672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1040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55320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2688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86968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 kb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423160"/>
            <a:ext cx="746415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4127" y="23134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25023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kb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377440" y="3337560"/>
            <a:ext cx="2457085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4797" y="32278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35693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ms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kb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377440" y="4251960"/>
            <a:ext cx="4117374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5086" y="41422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95982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Mb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377440" y="5166360"/>
            <a:ext cx="6100377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68089" y="50566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78985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 queries per second on one server.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FDC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release in the UCSC Genome Browser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development browser now.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2103120"/>
            <a:ext cx="12191695" cy="27432"/>
          </a:xfrm>
          <a:prstGeom prst="rect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4" name="Image 0" descr="/Users/seeskand/Documents/HPRC/2026/hprc_2026_poster/talk/figures/emblem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529397"/>
            <a:ext cx="5029200" cy="1174879"/>
          </a:xfrm>
          <a:prstGeom prst="rect">
            <a:avLst/>
          </a:prstGeom>
        </p:spPr>
      </p:pic>
      <p:pic>
        <p:nvPicPr>
          <p:cNvPr id="5" name="Image 1" descr="/Users/seeskand/Documents/HPRC/2026/hprc_2026_poster/talk/figures/hprc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80160" cy="10627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468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291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D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seeskand@ucsc.edu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794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D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github.com/parsaeskandar/pangenome-index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920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Jouni Sirén  •  Benedict Paten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Santa Cruz Computational Genomics Lab: Adam Novak, Glenn Hickey, Zia Truong, Mark Diekhans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UCSC Genome Browser team  •  The Human Pangenome Reference Consortium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394960" y="3063240"/>
            <a:ext cx="45720" cy="685800"/>
          </a:xfrm>
          <a:prstGeom prst="rect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23560" y="3017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translation on a toy 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arrays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own/tag4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6400800" cy="249333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06640" y="14173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39903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source interval with the r-index; collect the sampled tags: nodes b, e, f.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406640" y="260604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06640" y="2606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258775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tag lists every haplotype at that graph position. Purple stands on b and f.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406640" y="379476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377647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 anchor the paths: b and f.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06640" y="49834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0664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496519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between anchors; orange 5 sits on node e, which purple never visits: no position, never a wrong one.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by the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in the HPRC v2.0 Minigraph-Cactus graph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90824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619424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haplotypes indexed, CHM13 and GRCh38 included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008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Tbp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sequence in the index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5191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303791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 runs (4.9 B BWT runs)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GiB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 index; 23 GiB sampled tag array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90824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90824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GB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3619424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for the running service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33008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/ s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6461608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queries per second on one server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075191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75191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ms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303791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translate a 10 kb gene to any haplotype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pangenome sequence search and coordinate translation service for the UCSC Genome Browser</dc:title>
  <dc:subject>PptxGenJS Presentation</dc:subject>
  <dc:creator>Parsa Eskandar</dc:creator>
  <cp:lastModifiedBy>Parsa Eskandar</cp:lastModifiedBy>
  <cp:revision>1</cp:revision>
  <dcterms:created xsi:type="dcterms:W3CDTF">2026-09-07T23:26:26Z</dcterms:created>
  <dcterms:modified xsi:type="dcterms:W3CDTF">2026-09-07T23:26:26Z</dcterms:modified>
</cp:coreProperties>
</file>
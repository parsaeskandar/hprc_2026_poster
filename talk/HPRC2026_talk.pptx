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A scientist can open any of the 464 assemblies today. What they cannot do is ask where their sequence lives across them, or take a locus they know on GRCh38 and see it, with its annotation, on one of the new haplotypes. This talk is about closing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a scientist cannot yet do with release 2, interactively.
Place a sequence across haplotypes: given a sequence, which of the 464 carry it, where, and what does the region look like on each? Search today works one assembly at a time.
Move a locus onto a haplotype: take coordinates known on GRCh38 or CHM13 to an arbitrary release 2 haplotype. Pairwise lift-over exists for a handful of assembly pairs, not for 464.
And bring the annotation along: see the reference's gene models, ClinVar, GWAS, or your own tracks on a release 2 haplotype. Each assembly has its own CAT and Liftoff genes, and nothing else follows.
The graph already aligns all 464 haplotypes. Interactive access to that alignment is what has been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is not available interactively at all, and the second only for the few assembly pairs that happen to have a chain. Both are shown live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What we built, in one picture. One index over the HPRC release 2 graph, a tag-array index, which I will explain in a moment. Every position in the BWT knows its graph position, and every node knows every haplotype crossing it.
Two capabilities sit on top of it. Sequence search: a sequence is mapped once, to the whole graph, every haplotype that carries it is reported, and the hit can be viewed on any of them. Coordinate translation: a locus on any haplotype is translated to any other, and the source's annotation is drawn there over an alignment built on demand.
Both run inside the UCSC Genome Browser, on the release 2 graph,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[3:15-3:50]
A brief word on the index, because everything rests on it.
Indexing a pangenome used to force a choice. An FM-index on the haplotype sequences is simple and lossless, but reports the same seed once per haplotype. An FM-index on the graph deduplicates, but needs graph transformations that are fragile and can lose parts of haplotypes. Minimizer indexes are fast, but the seed length is fixed in advance.
Tag arrays take a different route: keep the FM-index on the haplotypes, and annotate the BWT with graph positions. Lossless, deduplicated, any seed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[3:50-4:50]
Here is the whole idea on a toy graph. Three haplotypes, one BWT over their sequences. The tag array runs alongside the BWT: for every BWT position, the graph node and offset it came from.
A query is two steps. The r-index finds the BWT interval for a pattern, exactly as an FM-index would. Then two rank queries on the run-length tag structure return the distinct graph positions in that interval. No scan, no decompression, no redundancy: one hit per graph position, however many haplotypes share it.
It stays small because similar suffixes sit together, so tags come in long runs: from v1.1 to v2.0 the sequence grew fivefold and the tag runs only doubled. We build it per chromosome and merge through the multi-string BWT. For release 2: 464 haplotypes, 2.6 terabases, 26 billion tag runs, 149 gigabytes, plus a 23 gigabyte sampled tag array that serves coordinate translation.
Notice what is missing: nothing anywhere says CHM13-to-HG02015. That is what makes any-to-any translation across the 464 haplotypes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[4:50-6:10]
With that one property in hand, translating a region stops being a lookup and becomes a walk.
(1) Find the query interval's nodes on the source haplotype's path.
(2) At those nodes, ask the tag arrays who else is standing here. Every haplotype comes back at once.
(3) Nodes that source and target each visit exactly once are unambiguous anchors. Orthology is inherited from the graph's alignment. What we guarantee is that a repeat can't manufacture a false anchor, and a colinearity check drops pairs whose spans disagree.
(4) Walk the graph between anchors, one base at a time, and group the bases that share an offset into blocks. A block breaks on an indel, never on a SNP; an inversion starts a new chain. That is exactly what a chain file means.
So the output isn't a coordinate. It is a chain, and the browser already knows what to do with a chain. And if the target simply doesn't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[6:10-7:30]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[7:30-8:05]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[8:05-8:40]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an arbitrary release 2 haplotype, such as HG02015,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[8:40-10:20]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[10:20-10:55]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[10:55-11:35]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[11:35-12:20]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[12:20-13:00]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[13:00-13:15]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 scientist can open any of these assemblies today.</a:t>
            </a:r>
            <a:endParaRPr lang="en-US" sz="2100" dirty="0"/>
          </a:p>
        </p:txBody>
      </p:sp>
      <p:sp>
        <p:nvSpPr>
          <p:cNvPr id="473" name="Text 471"/>
          <p:cNvSpPr txBox="1"/>
          <p:nvPr/>
        </p:nvSpPr>
        <p:spPr>
          <a:xfrm>
            <a:off x="6400800" y="5074920"/>
            <a:ext cx="5212080" cy="109728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What they cannot do is ask where a sequence lives across them, or carry what we know from GRCh38 onto one.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Three things a scientist cannot yet do with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Given a sequence, learn which of the 464 haplotypes carry it, where, and what the region looks like on each. Search today works one assembly at a time.</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 arbitrary release 2 haplotype. Pairwise lift-over exists for a handful of assembly pairs, not for 464.</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Each assembly has its own CAT and Liftoff genes; nothing else follows.</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aligns all 464 haplotypes. Interactive access to that alignment is what has been missing.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not available interactively</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only for the few pairs with a chain</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capabilities on one index of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508760"/>
            <a:ext cx="11094415" cy="1234440"/>
          </a:xfrm>
          <a:prstGeom prst="roundRect">
            <a:avLst>
              <a:gd name="adj" fmla="val 8889"/>
            </a:avLst>
          </a:prstGeom>
          <a:solidFill>
            <a:srgbClr val="003C6C"/>
          </a:solidFill>
          <a:ln w="12700">
            <a:solidFill>
              <a:srgbClr val="003C6C"/>
            </a:solidFill>
            <a:prstDash val="solid"/>
          </a:ln>
        </p:spPr>
      </p:sp>
      <p:sp>
        <p:nvSpPr>
          <p:cNvPr id="5" name="Text 3"/>
          <p:cNvSpPr txBox="1"/>
          <p:nvPr/>
        </p:nvSpPr>
        <p:spPr>
          <a:xfrm>
            <a:off x="548640" y="1618488"/>
            <a:ext cx="11094415"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Tag-array index over the HPRC release 2 graph</a:t>
            </a:r>
            <a:endParaRPr lang="en-US" sz="2200" dirty="0"/>
          </a:p>
        </p:txBody>
      </p:sp>
      <p:sp>
        <p:nvSpPr>
          <p:cNvPr id="6" name="Text 4"/>
          <p:cNvSpPr txBox="1"/>
          <p:nvPr/>
        </p:nvSpPr>
        <p:spPr>
          <a:xfrm>
            <a:off x="548640" y="2130552"/>
            <a:ext cx="11094415"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464 haplotypes  •  every BWT position knows its graph position  •  every node knows every haplotype crossing it</a:t>
            </a:r>
            <a:endParaRPr lang="en-US" sz="1600" dirty="0"/>
          </a:p>
        </p:txBody>
      </p:sp>
      <p:sp>
        <p:nvSpPr>
          <p:cNvPr id="7" name="Shape 5"/>
          <p:cNvSpPr/>
          <p:nvPr/>
        </p:nvSpPr>
        <p:spPr>
          <a:xfrm>
            <a:off x="3230804" y="2743200"/>
            <a:ext cx="0" cy="457200"/>
          </a:xfrm>
          <a:prstGeom prst="line">
            <a:avLst/>
          </a:prstGeom>
          <a:noFill/>
          <a:ln w="25400">
            <a:solidFill>
              <a:srgbClr val="003C6C"/>
            </a:solidFill>
            <a:prstDash val="solid"/>
            <a:tailEnd type="triangle"/>
          </a:ln>
        </p:spPr>
      </p:sp>
      <p:sp>
        <p:nvSpPr>
          <p:cNvPr id="8" name="Shape 6"/>
          <p:cNvSpPr/>
          <p:nvPr/>
        </p:nvSpPr>
        <p:spPr>
          <a:xfrm>
            <a:off x="548640" y="3200400"/>
            <a:ext cx="5364328" cy="2651760"/>
          </a:xfrm>
          <a:prstGeom prst="roundRect">
            <a:avLst>
              <a:gd name="adj" fmla="val 4138"/>
            </a:avLst>
          </a:prstGeom>
          <a:solidFill>
            <a:srgbClr val="EDF1F6"/>
          </a:solidFill>
          <a:ln w="12700">
            <a:solidFill>
              <a:srgbClr val="DCE3EB"/>
            </a:solidFill>
            <a:prstDash val="solid"/>
          </a:ln>
        </p:spPr>
      </p:sp>
      <p:sp>
        <p:nvSpPr>
          <p:cNvPr id="9" name="Shape 7"/>
          <p:cNvSpPr/>
          <p:nvPr/>
        </p:nvSpPr>
        <p:spPr>
          <a:xfrm>
            <a:off x="868680" y="3520440"/>
            <a:ext cx="731520" cy="731520"/>
          </a:xfrm>
          <a:prstGeom prst="ellipse">
            <a:avLst/>
          </a:prstGeom>
          <a:solidFill>
            <a:srgbClr val="003C6C"/>
          </a:solidFill>
          <a:ln w="12700">
            <a:solidFill>
              <a:srgbClr val="003C6C"/>
            </a:solidFill>
            <a:prstDash val="solid"/>
          </a:ln>
        </p:spPr>
      </p:sp>
      <p:pic>
        <p:nvPicPr>
          <p:cNvPr id="10" name="Image 0" descr="preencoded.png">    </p:cNvPr>
          <p:cNvPicPr>
            <a:picLocks noChangeAspect="1"/>
          </p:cNvPicPr>
          <p:nvPr/>
        </p:nvPicPr>
        <p:blipFill>
          <a:blip r:embed="rId1"/>
          <a:stretch>
            <a:fillRect/>
          </a:stretch>
        </p:blipFill>
        <p:spPr>
          <a:xfrm>
            <a:off x="1058875" y="3710635"/>
            <a:ext cx="351130" cy="351130"/>
          </a:xfrm>
          <a:prstGeom prst="rect">
            <a:avLst/>
          </a:prstGeom>
        </p:spPr>
      </p:pic>
      <p:sp>
        <p:nvSpPr>
          <p:cNvPr id="11" name="Text 8"/>
          <p:cNvSpPr txBox="1"/>
          <p:nvPr/>
        </p:nvSpPr>
        <p:spPr>
          <a:xfrm>
            <a:off x="1828800"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12" name="Text 9"/>
          <p:cNvSpPr txBox="1"/>
          <p:nvPr/>
        </p:nvSpPr>
        <p:spPr>
          <a:xfrm>
            <a:off x="868680"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sequence is mapped once, to the whole graph. Every haplotype that carries it is reported, and the hit can be viewed on any of them.</a:t>
            </a:r>
            <a:endParaRPr lang="en-US" sz="1700" dirty="0"/>
          </a:p>
        </p:txBody>
      </p:sp>
      <p:sp>
        <p:nvSpPr>
          <p:cNvPr id="13" name="Shape 10"/>
          <p:cNvSpPr/>
          <p:nvPr/>
        </p:nvSpPr>
        <p:spPr>
          <a:xfrm>
            <a:off x="8960891" y="2743200"/>
            <a:ext cx="0" cy="457200"/>
          </a:xfrm>
          <a:prstGeom prst="line">
            <a:avLst/>
          </a:prstGeom>
          <a:noFill/>
          <a:ln w="25400">
            <a:solidFill>
              <a:srgbClr val="003C6C"/>
            </a:solidFill>
            <a:prstDash val="solid"/>
            <a:tailEnd type="triangle"/>
          </a:ln>
        </p:spPr>
      </p:sp>
      <p:sp>
        <p:nvSpPr>
          <p:cNvPr id="14" name="Shape 11"/>
          <p:cNvSpPr/>
          <p:nvPr/>
        </p:nvSpPr>
        <p:spPr>
          <a:xfrm>
            <a:off x="6278728" y="3200400"/>
            <a:ext cx="5364328" cy="2651760"/>
          </a:xfrm>
          <a:prstGeom prst="roundRect">
            <a:avLst>
              <a:gd name="adj" fmla="val 4138"/>
            </a:avLst>
          </a:prstGeom>
          <a:solidFill>
            <a:srgbClr val="EDF1F6"/>
          </a:solidFill>
          <a:ln w="12700">
            <a:solidFill>
              <a:srgbClr val="DCE3EB"/>
            </a:solidFill>
            <a:prstDash val="solid"/>
          </a:ln>
        </p:spPr>
      </p:sp>
      <p:sp>
        <p:nvSpPr>
          <p:cNvPr id="15" name="Shape 12"/>
          <p:cNvSpPr/>
          <p:nvPr/>
        </p:nvSpPr>
        <p:spPr>
          <a:xfrm>
            <a:off x="6598768" y="3520440"/>
            <a:ext cx="731520" cy="731520"/>
          </a:xfrm>
          <a:prstGeom prst="ellipse">
            <a:avLst/>
          </a:prstGeom>
          <a:solidFill>
            <a:srgbClr val="003C6C"/>
          </a:solidFill>
          <a:ln w="12700">
            <a:solidFill>
              <a:srgbClr val="003C6C"/>
            </a:solidFill>
            <a:prstDash val="solid"/>
          </a:ln>
        </p:spPr>
      </p:sp>
      <p:pic>
        <p:nvPicPr>
          <p:cNvPr id="16" name="Image 1" descr="preencoded.png">    </p:cNvPr>
          <p:cNvPicPr>
            <a:picLocks noChangeAspect="1"/>
          </p:cNvPicPr>
          <p:nvPr/>
        </p:nvPicPr>
        <p:blipFill>
          <a:blip r:embed="rId2"/>
          <a:stretch>
            <a:fillRect/>
          </a:stretch>
        </p:blipFill>
        <p:spPr>
          <a:xfrm>
            <a:off x="6788963" y="3710635"/>
            <a:ext cx="351130" cy="351130"/>
          </a:xfrm>
          <a:prstGeom prst="rect">
            <a:avLst/>
          </a:prstGeom>
        </p:spPr>
      </p:pic>
      <p:sp>
        <p:nvSpPr>
          <p:cNvPr id="17" name="Text 13"/>
          <p:cNvSpPr txBox="1"/>
          <p:nvPr/>
        </p:nvSpPr>
        <p:spPr>
          <a:xfrm>
            <a:off x="7558888"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8" name="Text 14"/>
          <p:cNvSpPr txBox="1"/>
          <p:nvPr/>
        </p:nvSpPr>
        <p:spPr>
          <a:xfrm>
            <a:off x="6598768"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locus on any haplotype is translated to any other haplotype, and the source's annotation is drawn there over an alignment built on demand.</a:t>
            </a:r>
            <a:endParaRPr lang="en-US" sz="17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run inside the UCSC Genome Browser, on the release 2 graph, today.</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Indexing a pangenome forced a trade-off</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sp>
        <p:nvSpPr>
          <p:cNvPr id="5" name="Shape 3"/>
          <p:cNvSpPr/>
          <p:nvPr/>
        </p:nvSpPr>
        <p:spPr>
          <a:xfrm>
            <a:off x="548640" y="1325880"/>
            <a:ext cx="3454298" cy="3383280"/>
          </a:xfrm>
          <a:prstGeom prst="roundRect">
            <a:avLst>
              <a:gd name="adj" fmla="val 3243"/>
            </a:avLst>
          </a:prstGeom>
          <a:solidFill>
            <a:srgbClr val="EDF1F6"/>
          </a:solidFill>
          <a:ln w="12700">
            <a:solidFill>
              <a:srgbClr val="DCE3EB"/>
            </a:solidFill>
            <a:prstDash val="solid"/>
          </a:ln>
        </p:spPr>
      </p:sp>
      <p:sp>
        <p:nvSpPr>
          <p:cNvPr id="6" name="Text 4"/>
          <p:cNvSpPr txBox="1"/>
          <p:nvPr/>
        </p:nvSpPr>
        <p:spPr>
          <a:xfrm>
            <a:off x="868680"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haplotypes</a:t>
            </a:r>
            <a:endParaRPr lang="en-US" sz="2100" dirty="0"/>
          </a:p>
        </p:txBody>
      </p:sp>
      <p:sp>
        <p:nvSpPr>
          <p:cNvPr id="7" name="Text 5"/>
          <p:cNvSpPr txBox="1"/>
          <p:nvPr/>
        </p:nvSpPr>
        <p:spPr>
          <a:xfrm>
            <a:off x="868680"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Simple and lossless, but the same seed is reported once per haplotype: 464 copies of every hit.</a:t>
            </a:r>
            <a:endParaRPr lang="en-US" sz="1600" dirty="0"/>
          </a:p>
        </p:txBody>
      </p:sp>
      <p:sp>
        <p:nvSpPr>
          <p:cNvPr id="8" name="Text 6"/>
          <p:cNvSpPr txBox="1"/>
          <p:nvPr/>
        </p:nvSpPr>
        <p:spPr>
          <a:xfrm>
            <a:off x="868680"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ropebwt3</a:t>
            </a:r>
            <a:endParaRPr lang="en-US" sz="1400" dirty="0"/>
          </a:p>
        </p:txBody>
      </p:sp>
      <p:sp>
        <p:nvSpPr>
          <p:cNvPr id="9" name="Shape 7"/>
          <p:cNvSpPr/>
          <p:nvPr/>
        </p:nvSpPr>
        <p:spPr>
          <a:xfrm>
            <a:off x="4368698" y="1325880"/>
            <a:ext cx="3454298" cy="3383280"/>
          </a:xfrm>
          <a:prstGeom prst="roundRect">
            <a:avLst>
              <a:gd name="adj" fmla="val 3243"/>
            </a:avLst>
          </a:prstGeom>
          <a:solidFill>
            <a:srgbClr val="EDF1F6"/>
          </a:solidFill>
          <a:ln w="12700">
            <a:solidFill>
              <a:srgbClr val="DCE3EB"/>
            </a:solidFill>
            <a:prstDash val="solid"/>
          </a:ln>
        </p:spPr>
      </p:sp>
      <p:sp>
        <p:nvSpPr>
          <p:cNvPr id="10" name="Text 8"/>
          <p:cNvSpPr txBox="1"/>
          <p:nvPr/>
        </p:nvSpPr>
        <p:spPr>
          <a:xfrm>
            <a:off x="4688738"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graph</a:t>
            </a:r>
            <a:endParaRPr lang="en-US" sz="2100" dirty="0"/>
          </a:p>
        </p:txBody>
      </p:sp>
      <p:sp>
        <p:nvSpPr>
          <p:cNvPr id="11" name="Text 9"/>
          <p:cNvSpPr txBox="1"/>
          <p:nvPr/>
        </p:nvSpPr>
        <p:spPr>
          <a:xfrm>
            <a:off x="4688738"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Deduplicated positions, but construction needs graph transformations that are fragile and can drop parts of haplotypes.</a:t>
            </a:r>
            <a:endParaRPr lang="en-US" sz="1600" dirty="0"/>
          </a:p>
        </p:txBody>
      </p:sp>
      <p:sp>
        <p:nvSpPr>
          <p:cNvPr id="12" name="Text 10"/>
          <p:cNvSpPr txBox="1"/>
          <p:nvPr/>
        </p:nvSpPr>
        <p:spPr>
          <a:xfrm>
            <a:off x="4688738"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HISAT2, vg map</a:t>
            </a:r>
            <a:endParaRPr lang="en-US" sz="1400" dirty="0"/>
          </a:p>
        </p:txBody>
      </p:sp>
      <p:sp>
        <p:nvSpPr>
          <p:cNvPr id="13" name="Shape 11"/>
          <p:cNvSpPr/>
          <p:nvPr/>
        </p:nvSpPr>
        <p:spPr>
          <a:xfrm>
            <a:off x="8188757" y="1325880"/>
            <a:ext cx="3454298" cy="3383280"/>
          </a:xfrm>
          <a:prstGeom prst="roundRect">
            <a:avLst>
              <a:gd name="adj" fmla="val 3243"/>
            </a:avLst>
          </a:prstGeom>
          <a:solidFill>
            <a:srgbClr val="EDF1F6"/>
          </a:solidFill>
          <a:ln w="12700">
            <a:solidFill>
              <a:srgbClr val="DCE3EB"/>
            </a:solidFill>
            <a:prstDash val="solid"/>
          </a:ln>
        </p:spPr>
      </p:sp>
      <p:sp>
        <p:nvSpPr>
          <p:cNvPr id="14" name="Text 12"/>
          <p:cNvSpPr txBox="1"/>
          <p:nvPr/>
        </p:nvSpPr>
        <p:spPr>
          <a:xfrm>
            <a:off x="8508797"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Minimizer indexes</a:t>
            </a:r>
            <a:endParaRPr lang="en-US" sz="2100" dirty="0"/>
          </a:p>
        </p:txBody>
      </p:sp>
      <p:sp>
        <p:nvSpPr>
          <p:cNvPr id="15" name="Text 13"/>
          <p:cNvSpPr txBox="1"/>
          <p:nvPr/>
        </p:nvSpPr>
        <p:spPr>
          <a:xfrm>
            <a:off x="8508797"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Fast, but the seed length is fixed in advance: a permanent trade of sensitivity for specificity.</a:t>
            </a:r>
            <a:endParaRPr lang="en-US" sz="1600" dirty="0"/>
          </a:p>
        </p:txBody>
      </p:sp>
      <p:sp>
        <p:nvSpPr>
          <p:cNvPr id="16" name="Text 14"/>
          <p:cNvSpPr txBox="1"/>
          <p:nvPr/>
        </p:nvSpPr>
        <p:spPr>
          <a:xfrm>
            <a:off x="8508797"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vg giraffe</a:t>
            </a:r>
            <a:endParaRPr lang="en-US" sz="1400" dirty="0"/>
          </a:p>
        </p:txBody>
      </p:sp>
      <p:sp>
        <p:nvSpPr>
          <p:cNvPr id="17" name="Shape 15"/>
          <p:cNvSpPr/>
          <p:nvPr/>
        </p:nvSpPr>
        <p:spPr>
          <a:xfrm>
            <a:off x="548640" y="5029200"/>
            <a:ext cx="11094415" cy="960120"/>
          </a:xfrm>
          <a:prstGeom prst="roundRect">
            <a:avLst>
              <a:gd name="adj" fmla="val 11429"/>
            </a:avLst>
          </a:prstGeom>
          <a:solidFill>
            <a:srgbClr val="06294A"/>
          </a:solidFill>
          <a:ln w="12700">
            <a:solidFill>
              <a:srgbClr val="06294A"/>
            </a:solidFill>
            <a:prstDash val="solid"/>
          </a:ln>
        </p:spPr>
      </p:sp>
      <p:sp>
        <p:nvSpPr>
          <p:cNvPr id="18" name="Text 16"/>
          <p:cNvSpPr txBox="1"/>
          <p:nvPr/>
        </p:nvSpPr>
        <p:spPr>
          <a:xfrm>
            <a:off x="914400" y="5029200"/>
            <a:ext cx="10362895"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Tag arrays: keep the FM-index on the haplotypes, annotate the BWT with graph positions. Lossless, deduplicated, any seed length.</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every BWT position knows its node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463040"/>
            <a:ext cx="7040880" cy="4684192"/>
          </a:xfrm>
          <a:prstGeom prst="rect">
            <a:avLst/>
          </a:prstGeom>
        </p:spPr>
      </p:pic>
      <p:sp>
        <p:nvSpPr>
          <p:cNvPr id="6" name="Text 3"/>
          <p:cNvSpPr txBox="1"/>
          <p:nvPr/>
        </p:nvSpPr>
        <p:spPr>
          <a:xfrm>
            <a:off x="8046720" y="146304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Query</a:t>
            </a:r>
            <a:endParaRPr lang="en-US" sz="1800" dirty="0"/>
          </a:p>
        </p:txBody>
      </p:sp>
      <p:sp>
        <p:nvSpPr>
          <p:cNvPr id="7" name="Text 4"/>
          <p:cNvSpPr txBox="1"/>
          <p:nvPr/>
        </p:nvSpPr>
        <p:spPr>
          <a:xfrm>
            <a:off x="8046720" y="184708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r-index finds the BWT interval for a pattern; two rank queries on the run-length tag structure return the distinct graph positions in it. No scan, no redundancy.</a:t>
            </a:r>
            <a:endParaRPr lang="en-US" sz="1500" dirty="0"/>
          </a:p>
        </p:txBody>
      </p:sp>
      <p:sp>
        <p:nvSpPr>
          <p:cNvPr id="8" name="Text 5"/>
          <p:cNvSpPr txBox="1"/>
          <p:nvPr/>
        </p:nvSpPr>
        <p:spPr>
          <a:xfrm>
            <a:off x="8046720" y="292608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Runs, not positions</a:t>
            </a:r>
            <a:endParaRPr lang="en-US" sz="1800" dirty="0"/>
          </a:p>
        </p:txBody>
      </p:sp>
      <p:sp>
        <p:nvSpPr>
          <p:cNvPr id="9" name="Text 6"/>
          <p:cNvSpPr txBox="1"/>
          <p:nvPr/>
        </p:nvSpPr>
        <p:spPr>
          <a:xfrm>
            <a:off x="8046720" y="331012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Similar suffixes sit together, so tags come in long runs. Bases grew 5x from v1.1 to v2.0; tag runs only 2x.</a:t>
            </a:r>
            <a:endParaRPr lang="en-US" sz="1500" dirty="0"/>
          </a:p>
        </p:txBody>
      </p:sp>
      <p:sp>
        <p:nvSpPr>
          <p:cNvPr id="10" name="Text 7"/>
          <p:cNvSpPr txBox="1"/>
          <p:nvPr/>
        </p:nvSpPr>
        <p:spPr>
          <a:xfrm>
            <a:off x="8046720" y="438912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Built at HPRC scale</a:t>
            </a:r>
            <a:endParaRPr lang="en-US" sz="1800" dirty="0"/>
          </a:p>
        </p:txBody>
      </p:sp>
      <p:sp>
        <p:nvSpPr>
          <p:cNvPr id="11" name="Text 8"/>
          <p:cNvSpPr txBox="1"/>
          <p:nvPr/>
        </p:nvSpPr>
        <p:spPr>
          <a:xfrm>
            <a:off x="8046720" y="477316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Per chromosome, merged through the multi-string BWT. v2.0: 464 haplotypes, 2.6 Tbp, 26 billion tag runs, 149 GiB; a 23 GiB sampled tag array serves translation.</a:t>
            </a:r>
            <a:endParaRPr lang="en-US" sz="1500" dirty="0"/>
          </a:p>
        </p:txBody>
      </p:sp>
      <p:sp>
        <p:nvSpPr>
          <p:cNvPr id="12" name="Shape 9"/>
          <p:cNvSpPr/>
          <p:nvPr/>
        </p:nvSpPr>
        <p:spPr>
          <a:xfrm>
            <a:off x="8046720" y="5852160"/>
            <a:ext cx="3596335" cy="548640"/>
          </a:xfrm>
          <a:prstGeom prst="roundRect">
            <a:avLst>
              <a:gd name="adj" fmla="val 20000"/>
            </a:avLst>
          </a:prstGeom>
          <a:solidFill>
            <a:srgbClr val="EDF1F6"/>
          </a:solidFill>
          <a:ln w="12700">
            <a:solidFill>
              <a:srgbClr val="DCE3EB"/>
            </a:solidFill>
            <a:prstDash val="solid"/>
          </a:ln>
        </p:spPr>
      </p:sp>
      <p:sp>
        <p:nvSpPr>
          <p:cNvPr id="13" name="Text 10"/>
          <p:cNvSpPr txBox="1"/>
          <p:nvPr/>
        </p:nvSpPr>
        <p:spPr>
          <a:xfrm>
            <a:off x="8046720" y="5852160"/>
            <a:ext cx="3596335" cy="548640"/>
          </a:xfrm>
          <a:prstGeom prst="rect">
            <a:avLst/>
          </a:prstGeom>
          <a:noFill/>
          <a:ln/>
        </p:spPr>
        <p:txBody>
          <a:bodyPr wrap="square" lIns="0" tIns="0" rIns="0" bIns="0" rtlCol="0" anchor="ctr"/>
          <a:lstStyle/>
          <a:p>
            <a:pPr algn="ctr" indent="0" marL="0">
              <a:buNone/>
            </a:pPr>
            <a:r>
              <a:rPr lang="en-US" sz="1600" b="1" dirty="0">
                <a:solidFill>
                  <a:srgbClr val="003C6C"/>
                </a:solidFill>
                <a:latin typeface="Calibri" pitchFamily="34" charset="0"/>
                <a:ea typeface="Calibri" pitchFamily="34" charset="-122"/>
                <a:cs typeface="Calibri" pitchFamily="34" charset="-120"/>
              </a:rPr>
              <a:t>No pairwise index anywhere.</a:t>
            </a:r>
            <a:endParaRPr lang="en-US" sz="1600" dirty="0"/>
          </a:p>
        </p:txBody>
      </p:sp>
      <p:sp>
        <p:nvSpPr>
          <p:cNvPr id="14" name="Text 11"/>
          <p:cNvSpPr txBox="1"/>
          <p:nvPr/>
        </p:nvSpPr>
        <p:spPr>
          <a:xfrm>
            <a:off x="548640" y="6217920"/>
            <a:ext cx="11094415" cy="3657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5" name="Shape 2"/>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6" name="Text 3"/>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Find the query's nodes on the source path.</a:t>
            </a:r>
            <a:endParaRPr lang="en-US" sz="1700" dirty="0"/>
          </a:p>
        </p:txBody>
      </p:sp>
      <p:sp>
        <p:nvSpPr>
          <p:cNvPr id="8" name="Shape 5"/>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9" name="Text 6"/>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 the tag arrays who else is here.</a:t>
            </a:r>
            <a:endParaRPr lang="en-US" sz="1700" dirty="0"/>
          </a:p>
        </p:txBody>
      </p:sp>
      <p:sp>
        <p:nvSpPr>
          <p:cNvPr id="11" name="Shape 8"/>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4" name="Shape 11"/>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7"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an arbitrary release 2 haplotype, such as HG02015,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Who this is for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8" name="Text 5"/>
          <p:cNvSpPr txBox="1"/>
          <p:nvPr/>
        </p:nvSpPr>
        <p:spPr>
          <a:xfrm>
            <a:off x="868680"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ClinVar and GWAS context on the haplotype that actually carries the patient's allele.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Loci where one reference misleads: HLA, KIR, CYP2D6, LPA, SMN1/2, seen on many haplotypes with the reference annotation drawn there.</a:t>
            </a:r>
            <a:endParaRPr lang="en-US" sz="1600" dirty="0"/>
          </a:p>
        </p:txBody>
      </p:sp>
      <p:sp>
        <p:nvSpPr>
          <p:cNvPr id="9" name="Shape 6"/>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13" name="Text 9"/>
          <p:cNvSpPr txBox="1"/>
          <p:nvPr/>
        </p:nvSpPr>
        <p:spPr>
          <a:xfrm>
            <a:off x="6598768"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20</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2026-09-04T18:43:29Z</dcterms:created>
  <dcterms:modified xsi:type="dcterms:W3CDTF">2026-09-04T18:43:29Z</dcterms:modified>
</cp:coreProperties>
</file>
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03C6C"/>
                </a:solidFill>
                <a:latin typeface="Calibri"/>
              </a:defRPr>
            </a:pPr>
            <a:r>
              <a:rPr sz="1600" b="0" i="0" u="none" strike="noStrike">
                <a:solidFill>
                  <a:srgbClr val="003C6C"/>
                </a:solidFill>
                <a:latin typeface="Calibri"/>
              </a:rPr>
              <a:t>Translation latency, median (ms, log scale)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(ms)</c:v>
                </c:pt>
              </c:strCache>
            </c:strRef>
          </c:tx>
          <c:spPr>
            <a:solidFill>
              <a:srgbClr val="003C6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8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100 bp</c:v>
                  </c:pt>
                  <c:pt idx="1">
                    <c:v>1 kb</c:v>
                  </c:pt>
                  <c:pt idx="2">
                    <c:v>10 kb</c:v>
                  </c:pt>
                  <c:pt idx="3">
                    <c:v>100 kb</c:v>
                  </c:pt>
                  <c:pt idx="4">
                    <c:v>1 Mb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</c:v>
                </c:pt>
                <c:pt idx="1">
                  <c:v>21</c:v>
                </c:pt>
                <c:pt idx="2">
                  <c:v>115</c:v>
                </c:pt>
                <c:pt idx="3">
                  <c:v>599</c:v>
                </c:pt>
                <c:pt idx="4">
                  <c:v>4300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8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00"/>
          <c:min val="10"/>
        </c:scaling>
        <c:delete val="0"/>
        <c:axPos val="b"/>
        <c:majorGridlines>
          <c:spPr>
            <a:ln w="6350" cap="flat">
              <a:solidFill>
                <a:srgbClr val="D9E1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03C6C"/>
                </a:solidFill>
                <a:latin typeface="Calibri"/>
              </a:defRPr>
            </a:pPr>
            <a:r>
              <a:rPr sz="1600" b="0" i="0" u="none" strike="noStrike">
                <a:solidFill>
                  <a:srgbClr val="003C6C"/>
                </a:solidFill>
                <a:latin typeface="Calibri"/>
              </a:rPr>
              <a:t>Concurrent 3.4 kb queries / s vs threads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queries / s</c:v>
                </c:pt>
              </c:strCache>
            </c:strRef>
          </c:tx>
          <c:spPr>
            <a:solidFill>
              <a:srgbClr val="003C6C"/>
            </a:solidFill>
            <a:ln w="38100" cap="flat">
              <a:solidFill>
                <a:srgbClr val="003C6C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8293B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03C6C"/>
              </a:solidFill>
              <a:ln w="9525" cap="flat">
                <a:solidFill>
                  <a:srgbClr val="003C6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8</c:v>
                  </c:pt>
                  <c:pt idx="4">
                    <c:v>16</c:v>
                  </c:pt>
                  <c:pt idx="5">
                    <c:v>32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</c:v>
                </c:pt>
                <c:pt idx="1">
                  <c:v>13.2</c:v>
                </c:pt>
                <c:pt idx="2">
                  <c:v>23.6</c:v>
                </c:pt>
                <c:pt idx="3">
                  <c:v>60.3</c:v>
                </c:pt>
                <c:pt idx="4">
                  <c:v>59.4</c:v>
                </c:pt>
                <c:pt idx="5">
                  <c:v>65.3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8293B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9E1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Goal: HPRC release 2 usable inside the UCSC Genome Browser. August: everything became end-to-end on the dev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Mapped once with vg giraffe. All 464 haplotypes scored by identity. Click any haplotype: re-surject, no remapping.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Pangenome Seq track on HG01167 hap1, BLAT-style base-level differences. Just another track.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CHM13 chr6:32,768,058-32,778,749 to HG02015 paternal, 100% of bases, ~20 ms. Picker can list only assemblies containing the region.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HG02015 paternal showing CHM13's CAT/Liftoff genes (HLA-DMA), RefSeq, CenSat, under an Alignment Differences track. Chain built in ~1 s from translation blocks; two-phase widening so panning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Pangenome assemblies in the normal menu; picking one dispatches through the graph. 3 files / 15 lines changed in kent core; 385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 ms gene-scale; 0.6 s at 100 kb; 4.3 s at 1 Mb. 9.6x at 8 threads after the GIL release. Routing table: 1.78 GB, 35 min, zero failure modes (naive: 17.2 TB).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explicitly for the hdb.c sign-off and the redeploy.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5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3" name="Image 0" descr="/Users/seeskand/Documents/HPRC/2026/hprc_2026_poster/talk/figures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188720"/>
            <a:ext cx="4114800" cy="9612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246888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Pangenome in the Genome Browser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29184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DC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update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D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Parsa Eskandar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Pangenome Mapping: which haplotypes carry my sequence?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653918" y="1051560"/>
            <a:ext cx="8883858" cy="5303520"/>
          </a:xfrm>
          <a:prstGeom prst="roundRect">
            <a:avLst>
              <a:gd name="adj" fmla="val 2069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00222" y="1143000"/>
            <a:ext cx="100584" cy="10058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4814" y="1143000"/>
            <a:ext cx="100584" cy="100584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29406" y="1143000"/>
            <a:ext cx="100584" cy="10058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31158" y="10789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hgwdev-seeskand.gi.ucsc.edu</a:t>
            </a:r>
            <a:endParaRPr lang="en-US" sz="900" dirty="0"/>
          </a:p>
        </p:txBody>
      </p:sp>
      <p:pic>
        <p:nvPicPr>
          <p:cNvPr id="9" name="Image 0" descr="/Users/seeskand/Documents/HPRC/2026/hprc_2026_poster/talk/figures/mapping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5358" y="1362456"/>
            <a:ext cx="8700978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hit lands as a native track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1277295" cy="3546302"/>
          </a:xfrm>
          <a:prstGeom prst="roundRect">
            <a:avLst>
              <a:gd name="adj" fmla="val 3094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3504" y="1143000"/>
            <a:ext cx="100584" cy="10058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1143000"/>
            <a:ext cx="100584" cy="100584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143000"/>
            <a:ext cx="100584" cy="10058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789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hgwdev-seeskand.gi.ucsc.edu</a:t>
            </a:r>
            <a:endParaRPr lang="en-US" sz="900" dirty="0"/>
          </a:p>
        </p:txBody>
      </p:sp>
      <p:pic>
        <p:nvPicPr>
          <p:cNvPr id="9" name="Image 0" descr="/Users/seeskand/Documents/HPRC/2026/hprc_2026_poster/talk/figures/pangenome_seq_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62456"/>
            <a:ext cx="11094415" cy="31439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coordinates between any two of 466 assemblies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03224" y="1051560"/>
            <a:ext cx="9985248" cy="5303520"/>
          </a:xfrm>
          <a:prstGeom prst="roundRect">
            <a:avLst>
              <a:gd name="adj" fmla="val 2069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49528" y="1143000"/>
            <a:ext cx="100584" cy="10058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4120" y="1143000"/>
            <a:ext cx="100584" cy="100584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78712" y="1143000"/>
            <a:ext cx="100584" cy="10058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80464" y="10789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hgwdev-seeskand.gi.ucsc.edu</a:t>
            </a:r>
            <a:endParaRPr lang="en-US" sz="900" dirty="0"/>
          </a:p>
        </p:txBody>
      </p:sp>
      <p:pic>
        <p:nvPicPr>
          <p:cNvPr id="9" name="Image 0" descr="/Users/seeskand/Documents/HPRC/2026/hprc_2026_poster/talk/figures/convert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362456"/>
            <a:ext cx="9802368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follow you: a QuickLift chain built per request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1277295" cy="2919826"/>
          </a:xfrm>
          <a:prstGeom prst="roundRect">
            <a:avLst>
              <a:gd name="adj" fmla="val 3758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3504" y="1143000"/>
            <a:ext cx="100584" cy="10058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1143000"/>
            <a:ext cx="100584" cy="100584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143000"/>
            <a:ext cx="100584" cy="10058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789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hgwdev-seeskand.gi.ucsc.edu</a:t>
            </a:r>
            <a:endParaRPr lang="en-US" sz="900" dirty="0"/>
          </a:p>
        </p:txBody>
      </p:sp>
      <p:pic>
        <p:nvPicPr>
          <p:cNvPr id="9" name="Image 0" descr="/Users/seeskand/Documents/HPRC/2026/hprc_2026_poster/talk/figures/lifted_annot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62456"/>
            <a:ext cx="11094415" cy="25174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inside the stock hgConvert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587956" y="1051560"/>
            <a:ext cx="9015783" cy="5303520"/>
          </a:xfrm>
          <a:prstGeom prst="roundRect">
            <a:avLst>
              <a:gd name="adj" fmla="val 2069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34260" y="1143000"/>
            <a:ext cx="100584" cy="10058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98852" y="1143000"/>
            <a:ext cx="100584" cy="100584"/>
          </a:xfrm>
          <a:prstGeom prst="ellipse">
            <a:avLst/>
          </a:prstGeom>
          <a:solidFill>
            <a:srgbClr val="FDC700"/>
          </a:solidFill>
          <a:ln w="12700">
            <a:solidFill>
              <a:srgbClr val="FDC7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63444" y="1143000"/>
            <a:ext cx="100584" cy="100584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65196" y="10789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hgwdev-seeskand.gi.ucsc.edu</a:t>
            </a:r>
            <a:endParaRPr lang="en-US" sz="900" dirty="0"/>
          </a:p>
        </p:txBody>
      </p:sp>
      <p:pic>
        <p:nvPicPr>
          <p:cNvPr id="9" name="Image 0" descr="/Users/seeskand/Documents/HPRC/2026/hprc_2026_poster/talk/figures/hgconvert_drop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9396" y="1362456"/>
            <a:ext cx="8832903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5778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188720"/>
          <a:ext cx="5425135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1072865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audit items (hub write race, extendChain test, trash cleanup)</a:t>
            </a:r>
            <a:endParaRPr lang="en-US" sz="24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concurrency on the service; persistent chain cache if we want it</a:t>
            </a:r>
            <a:endParaRPr lang="en-US" sz="24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8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HPRC 2026: poster done, 15-minute talk slot, record a 20 s demo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03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Need: sign-off on the one-line hdb.c change; OK to redeploy the service.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Parsa Eskandar</dc:creator>
  <cp:lastModifiedBy>Parsa Eskandar</cp:lastModifiedBy>
  <cp:revision>1</cp:revision>
  <dcterms:created xsi:type="dcterms:W3CDTF">2026-09-02T19:58:42Z</dcterms:created>
  <dcterms:modified xsi:type="dcterms:W3CDTF">2026-09-02T19:58:42Z</dcterms:modified>
</cp:coreProperties>
</file>